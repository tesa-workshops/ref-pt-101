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7"/>
  </p:notesMasterIdLst>
  <p:sldIdLst>
    <p:sldId id="256" r:id="rId2"/>
    <p:sldId id="437" r:id="rId3"/>
    <p:sldId id="359" r:id="rId4"/>
    <p:sldId id="327" r:id="rId5"/>
    <p:sldId id="310" r:id="rId6"/>
    <p:sldId id="371" r:id="rId7"/>
    <p:sldId id="447" r:id="rId8"/>
    <p:sldId id="266" r:id="rId9"/>
    <p:sldId id="369" r:id="rId10"/>
    <p:sldId id="370" r:id="rId11"/>
    <p:sldId id="408" r:id="rId12"/>
    <p:sldId id="259" r:id="rId13"/>
    <p:sldId id="260" r:id="rId14"/>
    <p:sldId id="261" r:id="rId15"/>
    <p:sldId id="262" r:id="rId16"/>
    <p:sldId id="326" r:id="rId17"/>
    <p:sldId id="399" r:id="rId18"/>
    <p:sldId id="328" r:id="rId19"/>
    <p:sldId id="336" r:id="rId20"/>
    <p:sldId id="409" r:id="rId21"/>
    <p:sldId id="339" r:id="rId22"/>
    <p:sldId id="410" r:id="rId23"/>
    <p:sldId id="267" r:id="rId24"/>
    <p:sldId id="448" r:id="rId25"/>
    <p:sldId id="388" r:id="rId26"/>
    <p:sldId id="400" r:id="rId27"/>
    <p:sldId id="401" r:id="rId28"/>
    <p:sldId id="402" r:id="rId29"/>
    <p:sldId id="391" r:id="rId30"/>
    <p:sldId id="405" r:id="rId31"/>
    <p:sldId id="406" r:id="rId32"/>
    <p:sldId id="412" r:id="rId33"/>
    <p:sldId id="413" r:id="rId34"/>
    <p:sldId id="433" r:id="rId35"/>
    <p:sldId id="393" r:id="rId36"/>
    <p:sldId id="414" r:id="rId37"/>
    <p:sldId id="416" r:id="rId38"/>
    <p:sldId id="396" r:id="rId39"/>
    <p:sldId id="417" r:id="rId40"/>
    <p:sldId id="418" r:id="rId41"/>
    <p:sldId id="397" r:id="rId42"/>
    <p:sldId id="362" r:id="rId43"/>
    <p:sldId id="263" r:id="rId44"/>
    <p:sldId id="368" r:id="rId45"/>
    <p:sldId id="372" r:id="rId46"/>
    <p:sldId id="411" r:id="rId47"/>
    <p:sldId id="375" r:id="rId48"/>
    <p:sldId id="376" r:id="rId49"/>
    <p:sldId id="377" r:id="rId50"/>
    <p:sldId id="379" r:id="rId51"/>
    <p:sldId id="382" r:id="rId52"/>
    <p:sldId id="383" r:id="rId53"/>
    <p:sldId id="386" r:id="rId54"/>
    <p:sldId id="338" r:id="rId55"/>
    <p:sldId id="438" r:id="rId56"/>
    <p:sldId id="434" r:id="rId57"/>
    <p:sldId id="344" r:id="rId58"/>
    <p:sldId id="275" r:id="rId59"/>
    <p:sldId id="257" r:id="rId60"/>
    <p:sldId id="288" r:id="rId61"/>
    <p:sldId id="289" r:id="rId62"/>
    <p:sldId id="356" r:id="rId63"/>
    <p:sldId id="313" r:id="rId64"/>
    <p:sldId id="314" r:id="rId65"/>
    <p:sldId id="316" r:id="rId66"/>
    <p:sldId id="317" r:id="rId67"/>
    <p:sldId id="320" r:id="rId68"/>
    <p:sldId id="272" r:id="rId69"/>
    <p:sldId id="273" r:id="rId70"/>
    <p:sldId id="279" r:id="rId71"/>
    <p:sldId id="281" r:id="rId72"/>
    <p:sldId id="278" r:id="rId73"/>
    <p:sldId id="419" r:id="rId74"/>
    <p:sldId id="274" r:id="rId75"/>
    <p:sldId id="290" r:id="rId76"/>
    <p:sldId id="277" r:id="rId77"/>
    <p:sldId id="420" r:id="rId78"/>
    <p:sldId id="282" r:id="rId79"/>
    <p:sldId id="298" r:id="rId80"/>
    <p:sldId id="293" r:id="rId81"/>
    <p:sldId id="297" r:id="rId82"/>
    <p:sldId id="296" r:id="rId83"/>
    <p:sldId id="295" r:id="rId84"/>
    <p:sldId id="421" r:id="rId85"/>
    <p:sldId id="335" r:id="rId86"/>
    <p:sldId id="439" r:id="rId87"/>
    <p:sldId id="334" r:id="rId88"/>
    <p:sldId id="302" r:id="rId89"/>
    <p:sldId id="440" r:id="rId90"/>
    <p:sldId id="431" r:id="rId91"/>
    <p:sldId id="424" r:id="rId92"/>
    <p:sldId id="443" r:id="rId93"/>
    <p:sldId id="441" r:id="rId94"/>
    <p:sldId id="435" r:id="rId95"/>
    <p:sldId id="358" r:id="rId96"/>
    <p:sldId id="294" r:id="rId97"/>
    <p:sldId id="307" r:id="rId98"/>
    <p:sldId id="425" r:id="rId99"/>
    <p:sldId id="426" r:id="rId100"/>
    <p:sldId id="357" r:id="rId101"/>
    <p:sldId id="270" r:id="rId102"/>
    <p:sldId id="427" r:id="rId103"/>
    <p:sldId id="428" r:id="rId104"/>
    <p:sldId id="445" r:id="rId105"/>
    <p:sldId id="444" r:id="rId1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59" userDrawn="1">
          <p15:clr>
            <a:srgbClr val="A4A3A4"/>
          </p15:clr>
        </p15:guide>
        <p15:guide id="2" pos="526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3300"/>
    <a:srgbClr val="0066FF"/>
    <a:srgbClr val="FF3399"/>
    <a:srgbClr val="CC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332" autoAdjust="0"/>
    <p:restoredTop sz="96357" autoAdjust="0"/>
  </p:normalViewPr>
  <p:slideViewPr>
    <p:cSldViewPr snapToGrid="0">
      <p:cViewPr varScale="1">
        <p:scale>
          <a:sx n="111" d="100"/>
          <a:sy n="111" d="100"/>
        </p:scale>
        <p:origin x="516" y="96"/>
      </p:cViewPr>
      <p:guideLst>
        <p:guide orient="horz" pos="459"/>
        <p:guide pos="5269"/>
      </p:guideLst>
    </p:cSldViewPr>
  </p:slideViewPr>
  <p:notesTextViewPr>
    <p:cViewPr>
      <p:scale>
        <a:sx n="1" d="1"/>
        <a:sy n="1" d="1"/>
      </p:scale>
      <p:origin x="0" y="0"/>
    </p:cViewPr>
  </p:notesTextViewPr>
  <p:notesViewPr>
    <p:cSldViewPr snapToGrid="0">
      <p:cViewPr varScale="1">
        <p:scale>
          <a:sx n="88" d="100"/>
          <a:sy n="88" d="100"/>
        </p:scale>
        <p:origin x="2964" y="6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notesMaster" Target="notesMasters/notesMaster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viewProps" Target="viewProp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FBA6D-BD8D-4319-9B8F-54D25DEE77D2}" type="datetimeFigureOut">
              <a:rPr lang="en-CA" smtClean="0"/>
              <a:t>2026-10-21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027DB-7AC7-40AC-A4F9-E9E9D764A625}" type="slidenum">
              <a:rPr lang="en-CA" smtClean="0"/>
              <a:t>‹#›</a:t>
            </a:fld>
            <a:endParaRPr lang="en-CA"/>
          </a:p>
        </p:txBody>
      </p:sp>
    </p:spTree>
    <p:extLst>
      <p:ext uri="{BB962C8B-B14F-4D97-AF65-F5344CB8AC3E}">
        <p14:creationId xmlns:p14="http://schemas.microsoft.com/office/powerpoint/2010/main" val="6252222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957027DB-7AC7-40AC-A4F9-E9E9D764A625}" type="slidenum">
              <a:rPr lang="en-CA" smtClean="0"/>
              <a:t>1</a:t>
            </a:fld>
            <a:endParaRPr lang="en-CA"/>
          </a:p>
        </p:txBody>
      </p:sp>
    </p:spTree>
    <p:extLst>
      <p:ext uri="{BB962C8B-B14F-4D97-AF65-F5344CB8AC3E}">
        <p14:creationId xmlns:p14="http://schemas.microsoft.com/office/powerpoint/2010/main" val="938263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57027DB-7AC7-40AC-A4F9-E9E9D764A625}" type="slidenum">
              <a:rPr lang="en-CA" smtClean="0"/>
              <a:t>2</a:t>
            </a:fld>
            <a:endParaRPr lang="en-CA"/>
          </a:p>
        </p:txBody>
      </p:sp>
    </p:spTree>
    <p:extLst>
      <p:ext uri="{BB962C8B-B14F-4D97-AF65-F5344CB8AC3E}">
        <p14:creationId xmlns:p14="http://schemas.microsoft.com/office/powerpoint/2010/main" val="1292821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957027DB-7AC7-40AC-A4F9-E9E9D764A625}" type="slidenum">
              <a:rPr lang="en-CA" smtClean="0"/>
              <a:t>3</a:t>
            </a:fld>
            <a:endParaRPr lang="en-CA"/>
          </a:p>
        </p:txBody>
      </p:sp>
    </p:spTree>
    <p:extLst>
      <p:ext uri="{BB962C8B-B14F-4D97-AF65-F5344CB8AC3E}">
        <p14:creationId xmlns:p14="http://schemas.microsoft.com/office/powerpoint/2010/main" val="21276743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fld id="{B5BD85D0-661F-4C31-B875-64933B7810A9}" type="slidenum">
              <a:rPr lang="en-AU" altLang="en-US" sz="1200">
                <a:latin typeface="Arial" panose="020B0604020202020204" pitchFamily="34" charset="0"/>
              </a:rPr>
              <a:pPr/>
              <a:t>47</a:t>
            </a:fld>
            <a:endParaRPr lang="en-AU" altLang="en-US" sz="1200">
              <a:latin typeface="Arial" panose="020B0604020202020204" pitchFamily="34" charset="0"/>
            </a:endParaRPr>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p:spPr>
        <p:txBody>
          <a:bodyPr/>
          <a:lstStyle/>
          <a:p>
            <a:pPr eaLnBrk="1" hangingPunct="1"/>
            <a:endParaRPr lang="en-US" altLang="en-US" b="1" dirty="0"/>
          </a:p>
        </p:txBody>
      </p:sp>
    </p:spTree>
    <p:extLst>
      <p:ext uri="{BB962C8B-B14F-4D97-AF65-F5344CB8AC3E}">
        <p14:creationId xmlns:p14="http://schemas.microsoft.com/office/powerpoint/2010/main" val="3159799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fld id="{7B8D3291-F89C-4E32-87DE-B393D9CBB0FD}" type="slidenum">
              <a:rPr lang="en-AU" altLang="en-US" sz="1200">
                <a:latin typeface="Arial" panose="020B0604020202020204" pitchFamily="34" charset="0"/>
              </a:rPr>
              <a:pPr/>
              <a:t>48</a:t>
            </a:fld>
            <a:endParaRPr lang="en-AU" altLang="en-US" sz="1200">
              <a:latin typeface="Arial" panose="020B0604020202020204" pitchFamily="34" charset="0"/>
            </a:endParaRPr>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p:spPr>
        <p:txBody>
          <a:bodyPr/>
          <a:lstStyle/>
          <a:p>
            <a:pPr eaLnBrk="1" hangingPunct="1"/>
            <a:endParaRPr lang="en-AU" altLang="en-US" dirty="0"/>
          </a:p>
        </p:txBody>
      </p:sp>
    </p:spTree>
    <p:extLst>
      <p:ext uri="{BB962C8B-B14F-4D97-AF65-F5344CB8AC3E}">
        <p14:creationId xmlns:p14="http://schemas.microsoft.com/office/powerpoint/2010/main" val="1121104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fld id="{480D8B1F-8B8E-4D81-B31A-25B5169A4372}" type="slidenum">
              <a:rPr lang="en-AU" altLang="en-US" sz="1200">
                <a:latin typeface="Arial" panose="020B0604020202020204" pitchFamily="34" charset="0"/>
              </a:rPr>
              <a:pPr/>
              <a:t>49</a:t>
            </a:fld>
            <a:endParaRPr lang="en-AU" altLang="en-US" sz="1200">
              <a:latin typeface="Arial" panose="020B0604020202020204" pitchFamily="3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pPr eaLnBrk="1" hangingPunct="1"/>
            <a:endParaRPr lang="en-US" altLang="en-US"/>
          </a:p>
        </p:txBody>
      </p:sp>
    </p:spTree>
    <p:extLst>
      <p:ext uri="{BB962C8B-B14F-4D97-AF65-F5344CB8AC3E}">
        <p14:creationId xmlns:p14="http://schemas.microsoft.com/office/powerpoint/2010/main" val="2438817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fld id="{E6540ABF-4EC2-49CD-9BEE-62CBD63C0021}" type="slidenum">
              <a:rPr lang="en-AU" altLang="en-US" sz="1200">
                <a:latin typeface="Arial" panose="020B0604020202020204" pitchFamily="34" charset="0"/>
              </a:rPr>
              <a:pPr/>
              <a:t>50</a:t>
            </a:fld>
            <a:endParaRPr lang="en-AU" altLang="en-US" sz="1200">
              <a:latin typeface="Arial" panose="020B0604020202020204" pitchFamily="34"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p:spPr>
        <p:txBody>
          <a:bodyPr/>
          <a:lstStyle/>
          <a:p>
            <a:pPr eaLnBrk="1" hangingPunct="1"/>
            <a:endParaRPr lang="en-US" altLang="en-US" b="1" i="1" dirty="0">
              <a:solidFill>
                <a:schemeClr val="accent2"/>
              </a:solidFill>
            </a:endParaRPr>
          </a:p>
        </p:txBody>
      </p:sp>
    </p:spTree>
    <p:extLst>
      <p:ext uri="{BB962C8B-B14F-4D97-AF65-F5344CB8AC3E}">
        <p14:creationId xmlns:p14="http://schemas.microsoft.com/office/powerpoint/2010/main" val="3500325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fld id="{DA68EF54-AE41-4E34-84FA-E75CD9571F5C}" type="slidenum">
              <a:rPr lang="en-AU" altLang="en-US" sz="1200">
                <a:latin typeface="Arial" panose="020B0604020202020204" pitchFamily="34" charset="0"/>
              </a:rPr>
              <a:pPr/>
              <a:t>51</a:t>
            </a:fld>
            <a:endParaRPr lang="en-AU" altLang="en-US" sz="1200">
              <a:latin typeface="Arial" panose="020B060402020202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endParaRPr lang="en-CA" altLang="en-US" dirty="0">
              <a:cs typeface="Arial" panose="020B0604020202020204" pitchFamily="34" charset="0"/>
            </a:endParaRPr>
          </a:p>
          <a:p>
            <a:pPr eaLnBrk="1" hangingPunct="1"/>
            <a:endParaRPr lang="en-CA" altLang="en-US" dirty="0">
              <a:cs typeface="Arial" panose="020B0604020202020204" pitchFamily="34" charset="0"/>
            </a:endParaRPr>
          </a:p>
          <a:p>
            <a:pPr eaLnBrk="1" hangingPunct="1"/>
            <a:endParaRPr lang="en-CA" altLang="en-US" dirty="0">
              <a:cs typeface="Arial" panose="020B0604020202020204" pitchFamily="34" charset="0"/>
            </a:endParaRPr>
          </a:p>
          <a:p>
            <a:pPr eaLnBrk="1" hangingPunct="1"/>
            <a:endParaRPr lang="en-CA" altLang="en-US" dirty="0">
              <a:cs typeface="Arial" panose="020B0604020202020204" pitchFamily="34" charset="0"/>
            </a:endParaRPr>
          </a:p>
          <a:p>
            <a:pPr eaLnBrk="1" hangingPunct="1"/>
            <a:r>
              <a:rPr lang="en-AU" altLang="en-US" dirty="0"/>
              <a:t>Goodyear, C.P. 1977. Assessing the impact of power plant mortality on the compensatory reserve of fish populations. </a:t>
            </a:r>
            <a:r>
              <a:rPr lang="en-AU" altLang="en-US" i="1" dirty="0"/>
              <a:t>In: Proceedings of the Conference on Assessing the Effects of Power Plant Induced Mortality on Fish Populations</a:t>
            </a:r>
            <a:r>
              <a:rPr lang="en-AU" altLang="en-US" dirty="0"/>
              <a:t>, Gatlinburg, Tennessee, 3–6 May 1997. </a:t>
            </a:r>
            <a:r>
              <a:rPr lang="en-AU" altLang="en-US" dirty="0" err="1"/>
              <a:t>Pergamon</a:t>
            </a:r>
            <a:r>
              <a:rPr lang="en-AU" altLang="en-US" dirty="0"/>
              <a:t> Press, New York. pp. 186–195.</a:t>
            </a:r>
          </a:p>
          <a:p>
            <a:pPr eaLnBrk="1" hangingPunct="1"/>
            <a:endParaRPr lang="en-AU" altLang="en-US" dirty="0"/>
          </a:p>
          <a:p>
            <a:pPr eaLnBrk="1" hangingPunct="1"/>
            <a:r>
              <a:rPr lang="el-GR" altLang="en-US" dirty="0">
                <a:cs typeface="Arial" panose="020B0604020202020204" pitchFamily="34" charset="0"/>
              </a:rPr>
              <a:t>α</a:t>
            </a:r>
            <a:r>
              <a:rPr lang="en-CA" altLang="en-US" dirty="0">
                <a:cs typeface="Arial" panose="020B0604020202020204" pitchFamily="34" charset="0"/>
              </a:rPr>
              <a:t> = recruit survival rate at very low stock size</a:t>
            </a:r>
          </a:p>
          <a:p>
            <a:pPr eaLnBrk="1" hangingPunct="1"/>
            <a:r>
              <a:rPr lang="el-GR" altLang="en-US" dirty="0">
                <a:cs typeface="Arial" panose="020B0604020202020204" pitchFamily="34" charset="0"/>
              </a:rPr>
              <a:t>β</a:t>
            </a:r>
            <a:r>
              <a:rPr lang="en-CA" altLang="en-US" dirty="0">
                <a:cs typeface="Arial" panose="020B0604020202020204" pitchFamily="34" charset="0"/>
              </a:rPr>
              <a:t> = 1/maximum recruits as E →∞</a:t>
            </a:r>
          </a:p>
          <a:p>
            <a:pPr eaLnBrk="1" hangingPunct="1"/>
            <a:endParaRPr lang="en-CA" altLang="en-US" dirty="0"/>
          </a:p>
        </p:txBody>
      </p:sp>
    </p:spTree>
    <p:extLst>
      <p:ext uri="{BB962C8B-B14F-4D97-AF65-F5344CB8AC3E}">
        <p14:creationId xmlns:p14="http://schemas.microsoft.com/office/powerpoint/2010/main" val="127577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fld id="{DA68EF54-AE41-4E34-84FA-E75CD9571F5C}" type="slidenum">
              <a:rPr lang="en-AU" altLang="en-US" sz="1200">
                <a:latin typeface="Arial" panose="020B0604020202020204" pitchFamily="34" charset="0"/>
              </a:rPr>
              <a:pPr/>
              <a:t>52</a:t>
            </a:fld>
            <a:endParaRPr lang="en-AU" altLang="en-US" sz="1200">
              <a:latin typeface="Arial" panose="020B060402020202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endParaRPr lang="en-CA" altLang="en-US" dirty="0">
              <a:cs typeface="Arial" panose="020B0604020202020204" pitchFamily="34" charset="0"/>
            </a:endParaRPr>
          </a:p>
          <a:p>
            <a:pPr eaLnBrk="1" hangingPunct="1"/>
            <a:endParaRPr lang="en-CA" altLang="en-US" dirty="0">
              <a:cs typeface="Arial" panose="020B0604020202020204" pitchFamily="34" charset="0"/>
            </a:endParaRPr>
          </a:p>
          <a:p>
            <a:pPr eaLnBrk="1" hangingPunct="1"/>
            <a:endParaRPr lang="en-CA" altLang="en-US" dirty="0">
              <a:cs typeface="Arial" panose="020B0604020202020204" pitchFamily="34" charset="0"/>
            </a:endParaRPr>
          </a:p>
          <a:p>
            <a:pPr eaLnBrk="1" hangingPunct="1"/>
            <a:endParaRPr lang="en-CA" altLang="en-US" dirty="0">
              <a:cs typeface="Arial" panose="020B0604020202020204" pitchFamily="34" charset="0"/>
            </a:endParaRPr>
          </a:p>
          <a:p>
            <a:pPr eaLnBrk="1" hangingPunct="1"/>
            <a:r>
              <a:rPr lang="en-AU" altLang="en-US" dirty="0"/>
              <a:t>Goodyear, C.P. 1977. Assessing the impact of power plant mortality on the compensatory reserve of fish populations. </a:t>
            </a:r>
            <a:r>
              <a:rPr lang="en-AU" altLang="en-US" i="1" dirty="0"/>
              <a:t>In: Proceedings of the Conference on Assessing the Effects of Power Plant Induced Mortality on Fish Populations</a:t>
            </a:r>
            <a:r>
              <a:rPr lang="en-AU" altLang="en-US" dirty="0"/>
              <a:t>, Gatlinburg, Tennessee, 3–6 May 1997. </a:t>
            </a:r>
            <a:r>
              <a:rPr lang="en-AU" altLang="en-US" dirty="0" err="1"/>
              <a:t>Pergamon</a:t>
            </a:r>
            <a:r>
              <a:rPr lang="en-AU" altLang="en-US" dirty="0"/>
              <a:t> Press, New York. pp. 186–195.</a:t>
            </a:r>
          </a:p>
          <a:p>
            <a:pPr eaLnBrk="1" hangingPunct="1"/>
            <a:endParaRPr lang="en-AU" altLang="en-US" dirty="0"/>
          </a:p>
          <a:p>
            <a:pPr eaLnBrk="1" hangingPunct="1"/>
            <a:r>
              <a:rPr lang="el-GR" altLang="en-US" dirty="0">
                <a:cs typeface="Arial" panose="020B0604020202020204" pitchFamily="34" charset="0"/>
              </a:rPr>
              <a:t>α</a:t>
            </a:r>
            <a:r>
              <a:rPr lang="en-CA" altLang="en-US" dirty="0">
                <a:cs typeface="Arial" panose="020B0604020202020204" pitchFamily="34" charset="0"/>
              </a:rPr>
              <a:t> = recruit survival rate at very low stock size</a:t>
            </a:r>
          </a:p>
          <a:p>
            <a:pPr eaLnBrk="1" hangingPunct="1"/>
            <a:r>
              <a:rPr lang="el-GR" altLang="en-US" dirty="0">
                <a:cs typeface="Arial" panose="020B0604020202020204" pitchFamily="34" charset="0"/>
              </a:rPr>
              <a:t>β</a:t>
            </a:r>
            <a:r>
              <a:rPr lang="en-CA" altLang="en-US" dirty="0">
                <a:cs typeface="Arial" panose="020B0604020202020204" pitchFamily="34" charset="0"/>
              </a:rPr>
              <a:t> = 1/maximum recruits as E →∞</a:t>
            </a:r>
          </a:p>
          <a:p>
            <a:pPr eaLnBrk="1" hangingPunct="1"/>
            <a:endParaRPr lang="en-CA" altLang="en-US" dirty="0"/>
          </a:p>
        </p:txBody>
      </p:sp>
    </p:spTree>
    <p:extLst>
      <p:ext uri="{BB962C8B-B14F-4D97-AF65-F5344CB8AC3E}">
        <p14:creationId xmlns:p14="http://schemas.microsoft.com/office/powerpoint/2010/main" val="3421360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fld id="{DA68EF54-AE41-4E34-84FA-E75CD9571F5C}" type="slidenum">
              <a:rPr lang="en-AU" altLang="en-US" sz="1200">
                <a:latin typeface="Arial" panose="020B0604020202020204" pitchFamily="34" charset="0"/>
              </a:rPr>
              <a:pPr/>
              <a:t>53</a:t>
            </a:fld>
            <a:endParaRPr lang="en-AU" altLang="en-US" sz="1200">
              <a:latin typeface="Arial" panose="020B060402020202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endParaRPr lang="en-CA" altLang="en-US" dirty="0">
              <a:cs typeface="Arial" panose="020B0604020202020204" pitchFamily="34" charset="0"/>
            </a:endParaRPr>
          </a:p>
          <a:p>
            <a:pPr eaLnBrk="1" hangingPunct="1"/>
            <a:endParaRPr lang="en-CA" altLang="en-US" dirty="0">
              <a:cs typeface="Arial" panose="020B0604020202020204" pitchFamily="34" charset="0"/>
            </a:endParaRPr>
          </a:p>
          <a:p>
            <a:pPr eaLnBrk="1" hangingPunct="1"/>
            <a:endParaRPr lang="en-CA" altLang="en-US" dirty="0">
              <a:cs typeface="Arial" panose="020B0604020202020204" pitchFamily="34" charset="0"/>
            </a:endParaRPr>
          </a:p>
          <a:p>
            <a:pPr eaLnBrk="1" hangingPunct="1"/>
            <a:endParaRPr lang="en-CA" altLang="en-US" dirty="0">
              <a:cs typeface="Arial" panose="020B0604020202020204" pitchFamily="34" charset="0"/>
            </a:endParaRPr>
          </a:p>
          <a:p>
            <a:pPr eaLnBrk="1" hangingPunct="1"/>
            <a:r>
              <a:rPr lang="en-AU" altLang="en-US" dirty="0"/>
              <a:t>Goodyear, C.P. 1977. Assessing the impact of power plant mortality on the compensatory reserve of fish populations. </a:t>
            </a:r>
            <a:r>
              <a:rPr lang="en-AU" altLang="en-US" i="1" dirty="0"/>
              <a:t>In: Proceedings of the Conference on Assessing the Effects of Power Plant Induced Mortality on Fish Populations</a:t>
            </a:r>
            <a:r>
              <a:rPr lang="en-AU" altLang="en-US" dirty="0"/>
              <a:t>, Gatlinburg, Tennessee, 3–6 May 1997. </a:t>
            </a:r>
            <a:r>
              <a:rPr lang="en-AU" altLang="en-US" dirty="0" err="1"/>
              <a:t>Pergamon</a:t>
            </a:r>
            <a:r>
              <a:rPr lang="en-AU" altLang="en-US" dirty="0"/>
              <a:t> Press, New York. pp. 186–195.</a:t>
            </a:r>
          </a:p>
          <a:p>
            <a:pPr eaLnBrk="1" hangingPunct="1"/>
            <a:endParaRPr lang="en-AU" altLang="en-US" dirty="0"/>
          </a:p>
          <a:p>
            <a:pPr eaLnBrk="1" hangingPunct="1"/>
            <a:r>
              <a:rPr lang="el-GR" altLang="en-US" dirty="0">
                <a:cs typeface="Arial" panose="020B0604020202020204" pitchFamily="34" charset="0"/>
              </a:rPr>
              <a:t>α</a:t>
            </a:r>
            <a:r>
              <a:rPr lang="en-CA" altLang="en-US" dirty="0">
                <a:cs typeface="Arial" panose="020B0604020202020204" pitchFamily="34" charset="0"/>
              </a:rPr>
              <a:t> = recruit survival rate at very low stock size</a:t>
            </a:r>
          </a:p>
          <a:p>
            <a:pPr eaLnBrk="1" hangingPunct="1"/>
            <a:r>
              <a:rPr lang="el-GR" altLang="en-US" dirty="0">
                <a:cs typeface="Arial" panose="020B0604020202020204" pitchFamily="34" charset="0"/>
              </a:rPr>
              <a:t>β</a:t>
            </a:r>
            <a:r>
              <a:rPr lang="en-CA" altLang="en-US" dirty="0">
                <a:cs typeface="Arial" panose="020B0604020202020204" pitchFamily="34" charset="0"/>
              </a:rPr>
              <a:t> = 1/maximum recruits as E →∞</a:t>
            </a:r>
          </a:p>
          <a:p>
            <a:pPr eaLnBrk="1" hangingPunct="1"/>
            <a:endParaRPr lang="en-CA" altLang="en-US" dirty="0"/>
          </a:p>
        </p:txBody>
      </p:sp>
    </p:spTree>
    <p:extLst>
      <p:ext uri="{BB962C8B-B14F-4D97-AF65-F5344CB8AC3E}">
        <p14:creationId xmlns:p14="http://schemas.microsoft.com/office/powerpoint/2010/main" val="3958548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FB417EB1-3D12-452A-B7BF-09EF620B8816}" type="datetime1">
              <a:rPr lang="en-CA" smtClean="0"/>
              <a:t>2026-10-21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EDFA2F9-C25F-4A63-B46B-7B5C200A39D1}" type="slidenum">
              <a:rPr lang="en-CA" smtClean="0"/>
              <a:t>‹#›</a:t>
            </a:fld>
            <a:endParaRPr lang="en-CA"/>
          </a:p>
        </p:txBody>
      </p:sp>
    </p:spTree>
    <p:extLst>
      <p:ext uri="{BB962C8B-B14F-4D97-AF65-F5344CB8AC3E}">
        <p14:creationId xmlns:p14="http://schemas.microsoft.com/office/powerpoint/2010/main" val="5392173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Slide Number Placeholder 5"/>
          <p:cNvSpPr>
            <a:spLocks noGrp="1"/>
          </p:cNvSpPr>
          <p:nvPr>
            <p:ph type="sldNum" sz="quarter" idx="12"/>
          </p:nvPr>
        </p:nvSpPr>
        <p:spPr>
          <a:xfrm>
            <a:off x="9182792" y="6311900"/>
            <a:ext cx="2743200" cy="365125"/>
          </a:xfrm>
        </p:spPr>
        <p:txBody>
          <a:bodyPr/>
          <a:lstStyle>
            <a:lvl1pPr algn="r">
              <a:defRPr/>
            </a:lvl1pPr>
          </a:lstStyle>
          <a:p>
            <a:fld id="{EEDFA2F9-C25F-4A63-B46B-7B5C200A39D1}" type="slidenum">
              <a:rPr lang="en-CA" smtClean="0"/>
              <a:pPr/>
              <a:t>‹#›</a:t>
            </a:fld>
            <a:endParaRPr lang="en-CA"/>
          </a:p>
        </p:txBody>
      </p:sp>
    </p:spTree>
    <p:extLst>
      <p:ext uri="{BB962C8B-B14F-4D97-AF65-F5344CB8AC3E}">
        <p14:creationId xmlns:p14="http://schemas.microsoft.com/office/powerpoint/2010/main" val="30069267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A9CF441-4596-4875-BEC1-EBF733220A0B}" type="datetime1">
              <a:rPr lang="en-CA" smtClean="0"/>
              <a:t>2026-10-21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EDFA2F9-C25F-4A63-B46B-7B5C200A39D1}" type="slidenum">
              <a:rPr lang="en-CA" smtClean="0"/>
              <a:t>‹#›</a:t>
            </a:fld>
            <a:endParaRPr lang="en-CA"/>
          </a:p>
        </p:txBody>
      </p:sp>
      <p:pic>
        <p:nvPicPr>
          <p:cNvPr id="8" name="Picture 10" descr="Image result for fisheries and oceans canada"/>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44000" y="6535498"/>
            <a:ext cx="3048000" cy="322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695103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3C87611D-D6A0-40D5-AB33-66C783A2A90A}" type="datetime1">
              <a:rPr lang="en-CA" smtClean="0"/>
              <a:t>2026-10-21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EDFA2F9-C25F-4A63-B46B-7B5C200A39D1}" type="slidenum">
              <a:rPr lang="en-CA" smtClean="0"/>
              <a:t>‹#›</a:t>
            </a:fld>
            <a:endParaRPr lang="en-CA"/>
          </a:p>
        </p:txBody>
      </p:sp>
      <p:pic>
        <p:nvPicPr>
          <p:cNvPr id="9" name="Picture 10" descr="Image result for fisheries and oceans canada"/>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44000" y="6535498"/>
            <a:ext cx="3048000" cy="322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35173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98F25408-DDF4-4AF8-8D2D-FD7E5EF316B2}" type="datetime1">
              <a:rPr lang="en-CA" smtClean="0"/>
              <a:t>2026-10-21</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EEDFA2F9-C25F-4A63-B46B-7B5C200A39D1}" type="slidenum">
              <a:rPr lang="en-CA" smtClean="0"/>
              <a:t>‹#›</a:t>
            </a:fld>
            <a:endParaRPr lang="en-CA"/>
          </a:p>
        </p:txBody>
      </p:sp>
      <p:pic>
        <p:nvPicPr>
          <p:cNvPr id="11" name="Picture 10" descr="Image result for fisheries and oceans canada"/>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44000" y="6535498"/>
            <a:ext cx="3048000" cy="322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363768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5BFD9AB7-84A9-4333-8A80-D938A83DE9BA}" type="datetime1">
              <a:rPr lang="en-CA" smtClean="0"/>
              <a:t>2026-10-21</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EEDFA2F9-C25F-4A63-B46B-7B5C200A39D1}" type="slidenum">
              <a:rPr lang="en-CA" smtClean="0"/>
              <a:t>‹#›</a:t>
            </a:fld>
            <a:endParaRPr lang="en-CA"/>
          </a:p>
        </p:txBody>
      </p:sp>
    </p:spTree>
    <p:extLst>
      <p:ext uri="{BB962C8B-B14F-4D97-AF65-F5344CB8AC3E}">
        <p14:creationId xmlns:p14="http://schemas.microsoft.com/office/powerpoint/2010/main" val="23263422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309629-7423-421E-B157-2AE2D613A94A}" type="datetime1">
              <a:rPr lang="en-CA" smtClean="0"/>
              <a:t>2026-10-21</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EEDFA2F9-C25F-4A63-B46B-7B5C200A39D1}" type="slidenum">
              <a:rPr lang="en-CA" smtClean="0"/>
              <a:t>‹#›</a:t>
            </a:fld>
            <a:endParaRPr lang="en-CA"/>
          </a:p>
        </p:txBody>
      </p:sp>
    </p:spTree>
    <p:extLst>
      <p:ext uri="{BB962C8B-B14F-4D97-AF65-F5344CB8AC3E}">
        <p14:creationId xmlns:p14="http://schemas.microsoft.com/office/powerpoint/2010/main" val="3459662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F2EFF7D-0B0A-43F1-97DB-05D283964350}" type="datetime1">
              <a:rPr lang="en-CA" smtClean="0"/>
              <a:t>2026-10-21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EDFA2F9-C25F-4A63-B46B-7B5C200A39D1}" type="slidenum">
              <a:rPr lang="en-CA" smtClean="0"/>
              <a:t>‹#›</a:t>
            </a:fld>
            <a:endParaRPr lang="en-CA"/>
          </a:p>
        </p:txBody>
      </p:sp>
    </p:spTree>
    <p:extLst>
      <p:ext uri="{BB962C8B-B14F-4D97-AF65-F5344CB8AC3E}">
        <p14:creationId xmlns:p14="http://schemas.microsoft.com/office/powerpoint/2010/main" val="3151129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96F4B4F-B21E-470A-9AFA-E25E72F0DDD9}" type="datetime1">
              <a:rPr lang="en-CA" smtClean="0"/>
              <a:t>2026-10-21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EEDFA2F9-C25F-4A63-B46B-7B5C200A39D1}" type="slidenum">
              <a:rPr lang="en-CA" smtClean="0"/>
              <a:t>‹#›</a:t>
            </a:fld>
            <a:endParaRPr lang="en-CA"/>
          </a:p>
        </p:txBody>
      </p:sp>
    </p:spTree>
    <p:extLst>
      <p:ext uri="{BB962C8B-B14F-4D97-AF65-F5344CB8AC3E}">
        <p14:creationId xmlns:p14="http://schemas.microsoft.com/office/powerpoint/2010/main" val="1504216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95EF112F-C7CC-4480-8FD5-5BF18F7778C3}" type="datetime1">
              <a:rPr lang="en-CA" smtClean="0"/>
              <a:t>2026-10-21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EDFA2F9-C25F-4A63-B46B-7B5C200A39D1}" type="slidenum">
              <a:rPr lang="en-CA" smtClean="0"/>
              <a:t>‹#›</a:t>
            </a:fld>
            <a:endParaRPr lang="en-CA"/>
          </a:p>
        </p:txBody>
      </p:sp>
    </p:spTree>
    <p:extLst>
      <p:ext uri="{BB962C8B-B14F-4D97-AF65-F5344CB8AC3E}">
        <p14:creationId xmlns:p14="http://schemas.microsoft.com/office/powerpoint/2010/main" val="488334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5DC9FC51-B7A9-487A-AA2F-19405CD1E313}" type="datetime1">
              <a:rPr lang="en-CA" smtClean="0"/>
              <a:t>2026-10-21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EEDFA2F9-C25F-4A63-B46B-7B5C200A39D1}" type="slidenum">
              <a:rPr lang="en-CA" smtClean="0"/>
              <a:t>‹#›</a:t>
            </a:fld>
            <a:endParaRPr lang="en-CA"/>
          </a:p>
        </p:txBody>
      </p:sp>
    </p:spTree>
    <p:extLst>
      <p:ext uri="{BB962C8B-B14F-4D97-AF65-F5344CB8AC3E}">
        <p14:creationId xmlns:p14="http://schemas.microsoft.com/office/powerpoint/2010/main" val="2174939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28F261-8CD6-49FD-963A-2F1C91CADB4C}" type="datetime1">
              <a:rPr lang="en-CA" smtClean="0"/>
              <a:t>2026-10-21</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DFA2F9-C25F-4A63-B46B-7B5C200A39D1}" type="slidenum">
              <a:rPr lang="en-CA" smtClean="0"/>
              <a:t>‹#›</a:t>
            </a:fld>
            <a:endParaRPr lang="en-CA"/>
          </a:p>
        </p:txBody>
      </p:sp>
      <p:sp>
        <p:nvSpPr>
          <p:cNvPr id="8" name="TextBox 7">
            <a:extLst>
              <a:ext uri="{FF2B5EF4-FFF2-40B4-BE49-F238E27FC236}">
                <a16:creationId xmlns:a16="http://schemas.microsoft.com/office/drawing/2014/main" id="{5F868BC2-8B6F-05E2-9CF1-6F2CEC92D69E}"/>
              </a:ext>
            </a:extLst>
          </p:cNvPr>
          <p:cNvSpPr txBox="1"/>
          <p:nvPr userDrawn="1">
            <p:extLst>
              <p:ext uri="{1162E1C5-73C7-4A58-AE30-91384D911F3F}">
                <p184:classification xmlns:p184="http://schemas.microsoft.com/office/powerpoint/2018/4/main" val="hdr"/>
              </p:ext>
            </p:extLst>
          </p:nvPr>
        </p:nvSpPr>
        <p:spPr>
          <a:xfrm>
            <a:off x="10287000" y="63500"/>
            <a:ext cx="1873250"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Unclassified - Non-Classifié</a:t>
            </a:r>
          </a:p>
        </p:txBody>
      </p:sp>
    </p:spTree>
    <p:extLst>
      <p:ext uri="{BB962C8B-B14F-4D97-AF65-F5344CB8AC3E}">
        <p14:creationId xmlns:p14="http://schemas.microsoft.com/office/powerpoint/2010/main" val="3692151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native-land.c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TESA-workshops/LRP"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1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dfo-mpo.gc.ca/reports-rapports/regs/sff-cpd/precaution-back-fiche-eng.ht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10.png"/><Relationship Id="rId2" Type="http://schemas.openxmlformats.org/officeDocument/2006/relationships/image" Target="../media/image11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ec.europa.eu/oceans-and-fisheries/policy/common-fisheries-policy-cfp_en"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image" Target="../media/image2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1.png"/><Relationship Id="rId2" Type="http://schemas.openxmlformats.org/officeDocument/2006/relationships/image" Target="../media/image271.png"/><Relationship Id="rId1" Type="http://schemas.openxmlformats.org/officeDocument/2006/relationships/slideLayout" Target="../slideLayouts/slideLayout2.xml"/><Relationship Id="rId5" Type="http://schemas.openxmlformats.org/officeDocument/2006/relationships/image" Target="../media/image292.png"/><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92.png"/><Relationship Id="rId4" Type="http://schemas.openxmlformats.org/officeDocument/2006/relationships/image" Target="../media/image22.png"/></Relationships>
</file>

<file path=ppt/slides/_rels/slide40.xml.rels><?xml version="1.0" encoding="UTF-8" standalone="yes"?>
<Relationships xmlns="http://schemas.openxmlformats.org/package/2006/relationships"><Relationship Id="rId3" Type="http://schemas.openxmlformats.org/officeDocument/2006/relationships/image" Target="../media/image253.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292.png"/><Relationship Id="rId4" Type="http://schemas.openxmlformats.org/officeDocument/2006/relationships/image" Target="../media/image22.png"/></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0.png"/></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s://github.com/TESA-workshops/Ref-Pt-101" TargetMode="Externa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8" Type="http://schemas.openxmlformats.org/officeDocument/2006/relationships/image" Target="../media/image42.jpeg"/><Relationship Id="rId3" Type="http://schemas.openxmlformats.org/officeDocument/2006/relationships/image" Target="../media/image390.png"/><Relationship Id="rId7" Type="http://schemas.openxmlformats.org/officeDocument/2006/relationships/image" Target="../media/image4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0.jpeg"/><Relationship Id="rId5" Type="http://schemas.openxmlformats.org/officeDocument/2006/relationships/image" Target="../media/image39.jpeg"/><Relationship Id="rId10" Type="http://schemas.openxmlformats.org/officeDocument/2006/relationships/image" Target="../media/image44.jpeg"/><Relationship Id="rId4" Type="http://schemas.openxmlformats.org/officeDocument/2006/relationships/image" Target="../media/image38.jpeg"/><Relationship Id="rId9" Type="http://schemas.openxmlformats.org/officeDocument/2006/relationships/image" Target="../media/image43.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7.wmf"/><Relationship Id="rId4" Type="http://schemas.openxmlformats.org/officeDocument/2006/relationships/oleObject" Target="../embeddings/oleObject1.bin"/></Relationships>
</file>

<file path=ppt/slides/_rels/slide52.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53.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5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30.png"/></Relationships>
</file>

<file path=ppt/slides/_rels/slide55.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18" Type="http://schemas.openxmlformats.org/officeDocument/2006/relationships/image" Target="../media/image66.png"/><Relationship Id="rId3" Type="http://schemas.openxmlformats.org/officeDocument/2006/relationships/hyperlink" Target="https://doi.org/10.1139/F10-077" TargetMode="External"/><Relationship Id="rId7" Type="http://schemas.openxmlformats.org/officeDocument/2006/relationships/image" Target="../media/image551.png"/><Relationship Id="rId12" Type="http://schemas.openxmlformats.org/officeDocument/2006/relationships/image" Target="../media/image60.png"/><Relationship Id="rId17" Type="http://schemas.openxmlformats.org/officeDocument/2006/relationships/image" Target="../media/image65.png"/><Relationship Id="rId2" Type="http://schemas.openxmlformats.org/officeDocument/2006/relationships/image" Target="../media/image54.png"/><Relationship Id="rId16"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58.png"/><Relationship Id="rId15" Type="http://schemas.openxmlformats.org/officeDocument/2006/relationships/image" Target="../media/image63.png"/><Relationship Id="rId10" Type="http://schemas.openxmlformats.org/officeDocument/2006/relationships/image" Target="../media/image57.png"/><Relationship Id="rId19" Type="http://schemas.openxmlformats.org/officeDocument/2006/relationships/image" Target="../media/image67.png"/><Relationship Id="rId4" Type="http://schemas.openxmlformats.org/officeDocument/2006/relationships/hyperlink" Target="https://doi.org/10.1111/faf.12534" TargetMode="External"/><Relationship Id="rId9" Type="http://schemas.openxmlformats.org/officeDocument/2006/relationships/image" Target="../media/image53.png"/><Relationship Id="rId14" Type="http://schemas.openxmlformats.org/officeDocument/2006/relationships/image" Target="../media/image62.png"/></Relationships>
</file>

<file path=ppt/slides/_rels/slide56.xml.rels><?xml version="1.0" encoding="UTF-8" standalone="yes"?>
<Relationships xmlns="http://schemas.openxmlformats.org/package/2006/relationships"><Relationship Id="rId3" Type="http://schemas.openxmlformats.org/officeDocument/2006/relationships/hyperlink" Target="https://doi.org/10.1139/f07-156" TargetMode="External"/><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hyperlink" Target="https://doi.org/10.1139/f96-069" TargetMode="External"/><Relationship Id="rId4" Type="http://schemas.openxmlformats.org/officeDocument/2006/relationships/hyperlink" Target="https://doi.org/10.1139/F08-055"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0.png"/><Relationship Id="rId2" Type="http://schemas.openxmlformats.org/officeDocument/2006/relationships/image" Target="../media/image59.png"/><Relationship Id="rId1" Type="http://schemas.openxmlformats.org/officeDocument/2006/relationships/slideLayout" Target="../slideLayouts/slideLayout2.xml"/><Relationship Id="rId5" Type="http://schemas.openxmlformats.org/officeDocument/2006/relationships/image" Target="../media/image610.png"/><Relationship Id="rId4" Type="http://schemas.openxmlformats.org/officeDocument/2006/relationships/image" Target="../media/image600.png"/></Relationships>
</file>

<file path=ppt/slides/_rels/slide5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61.png"/><Relationship Id="rId7" Type="http://schemas.openxmlformats.org/officeDocument/2006/relationships/image" Target="../media/image630.png"/><Relationship Id="rId2" Type="http://schemas.openxmlformats.org/officeDocument/2006/relationships/image" Target="../media/image251.png"/><Relationship Id="rId1" Type="http://schemas.openxmlformats.org/officeDocument/2006/relationships/slideLayout" Target="../slideLayouts/slideLayout2.xml"/><Relationship Id="rId6" Type="http://schemas.openxmlformats.org/officeDocument/2006/relationships/image" Target="../media/image291.png"/><Relationship Id="rId5" Type="http://schemas.openxmlformats.org/officeDocument/2006/relationships/image" Target="../media/image280.png"/><Relationship Id="rId4" Type="http://schemas.openxmlformats.org/officeDocument/2006/relationships/image" Target="../media/image270.png"/></Relationships>
</file>

<file path=ppt/slides/_rels/slide6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6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670.png"/><Relationship Id="rId1" Type="http://schemas.openxmlformats.org/officeDocument/2006/relationships/slideLayout" Target="../slideLayouts/slideLayout2.xml"/><Relationship Id="rId4" Type="http://schemas.openxmlformats.org/officeDocument/2006/relationships/image" Target="../media/image290.png"/></Relationships>
</file>

<file path=ppt/slides/_rels/slide68.xml.rels><?xml version="1.0" encoding="UTF-8" standalone="yes"?>
<Relationships xmlns="http://schemas.openxmlformats.org/package/2006/relationships"><Relationship Id="rId2" Type="http://schemas.openxmlformats.org/officeDocument/2006/relationships/image" Target="../media/image69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 Id="rId4" Type="http://schemas.openxmlformats.org/officeDocument/2006/relationships/image" Target="../media/image720.png"/></Relationships>
</file>

<file path=ppt/slides/_rels/slide7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740.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73.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image" Target="../media/image800.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50.png"/><Relationship Id="rId2" Type="http://schemas.openxmlformats.org/officeDocument/2006/relationships/image" Target="../media/image86.png"/><Relationship Id="rId1" Type="http://schemas.openxmlformats.org/officeDocument/2006/relationships/slideLayout" Target="../slideLayouts/slideLayout2.xml"/><Relationship Id="rId4" Type="http://schemas.openxmlformats.org/officeDocument/2006/relationships/image" Target="../media/image87.png"/></Relationships>
</file>

<file path=ppt/slides/_rels/slide7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hyperlink" Target="https://www.pnas.org/doi/epdf/10.1073/pnas.2100695118" TargetMode="Externa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7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78.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6.png"/></Relationships>
</file>

<file path=ppt/slides/_rels/slide79.xml.rels><?xml version="1.0" encoding="UTF-8" standalone="yes"?>
<Relationships xmlns="http://schemas.openxmlformats.org/package/2006/relationships"><Relationship Id="rId2" Type="http://schemas.openxmlformats.org/officeDocument/2006/relationships/image" Target="../media/image89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970.png"/><Relationship Id="rId2" Type="http://schemas.openxmlformats.org/officeDocument/2006/relationships/image" Target="../media/image961.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8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001.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8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85.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1001.png"/><Relationship Id="rId7" Type="http://schemas.openxmlformats.org/officeDocument/2006/relationships/image" Target="../media/image112.png"/><Relationship Id="rId2" Type="http://schemas.openxmlformats.org/officeDocument/2006/relationships/image" Target="../media/image108.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86.xml.rels><?xml version="1.0" encoding="UTF-8" standalone="yes"?>
<Relationships xmlns="http://schemas.openxmlformats.org/package/2006/relationships"><Relationship Id="rId3" Type="http://schemas.openxmlformats.org/officeDocument/2006/relationships/image" Target="../media/image1001.png"/><Relationship Id="rId2" Type="http://schemas.openxmlformats.org/officeDocument/2006/relationships/image" Target="../media/image114.png"/><Relationship Id="rId1" Type="http://schemas.openxmlformats.org/officeDocument/2006/relationships/slideLayout" Target="../slideLayouts/slideLayout2.xml"/><Relationship Id="rId4" Type="http://schemas.openxmlformats.org/officeDocument/2006/relationships/image" Target="../media/image115.png"/></Relationships>
</file>

<file path=ppt/slides/_rels/slide87.xml.rels><?xml version="1.0" encoding="UTF-8" standalone="yes"?>
<Relationships xmlns="http://schemas.openxmlformats.org/package/2006/relationships"><Relationship Id="rId3" Type="http://schemas.openxmlformats.org/officeDocument/2006/relationships/image" Target="../media/image1001.png"/><Relationship Id="rId7" Type="http://schemas.openxmlformats.org/officeDocument/2006/relationships/image" Target="../media/image118.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780.png"/></Relationships>
</file>

<file path=ppt/slides/_rels/slide88.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9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91.xml.rels><?xml version="1.0" encoding="UTF-8" standalone="yes"?>
<Relationships xmlns="http://schemas.openxmlformats.org/package/2006/relationships"><Relationship Id="rId3" Type="http://schemas.openxmlformats.org/officeDocument/2006/relationships/image" Target="../media/image127.png"/><Relationship Id="rId7" Type="http://schemas.openxmlformats.org/officeDocument/2006/relationships/image" Target="../media/image129.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28.png"/><Relationship Id="rId5" Type="http://schemas.openxmlformats.org/officeDocument/2006/relationships/image" Target="../media/image126.png"/><Relationship Id="rId4" Type="http://schemas.openxmlformats.org/officeDocument/2006/relationships/image" Target="../media/image125.png"/></Relationships>
</file>

<file path=ppt/slides/_rels/slide92.xml.rels><?xml version="1.0" encoding="UTF-8" standalone="yes"?>
<Relationships xmlns="http://schemas.openxmlformats.org/package/2006/relationships"><Relationship Id="rId8" Type="http://schemas.openxmlformats.org/officeDocument/2006/relationships/image" Target="../media/image131.png"/><Relationship Id="rId3" Type="http://schemas.openxmlformats.org/officeDocument/2006/relationships/image" Target="../media/image127.png"/><Relationship Id="rId7" Type="http://schemas.openxmlformats.org/officeDocument/2006/relationships/image" Target="../media/image129.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30.png"/><Relationship Id="rId5" Type="http://schemas.openxmlformats.org/officeDocument/2006/relationships/image" Target="../media/image126.png"/><Relationship Id="rId4" Type="http://schemas.openxmlformats.org/officeDocument/2006/relationships/image" Target="../media/image125.png"/></Relationships>
</file>

<file path=ppt/slides/_rels/slide93.xml.rels><?xml version="1.0" encoding="UTF-8" standalone="yes"?>
<Relationships xmlns="http://schemas.openxmlformats.org/package/2006/relationships"><Relationship Id="rId3" Type="http://schemas.openxmlformats.org/officeDocument/2006/relationships/image" Target="../media/image127.png"/><Relationship Id="rId7" Type="http://schemas.openxmlformats.org/officeDocument/2006/relationships/image" Target="../media/image129.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32.png"/><Relationship Id="rId5" Type="http://schemas.openxmlformats.org/officeDocument/2006/relationships/image" Target="../media/image126.png"/><Relationship Id="rId4" Type="http://schemas.openxmlformats.org/officeDocument/2006/relationships/image" Target="../media/image125.png"/></Relationships>
</file>

<file path=ppt/slides/_rels/slide94.xml.rels><?xml version="1.0" encoding="UTF-8" standalone="yes"?>
<Relationships xmlns="http://schemas.openxmlformats.org/package/2006/relationships"><Relationship Id="rId3" Type="http://schemas.openxmlformats.org/officeDocument/2006/relationships/image" Target="../media/image1280.png"/><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290.png"/><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96.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6.png"/><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97.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7.png"/><Relationship Id="rId1" Type="http://schemas.openxmlformats.org/officeDocument/2006/relationships/slideLayout" Target="../slideLayouts/slideLayout2.xml"/><Relationship Id="rId6" Type="http://schemas.openxmlformats.org/officeDocument/2006/relationships/image" Target="../media/image1360.png"/><Relationship Id="rId5" Type="http://schemas.openxmlformats.org/officeDocument/2006/relationships/image" Target="../media/image1350.png"/><Relationship Id="rId4" Type="http://schemas.openxmlformats.org/officeDocument/2006/relationships/image" Target="../media/image1340.png"/><Relationship Id="rId9" Type="http://schemas.openxmlformats.org/officeDocument/2006/relationships/image" Target="../media/image940.png"/></Relationships>
</file>

<file path=ppt/slides/_rels/slide9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70.png"/><Relationship Id="rId1" Type="http://schemas.openxmlformats.org/officeDocument/2006/relationships/slideLayout" Target="../slideLayouts/slideLayout2.xml"/><Relationship Id="rId11" Type="http://schemas.openxmlformats.org/officeDocument/2006/relationships/image" Target="../media/image960.png"/><Relationship Id="rId10" Type="http://schemas.openxmlformats.org/officeDocument/2006/relationships/image" Target="../media/image950.png"/><Relationship Id="rId4" Type="http://schemas.openxmlformats.org/officeDocument/2006/relationships/image" Target="../media/image135.png"/><Relationship Id="rId9" Type="http://schemas.openxmlformats.org/officeDocument/2006/relationships/image" Target="../media/image940.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102.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image" Target="../media/image141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s://github.com/TESA-workshops/Ref-Pt-10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498289"/>
          </a:xfrm>
        </p:spPr>
        <p:txBody>
          <a:bodyPr/>
          <a:lstStyle/>
          <a:p>
            <a:r>
              <a:rPr lang="en-US" dirty="0"/>
              <a:t>Reference Points 101</a:t>
            </a:r>
            <a:endParaRPr lang="en-CA" dirty="0"/>
          </a:p>
        </p:txBody>
      </p:sp>
      <p:sp>
        <p:nvSpPr>
          <p:cNvPr id="3" name="Subtitle 2"/>
          <p:cNvSpPr>
            <a:spLocks noGrp="1"/>
          </p:cNvSpPr>
          <p:nvPr>
            <p:ph type="subTitle" idx="1"/>
          </p:nvPr>
        </p:nvSpPr>
        <p:spPr>
          <a:xfrm>
            <a:off x="1524000" y="2866747"/>
            <a:ext cx="9144000" cy="1655762"/>
          </a:xfrm>
        </p:spPr>
        <p:txBody>
          <a:bodyPr>
            <a:normAutofit lnSpcReduction="10000"/>
          </a:bodyPr>
          <a:lstStyle/>
          <a:p>
            <a:r>
              <a:rPr lang="en-US" dirty="0"/>
              <a:t>Robyn Forrest and Tim Barrett</a:t>
            </a:r>
          </a:p>
          <a:p>
            <a:r>
              <a:rPr lang="en-US" dirty="0"/>
              <a:t>Nov 15 and 22, 2022</a:t>
            </a:r>
          </a:p>
          <a:p>
            <a:endParaRPr lang="en-US" dirty="0"/>
          </a:p>
          <a:p>
            <a:r>
              <a:rPr lang="en-US" b="1" dirty="0"/>
              <a:t>Technical Expertise in Stock Assessment (TESA) Webinar</a:t>
            </a:r>
            <a:endParaRPr lang="en-CA" b="1" dirty="0"/>
          </a:p>
        </p:txBody>
      </p:sp>
      <p:pic>
        <p:nvPicPr>
          <p:cNvPr id="4" name="Picture 10" descr="Image result for fisheries and oceans canada"/>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480426" y="5878285"/>
            <a:ext cx="7231147" cy="765109"/>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p:txBody>
          <a:bodyPr/>
          <a:lstStyle/>
          <a:p>
            <a:fld id="{EEDFA2F9-C25F-4A63-B46B-7B5C200A39D1}" type="slidenum">
              <a:rPr lang="en-CA" smtClean="0"/>
              <a:t>1</a:t>
            </a:fld>
            <a:endParaRPr lang="en-CA"/>
          </a:p>
        </p:txBody>
      </p:sp>
    </p:spTree>
    <p:extLst>
      <p:ext uri="{BB962C8B-B14F-4D97-AF65-F5344CB8AC3E}">
        <p14:creationId xmlns:p14="http://schemas.microsoft.com/office/powerpoint/2010/main" val="3119061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164" y="39543"/>
            <a:ext cx="10515600" cy="1325563"/>
          </a:xfrm>
        </p:spPr>
        <p:txBody>
          <a:bodyPr/>
          <a:lstStyle/>
          <a:p>
            <a:r>
              <a:rPr lang="en-US" dirty="0">
                <a:hlinkClick r:id="rId3"/>
              </a:rPr>
              <a:t>https://native-land.ca/</a:t>
            </a:r>
            <a:endParaRPr lang="en-US" dirty="0"/>
          </a:p>
        </p:txBody>
      </p:sp>
      <p:pic>
        <p:nvPicPr>
          <p:cNvPr id="4" name="Content Placeholder 3"/>
          <p:cNvPicPr>
            <a:picLocks noGrp="1" noChangeAspect="1"/>
          </p:cNvPicPr>
          <p:nvPr>
            <p:ph idx="1"/>
          </p:nvPr>
        </p:nvPicPr>
        <p:blipFill>
          <a:blip r:embed="rId4"/>
          <a:stretch>
            <a:fillRect/>
          </a:stretch>
        </p:blipFill>
        <p:spPr>
          <a:xfrm>
            <a:off x="14186" y="1195240"/>
            <a:ext cx="12177814" cy="5414523"/>
          </a:xfrm>
          <a:prstGeom prst="rect">
            <a:avLst/>
          </a:prstGeom>
        </p:spPr>
      </p:pic>
      <p:sp>
        <p:nvSpPr>
          <p:cNvPr id="3" name="Slide Number Placeholder 2"/>
          <p:cNvSpPr>
            <a:spLocks noGrp="1"/>
          </p:cNvSpPr>
          <p:nvPr>
            <p:ph type="sldNum" sz="quarter" idx="12"/>
          </p:nvPr>
        </p:nvSpPr>
        <p:spPr/>
        <p:txBody>
          <a:bodyPr/>
          <a:lstStyle/>
          <a:p>
            <a:fld id="{EEDFA2F9-C25F-4A63-B46B-7B5C200A39D1}" type="slidenum">
              <a:rPr lang="en-CA" smtClean="0"/>
              <a:t>2</a:t>
            </a:fld>
            <a:endParaRPr lang="en-CA"/>
          </a:p>
        </p:txBody>
      </p:sp>
    </p:spTree>
    <p:extLst>
      <p:ext uri="{BB962C8B-B14F-4D97-AF65-F5344CB8AC3E}">
        <p14:creationId xmlns:p14="http://schemas.microsoft.com/office/powerpoint/2010/main" val="339618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a:t>
            </a:r>
          </a:p>
        </p:txBody>
      </p:sp>
      <p:sp>
        <p:nvSpPr>
          <p:cNvPr id="3" name="Content Placeholder 2"/>
          <p:cNvSpPr>
            <a:spLocks noGrp="1"/>
          </p:cNvSpPr>
          <p:nvPr>
            <p:ph idx="1"/>
          </p:nvPr>
        </p:nvSpPr>
        <p:spPr>
          <a:xfrm>
            <a:off x="838200" y="1545996"/>
            <a:ext cx="10515600" cy="5137608"/>
          </a:xfrm>
        </p:spPr>
        <p:txBody>
          <a:bodyPr>
            <a:noAutofit/>
          </a:bodyPr>
          <a:lstStyle/>
          <a:p>
            <a:r>
              <a:rPr lang="en-US" dirty="0"/>
              <a:t>This webinar comes after the 2021 joint TESA/National Operational Guidelines (NOG) Taskforce workshop on “</a:t>
            </a:r>
            <a:r>
              <a:rPr lang="en-US" i="1" dirty="0"/>
              <a:t>Limit Reference Points and the Fish Stocks Provisions</a:t>
            </a:r>
            <a:r>
              <a:rPr lang="en-US" dirty="0"/>
              <a:t>”.</a:t>
            </a:r>
          </a:p>
          <a:p>
            <a:r>
              <a:rPr lang="en-US" dirty="0"/>
              <a:t>Feedback from the workshop indicated a desire for more training in the theory and calculation of reference points.</a:t>
            </a:r>
          </a:p>
          <a:p>
            <a:r>
              <a:rPr lang="en-US" dirty="0"/>
              <a:t>This webinar tries to address this gap by focusing on the more technical aspects of calculating reference points. </a:t>
            </a:r>
          </a:p>
          <a:p>
            <a:r>
              <a:rPr lang="en-US" dirty="0"/>
              <a:t>Participants are invited to review the materials from the 2021 workshop for a deeper dive into considerations for selecting LRPs</a:t>
            </a:r>
          </a:p>
          <a:p>
            <a:pPr lvl="1"/>
            <a:r>
              <a:rPr lang="en-US" dirty="0">
                <a:hlinkClick r:id="rId3"/>
              </a:rPr>
              <a:t>https://github.com/TESA-workshops/LRP</a:t>
            </a:r>
            <a:endParaRPr lang="en-US" dirty="0"/>
          </a:p>
          <a:p>
            <a:pPr lvl="1"/>
            <a:r>
              <a:rPr lang="en-US" dirty="0"/>
              <a:t>The proceedings from the 2021 workshop will be published as a DFO Technical Report</a:t>
            </a:r>
          </a:p>
        </p:txBody>
      </p:sp>
      <p:sp>
        <p:nvSpPr>
          <p:cNvPr id="4" name="Slide Number Placeholder 3"/>
          <p:cNvSpPr>
            <a:spLocks noGrp="1"/>
          </p:cNvSpPr>
          <p:nvPr>
            <p:ph type="sldNum" sz="quarter" idx="12"/>
          </p:nvPr>
        </p:nvSpPr>
        <p:spPr/>
        <p:txBody>
          <a:bodyPr/>
          <a:lstStyle/>
          <a:p>
            <a:fld id="{EEDFA2F9-C25F-4A63-B46B-7B5C200A39D1}" type="slidenum">
              <a:rPr lang="en-CA" smtClean="0"/>
              <a:t>3</a:t>
            </a:fld>
            <a:endParaRPr lang="en-CA"/>
          </a:p>
        </p:txBody>
      </p:sp>
    </p:spTree>
    <p:extLst>
      <p:ext uri="{BB962C8B-B14F-4D97-AF65-F5344CB8AC3E}">
        <p14:creationId xmlns:p14="http://schemas.microsoft.com/office/powerpoint/2010/main" val="608481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02B9A-394D-45C2-8EAC-C043D4A3A4E8}"/>
              </a:ext>
            </a:extLst>
          </p:cNvPr>
          <p:cNvSpPr>
            <a:spLocks noGrp="1"/>
          </p:cNvSpPr>
          <p:nvPr>
            <p:ph type="title"/>
          </p:nvPr>
        </p:nvSpPr>
        <p:spPr>
          <a:xfrm>
            <a:off x="630811" y="157735"/>
            <a:ext cx="10515600" cy="1325563"/>
          </a:xfrm>
        </p:spPr>
        <p:txBody>
          <a:bodyPr/>
          <a:lstStyle/>
          <a:p>
            <a:r>
              <a:rPr lang="en-US" dirty="0"/>
              <a:t>Objectives</a:t>
            </a:r>
          </a:p>
        </p:txBody>
      </p:sp>
      <p:sp>
        <p:nvSpPr>
          <p:cNvPr id="3" name="Content Placeholder 2">
            <a:extLst>
              <a:ext uri="{FF2B5EF4-FFF2-40B4-BE49-F238E27FC236}">
                <a16:creationId xmlns:a16="http://schemas.microsoft.com/office/drawing/2014/main" id="{D0F71045-0561-430B-9CD6-2B67780AF3CE}"/>
              </a:ext>
            </a:extLst>
          </p:cNvPr>
          <p:cNvSpPr>
            <a:spLocks noGrp="1"/>
          </p:cNvSpPr>
          <p:nvPr>
            <p:ph idx="1"/>
          </p:nvPr>
        </p:nvSpPr>
        <p:spPr>
          <a:xfrm>
            <a:off x="630810" y="1335431"/>
            <a:ext cx="11237535" cy="4351338"/>
          </a:xfrm>
        </p:spPr>
        <p:txBody>
          <a:bodyPr>
            <a:noAutofit/>
          </a:bodyPr>
          <a:lstStyle/>
          <a:p>
            <a:pPr marL="0" indent="0" rtl="0">
              <a:lnSpc>
                <a:spcPct val="100000"/>
              </a:lnSpc>
              <a:spcBef>
                <a:spcPts val="1200"/>
              </a:spcBef>
              <a:spcAft>
                <a:spcPts val="1200"/>
              </a:spcAft>
              <a:buNone/>
            </a:pPr>
            <a:r>
              <a:rPr lang="en-US" b="0" i="0" u="none" strike="noStrike" dirty="0">
                <a:solidFill>
                  <a:srgbClr val="000000"/>
                </a:solidFill>
                <a:effectLst/>
              </a:rPr>
              <a:t>Explore some of the practical aspects (and challenges) of calculating reference points. By the end of the webinars, participants should have:</a:t>
            </a:r>
            <a:endParaRPr lang="en-US" sz="4000" b="0" dirty="0">
              <a:effectLst/>
            </a:endParaRPr>
          </a:p>
          <a:p>
            <a:pPr marL="1041400" lvl="1" indent="-457200">
              <a:lnSpc>
                <a:spcPct val="100000"/>
              </a:lnSpc>
              <a:spcBef>
                <a:spcPts val="0"/>
              </a:spcBef>
              <a:buFont typeface="+mj-lt"/>
              <a:buAutoNum type="arabicPeriod"/>
            </a:pPr>
            <a:r>
              <a:rPr lang="en-US" b="0" i="0" u="none" strike="noStrike" dirty="0">
                <a:solidFill>
                  <a:srgbClr val="000000"/>
                </a:solidFill>
                <a:effectLst/>
              </a:rPr>
              <a:t>An understanding of the concept of equilibrium as it relates to reference points;</a:t>
            </a:r>
            <a:endParaRPr lang="en-US" sz="3600" dirty="0"/>
          </a:p>
          <a:p>
            <a:pPr marL="1041400" lvl="1" indent="-457200">
              <a:lnSpc>
                <a:spcPct val="100000"/>
              </a:lnSpc>
              <a:spcBef>
                <a:spcPts val="0"/>
              </a:spcBef>
              <a:buFont typeface="+mj-lt"/>
              <a:buAutoNum type="arabicPeriod"/>
            </a:pPr>
            <a:r>
              <a:rPr lang="en-US" b="0" i="0" u="none" strike="noStrike" dirty="0">
                <a:solidFill>
                  <a:srgbClr val="000000"/>
                </a:solidFill>
                <a:effectLst/>
              </a:rPr>
              <a:t>An understanding of calculation of equilibrium reference points based on </a:t>
            </a:r>
            <a:r>
              <a:rPr lang="en-US" b="0" i="1" u="none" strike="noStrike" dirty="0">
                <a:solidFill>
                  <a:srgbClr val="000000"/>
                </a:solidFill>
                <a:effectLst/>
              </a:rPr>
              <a:t>B</a:t>
            </a:r>
            <a:r>
              <a:rPr lang="en-US" b="0" i="0" u="none" strike="noStrike" baseline="-25000" dirty="0">
                <a:solidFill>
                  <a:srgbClr val="000000"/>
                </a:solidFill>
                <a:effectLst/>
              </a:rPr>
              <a:t>0</a:t>
            </a:r>
            <a:r>
              <a:rPr lang="en-US" b="0" i="0" u="none" strike="noStrike" dirty="0">
                <a:solidFill>
                  <a:srgbClr val="000000"/>
                </a:solidFill>
                <a:effectLst/>
              </a:rPr>
              <a:t>, MSY, and the spawning potential ratio (SPR);</a:t>
            </a:r>
            <a:endParaRPr lang="en-US" sz="3600" dirty="0"/>
          </a:p>
          <a:p>
            <a:pPr marL="1041400" lvl="1" indent="-457200">
              <a:lnSpc>
                <a:spcPct val="100000"/>
              </a:lnSpc>
              <a:spcBef>
                <a:spcPts val="0"/>
              </a:spcBef>
              <a:buFont typeface="+mj-lt"/>
              <a:buAutoNum type="arabicPeriod"/>
            </a:pPr>
            <a:r>
              <a:rPr lang="en-US" b="0" i="0" u="none" strike="noStrike" dirty="0">
                <a:solidFill>
                  <a:srgbClr val="000000"/>
                </a:solidFill>
                <a:effectLst/>
              </a:rPr>
              <a:t>Awareness of non-equilibrium reference points (e.g., minimum historical biomass, index-based approaches, dynamic </a:t>
            </a:r>
            <a:r>
              <a:rPr lang="en-US" b="0" i="1" u="none" strike="noStrike" dirty="0">
                <a:solidFill>
                  <a:srgbClr val="000000"/>
                </a:solidFill>
                <a:effectLst/>
              </a:rPr>
              <a:t>B</a:t>
            </a:r>
            <a:r>
              <a:rPr lang="en-US" b="0" i="0" u="none" strike="noStrike" baseline="-25000" dirty="0">
                <a:solidFill>
                  <a:srgbClr val="000000"/>
                </a:solidFill>
                <a:effectLst/>
              </a:rPr>
              <a:t>0</a:t>
            </a:r>
            <a:r>
              <a:rPr lang="en-US" b="0" i="0" u="none" strike="noStrike" dirty="0">
                <a:solidFill>
                  <a:srgbClr val="000000"/>
                </a:solidFill>
                <a:effectLst/>
              </a:rPr>
              <a:t>); and</a:t>
            </a:r>
            <a:endParaRPr lang="en-US" sz="3600" dirty="0"/>
          </a:p>
          <a:p>
            <a:pPr marL="1041400" lvl="1" indent="-457200">
              <a:lnSpc>
                <a:spcPct val="100000"/>
              </a:lnSpc>
              <a:spcBef>
                <a:spcPts val="0"/>
              </a:spcBef>
              <a:buFont typeface="+mj-lt"/>
              <a:buAutoNum type="arabicPeriod"/>
            </a:pPr>
            <a:r>
              <a:rPr lang="en-US" b="0" i="0" u="none" strike="noStrike" dirty="0">
                <a:solidFill>
                  <a:srgbClr val="000000"/>
                </a:solidFill>
                <a:effectLst/>
              </a:rPr>
              <a:t>Awareness of some approaches for data-limited stocks.</a:t>
            </a:r>
          </a:p>
        </p:txBody>
      </p:sp>
      <p:sp>
        <p:nvSpPr>
          <p:cNvPr id="4" name="Rectangle 3"/>
          <p:cNvSpPr/>
          <p:nvPr/>
        </p:nvSpPr>
        <p:spPr>
          <a:xfrm>
            <a:off x="1046285" y="2268415"/>
            <a:ext cx="10726615" cy="123971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1046284" y="3508131"/>
            <a:ext cx="10726615" cy="1239716"/>
          </a:xfrm>
          <a:prstGeom prst="rect">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6" name="TextBox 5"/>
          <p:cNvSpPr txBox="1"/>
          <p:nvPr/>
        </p:nvSpPr>
        <p:spPr>
          <a:xfrm>
            <a:off x="4448908" y="5352519"/>
            <a:ext cx="3780692" cy="954107"/>
          </a:xfrm>
          <a:prstGeom prst="rect">
            <a:avLst/>
          </a:prstGeom>
          <a:noFill/>
        </p:spPr>
        <p:txBody>
          <a:bodyPr wrap="square" rtlCol="0">
            <a:spAutoFit/>
          </a:bodyPr>
          <a:lstStyle/>
          <a:p>
            <a:r>
              <a:rPr lang="en-US" sz="2800" dirty="0">
                <a:solidFill>
                  <a:srgbClr val="FF0000"/>
                </a:solidFill>
              </a:rPr>
              <a:t>This week</a:t>
            </a:r>
          </a:p>
          <a:p>
            <a:r>
              <a:rPr lang="en-US" sz="2800" dirty="0">
                <a:solidFill>
                  <a:srgbClr val="0000FF"/>
                </a:solidFill>
              </a:rPr>
              <a:t>Next week</a:t>
            </a:r>
          </a:p>
        </p:txBody>
      </p:sp>
      <p:sp>
        <p:nvSpPr>
          <p:cNvPr id="7" name="Slide Number Placeholder 6"/>
          <p:cNvSpPr>
            <a:spLocks noGrp="1"/>
          </p:cNvSpPr>
          <p:nvPr>
            <p:ph type="sldNum" sz="quarter" idx="12"/>
          </p:nvPr>
        </p:nvSpPr>
        <p:spPr/>
        <p:txBody>
          <a:bodyPr/>
          <a:lstStyle/>
          <a:p>
            <a:fld id="{EEDFA2F9-C25F-4A63-B46B-7B5C200A39D1}" type="slidenum">
              <a:rPr lang="en-CA" smtClean="0"/>
              <a:t>4</a:t>
            </a:fld>
            <a:endParaRPr lang="en-CA" dirty="0"/>
          </a:p>
        </p:txBody>
      </p:sp>
    </p:spTree>
    <p:extLst>
      <p:ext uri="{BB962C8B-B14F-4D97-AF65-F5344CB8AC3E}">
        <p14:creationId xmlns:p14="http://schemas.microsoft.com/office/powerpoint/2010/main" val="3940805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208" y="-92075"/>
            <a:ext cx="10515600" cy="1325563"/>
          </a:xfrm>
        </p:spPr>
        <p:txBody>
          <a:bodyPr>
            <a:normAutofit/>
          </a:bodyPr>
          <a:lstStyle/>
          <a:p>
            <a:r>
              <a:rPr lang="en-US" dirty="0"/>
              <a:t>Outline – Day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18393" y="1145565"/>
                <a:ext cx="10515600" cy="4351338"/>
              </a:xfrm>
            </p:spPr>
            <p:txBody>
              <a:bodyPr>
                <a:noAutofit/>
              </a:bodyPr>
              <a:lstStyle/>
              <a:p>
                <a:pPr marL="514350" indent="-514350">
                  <a:buFont typeface="+mj-lt"/>
                  <a:buAutoNum type="arabicPeriod"/>
                </a:pPr>
                <a:r>
                  <a:rPr lang="en-US" dirty="0"/>
                  <a:t>What are Reference Points?</a:t>
                </a:r>
              </a:p>
              <a:p>
                <a:pPr marL="514350" indent="-514350">
                  <a:buFont typeface="+mj-lt"/>
                  <a:buAutoNum type="arabicPeriod"/>
                </a:pPr>
                <a:r>
                  <a:rPr lang="en-US" dirty="0"/>
                  <a:t>Equilibrium Assumptions</a:t>
                </a:r>
              </a:p>
              <a:p>
                <a:pPr marL="514350" indent="-514350">
                  <a:buFont typeface="+mj-lt"/>
                  <a:buAutoNum type="arabicPeriod"/>
                </a:pPr>
                <a:r>
                  <a:rPr lang="en-US" dirty="0"/>
                  <a:t>What is MSY?</a:t>
                </a:r>
              </a:p>
              <a:p>
                <a:pPr marL="514350" indent="-514350">
                  <a:buFont typeface="+mj-lt"/>
                  <a:buAutoNum type="arabicPeriod"/>
                </a:pPr>
                <a:r>
                  <a:rPr lang="en-US" dirty="0"/>
                  <a:t>Reference Points in Surplus Production Models </a:t>
                </a:r>
                <a:r>
                  <a:rPr lang="en-US" dirty="0">
                    <a:solidFill>
                      <a:srgbClr val="7030A0"/>
                    </a:solidFill>
                  </a:rPr>
                  <a:t>[Exercise 1]</a:t>
                </a:r>
              </a:p>
              <a:p>
                <a:pPr marL="514350" indent="-514350">
                  <a:buFont typeface="+mj-lt"/>
                  <a:buAutoNum type="arabicPeriod"/>
                </a:pPr>
                <a:r>
                  <a:rPr lang="en-US" dirty="0"/>
                  <a:t>Recruitment Productivity</a:t>
                </a:r>
              </a:p>
              <a:p>
                <a:pPr marL="514350" indent="-514350">
                  <a:buFont typeface="+mj-lt"/>
                  <a:buAutoNum type="arabicPeriod"/>
                </a:pPr>
                <a:r>
                  <a:rPr lang="en-US" dirty="0"/>
                  <a:t>Reference Points in Age-structured Models </a:t>
                </a:r>
                <a:r>
                  <a:rPr lang="en-US" dirty="0">
                    <a:solidFill>
                      <a:srgbClr val="7030A0"/>
                    </a:solidFill>
                  </a:rPr>
                  <a:t>[Exercises 2-4]</a:t>
                </a:r>
              </a:p>
              <a:p>
                <a:pPr lvl="1"/>
                <a:r>
                  <a:rPr lang="en-US" dirty="0"/>
                  <a:t>Per-recruit Calculations</a:t>
                </a:r>
              </a:p>
              <a:p>
                <a:pPr lvl="1"/>
                <a:r>
                  <a:rPr lang="en-US" dirty="0"/>
                  <a:t>Reference Point Calculations</a:t>
                </a:r>
              </a:p>
              <a:p>
                <a:pPr lvl="2"/>
                <a:r>
                  <a:rPr lang="en-US" dirty="0"/>
                  <a:t>Unfished Equilibrium Biomass </a:t>
                </a:r>
                <a14:m>
                  <m:oMath xmlns:m="http://schemas.openxmlformats.org/officeDocument/2006/math">
                    <m:r>
                      <a:rPr lang="en-US" i="1" dirty="0">
                        <a:latin typeface="Cambria Math" panose="02040503050406030204" pitchFamily="18" charset="0"/>
                      </a:rPr>
                      <m:t>𝐵</m:t>
                    </m:r>
                    <m:r>
                      <a:rPr lang="en-US" i="1" baseline="-25000" dirty="0">
                        <a:latin typeface="Cambria Math" panose="02040503050406030204" pitchFamily="18" charset="0"/>
                      </a:rPr>
                      <m:t>0</m:t>
                    </m:r>
                  </m:oMath>
                </a14:m>
                <a:endParaRPr lang="en-US" dirty="0"/>
              </a:p>
              <a:p>
                <a:pPr lvl="2"/>
                <a:r>
                  <a:rPr lang="en-US" dirty="0"/>
                  <a:t>Equilibrium Biomass from fishing at </a:t>
                </a:r>
                <a14:m>
                  <m:oMath xmlns:m="http://schemas.openxmlformats.org/officeDocument/2006/math">
                    <m:r>
                      <a:rPr lang="en-US" i="1" dirty="0" smtClean="0">
                        <a:latin typeface="Cambria Math" panose="02040503050406030204" pitchFamily="18" charset="0"/>
                      </a:rPr>
                      <m:t>𝐹</m:t>
                    </m:r>
                  </m:oMath>
                </a14:m>
                <a:endParaRPr lang="en-US" dirty="0"/>
              </a:p>
              <a:p>
                <a:pPr lvl="2"/>
                <a:r>
                  <a:rPr lang="en-US" dirty="0"/>
                  <a:t>MSY reference points</a:t>
                </a:r>
              </a:p>
              <a:p>
                <a:pPr lvl="2"/>
                <a:r>
                  <a:rPr lang="en-US" dirty="0"/>
                  <a:t>SPR reference points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18393" y="1145565"/>
                <a:ext cx="10515600" cy="4351338"/>
              </a:xfrm>
              <a:blipFill>
                <a:blip r:embed="rId2"/>
                <a:stretch>
                  <a:fillRect l="-1217" t="-2521" b="-2128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5</a:t>
            </a:fld>
            <a:endParaRPr lang="en-CA"/>
          </a:p>
        </p:txBody>
      </p:sp>
    </p:spTree>
    <p:extLst>
      <p:ext uri="{BB962C8B-B14F-4D97-AF65-F5344CB8AC3E}">
        <p14:creationId xmlns:p14="http://schemas.microsoft.com/office/powerpoint/2010/main" val="272116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831" y="35126"/>
            <a:ext cx="10515600" cy="1325563"/>
          </a:xfrm>
        </p:spPr>
        <p:txBody>
          <a:bodyPr/>
          <a:lstStyle/>
          <a:p>
            <a:r>
              <a:rPr lang="en-US" dirty="0"/>
              <a:t>Exercises</a:t>
            </a:r>
          </a:p>
        </p:txBody>
      </p:sp>
      <p:sp>
        <p:nvSpPr>
          <p:cNvPr id="3" name="Content Placeholder 2"/>
          <p:cNvSpPr>
            <a:spLocks noGrp="1"/>
          </p:cNvSpPr>
          <p:nvPr>
            <p:ph idx="1"/>
          </p:nvPr>
        </p:nvSpPr>
        <p:spPr>
          <a:xfrm>
            <a:off x="630382" y="2364620"/>
            <a:ext cx="10875188" cy="3326667"/>
          </a:xfrm>
        </p:spPr>
        <p:txBody>
          <a:bodyPr>
            <a:normAutofit lnSpcReduction="10000"/>
          </a:bodyPr>
          <a:lstStyle/>
          <a:p>
            <a:pPr marL="0" indent="0">
              <a:buNone/>
            </a:pPr>
            <a:r>
              <a:rPr lang="en-US" dirty="0"/>
              <a:t>Five exercises:</a:t>
            </a:r>
          </a:p>
          <a:p>
            <a:pPr marL="514350" indent="-514350">
              <a:buFont typeface="+mj-lt"/>
              <a:buAutoNum type="arabicPeriod"/>
            </a:pPr>
            <a:r>
              <a:rPr lang="en-US" sz="2400" dirty="0"/>
              <a:t>MSY reference points using a Schaefer Surplus Production Model</a:t>
            </a:r>
          </a:p>
          <a:p>
            <a:pPr marL="514350" indent="-514350">
              <a:buFont typeface="+mj-lt"/>
              <a:buAutoNum type="arabicPeriod"/>
            </a:pPr>
            <a:r>
              <a:rPr lang="en-US" sz="2400" dirty="0"/>
              <a:t>Estimating unfished biomass and MSY reference points using an age-structured model with a </a:t>
            </a:r>
            <a:r>
              <a:rPr lang="en-US" sz="2400" dirty="0" err="1"/>
              <a:t>Beverton</a:t>
            </a:r>
            <a:r>
              <a:rPr lang="en-US" sz="2400" dirty="0"/>
              <a:t>-Holt stock-recruit relationship</a:t>
            </a:r>
          </a:p>
          <a:p>
            <a:pPr marL="514350" indent="-514350">
              <a:buFont typeface="+mj-lt"/>
              <a:buAutoNum type="arabicPeriod"/>
            </a:pPr>
            <a:r>
              <a:rPr lang="en-US" sz="2400" dirty="0"/>
              <a:t>Reference points using an age-structured model. Influence of </a:t>
            </a:r>
            <a:r>
              <a:rPr lang="en-US" sz="2400" i="1" dirty="0"/>
              <a:t>h, M</a:t>
            </a:r>
            <a:r>
              <a:rPr lang="en-US" sz="2400" dirty="0"/>
              <a:t>, and selectivity on </a:t>
            </a:r>
            <a:r>
              <a:rPr lang="en-US" sz="2400" i="1" dirty="0"/>
              <a:t>F</a:t>
            </a:r>
            <a:r>
              <a:rPr lang="en-US" sz="2400" baseline="-25000" dirty="0"/>
              <a:t>MSY</a:t>
            </a:r>
            <a:r>
              <a:rPr lang="en-US" sz="2400" dirty="0"/>
              <a:t>, SSB</a:t>
            </a:r>
            <a:r>
              <a:rPr lang="en-US" sz="2400" baseline="-25000" dirty="0"/>
              <a:t>MSY</a:t>
            </a:r>
            <a:r>
              <a:rPr lang="en-US" sz="2400" dirty="0"/>
              <a:t> and SSB</a:t>
            </a:r>
            <a:r>
              <a:rPr lang="en-US" sz="2400" baseline="-25000" dirty="0"/>
              <a:t>0</a:t>
            </a:r>
            <a:r>
              <a:rPr lang="en-US" sz="2400" dirty="0"/>
              <a:t>.</a:t>
            </a:r>
          </a:p>
          <a:p>
            <a:pPr marL="514350" indent="-514350">
              <a:buFont typeface="+mj-lt"/>
              <a:buAutoNum type="arabicPeriod"/>
            </a:pPr>
            <a:r>
              <a:rPr lang="en-US" sz="2400" i="1" dirty="0"/>
              <a:t>F</a:t>
            </a:r>
            <a:r>
              <a:rPr lang="en-US" sz="2400" baseline="-25000" dirty="0"/>
              <a:t>MSY</a:t>
            </a:r>
            <a:r>
              <a:rPr lang="en-US" sz="2400" dirty="0"/>
              <a:t> proxy based on Spawning Potential Ratio (SPR)</a:t>
            </a:r>
          </a:p>
          <a:p>
            <a:pPr marL="514350" indent="-514350">
              <a:buFont typeface="+mj-lt"/>
              <a:buAutoNum type="arabicPeriod"/>
            </a:pPr>
            <a:r>
              <a:rPr lang="en-US" sz="2400" dirty="0"/>
              <a:t>Reference points using an age-structured model with time-varying growth</a:t>
            </a:r>
          </a:p>
        </p:txBody>
      </p:sp>
      <p:pic>
        <p:nvPicPr>
          <p:cNvPr id="4" name="Picture 3"/>
          <p:cNvPicPr>
            <a:picLocks noChangeAspect="1"/>
          </p:cNvPicPr>
          <p:nvPr/>
        </p:nvPicPr>
        <p:blipFill rotWithShape="1">
          <a:blip r:embed="rId2"/>
          <a:srcRect r="19265"/>
          <a:stretch/>
        </p:blipFill>
        <p:spPr>
          <a:xfrm>
            <a:off x="2747963" y="0"/>
            <a:ext cx="5297633" cy="1985560"/>
          </a:xfrm>
          <a:prstGeom prst="rect">
            <a:avLst/>
          </a:prstGeom>
        </p:spPr>
      </p:pic>
      <p:pic>
        <p:nvPicPr>
          <p:cNvPr id="5" name="Picture 4"/>
          <p:cNvPicPr>
            <a:picLocks noChangeAspect="1"/>
          </p:cNvPicPr>
          <p:nvPr/>
        </p:nvPicPr>
        <p:blipFill>
          <a:blip r:embed="rId3"/>
          <a:stretch>
            <a:fillRect/>
          </a:stretch>
        </p:blipFill>
        <p:spPr>
          <a:xfrm>
            <a:off x="8364538" y="0"/>
            <a:ext cx="4041530" cy="1985560"/>
          </a:xfrm>
          <a:prstGeom prst="rect">
            <a:avLst/>
          </a:prstGeom>
        </p:spPr>
      </p:pic>
      <p:sp>
        <p:nvSpPr>
          <p:cNvPr id="6" name="Slide Number Placeholder 5"/>
          <p:cNvSpPr>
            <a:spLocks noGrp="1"/>
          </p:cNvSpPr>
          <p:nvPr>
            <p:ph type="sldNum" sz="quarter" idx="12"/>
          </p:nvPr>
        </p:nvSpPr>
        <p:spPr/>
        <p:txBody>
          <a:bodyPr/>
          <a:lstStyle/>
          <a:p>
            <a:fld id="{EEDFA2F9-C25F-4A63-B46B-7B5C200A39D1}" type="slidenum">
              <a:rPr lang="en-CA" smtClean="0"/>
              <a:t>6</a:t>
            </a:fld>
            <a:endParaRPr lang="en-CA"/>
          </a:p>
        </p:txBody>
      </p:sp>
    </p:spTree>
    <p:extLst>
      <p:ext uri="{BB962C8B-B14F-4D97-AF65-F5344CB8AC3E}">
        <p14:creationId xmlns:p14="http://schemas.microsoft.com/office/powerpoint/2010/main" val="25495312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5831" y="35126"/>
            <a:ext cx="10515600" cy="1325563"/>
          </a:xfrm>
        </p:spPr>
        <p:txBody>
          <a:bodyPr/>
          <a:lstStyle/>
          <a:p>
            <a:r>
              <a:rPr lang="en-US" dirty="0"/>
              <a:t>Exercises</a:t>
            </a:r>
          </a:p>
        </p:txBody>
      </p:sp>
      <p:sp>
        <p:nvSpPr>
          <p:cNvPr id="3" name="Content Placeholder 2"/>
          <p:cNvSpPr>
            <a:spLocks noGrp="1"/>
          </p:cNvSpPr>
          <p:nvPr>
            <p:ph idx="1"/>
          </p:nvPr>
        </p:nvSpPr>
        <p:spPr>
          <a:xfrm>
            <a:off x="872836" y="2704056"/>
            <a:ext cx="10875188" cy="3326667"/>
          </a:xfrm>
        </p:spPr>
        <p:txBody>
          <a:bodyPr>
            <a:normAutofit/>
          </a:bodyPr>
          <a:lstStyle/>
          <a:p>
            <a:r>
              <a:rPr lang="en-US" dirty="0"/>
              <a:t>Exercises in </a:t>
            </a:r>
            <a:r>
              <a:rPr lang="en-US" dirty="0" err="1"/>
              <a:t>RMarkdown</a:t>
            </a:r>
            <a:endParaRPr lang="en-US" dirty="0"/>
          </a:p>
          <a:p>
            <a:r>
              <a:rPr lang="en-US" dirty="0"/>
              <a:t>We’ll demo Exercises 1, 2 and 4 today, while Exercise 3 can be completed on your own before the second session (Nov 22)</a:t>
            </a:r>
          </a:p>
          <a:p>
            <a:r>
              <a:rPr lang="en-US" dirty="0"/>
              <a:t>We will provide you with the html files today so you can follow along and we’ll provide the code after the session</a:t>
            </a:r>
          </a:p>
          <a:p>
            <a:r>
              <a:rPr lang="en-US" dirty="0"/>
              <a:t>Next week we’ll go through Exercise 5 (reference points with time-varying growth)</a:t>
            </a:r>
          </a:p>
        </p:txBody>
      </p:sp>
      <p:pic>
        <p:nvPicPr>
          <p:cNvPr id="4" name="Picture 3"/>
          <p:cNvPicPr>
            <a:picLocks noChangeAspect="1"/>
          </p:cNvPicPr>
          <p:nvPr/>
        </p:nvPicPr>
        <p:blipFill rotWithShape="1">
          <a:blip r:embed="rId2"/>
          <a:srcRect r="19265"/>
          <a:stretch/>
        </p:blipFill>
        <p:spPr>
          <a:xfrm>
            <a:off x="2747963" y="0"/>
            <a:ext cx="5297633" cy="1985560"/>
          </a:xfrm>
          <a:prstGeom prst="rect">
            <a:avLst/>
          </a:prstGeom>
        </p:spPr>
      </p:pic>
      <p:pic>
        <p:nvPicPr>
          <p:cNvPr id="5" name="Picture 4"/>
          <p:cNvPicPr>
            <a:picLocks noChangeAspect="1"/>
          </p:cNvPicPr>
          <p:nvPr/>
        </p:nvPicPr>
        <p:blipFill>
          <a:blip r:embed="rId3"/>
          <a:stretch>
            <a:fillRect/>
          </a:stretch>
        </p:blipFill>
        <p:spPr>
          <a:xfrm>
            <a:off x="8364538" y="491"/>
            <a:ext cx="4041530" cy="1985560"/>
          </a:xfrm>
          <a:prstGeom prst="rect">
            <a:avLst/>
          </a:prstGeom>
        </p:spPr>
      </p:pic>
      <p:sp>
        <p:nvSpPr>
          <p:cNvPr id="6" name="Slide Number Placeholder 5"/>
          <p:cNvSpPr>
            <a:spLocks noGrp="1"/>
          </p:cNvSpPr>
          <p:nvPr>
            <p:ph type="sldNum" sz="quarter" idx="12"/>
          </p:nvPr>
        </p:nvSpPr>
        <p:spPr/>
        <p:txBody>
          <a:bodyPr/>
          <a:lstStyle/>
          <a:p>
            <a:fld id="{EEDFA2F9-C25F-4A63-B46B-7B5C200A39D1}" type="slidenum">
              <a:rPr lang="en-CA" smtClean="0"/>
              <a:t>7</a:t>
            </a:fld>
            <a:endParaRPr lang="en-CA"/>
          </a:p>
        </p:txBody>
      </p:sp>
    </p:spTree>
    <p:extLst>
      <p:ext uri="{BB962C8B-B14F-4D97-AF65-F5344CB8AC3E}">
        <p14:creationId xmlns:p14="http://schemas.microsoft.com/office/powerpoint/2010/main" val="3113885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700434"/>
            <a:ext cx="10515600" cy="1325563"/>
          </a:xfrm>
        </p:spPr>
        <p:txBody>
          <a:bodyPr>
            <a:normAutofit/>
          </a:bodyPr>
          <a:lstStyle/>
          <a:p>
            <a:pPr algn="ctr"/>
            <a:r>
              <a:rPr lang="en-US" sz="5400" dirty="0">
                <a:solidFill>
                  <a:schemeClr val="bg1"/>
                </a:solidFill>
                <a:latin typeface="+mn-lt"/>
              </a:rPr>
              <a:t>1. What are Reference Points?</a:t>
            </a:r>
          </a:p>
        </p:txBody>
      </p:sp>
      <p:sp>
        <p:nvSpPr>
          <p:cNvPr id="3" name="Slide Number Placeholder 2"/>
          <p:cNvSpPr>
            <a:spLocks noGrp="1"/>
          </p:cNvSpPr>
          <p:nvPr>
            <p:ph type="sldNum" sz="quarter" idx="12"/>
          </p:nvPr>
        </p:nvSpPr>
        <p:spPr/>
        <p:txBody>
          <a:bodyPr/>
          <a:lstStyle/>
          <a:p>
            <a:fld id="{EEDFA2F9-C25F-4A63-B46B-7B5C200A39D1}" type="slidenum">
              <a:rPr lang="en-CA" smtClean="0"/>
              <a:t>8</a:t>
            </a:fld>
            <a:endParaRPr lang="en-CA"/>
          </a:p>
        </p:txBody>
      </p:sp>
    </p:spTree>
    <p:extLst>
      <p:ext uri="{BB962C8B-B14F-4D97-AF65-F5344CB8AC3E}">
        <p14:creationId xmlns:p14="http://schemas.microsoft.com/office/powerpoint/2010/main" val="3920057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0882" y="364044"/>
            <a:ext cx="10515600" cy="1325563"/>
          </a:xfrm>
        </p:spPr>
        <p:txBody>
          <a:bodyPr/>
          <a:lstStyle/>
          <a:p>
            <a:r>
              <a:rPr lang="en-US" dirty="0"/>
              <a:t>What are reference points?</a:t>
            </a:r>
          </a:p>
        </p:txBody>
      </p:sp>
      <p:sp>
        <p:nvSpPr>
          <p:cNvPr id="3" name="Content Placeholder 2"/>
          <p:cNvSpPr>
            <a:spLocks noGrp="1"/>
          </p:cNvSpPr>
          <p:nvPr>
            <p:ph idx="1"/>
          </p:nvPr>
        </p:nvSpPr>
        <p:spPr>
          <a:xfrm>
            <a:off x="491666" y="2398198"/>
            <a:ext cx="10681741" cy="3947184"/>
          </a:xfrm>
          <a:ln w="19050">
            <a:solidFill>
              <a:schemeClr val="tx2"/>
            </a:solidFill>
          </a:ln>
        </p:spPr>
        <p:txBody>
          <a:bodyPr/>
          <a:lstStyle/>
          <a:p>
            <a:pPr marL="0" indent="0">
              <a:buNone/>
            </a:pPr>
            <a:r>
              <a:rPr lang="en-US" dirty="0">
                <a:solidFill>
                  <a:schemeClr val="tx2"/>
                </a:solidFill>
              </a:rPr>
              <a:t>“Reference points are </a:t>
            </a:r>
            <a:r>
              <a:rPr lang="en-US" b="1" dirty="0">
                <a:solidFill>
                  <a:schemeClr val="tx2"/>
                </a:solidFill>
              </a:rPr>
              <a:t>operational or measurable benchmarks </a:t>
            </a:r>
            <a:r>
              <a:rPr lang="en-US" dirty="0">
                <a:solidFill>
                  <a:schemeClr val="tx2"/>
                </a:solidFill>
              </a:rPr>
              <a:t>that identify </a:t>
            </a:r>
            <a:r>
              <a:rPr lang="en-US" b="1" dirty="0">
                <a:solidFill>
                  <a:schemeClr val="tx2"/>
                </a:solidFill>
              </a:rPr>
              <a:t>targets</a:t>
            </a:r>
            <a:r>
              <a:rPr lang="en-US" dirty="0">
                <a:solidFill>
                  <a:schemeClr val="tx2"/>
                </a:solidFill>
              </a:rPr>
              <a:t> </a:t>
            </a:r>
            <a:r>
              <a:rPr lang="en-US" b="1" dirty="0">
                <a:solidFill>
                  <a:schemeClr val="tx2"/>
                </a:solidFill>
              </a:rPr>
              <a:t>to be achieved </a:t>
            </a:r>
            <a:r>
              <a:rPr lang="en-US" dirty="0">
                <a:solidFill>
                  <a:schemeClr val="tx2"/>
                </a:solidFill>
              </a:rPr>
              <a:t>on average, </a:t>
            </a:r>
            <a:r>
              <a:rPr lang="en-US" b="1" dirty="0">
                <a:solidFill>
                  <a:schemeClr val="tx2"/>
                </a:solidFill>
              </a:rPr>
              <a:t>limits</a:t>
            </a:r>
            <a:r>
              <a:rPr lang="en-US" dirty="0">
                <a:solidFill>
                  <a:schemeClr val="tx2"/>
                </a:solidFill>
              </a:rPr>
              <a:t> </a:t>
            </a:r>
            <a:r>
              <a:rPr lang="en-US" b="1" dirty="0">
                <a:solidFill>
                  <a:schemeClr val="tx2"/>
                </a:solidFill>
              </a:rPr>
              <a:t>to be avoided</a:t>
            </a:r>
            <a:r>
              <a:rPr lang="en-US" dirty="0">
                <a:solidFill>
                  <a:schemeClr val="tx2"/>
                </a:solidFill>
              </a:rPr>
              <a:t>, or </a:t>
            </a:r>
            <a:r>
              <a:rPr lang="en-US" b="1" dirty="0">
                <a:solidFill>
                  <a:schemeClr val="tx2"/>
                </a:solidFill>
              </a:rPr>
              <a:t>triggers</a:t>
            </a:r>
            <a:r>
              <a:rPr lang="en-US" dirty="0">
                <a:solidFill>
                  <a:schemeClr val="tx2"/>
                </a:solidFill>
              </a:rPr>
              <a:t> to initiate specific management responses.</a:t>
            </a:r>
          </a:p>
          <a:p>
            <a:pPr marL="0" indent="0">
              <a:buNone/>
            </a:pPr>
            <a:r>
              <a:rPr lang="en-US" dirty="0">
                <a:solidFill>
                  <a:schemeClr val="tx2"/>
                </a:solidFill>
              </a:rPr>
              <a:t> </a:t>
            </a:r>
          </a:p>
          <a:p>
            <a:pPr marL="0" indent="0">
              <a:buNone/>
            </a:pPr>
            <a:r>
              <a:rPr lang="en-US" dirty="0">
                <a:solidFill>
                  <a:schemeClr val="tx2"/>
                </a:solidFill>
              </a:rPr>
              <a:t>A fishery is expected to approach or fluctuate around a </a:t>
            </a:r>
            <a:r>
              <a:rPr lang="en-US" b="1" dirty="0">
                <a:solidFill>
                  <a:schemeClr val="tx2"/>
                </a:solidFill>
              </a:rPr>
              <a:t>target reference point</a:t>
            </a:r>
            <a:r>
              <a:rPr lang="en-US" dirty="0">
                <a:solidFill>
                  <a:schemeClr val="tx2"/>
                </a:solidFill>
              </a:rPr>
              <a:t>, to have a very high probability [e.g., at least 90%] of not violating a </a:t>
            </a:r>
            <a:r>
              <a:rPr lang="en-US" b="1" dirty="0">
                <a:solidFill>
                  <a:schemeClr val="tx2"/>
                </a:solidFill>
              </a:rPr>
              <a:t>limit reference point</a:t>
            </a:r>
            <a:r>
              <a:rPr lang="en-US" dirty="0">
                <a:solidFill>
                  <a:schemeClr val="tx2"/>
                </a:solidFill>
              </a:rPr>
              <a:t>, and to have trigger reference points [Operational Control Points] and planned management responses that achieve these two outcomes.”</a:t>
            </a:r>
          </a:p>
        </p:txBody>
      </p:sp>
      <p:pic>
        <p:nvPicPr>
          <p:cNvPr id="5" name="Picture 4"/>
          <p:cNvPicPr>
            <a:picLocks noChangeAspect="1"/>
          </p:cNvPicPr>
          <p:nvPr/>
        </p:nvPicPr>
        <p:blipFill>
          <a:blip r:embed="rId2"/>
          <a:stretch>
            <a:fillRect/>
          </a:stretch>
        </p:blipFill>
        <p:spPr>
          <a:xfrm>
            <a:off x="7997252" y="1"/>
            <a:ext cx="4194748" cy="2326178"/>
          </a:xfrm>
          <a:prstGeom prst="rect">
            <a:avLst/>
          </a:prstGeom>
        </p:spPr>
      </p:pic>
      <p:sp>
        <p:nvSpPr>
          <p:cNvPr id="4" name="Slide Number Placeholder 3"/>
          <p:cNvSpPr>
            <a:spLocks noGrp="1"/>
          </p:cNvSpPr>
          <p:nvPr>
            <p:ph type="sldNum" sz="quarter" idx="12"/>
          </p:nvPr>
        </p:nvSpPr>
        <p:spPr/>
        <p:txBody>
          <a:bodyPr/>
          <a:lstStyle/>
          <a:p>
            <a:fld id="{EEDFA2F9-C25F-4A63-B46B-7B5C200A39D1}" type="slidenum">
              <a:rPr lang="en-CA" smtClean="0"/>
              <a:t>9</a:t>
            </a:fld>
            <a:endParaRPr lang="en-CA"/>
          </a:p>
        </p:txBody>
      </p:sp>
    </p:spTree>
    <p:extLst>
      <p:ext uri="{BB962C8B-B14F-4D97-AF65-F5344CB8AC3E}">
        <p14:creationId xmlns:p14="http://schemas.microsoft.com/office/powerpoint/2010/main" val="3644529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0960" y="217370"/>
            <a:ext cx="10515600" cy="1325563"/>
          </a:xfrm>
        </p:spPr>
        <p:txBody>
          <a:bodyPr/>
          <a:lstStyle/>
          <a:p>
            <a:r>
              <a:rPr lang="en-US" dirty="0"/>
              <a:t>What are reference points?</a:t>
            </a:r>
          </a:p>
        </p:txBody>
      </p:sp>
      <p:pic>
        <p:nvPicPr>
          <p:cNvPr id="4" name="Picture 3"/>
          <p:cNvPicPr>
            <a:picLocks noChangeAspect="1"/>
          </p:cNvPicPr>
          <p:nvPr/>
        </p:nvPicPr>
        <p:blipFill>
          <a:blip r:embed="rId2"/>
          <a:stretch>
            <a:fillRect/>
          </a:stretch>
        </p:blipFill>
        <p:spPr>
          <a:xfrm>
            <a:off x="7749914" y="880152"/>
            <a:ext cx="4388136" cy="5850848"/>
          </a:xfrm>
          <a:prstGeom prst="rect">
            <a:avLst/>
          </a:prstGeom>
        </p:spPr>
      </p:pic>
      <p:sp>
        <p:nvSpPr>
          <p:cNvPr id="7" name="Rectangle 6"/>
          <p:cNvSpPr/>
          <p:nvPr/>
        </p:nvSpPr>
        <p:spPr>
          <a:xfrm>
            <a:off x="440960" y="1717621"/>
            <a:ext cx="7108745" cy="3108543"/>
          </a:xfrm>
          <a:prstGeom prst="rect">
            <a:avLst/>
          </a:prstGeom>
          <a:ln>
            <a:solidFill>
              <a:schemeClr val="tx2"/>
            </a:solidFill>
          </a:ln>
        </p:spPr>
        <p:txBody>
          <a:bodyPr wrap="square">
            <a:spAutoFit/>
          </a:bodyPr>
          <a:lstStyle/>
          <a:p>
            <a:r>
              <a:rPr lang="en-US" sz="2800" dirty="0">
                <a:solidFill>
                  <a:schemeClr val="tx2"/>
                </a:solidFill>
              </a:rPr>
              <a:t>“Fisheries management is a decision making process which includes </a:t>
            </a:r>
            <a:r>
              <a:rPr lang="en-US" sz="2800" b="1" dirty="0">
                <a:solidFill>
                  <a:schemeClr val="tx2"/>
                </a:solidFill>
              </a:rPr>
              <a:t>uncertainties</a:t>
            </a:r>
            <a:r>
              <a:rPr lang="en-US" sz="2800" dirty="0">
                <a:solidFill>
                  <a:schemeClr val="tx2"/>
                </a:solidFill>
              </a:rPr>
              <a:t>. When providing advice to fisheries managers, it is not sufficient to merely describe the uncertainties but we should also predict the </a:t>
            </a:r>
            <a:r>
              <a:rPr lang="en-US" sz="2800" b="1" dirty="0">
                <a:solidFill>
                  <a:schemeClr val="tx2"/>
                </a:solidFill>
              </a:rPr>
              <a:t>consequences of the possible management measures</a:t>
            </a:r>
            <a:r>
              <a:rPr lang="en-US" sz="2800" dirty="0">
                <a:solidFill>
                  <a:schemeClr val="tx2"/>
                </a:solidFill>
              </a:rPr>
              <a:t>; this involves the concept of risk.”</a:t>
            </a:r>
          </a:p>
        </p:txBody>
      </p:sp>
      <p:sp>
        <p:nvSpPr>
          <p:cNvPr id="8" name="Rectangle 7"/>
          <p:cNvSpPr/>
          <p:nvPr/>
        </p:nvSpPr>
        <p:spPr>
          <a:xfrm>
            <a:off x="440959" y="5063105"/>
            <a:ext cx="7108745" cy="1384995"/>
          </a:xfrm>
          <a:prstGeom prst="rect">
            <a:avLst/>
          </a:prstGeom>
        </p:spPr>
        <p:txBody>
          <a:bodyPr wrap="square">
            <a:spAutoFit/>
          </a:bodyPr>
          <a:lstStyle/>
          <a:p>
            <a:pPr marL="271463" indent="-271463">
              <a:buFont typeface="Arial" panose="020B0604020202020204" pitchFamily="34" charset="0"/>
              <a:buChar char="•"/>
              <a:tabLst>
                <a:tab pos="271463" algn="l"/>
              </a:tabLst>
            </a:pPr>
            <a:r>
              <a:rPr lang="en-US" sz="2800" dirty="0"/>
              <a:t>Reference points are components of objectives for the fishery, against which consequences are evaluated. </a:t>
            </a:r>
          </a:p>
        </p:txBody>
      </p:sp>
      <p:sp>
        <p:nvSpPr>
          <p:cNvPr id="3" name="Slide Number Placeholder 2"/>
          <p:cNvSpPr>
            <a:spLocks noGrp="1"/>
          </p:cNvSpPr>
          <p:nvPr>
            <p:ph type="sldNum" sz="quarter" idx="12"/>
          </p:nvPr>
        </p:nvSpPr>
        <p:spPr/>
        <p:txBody>
          <a:bodyPr/>
          <a:lstStyle/>
          <a:p>
            <a:fld id="{EEDFA2F9-C25F-4A63-B46B-7B5C200A39D1}" type="slidenum">
              <a:rPr lang="en-CA" smtClean="0"/>
              <a:t>10</a:t>
            </a:fld>
            <a:endParaRPr lang="en-CA"/>
          </a:p>
        </p:txBody>
      </p:sp>
    </p:spTree>
    <p:extLst>
      <p:ext uri="{BB962C8B-B14F-4D97-AF65-F5344CB8AC3E}">
        <p14:creationId xmlns:p14="http://schemas.microsoft.com/office/powerpoint/2010/main" val="4589374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160" y="0"/>
            <a:ext cx="10515600" cy="1325563"/>
          </a:xfrm>
        </p:spPr>
        <p:txBody>
          <a:bodyPr/>
          <a:lstStyle/>
          <a:p>
            <a:r>
              <a:rPr lang="en-US" dirty="0"/>
              <a:t>What are reference points?</a:t>
            </a:r>
          </a:p>
        </p:txBody>
      </p:sp>
      <p:sp>
        <p:nvSpPr>
          <p:cNvPr id="3" name="Content Placeholder 2"/>
          <p:cNvSpPr>
            <a:spLocks noGrp="1"/>
          </p:cNvSpPr>
          <p:nvPr>
            <p:ph idx="1"/>
          </p:nvPr>
        </p:nvSpPr>
        <p:spPr>
          <a:xfrm>
            <a:off x="634160" y="1325563"/>
            <a:ext cx="10515600" cy="4351338"/>
          </a:xfrm>
        </p:spPr>
        <p:txBody>
          <a:bodyPr>
            <a:normAutofit fontScale="92500" lnSpcReduction="10000"/>
          </a:bodyPr>
          <a:lstStyle/>
          <a:p>
            <a:pPr>
              <a:lnSpc>
                <a:spcPct val="100000"/>
              </a:lnSpc>
              <a:spcBef>
                <a:spcPts val="600"/>
              </a:spcBef>
            </a:pPr>
            <a:r>
              <a:rPr lang="en-US" dirty="0"/>
              <a:t>Objectives generally consist of three elements:</a:t>
            </a:r>
          </a:p>
          <a:p>
            <a:pPr marL="914400" lvl="1" indent="-457200">
              <a:lnSpc>
                <a:spcPct val="100000"/>
              </a:lnSpc>
              <a:spcBef>
                <a:spcPts val="0"/>
              </a:spcBef>
              <a:buFont typeface="+mj-lt"/>
              <a:buAutoNum type="arabicPeriod"/>
            </a:pPr>
            <a:r>
              <a:rPr lang="en-US" dirty="0"/>
              <a:t>Target or limit</a:t>
            </a:r>
          </a:p>
          <a:p>
            <a:pPr marL="914400" lvl="1" indent="-457200">
              <a:lnSpc>
                <a:spcPct val="100000"/>
              </a:lnSpc>
              <a:spcBef>
                <a:spcPts val="0"/>
              </a:spcBef>
              <a:buFont typeface="+mj-lt"/>
              <a:buAutoNum type="arabicPeriod"/>
            </a:pPr>
            <a:r>
              <a:rPr lang="en-US" dirty="0"/>
              <a:t>Desired probability of reaching target or breaching limit (risk tolerance)</a:t>
            </a:r>
          </a:p>
          <a:p>
            <a:pPr marL="914400" lvl="1" indent="-457200">
              <a:lnSpc>
                <a:spcPct val="100000"/>
              </a:lnSpc>
              <a:spcBef>
                <a:spcPts val="0"/>
              </a:spcBef>
              <a:buFont typeface="+mj-lt"/>
              <a:buAutoNum type="arabicPeriod"/>
            </a:pPr>
            <a:r>
              <a:rPr lang="en-US" dirty="0"/>
              <a:t>Time-frame to achieve objective</a:t>
            </a:r>
          </a:p>
          <a:p>
            <a:pPr>
              <a:spcBef>
                <a:spcPts val="1200"/>
              </a:spcBef>
            </a:pPr>
            <a:r>
              <a:rPr lang="en-US" dirty="0"/>
              <a:t>E.g., Avoid the limit reference point with 95% probability over 10 years</a:t>
            </a:r>
          </a:p>
          <a:p>
            <a:pPr>
              <a:spcBef>
                <a:spcPts val="1200"/>
              </a:spcBef>
            </a:pPr>
            <a:r>
              <a:rPr lang="en-US" dirty="0"/>
              <a:t>Performance metrics are developed based on the objectives, which are used to measure the consequences of management actions, e.g., </a:t>
            </a:r>
          </a:p>
          <a:p>
            <a:pPr lvl="1">
              <a:spcBef>
                <a:spcPts val="1200"/>
              </a:spcBef>
            </a:pPr>
            <a:r>
              <a:rPr lang="en-US" i="1" dirty="0"/>
              <a:t>P</a:t>
            </a:r>
            <a:r>
              <a:rPr lang="en-US" dirty="0"/>
              <a:t>(Biomass &lt; LRP) over 10 years</a:t>
            </a:r>
          </a:p>
          <a:p>
            <a:pPr>
              <a:spcBef>
                <a:spcPts val="1200"/>
              </a:spcBef>
            </a:pPr>
            <a:r>
              <a:rPr lang="en-US" dirty="0"/>
              <a:t>Objectives are developed by multiple parties and there </a:t>
            </a:r>
            <a:br>
              <a:rPr lang="en-US" dirty="0"/>
            </a:br>
            <a:r>
              <a:rPr lang="en-US" dirty="0"/>
              <a:t>are typically multiple objectives </a:t>
            </a:r>
          </a:p>
          <a:p>
            <a:pPr lvl="1">
              <a:spcBef>
                <a:spcPts val="1200"/>
              </a:spcBef>
            </a:pPr>
            <a:r>
              <a:rPr lang="en-US" dirty="0">
                <a:solidFill>
                  <a:srgbClr val="C00000"/>
                </a:solidFill>
              </a:rPr>
              <a:t>Need to consider trade-offs</a:t>
            </a:r>
          </a:p>
        </p:txBody>
      </p:sp>
      <p:pic>
        <p:nvPicPr>
          <p:cNvPr id="4" name="Picture 3"/>
          <p:cNvPicPr>
            <a:picLocks noChangeAspect="1"/>
          </p:cNvPicPr>
          <p:nvPr/>
        </p:nvPicPr>
        <p:blipFill>
          <a:blip r:embed="rId2"/>
          <a:stretch>
            <a:fillRect/>
          </a:stretch>
        </p:blipFill>
        <p:spPr>
          <a:xfrm>
            <a:off x="9116291" y="5079305"/>
            <a:ext cx="2695390" cy="1515458"/>
          </a:xfrm>
          <a:prstGeom prst="rect">
            <a:avLst/>
          </a:prstGeom>
        </p:spPr>
      </p:pic>
      <p:sp>
        <p:nvSpPr>
          <p:cNvPr id="5" name="Slide Number Placeholder 4"/>
          <p:cNvSpPr>
            <a:spLocks noGrp="1"/>
          </p:cNvSpPr>
          <p:nvPr>
            <p:ph type="sldNum" sz="quarter" idx="12"/>
          </p:nvPr>
        </p:nvSpPr>
        <p:spPr/>
        <p:txBody>
          <a:bodyPr/>
          <a:lstStyle/>
          <a:p>
            <a:fld id="{EEDFA2F9-C25F-4A63-B46B-7B5C200A39D1}" type="slidenum">
              <a:rPr lang="en-CA" smtClean="0"/>
              <a:t>11</a:t>
            </a:fld>
            <a:endParaRPr lang="en-CA"/>
          </a:p>
        </p:txBody>
      </p:sp>
    </p:spTree>
    <p:extLst>
      <p:ext uri="{BB962C8B-B14F-4D97-AF65-F5344CB8AC3E}">
        <p14:creationId xmlns:p14="http://schemas.microsoft.com/office/powerpoint/2010/main" val="2534247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500" fill="hold"/>
                                        <p:tgtEl>
                                          <p:spTgt spid="3">
                                            <p:txEl>
                                              <p:pRg st="1" end="1"/>
                                            </p:txEl>
                                          </p:spTgt>
                                        </p:tgtEl>
                                        <p:attrNameLst>
                                          <p:attrName>style.color</p:attrName>
                                        </p:attrNameLst>
                                      </p:cBhvr>
                                      <p:to>
                                        <a:srgbClr val="C00000"/>
                                      </p:to>
                                    </p:animClr>
                                    <p:animClr clrSpc="rgb" dir="cw">
                                      <p:cBhvr>
                                        <p:cTn id="7" dur="500" fill="hold"/>
                                        <p:tgtEl>
                                          <p:spTgt spid="3">
                                            <p:txEl>
                                              <p:pRg st="1" end="1"/>
                                            </p:txEl>
                                          </p:spTgt>
                                        </p:tgtEl>
                                        <p:attrNameLst>
                                          <p:attrName>fillcolor</p:attrName>
                                        </p:attrNameLst>
                                      </p:cBhvr>
                                      <p:to>
                                        <a:srgbClr val="C00000"/>
                                      </p:to>
                                    </p:animClr>
                                    <p:set>
                                      <p:cBhvr>
                                        <p:cTn id="8" dur="500" fill="hold"/>
                                        <p:tgtEl>
                                          <p:spTgt spid="3">
                                            <p:txEl>
                                              <p:pRg st="1" end="1"/>
                                            </p:txEl>
                                          </p:spTgt>
                                        </p:tgtEl>
                                        <p:attrNameLst>
                                          <p:attrName>fill.type</p:attrName>
                                        </p:attrNameLst>
                                      </p:cBhvr>
                                      <p:to>
                                        <p:strVal val="solid"/>
                                      </p:to>
                                    </p:set>
                                    <p:set>
                                      <p:cBhvr>
                                        <p:cTn id="9" dur="500" fill="hold"/>
                                        <p:tgtEl>
                                          <p:spTgt spid="3">
                                            <p:txEl>
                                              <p:pRg st="1" end="1"/>
                                            </p:txEl>
                                          </p:spTgt>
                                        </p:tgtEl>
                                        <p:attrNameLst>
                                          <p:attrName>fill.on</p:attrName>
                                        </p:attrNameLst>
                                      </p:cBhvr>
                                      <p:to>
                                        <p:strVal val="true"/>
                                      </p:to>
                                    </p:set>
                                  </p:childTnLst>
                                </p:cTn>
                              </p:par>
                            </p:childTnLst>
                          </p:cTn>
                        </p:par>
                      </p:childTnLst>
                    </p:cTn>
                  </p:par>
                  <p:par>
                    <p:cTn id="10" fill="hold">
                      <p:stCondLst>
                        <p:cond delay="indefinite"/>
                      </p:stCondLst>
                      <p:childTnLst>
                        <p:par>
                          <p:cTn id="11" fill="hold">
                            <p:stCondLst>
                              <p:cond delay="0"/>
                            </p:stCondLst>
                            <p:childTnLst>
                              <p:par>
                                <p:cTn id="12" presetID="19" presetClass="emph" presetSubtype="0" fill="hold" nodeType="clickEffect">
                                  <p:stCondLst>
                                    <p:cond delay="0"/>
                                  </p:stCondLst>
                                  <p:childTnLst>
                                    <p:animClr clrSpc="rgb" dir="cw">
                                      <p:cBhvr override="childStyle">
                                        <p:cTn id="13" dur="500" fill="hold"/>
                                        <p:tgtEl>
                                          <p:spTgt spid="3">
                                            <p:txEl>
                                              <p:pRg st="2" end="2"/>
                                            </p:txEl>
                                          </p:spTgt>
                                        </p:tgtEl>
                                        <p:attrNameLst>
                                          <p:attrName>style.color</p:attrName>
                                        </p:attrNameLst>
                                      </p:cBhvr>
                                      <p:to>
                                        <a:srgbClr val="C00000"/>
                                      </p:to>
                                    </p:animClr>
                                    <p:animClr clrSpc="rgb" dir="cw">
                                      <p:cBhvr>
                                        <p:cTn id="14" dur="500" fill="hold"/>
                                        <p:tgtEl>
                                          <p:spTgt spid="3">
                                            <p:txEl>
                                              <p:pRg st="2" end="2"/>
                                            </p:txEl>
                                          </p:spTgt>
                                        </p:tgtEl>
                                        <p:attrNameLst>
                                          <p:attrName>fillcolor</p:attrName>
                                        </p:attrNameLst>
                                      </p:cBhvr>
                                      <p:to>
                                        <a:srgbClr val="C00000"/>
                                      </p:to>
                                    </p:animClr>
                                    <p:set>
                                      <p:cBhvr>
                                        <p:cTn id="15" dur="500" fill="hold"/>
                                        <p:tgtEl>
                                          <p:spTgt spid="3">
                                            <p:txEl>
                                              <p:pRg st="2" end="2"/>
                                            </p:txEl>
                                          </p:spTgt>
                                        </p:tgtEl>
                                        <p:attrNameLst>
                                          <p:attrName>fill.type</p:attrName>
                                        </p:attrNameLst>
                                      </p:cBhvr>
                                      <p:to>
                                        <p:strVal val="solid"/>
                                      </p:to>
                                    </p:set>
                                    <p:set>
                                      <p:cBhvr>
                                        <p:cTn id="16" dur="500" fill="hold"/>
                                        <p:tgtEl>
                                          <p:spTgt spid="3">
                                            <p:txEl>
                                              <p:pRg st="2" end="2"/>
                                            </p:txEl>
                                          </p:spTgt>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9" presetClass="emph" presetSubtype="0" fill="hold" nodeType="clickEffect">
                                  <p:stCondLst>
                                    <p:cond delay="0"/>
                                  </p:stCondLst>
                                  <p:childTnLst>
                                    <p:animClr clrSpc="rgb" dir="cw">
                                      <p:cBhvr override="childStyle">
                                        <p:cTn id="20" dur="500" fill="hold"/>
                                        <p:tgtEl>
                                          <p:spTgt spid="3">
                                            <p:txEl>
                                              <p:pRg st="3" end="3"/>
                                            </p:txEl>
                                          </p:spTgt>
                                        </p:tgtEl>
                                        <p:attrNameLst>
                                          <p:attrName>style.color</p:attrName>
                                        </p:attrNameLst>
                                      </p:cBhvr>
                                      <p:to>
                                        <a:srgbClr val="C00000"/>
                                      </p:to>
                                    </p:animClr>
                                    <p:animClr clrSpc="rgb" dir="cw">
                                      <p:cBhvr>
                                        <p:cTn id="21" dur="500" fill="hold"/>
                                        <p:tgtEl>
                                          <p:spTgt spid="3">
                                            <p:txEl>
                                              <p:pRg st="3" end="3"/>
                                            </p:txEl>
                                          </p:spTgt>
                                        </p:tgtEl>
                                        <p:attrNameLst>
                                          <p:attrName>fillcolor</p:attrName>
                                        </p:attrNameLst>
                                      </p:cBhvr>
                                      <p:to>
                                        <a:srgbClr val="C00000"/>
                                      </p:to>
                                    </p:animClr>
                                    <p:set>
                                      <p:cBhvr>
                                        <p:cTn id="22" dur="500" fill="hold"/>
                                        <p:tgtEl>
                                          <p:spTgt spid="3">
                                            <p:txEl>
                                              <p:pRg st="3" end="3"/>
                                            </p:txEl>
                                          </p:spTgt>
                                        </p:tgtEl>
                                        <p:attrNameLst>
                                          <p:attrName>fill.type</p:attrName>
                                        </p:attrNameLst>
                                      </p:cBhvr>
                                      <p:to>
                                        <p:strVal val="solid"/>
                                      </p:to>
                                    </p:set>
                                    <p:set>
                                      <p:cBhvr>
                                        <p:cTn id="23" dur="500" fill="hold"/>
                                        <p:tgtEl>
                                          <p:spTgt spid="3">
                                            <p:txEl>
                                              <p:pRg st="3" end="3"/>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DBEEC8F-D1D5-4D6C-86D1-29CC9FE0EB02}"/>
              </a:ext>
            </a:extLst>
          </p:cNvPr>
          <p:cNvPicPr>
            <a:picLocks noChangeAspect="1"/>
          </p:cNvPicPr>
          <p:nvPr/>
        </p:nvPicPr>
        <p:blipFill>
          <a:blip r:embed="rId2"/>
          <a:stretch>
            <a:fillRect/>
          </a:stretch>
        </p:blipFill>
        <p:spPr>
          <a:xfrm>
            <a:off x="3573677" y="3781922"/>
            <a:ext cx="5044646" cy="3026788"/>
          </a:xfrm>
          <a:prstGeom prst="rect">
            <a:avLst/>
          </a:prstGeom>
        </p:spPr>
      </p:pic>
      <p:sp>
        <p:nvSpPr>
          <p:cNvPr id="2" name="Title 1"/>
          <p:cNvSpPr>
            <a:spLocks noGrp="1"/>
          </p:cNvSpPr>
          <p:nvPr>
            <p:ph type="title"/>
          </p:nvPr>
        </p:nvSpPr>
        <p:spPr>
          <a:xfrm>
            <a:off x="838200" y="132417"/>
            <a:ext cx="10515600" cy="1325563"/>
          </a:xfrm>
        </p:spPr>
        <p:txBody>
          <a:bodyPr/>
          <a:lstStyle/>
          <a:p>
            <a:r>
              <a:rPr lang="en-US" dirty="0"/>
              <a:t>What are reference points?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7370" y="1297724"/>
                <a:ext cx="10515600" cy="2633799"/>
              </a:xfrm>
            </p:spPr>
            <p:txBody>
              <a:bodyPr>
                <a:normAutofit lnSpcReduction="10000"/>
              </a:bodyPr>
              <a:lstStyle/>
              <a:p>
                <a:pPr fontAlgn="base"/>
                <a:r>
                  <a:rPr lang="en-US" dirty="0">
                    <a:solidFill>
                      <a:srgbClr val="00B050"/>
                    </a:solidFill>
                  </a:rPr>
                  <a:t>Target Reference Point (TRP)</a:t>
                </a:r>
                <a:r>
                  <a:rPr lang="en-US" dirty="0"/>
                  <a:t> – desirable target stock state (stock may  fluctuate around this point)</a:t>
                </a:r>
              </a:p>
              <a:p>
                <a:pPr fontAlgn="base"/>
                <a:r>
                  <a:rPr lang="en-US" dirty="0">
                    <a:solidFill>
                      <a:srgbClr val="FF0000"/>
                    </a:solidFill>
                  </a:rPr>
                  <a:t>Limit Reference Point (LRP) </a:t>
                </a:r>
                <a:r>
                  <a:rPr lang="en-US" dirty="0"/>
                  <a:t>– placed above threshold of an undesirable state / point of serious harm</a:t>
                </a:r>
              </a:p>
              <a:p>
                <a:pPr fontAlgn="base"/>
                <a:r>
                  <a:rPr lang="en-US" dirty="0"/>
                  <a:t>Reference points are generally defined based on spawning stock biomass (</a:t>
                </a:r>
                <a14:m>
                  <m:oMath xmlns:m="http://schemas.openxmlformats.org/officeDocument/2006/math">
                    <m:r>
                      <m:rPr>
                        <m:sty m:val="p"/>
                      </m:rPr>
                      <a:rPr lang="en-US" i="0" dirty="0" smtClean="0">
                        <a:latin typeface="Cambria Math" panose="02040503050406030204" pitchFamily="18" charset="0"/>
                      </a:rPr>
                      <m:t>SSB</m:t>
                    </m:r>
                  </m:oMath>
                </a14:m>
                <a:r>
                  <a:rPr lang="en-US" dirty="0"/>
                  <a:t>) or the instantaneous fishing mortality rate (</a:t>
                </a:r>
                <a14:m>
                  <m:oMath xmlns:m="http://schemas.openxmlformats.org/officeDocument/2006/math">
                    <m:r>
                      <a:rPr lang="en-US" i="1" dirty="0" smtClean="0">
                        <a:latin typeface="Cambria Math" panose="02040503050406030204" pitchFamily="18" charset="0"/>
                      </a:rPr>
                      <m:t>𝐹</m:t>
                    </m:r>
                  </m:oMath>
                </a14:m>
                <a:r>
                  <a:rPr lang="en-US" dirty="0"/>
                  <a:t>)</a:t>
                </a:r>
              </a:p>
              <a:p>
                <a:pPr marL="0" indent="0">
                  <a:buNone/>
                </a:pPr>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7370" y="1297724"/>
                <a:ext cx="10515600" cy="2633799"/>
              </a:xfrm>
              <a:blipFill>
                <a:blip r:embed="rId3"/>
                <a:stretch>
                  <a:fillRect l="-1043" t="-5324" r="-115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12</a:t>
            </a:fld>
            <a:endParaRPr lang="en-CA"/>
          </a:p>
        </p:txBody>
      </p:sp>
    </p:spTree>
    <p:extLst>
      <p:ext uri="{BB962C8B-B14F-4D97-AF65-F5344CB8AC3E}">
        <p14:creationId xmlns:p14="http://schemas.microsoft.com/office/powerpoint/2010/main" val="1012040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3358" y="236111"/>
            <a:ext cx="10515600" cy="1325563"/>
          </a:xfrm>
        </p:spPr>
        <p:txBody>
          <a:bodyPr/>
          <a:lstStyle/>
          <a:p>
            <a:r>
              <a:rPr lang="en-US" dirty="0"/>
              <a:t>DFO: Reference Points (PA Framework)</a:t>
            </a:r>
          </a:p>
        </p:txBody>
      </p:sp>
      <p:sp>
        <p:nvSpPr>
          <p:cNvPr id="3" name="Content Placeholder 2"/>
          <p:cNvSpPr>
            <a:spLocks noGrp="1"/>
          </p:cNvSpPr>
          <p:nvPr>
            <p:ph idx="1"/>
          </p:nvPr>
        </p:nvSpPr>
        <p:spPr>
          <a:xfrm>
            <a:off x="621384" y="1561674"/>
            <a:ext cx="6298609" cy="4351338"/>
          </a:xfrm>
        </p:spPr>
        <p:txBody>
          <a:bodyPr>
            <a:normAutofit/>
          </a:bodyPr>
          <a:lstStyle/>
          <a:p>
            <a:r>
              <a:rPr lang="en-US" dirty="0"/>
              <a:t>A general fishery decision-making framework (</a:t>
            </a:r>
            <a:r>
              <a:rPr lang="en-US" dirty="0">
                <a:hlinkClick r:id="rId2"/>
              </a:rPr>
              <a:t>DFO 2009</a:t>
            </a:r>
            <a:r>
              <a:rPr lang="en-US" dirty="0"/>
              <a:t>) for implementing harvest strategies that incorporate the precautionary approach</a:t>
            </a:r>
          </a:p>
          <a:p>
            <a:r>
              <a:rPr lang="en-US" dirty="0"/>
              <a:t>Includes </a:t>
            </a:r>
            <a:r>
              <a:rPr lang="en-CA" u="sng" dirty="0"/>
              <a:t>reference points</a:t>
            </a:r>
            <a:r>
              <a:rPr lang="en-CA" dirty="0"/>
              <a:t> and stock status zones</a:t>
            </a:r>
          </a:p>
          <a:p>
            <a:endParaRPr lang="en-US" dirty="0"/>
          </a:p>
          <a:p>
            <a:pPr marL="0" indent="0">
              <a:buNone/>
            </a:pPr>
            <a:endParaRPr lang="en-US" dirty="0"/>
          </a:p>
        </p:txBody>
      </p:sp>
      <p:pic>
        <p:nvPicPr>
          <p:cNvPr id="5" name="Picture 2" descr="Reference Points and Stock Status Zones"/>
          <p:cNvPicPr>
            <a:picLocks noChangeAspect="1" noChangeArrowheads="1"/>
          </p:cNvPicPr>
          <p:nvPr/>
        </p:nvPicPr>
        <p:blipFill rotWithShape="1">
          <a:blip r:embed="rId3">
            <a:extLst>
              <a:ext uri="{28A0092B-C50C-407E-A947-70E740481C1C}">
                <a14:useLocalDpi xmlns:a14="http://schemas.microsoft.com/office/drawing/2010/main" val="0"/>
              </a:ext>
            </a:extLst>
          </a:blip>
          <a:srcRect l="-1" r="-183"/>
          <a:stretch/>
        </p:blipFill>
        <p:spPr bwMode="auto">
          <a:xfrm>
            <a:off x="7192651" y="1482209"/>
            <a:ext cx="5165889" cy="4230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a:xfrm>
            <a:off x="621384" y="6209254"/>
            <a:ext cx="9247910" cy="369332"/>
          </a:xfrm>
          <a:prstGeom prst="rect">
            <a:avLst/>
          </a:prstGeom>
        </p:spPr>
        <p:txBody>
          <a:bodyPr wrap="square">
            <a:spAutoFit/>
          </a:bodyPr>
          <a:lstStyle/>
          <a:p>
            <a:r>
              <a:rPr lang="en-US" dirty="0">
                <a:solidFill>
                  <a:schemeClr val="tx2"/>
                </a:solidFill>
                <a:hlinkClick r:id="rId2"/>
              </a:rPr>
              <a:t>https://www.dfo-mpo.gc.ca/reports-rapports/regs/sff-cpd/precaution-back-fiche-eng.htm</a:t>
            </a:r>
            <a:endParaRPr lang="en-US" dirty="0"/>
          </a:p>
        </p:txBody>
      </p:sp>
      <p:sp>
        <p:nvSpPr>
          <p:cNvPr id="6" name="Slide Number Placeholder 5"/>
          <p:cNvSpPr>
            <a:spLocks noGrp="1"/>
          </p:cNvSpPr>
          <p:nvPr>
            <p:ph type="sldNum" sz="quarter" idx="12"/>
          </p:nvPr>
        </p:nvSpPr>
        <p:spPr/>
        <p:txBody>
          <a:bodyPr/>
          <a:lstStyle/>
          <a:p>
            <a:fld id="{EEDFA2F9-C25F-4A63-B46B-7B5C200A39D1}" type="slidenum">
              <a:rPr lang="en-CA" smtClean="0"/>
              <a:t>13</a:t>
            </a:fld>
            <a:endParaRPr lang="en-CA"/>
          </a:p>
        </p:txBody>
      </p:sp>
    </p:spTree>
    <p:extLst>
      <p:ext uri="{BB962C8B-B14F-4D97-AF65-F5344CB8AC3E}">
        <p14:creationId xmlns:p14="http://schemas.microsoft.com/office/powerpoint/2010/main" val="3295809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DFO: Reference Points (PA Framework)</a:t>
            </a:r>
          </a:p>
        </p:txBody>
      </p:sp>
      <p:sp>
        <p:nvSpPr>
          <p:cNvPr id="3" name="Content Placeholder 2"/>
          <p:cNvSpPr>
            <a:spLocks noGrp="1"/>
          </p:cNvSpPr>
          <p:nvPr>
            <p:ph idx="1"/>
          </p:nvPr>
        </p:nvSpPr>
        <p:spPr>
          <a:xfrm>
            <a:off x="333722" y="1599382"/>
            <a:ext cx="6623259" cy="4351338"/>
          </a:xfrm>
        </p:spPr>
        <p:txBody>
          <a:bodyPr>
            <a:normAutofit/>
          </a:bodyPr>
          <a:lstStyle/>
          <a:p>
            <a:r>
              <a:rPr lang="en-CA" dirty="0">
                <a:solidFill>
                  <a:srgbClr val="FF0000"/>
                </a:solidFill>
              </a:rPr>
              <a:t>LRP</a:t>
            </a:r>
            <a:r>
              <a:rPr lang="en-CA" dirty="0"/>
              <a:t>: “</a:t>
            </a:r>
            <a:r>
              <a:rPr lang="en-US" i="1" dirty="0"/>
              <a:t>represents the stock level below which there is a high probability that the stock’s productivity is so impaired that serious harm will occur”</a:t>
            </a:r>
            <a:endParaRPr lang="en-CA" i="1" dirty="0"/>
          </a:p>
          <a:p>
            <a:r>
              <a:rPr lang="en-US" i="1" dirty="0"/>
              <a:t>“At this stock status level, there may also be resultant impacts to the ecosystem, associated species and a long-term loss of fishing opportunities”</a:t>
            </a:r>
          </a:p>
          <a:p>
            <a:r>
              <a:rPr lang="en-CA" dirty="0"/>
              <a:t>The </a:t>
            </a:r>
            <a:r>
              <a:rPr lang="en-CA" dirty="0">
                <a:solidFill>
                  <a:srgbClr val="FF0000"/>
                </a:solidFill>
              </a:rPr>
              <a:t>LRP</a:t>
            </a:r>
            <a:r>
              <a:rPr lang="en-CA" dirty="0"/>
              <a:t> is defined by DFO Science through a CSAS peer-review process</a:t>
            </a:r>
            <a:endParaRPr lang="en-US" dirty="0"/>
          </a:p>
        </p:txBody>
      </p:sp>
      <p:pic>
        <p:nvPicPr>
          <p:cNvPr id="4" name="Picture 2" descr="Reference Points and Stock Status Zones"/>
          <p:cNvPicPr>
            <a:picLocks noChangeAspect="1" noChangeArrowheads="1"/>
          </p:cNvPicPr>
          <p:nvPr/>
        </p:nvPicPr>
        <p:blipFill rotWithShape="1">
          <a:blip r:embed="rId2">
            <a:extLst>
              <a:ext uri="{28A0092B-C50C-407E-A947-70E740481C1C}">
                <a14:useLocalDpi xmlns:a14="http://schemas.microsoft.com/office/drawing/2010/main" val="0"/>
              </a:ext>
            </a:extLst>
          </a:blip>
          <a:srcRect l="-1" r="-183"/>
          <a:stretch/>
        </p:blipFill>
        <p:spPr bwMode="auto">
          <a:xfrm>
            <a:off x="7192651" y="1482209"/>
            <a:ext cx="5165889" cy="4230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4"/>
          <p:cNvCxnSpPr/>
          <p:nvPr/>
        </p:nvCxnSpPr>
        <p:spPr>
          <a:xfrm>
            <a:off x="8282046" y="1925359"/>
            <a:ext cx="11050" cy="296816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EEDFA2F9-C25F-4A63-B46B-7B5C200A39D1}" type="slidenum">
              <a:rPr lang="en-CA" smtClean="0"/>
              <a:t>14</a:t>
            </a:fld>
            <a:endParaRPr lang="en-CA"/>
          </a:p>
        </p:txBody>
      </p:sp>
    </p:spTree>
    <p:extLst>
      <p:ext uri="{BB962C8B-B14F-4D97-AF65-F5344CB8AC3E}">
        <p14:creationId xmlns:p14="http://schemas.microsoft.com/office/powerpoint/2010/main" val="1871860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Reference Points and Stock Status Zones"/>
          <p:cNvPicPr>
            <a:picLocks noChangeAspect="1" noChangeArrowheads="1"/>
          </p:cNvPicPr>
          <p:nvPr/>
        </p:nvPicPr>
        <p:blipFill rotWithShape="1">
          <a:blip r:embed="rId2">
            <a:extLst>
              <a:ext uri="{28A0092B-C50C-407E-A947-70E740481C1C}">
                <a14:useLocalDpi xmlns:a14="http://schemas.microsoft.com/office/drawing/2010/main" val="0"/>
              </a:ext>
            </a:extLst>
          </a:blip>
          <a:srcRect l="-1" r="-183"/>
          <a:stretch/>
        </p:blipFill>
        <p:spPr bwMode="auto">
          <a:xfrm>
            <a:off x="7192651" y="1482209"/>
            <a:ext cx="5165889" cy="4230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DFO: Reference Points (PA Framework)</a:t>
            </a:r>
          </a:p>
        </p:txBody>
      </p:sp>
      <p:sp>
        <p:nvSpPr>
          <p:cNvPr id="3" name="Content Placeholder 2"/>
          <p:cNvSpPr>
            <a:spLocks noGrp="1"/>
          </p:cNvSpPr>
          <p:nvPr>
            <p:ph idx="1"/>
          </p:nvPr>
        </p:nvSpPr>
        <p:spPr>
          <a:xfrm>
            <a:off x="432848" y="1732253"/>
            <a:ext cx="6231903" cy="4168926"/>
          </a:xfrm>
        </p:spPr>
        <p:txBody>
          <a:bodyPr/>
          <a:lstStyle/>
          <a:p>
            <a:r>
              <a:rPr lang="en-US" dirty="0">
                <a:solidFill>
                  <a:srgbClr val="0000FF"/>
                </a:solidFill>
              </a:rPr>
              <a:t>USR</a:t>
            </a:r>
            <a:r>
              <a:rPr lang="en-US" dirty="0"/>
              <a:t> – “</a:t>
            </a:r>
            <a:r>
              <a:rPr lang="en-CA" i="1" dirty="0"/>
              <a:t>a level below which removals must be progressively reduced so the LRP can be avoided” </a:t>
            </a:r>
            <a:r>
              <a:rPr lang="en-CA" dirty="0"/>
              <a:t>and can be </a:t>
            </a:r>
            <a:r>
              <a:rPr lang="en-CA" i="1" dirty="0"/>
              <a:t>“</a:t>
            </a:r>
            <a:r>
              <a:rPr lang="en-US" i="1" dirty="0"/>
              <a:t>a target reference point</a:t>
            </a:r>
            <a:r>
              <a:rPr lang="en-US" dirty="0"/>
              <a:t>”</a:t>
            </a:r>
          </a:p>
          <a:p>
            <a:r>
              <a:rPr lang="en-US" dirty="0"/>
              <a:t>“</a:t>
            </a:r>
            <a:r>
              <a:rPr lang="en-US" i="1" dirty="0">
                <a:solidFill>
                  <a:srgbClr val="0000FF"/>
                </a:solidFill>
              </a:rPr>
              <a:t>USR</a:t>
            </a:r>
            <a:r>
              <a:rPr lang="en-US" i="1" dirty="0"/>
              <a:t> is defined by resource management, in consultation with </a:t>
            </a:r>
            <a:r>
              <a:rPr lang="en-US" dirty="0"/>
              <a:t>[</a:t>
            </a:r>
            <a:r>
              <a:rPr lang="en-US" i="1" dirty="0"/>
              <a:t>partners and</a:t>
            </a:r>
            <a:r>
              <a:rPr lang="en-US" dirty="0"/>
              <a:t>]</a:t>
            </a:r>
            <a:r>
              <a:rPr lang="en-US" i="1" dirty="0"/>
              <a:t> stakeholders and with advice and input from DFO Science</a:t>
            </a:r>
            <a:r>
              <a:rPr lang="en-US" dirty="0"/>
              <a:t>” </a:t>
            </a:r>
          </a:p>
          <a:p>
            <a:endParaRPr lang="en-US" dirty="0"/>
          </a:p>
        </p:txBody>
      </p:sp>
      <p:cxnSp>
        <p:nvCxnSpPr>
          <p:cNvPr id="5" name="Straight Connector 4"/>
          <p:cNvCxnSpPr/>
          <p:nvPr/>
        </p:nvCxnSpPr>
        <p:spPr>
          <a:xfrm>
            <a:off x="8291960" y="1930216"/>
            <a:ext cx="0" cy="2971722"/>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9665988" y="1930216"/>
            <a:ext cx="0" cy="2971722"/>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EDFA2F9-C25F-4A63-B46B-7B5C200A39D1}" type="slidenum">
              <a:rPr lang="en-CA" smtClean="0"/>
              <a:t>15</a:t>
            </a:fld>
            <a:endParaRPr lang="en-CA"/>
          </a:p>
        </p:txBody>
      </p:sp>
    </p:spTree>
    <p:extLst>
      <p:ext uri="{BB962C8B-B14F-4D97-AF65-F5344CB8AC3E}">
        <p14:creationId xmlns:p14="http://schemas.microsoft.com/office/powerpoint/2010/main" val="4007416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Reference Points and Stock Status Zones"/>
          <p:cNvPicPr>
            <a:picLocks noChangeAspect="1" noChangeArrowheads="1"/>
          </p:cNvPicPr>
          <p:nvPr/>
        </p:nvPicPr>
        <p:blipFill rotWithShape="1">
          <a:blip r:embed="rId2">
            <a:extLst>
              <a:ext uri="{28A0092B-C50C-407E-A947-70E740481C1C}">
                <a14:useLocalDpi xmlns:a14="http://schemas.microsoft.com/office/drawing/2010/main" val="0"/>
              </a:ext>
            </a:extLst>
          </a:blip>
          <a:srcRect l="-1" r="-183"/>
          <a:stretch/>
        </p:blipFill>
        <p:spPr bwMode="auto">
          <a:xfrm>
            <a:off x="7192651" y="1482209"/>
            <a:ext cx="5165889" cy="4230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DFO: Reference Points (PA Framework)</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90629" y="1816198"/>
                <a:ext cx="6077816" cy="4351338"/>
              </a:xfrm>
            </p:spPr>
            <p:txBody>
              <a:bodyPr/>
              <a:lstStyle/>
              <a:p>
                <a:r>
                  <a:rPr lang="en-US" dirty="0">
                    <a:solidFill>
                      <a:srgbClr val="7030A0"/>
                    </a:solidFill>
                  </a:rPr>
                  <a:t>Removal Reference </a:t>
                </a:r>
                <a:r>
                  <a:rPr lang="en-US" dirty="0"/>
                  <a:t>– maximum acceptable removal rate (generally a limit on the fishing mortality rate, </a:t>
                </a:r>
                <a14:m>
                  <m:oMath xmlns:m="http://schemas.openxmlformats.org/officeDocument/2006/math">
                    <m:r>
                      <a:rPr lang="en-US" i="1" dirty="0" smtClean="0">
                        <a:latin typeface="Cambria Math" panose="02040503050406030204" pitchFamily="18" charset="0"/>
                      </a:rPr>
                      <m:t>𝐹</m:t>
                    </m:r>
                  </m:oMath>
                </a14:m>
                <a:r>
                  <a:rPr lang="en-US" dirty="0"/>
                  <a:t>)</a:t>
                </a:r>
              </a:p>
              <a:p>
                <a:endParaRPr lang="en-US" dirty="0"/>
              </a:p>
              <a:p>
                <a:r>
                  <a:rPr lang="en-US" dirty="0">
                    <a:solidFill>
                      <a:srgbClr val="00B050"/>
                    </a:solidFill>
                  </a:rPr>
                  <a:t>Target Reference Point </a:t>
                </a:r>
                <a:r>
                  <a:rPr lang="en-US" dirty="0"/>
                  <a:t>– desirable state for the stock to approach and fluctuate around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90629" y="1816198"/>
                <a:ext cx="6077816" cy="4351338"/>
              </a:xfrm>
              <a:blipFill>
                <a:blip r:embed="rId3"/>
                <a:stretch>
                  <a:fillRect l="-1805" t="-2381"/>
                </a:stretch>
              </a:blipFill>
            </p:spPr>
            <p:txBody>
              <a:bodyPr/>
              <a:lstStyle/>
              <a:p>
                <a:r>
                  <a:rPr lang="en-US">
                    <a:noFill/>
                  </a:rPr>
                  <a:t> </a:t>
                </a:r>
              </a:p>
            </p:txBody>
          </p:sp>
        </mc:Fallback>
      </mc:AlternateContent>
      <p:cxnSp>
        <p:nvCxnSpPr>
          <p:cNvPr id="5" name="Straight Connector 4"/>
          <p:cNvCxnSpPr/>
          <p:nvPr/>
        </p:nvCxnSpPr>
        <p:spPr>
          <a:xfrm>
            <a:off x="8300428" y="1911362"/>
            <a:ext cx="0" cy="298114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9684841" y="1939643"/>
            <a:ext cx="0" cy="2952868"/>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9702523" y="3505485"/>
            <a:ext cx="2231811"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F8F370D-BE3F-43E2-95B8-15BD1295EB14}"/>
              </a:ext>
            </a:extLst>
          </p:cNvPr>
          <p:cNvCxnSpPr>
            <a:cxnSpLocks/>
          </p:cNvCxnSpPr>
          <p:nvPr/>
        </p:nvCxnSpPr>
        <p:spPr>
          <a:xfrm>
            <a:off x="10242806" y="1939643"/>
            <a:ext cx="0" cy="2952868"/>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EDFA2F9-C25F-4A63-B46B-7B5C200A39D1}" type="slidenum">
              <a:rPr lang="en-CA" smtClean="0"/>
              <a:t>16</a:t>
            </a:fld>
            <a:endParaRPr lang="en-CA"/>
          </a:p>
        </p:txBody>
      </p:sp>
    </p:spTree>
    <p:extLst>
      <p:ext uri="{BB962C8B-B14F-4D97-AF65-F5344CB8AC3E}">
        <p14:creationId xmlns:p14="http://schemas.microsoft.com/office/powerpoint/2010/main" val="8307209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98242-A4D1-42BE-9FFB-DE9673E9F2D1}"/>
              </a:ext>
            </a:extLst>
          </p:cNvPr>
          <p:cNvSpPr>
            <a:spLocks noGrp="1"/>
          </p:cNvSpPr>
          <p:nvPr>
            <p:ph type="title"/>
          </p:nvPr>
        </p:nvSpPr>
        <p:spPr/>
        <p:txBody>
          <a:bodyPr/>
          <a:lstStyle/>
          <a:p>
            <a:r>
              <a:rPr lang="en-US" dirty="0"/>
              <a:t>DFO: Reference Points (PA Framework)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6C03E6-B3D0-4730-959B-C58289DFC613}"/>
                  </a:ext>
                </a:extLst>
              </p:cNvPr>
              <p:cNvSpPr>
                <a:spLocks noGrp="1"/>
              </p:cNvSpPr>
              <p:nvPr>
                <p:ph idx="1"/>
              </p:nvPr>
            </p:nvSpPr>
            <p:spPr/>
            <p:txBody>
              <a:bodyPr/>
              <a:lstStyle/>
              <a:p>
                <a:r>
                  <a:rPr lang="en-US" dirty="0"/>
                  <a:t>The </a:t>
                </a:r>
                <a:r>
                  <a:rPr lang="en-US" dirty="0">
                    <a:solidFill>
                      <a:srgbClr val="FF0000"/>
                    </a:solidFill>
                  </a:rPr>
                  <a:t>LRP</a:t>
                </a:r>
                <a:r>
                  <a:rPr lang="en-US" dirty="0"/>
                  <a:t> and </a:t>
                </a:r>
                <a:r>
                  <a:rPr lang="en-US" dirty="0">
                    <a:solidFill>
                      <a:srgbClr val="0000FF"/>
                    </a:solidFill>
                  </a:rPr>
                  <a:t>USR</a:t>
                </a:r>
                <a:r>
                  <a:rPr lang="en-US" dirty="0"/>
                  <a:t> in Canadian policy are typically defined in terms of biomass (</a:t>
                </a:r>
                <a14:m>
                  <m:oMath xmlns:m="http://schemas.openxmlformats.org/officeDocument/2006/math">
                    <m:r>
                      <a:rPr lang="en-US" i="1" dirty="0" smtClean="0">
                        <a:latin typeface="Cambria Math" panose="02040503050406030204" pitchFamily="18" charset="0"/>
                      </a:rPr>
                      <m:t>𝐵</m:t>
                    </m:r>
                  </m:oMath>
                </a14:m>
                <a:r>
                  <a:rPr lang="en-US" dirty="0"/>
                  <a:t>), particularly spawning stock biomass (</a:t>
                </a:r>
                <a14:m>
                  <m:oMath xmlns:m="http://schemas.openxmlformats.org/officeDocument/2006/math">
                    <m:r>
                      <m:rPr>
                        <m:sty m:val="p"/>
                      </m:rPr>
                      <a:rPr lang="en-US" i="0" dirty="0" smtClean="0">
                        <a:latin typeface="Cambria Math" panose="02040503050406030204" pitchFamily="18" charset="0"/>
                      </a:rPr>
                      <m:t>SSB</m:t>
                    </m:r>
                  </m:oMath>
                </a14:m>
                <a:r>
                  <a:rPr lang="en-US" dirty="0"/>
                  <a:t>), abundance, or a proxy for these</a:t>
                </a:r>
              </a:p>
              <a:p>
                <a:r>
                  <a:rPr lang="en-US" dirty="0"/>
                  <a:t>Other metrics that represent the reproductive capacity (e.g., total egg production) of the stock may be used</a:t>
                </a:r>
              </a:p>
              <a:p>
                <a:r>
                  <a:rPr lang="en-US" dirty="0"/>
                  <a:t>The metric chosen should best represent the </a:t>
                </a:r>
                <a:r>
                  <a:rPr lang="en-US" i="1" dirty="0"/>
                  <a:t>reproductive capacity </a:t>
                </a:r>
                <a:r>
                  <a:rPr lang="en-US" dirty="0"/>
                  <a:t>of the stock, depending on the type of analytical assessment and data availability</a:t>
                </a:r>
              </a:p>
            </p:txBody>
          </p:sp>
        </mc:Choice>
        <mc:Fallback xmlns="">
          <p:sp>
            <p:nvSpPr>
              <p:cNvPr id="3" name="Content Placeholder 2">
                <a:extLst>
                  <a:ext uri="{FF2B5EF4-FFF2-40B4-BE49-F238E27FC236}">
                    <a16:creationId xmlns:a16="http://schemas.microsoft.com/office/drawing/2014/main" id="{AD6C03E6-B3D0-4730-959B-C58289DFC613}"/>
                  </a:ext>
                </a:extLst>
              </p:cNvPr>
              <p:cNvSpPr>
                <a:spLocks noGrp="1" noRot="1" noChangeAspect="1" noMove="1" noResize="1" noEditPoints="1" noAdjustHandles="1" noChangeArrowheads="1" noChangeShapeType="1" noTextEdit="1"/>
              </p:cNvSpPr>
              <p:nvPr>
                <p:ph idx="1"/>
              </p:nvPr>
            </p:nvSpPr>
            <p:spPr>
              <a:blipFill>
                <a:blip r:embed="rId2"/>
                <a:stretch>
                  <a:fillRect l="-1043" t="-2241" r="-1449"/>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17</a:t>
            </a:fld>
            <a:endParaRPr lang="en-CA"/>
          </a:p>
        </p:txBody>
      </p:sp>
    </p:spTree>
    <p:extLst>
      <p:ext uri="{BB962C8B-B14F-4D97-AF65-F5344CB8AC3E}">
        <p14:creationId xmlns:p14="http://schemas.microsoft.com/office/powerpoint/2010/main" val="9200904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8B0C8-2CA6-49C7-BA42-E425D5AFE97B}"/>
              </a:ext>
            </a:extLst>
          </p:cNvPr>
          <p:cNvSpPr>
            <a:spLocks noGrp="1"/>
          </p:cNvSpPr>
          <p:nvPr>
            <p:ph type="title"/>
          </p:nvPr>
        </p:nvSpPr>
        <p:spPr/>
        <p:txBody>
          <a:bodyPr/>
          <a:lstStyle/>
          <a:p>
            <a:r>
              <a:rPr lang="en-US" dirty="0"/>
              <a:t>Roles of Reference Points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7114D86-EC39-4E3E-93AA-D32B0785D02C}"/>
                  </a:ext>
                </a:extLst>
              </p:cNvPr>
              <p:cNvSpPr>
                <a:spLocks noGrp="1"/>
              </p:cNvSpPr>
              <p:nvPr>
                <p:ph idx="1"/>
              </p:nvPr>
            </p:nvSpPr>
            <p:spPr>
              <a:xfrm>
                <a:off x="677945" y="1690688"/>
                <a:ext cx="10515600" cy="4351338"/>
              </a:xfrm>
            </p:spPr>
            <p:txBody>
              <a:bodyPr>
                <a:normAutofit/>
              </a:bodyPr>
              <a:lstStyle/>
              <a:p>
                <a:pPr marL="457200" indent="-457200">
                  <a:buFont typeface="+mj-lt"/>
                  <a:buAutoNum type="arabicPeriod"/>
                </a:pPr>
                <a:r>
                  <a:rPr lang="en-US" dirty="0"/>
                  <a:t>Components of objectives and performance metrics for decision making</a:t>
                </a:r>
              </a:p>
              <a:p>
                <a:pPr marL="457200" indent="-457200">
                  <a:buFont typeface="+mj-lt"/>
                  <a:buAutoNum type="arabicPeriod"/>
                </a:pPr>
                <a:r>
                  <a:rPr lang="en-US" dirty="0"/>
                  <a:t>Determining stock status by comparing estimated </a:t>
                </a:r>
                <a14:m>
                  <m:oMath xmlns:m="http://schemas.openxmlformats.org/officeDocument/2006/math">
                    <m:r>
                      <m:rPr>
                        <m:sty m:val="p"/>
                      </m:rPr>
                      <a:rPr lang="en-US" i="0" dirty="0" smtClean="0">
                        <a:latin typeface="Cambria Math" panose="02040503050406030204" pitchFamily="18" charset="0"/>
                      </a:rPr>
                      <m:t>SSB</m:t>
                    </m:r>
                  </m:oMath>
                </a14:m>
                <a:r>
                  <a:rPr lang="en-US" dirty="0"/>
                  <a:t> or </a:t>
                </a:r>
                <a14:m>
                  <m:oMath xmlns:m="http://schemas.openxmlformats.org/officeDocument/2006/math">
                    <m:r>
                      <a:rPr lang="en-US" i="1" dirty="0" smtClean="0">
                        <a:latin typeface="Cambria Math" panose="02040503050406030204" pitchFamily="18" charset="0"/>
                      </a:rPr>
                      <m:t>𝐹</m:t>
                    </m:r>
                  </m:oMath>
                </a14:m>
                <a:r>
                  <a:rPr lang="en-US" dirty="0"/>
                  <a:t> to reference points. In Canada:</a:t>
                </a:r>
              </a:p>
              <a:p>
                <a:pPr lvl="1"/>
                <a:r>
                  <a:rPr lang="en-US" dirty="0">
                    <a:solidFill>
                      <a:srgbClr val="FF0000"/>
                    </a:solidFill>
                  </a:rPr>
                  <a:t>LRP</a:t>
                </a:r>
                <a:r>
                  <a:rPr lang="en-US" dirty="0"/>
                  <a:t> separates the Critical and Cautious zones</a:t>
                </a:r>
              </a:p>
              <a:p>
                <a:pPr lvl="1"/>
                <a:r>
                  <a:rPr lang="en-US" dirty="0">
                    <a:solidFill>
                      <a:srgbClr val="0000FF"/>
                    </a:solidFill>
                  </a:rPr>
                  <a:t>USR</a:t>
                </a:r>
                <a:r>
                  <a:rPr lang="en-US" dirty="0"/>
                  <a:t> separates the Cautious and Healthy zones</a:t>
                </a:r>
              </a:p>
              <a:p>
                <a:pPr marL="536575" indent="-536575">
                  <a:buNone/>
                </a:pPr>
                <a:r>
                  <a:rPr lang="en-US" dirty="0"/>
                  <a:t>3.  In Canada, the LRP also has a legislated role in triggering the need for a </a:t>
                </a:r>
                <a:r>
                  <a:rPr lang="en-US" u="sng" dirty="0"/>
                  <a:t>rebuilding plan</a:t>
                </a:r>
                <a:r>
                  <a:rPr lang="en-US" dirty="0"/>
                  <a:t> under the Fish Stocks Provisions of the </a:t>
                </a:r>
                <a:r>
                  <a:rPr lang="en-US" i="1" dirty="0"/>
                  <a:t>Fisheries Act</a:t>
                </a:r>
              </a:p>
              <a:p>
                <a:pPr lvl="1"/>
                <a:endParaRPr lang="en-US" dirty="0"/>
              </a:p>
              <a:p>
                <a:endParaRPr lang="en-US" dirty="0"/>
              </a:p>
            </p:txBody>
          </p:sp>
        </mc:Choice>
        <mc:Fallback>
          <p:sp>
            <p:nvSpPr>
              <p:cNvPr id="3" name="Content Placeholder 2">
                <a:extLst>
                  <a:ext uri="{FF2B5EF4-FFF2-40B4-BE49-F238E27FC236}">
                    <a16:creationId xmlns:a16="http://schemas.microsoft.com/office/drawing/2014/main" id="{77114D86-EC39-4E3E-93AA-D32B0785D02C}"/>
                  </a:ext>
                </a:extLst>
              </p:cNvPr>
              <p:cNvSpPr>
                <a:spLocks noGrp="1" noRot="1" noChangeAspect="1" noMove="1" noResize="1" noEditPoints="1" noAdjustHandles="1" noChangeArrowheads="1" noChangeShapeType="1" noTextEdit="1"/>
              </p:cNvSpPr>
              <p:nvPr>
                <p:ph idx="1"/>
              </p:nvPr>
            </p:nvSpPr>
            <p:spPr>
              <a:xfrm>
                <a:off x="677945" y="1690688"/>
                <a:ext cx="10515600" cy="4351338"/>
              </a:xfrm>
              <a:blipFill>
                <a:blip r:embed="rId2"/>
                <a:stretch>
                  <a:fillRect l="-1217"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18</a:t>
            </a:fld>
            <a:endParaRPr lang="en-CA"/>
          </a:p>
        </p:txBody>
      </p:sp>
    </p:spTree>
    <p:extLst>
      <p:ext uri="{BB962C8B-B14F-4D97-AF65-F5344CB8AC3E}">
        <p14:creationId xmlns:p14="http://schemas.microsoft.com/office/powerpoint/2010/main" val="1085195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8B0C8-2CA6-49C7-BA42-E425D5AFE97B}"/>
              </a:ext>
            </a:extLst>
          </p:cNvPr>
          <p:cNvSpPr>
            <a:spLocks noGrp="1"/>
          </p:cNvSpPr>
          <p:nvPr>
            <p:ph type="title"/>
          </p:nvPr>
        </p:nvSpPr>
        <p:spPr>
          <a:xfrm>
            <a:off x="847840" y="357475"/>
            <a:ext cx="10515600" cy="1325563"/>
          </a:xfrm>
        </p:spPr>
        <p:txBody>
          <a:bodyPr/>
          <a:lstStyle/>
          <a:p>
            <a:r>
              <a:rPr lang="en-US" dirty="0"/>
              <a:t>Roles of Reference Points</a:t>
            </a:r>
          </a:p>
        </p:txBody>
      </p:sp>
      <p:sp>
        <p:nvSpPr>
          <p:cNvPr id="3" name="Content Placeholder 2">
            <a:extLst>
              <a:ext uri="{FF2B5EF4-FFF2-40B4-BE49-F238E27FC236}">
                <a16:creationId xmlns:a16="http://schemas.microsoft.com/office/drawing/2014/main" id="{77114D86-EC39-4E3E-93AA-D32B0785D02C}"/>
              </a:ext>
            </a:extLst>
          </p:cNvPr>
          <p:cNvSpPr>
            <a:spLocks noGrp="1"/>
          </p:cNvSpPr>
          <p:nvPr>
            <p:ph idx="1"/>
          </p:nvPr>
        </p:nvSpPr>
        <p:spPr>
          <a:xfrm>
            <a:off x="688513" y="1732978"/>
            <a:ext cx="10515600" cy="1063555"/>
          </a:xfrm>
        </p:spPr>
        <p:txBody>
          <a:bodyPr>
            <a:normAutofit/>
          </a:bodyPr>
          <a:lstStyle/>
          <a:p>
            <a:pPr marL="514350" indent="-514350">
              <a:buFont typeface="+mj-lt"/>
              <a:buAutoNum type="arabicPeriod" startAt="4"/>
            </a:pPr>
            <a:r>
              <a:rPr lang="en-US" u="sng" dirty="0"/>
              <a:t>Can be</a:t>
            </a:r>
            <a:r>
              <a:rPr lang="en-US" dirty="0"/>
              <a:t> and are often used as triggers (operational control points) in harvest control rules (HCRs)</a:t>
            </a:r>
            <a:endParaRPr lang="en-US" sz="2400" dirty="0"/>
          </a:p>
        </p:txBody>
      </p:sp>
      <p:pic>
        <p:nvPicPr>
          <p:cNvPr id="2050" name="Picture 2">
            <a:extLst>
              <a:ext uri="{FF2B5EF4-FFF2-40B4-BE49-F238E27FC236}">
                <a16:creationId xmlns:a16="http://schemas.microsoft.com/office/drawing/2014/main" id="{AA5C3D3E-CBE1-4B74-8D19-5AA1E7C7EB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890" y="3165894"/>
            <a:ext cx="5168736" cy="310124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F3B90EEF-4650-48C9-BC0D-A2C036451D44}"/>
                  </a:ext>
                </a:extLst>
              </p:cNvPr>
              <p:cNvSpPr txBox="1"/>
              <p:nvPr/>
            </p:nvSpPr>
            <p:spPr>
              <a:xfrm>
                <a:off x="7992207" y="2390587"/>
                <a:ext cx="4068175" cy="3785652"/>
              </a:xfrm>
              <a:prstGeom prst="rect">
                <a:avLst/>
              </a:prstGeom>
              <a:noFill/>
              <a:ln>
                <a:solidFill>
                  <a:schemeClr val="tx2"/>
                </a:solidFill>
              </a:ln>
            </p:spPr>
            <p:txBody>
              <a:bodyPr wrap="square" rtlCol="0">
                <a:spAutoFit/>
              </a:bodyPr>
              <a:lstStyle/>
              <a:p>
                <a:r>
                  <a:rPr lang="en-US" sz="2400" b="0" i="0" u="none" strike="noStrike" dirty="0">
                    <a:solidFill>
                      <a:schemeClr val="tx2">
                        <a:lumMod val="75000"/>
                      </a:schemeClr>
                    </a:solidFill>
                    <a:effectLst/>
                    <a:latin typeface="Calibri" panose="020F0502020204030204" pitchFamily="34" charset="0"/>
                  </a:rPr>
                  <a:t>OCPs = points where pre-defined management actions take place (e.g., change in </a:t>
                </a:r>
                <a14:m>
                  <m:oMath xmlns:m="http://schemas.openxmlformats.org/officeDocument/2006/math">
                    <m:r>
                      <a:rPr lang="en-US" sz="2400" b="0" i="1" u="none" strike="noStrike" dirty="0" smtClean="0">
                        <a:solidFill>
                          <a:schemeClr val="tx2">
                            <a:lumMod val="75000"/>
                          </a:schemeClr>
                        </a:solidFill>
                        <a:effectLst/>
                        <a:latin typeface="Cambria Math" panose="02040503050406030204" pitchFamily="18" charset="0"/>
                      </a:rPr>
                      <m:t>𝐹</m:t>
                    </m:r>
                  </m:oMath>
                </a14:m>
                <a:r>
                  <a:rPr lang="en-US" sz="2400" b="0" i="0" u="none" strike="noStrike" dirty="0">
                    <a:solidFill>
                      <a:schemeClr val="tx2">
                        <a:lumMod val="75000"/>
                      </a:schemeClr>
                    </a:solidFill>
                    <a:effectLst/>
                    <a:latin typeface="Calibri" panose="020F0502020204030204" pitchFamily="34" charset="0"/>
                  </a:rPr>
                  <a:t> in an HCR)</a:t>
                </a:r>
              </a:p>
              <a:p>
                <a:pPr marL="342900" indent="-342900">
                  <a:buFont typeface="Arial" panose="020B0604020202020204" pitchFamily="34" charset="0"/>
                  <a:buChar char="•"/>
                </a:pPr>
                <a:r>
                  <a:rPr lang="en-US" sz="2400" dirty="0">
                    <a:solidFill>
                      <a:schemeClr val="tx2">
                        <a:lumMod val="75000"/>
                      </a:schemeClr>
                    </a:solidFill>
                    <a:latin typeface="Calibri" panose="020F0502020204030204" pitchFamily="34" charset="0"/>
                  </a:rPr>
                  <a:t>OCPs are components of the Management Procedure</a:t>
                </a:r>
              </a:p>
              <a:p>
                <a:pPr marL="342900" indent="-342900">
                  <a:buFont typeface="Arial" panose="020B0604020202020204" pitchFamily="34" charset="0"/>
                  <a:buChar char="•"/>
                </a:pPr>
                <a:r>
                  <a:rPr lang="en-US" sz="2400" dirty="0">
                    <a:solidFill>
                      <a:schemeClr val="tx2">
                        <a:lumMod val="75000"/>
                      </a:schemeClr>
                    </a:solidFill>
                    <a:latin typeface="Calibri" panose="020F0502020204030204" pitchFamily="34" charset="0"/>
                  </a:rPr>
                  <a:t>They do not need to line up with reference points or even be based on the same metrics!</a:t>
                </a:r>
                <a:endParaRPr lang="en-US" sz="2400" dirty="0">
                  <a:solidFill>
                    <a:schemeClr val="tx2">
                      <a:lumMod val="75000"/>
                    </a:schemeClr>
                  </a:solidFill>
                </a:endParaRPr>
              </a:p>
            </p:txBody>
          </p:sp>
        </mc:Choice>
        <mc:Fallback>
          <p:sp>
            <p:nvSpPr>
              <p:cNvPr id="6" name="TextBox 5">
                <a:extLst>
                  <a:ext uri="{FF2B5EF4-FFF2-40B4-BE49-F238E27FC236}">
                    <a16:creationId xmlns:a16="http://schemas.microsoft.com/office/drawing/2014/main" id="{F3B90EEF-4650-48C9-BC0D-A2C036451D44}"/>
                  </a:ext>
                </a:extLst>
              </p:cNvPr>
              <p:cNvSpPr txBox="1">
                <a:spLocks noRot="1" noChangeAspect="1" noMove="1" noResize="1" noEditPoints="1" noAdjustHandles="1" noChangeArrowheads="1" noChangeShapeType="1" noTextEdit="1"/>
              </p:cNvSpPr>
              <p:nvPr/>
            </p:nvSpPr>
            <p:spPr>
              <a:xfrm>
                <a:off x="7992207" y="2390587"/>
                <a:ext cx="4068175" cy="3785652"/>
              </a:xfrm>
              <a:prstGeom prst="rect">
                <a:avLst/>
              </a:prstGeom>
              <a:blipFill>
                <a:blip r:embed="rId3"/>
                <a:stretch>
                  <a:fillRect l="-2093" t="-1124" r="-3288" b="-2568"/>
                </a:stretch>
              </a:blipFill>
              <a:ln>
                <a:solidFill>
                  <a:schemeClr val="tx2"/>
                </a:solidFill>
              </a:ln>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CD4B1783-74F3-4745-820B-7D9408C7C9A5}"/>
              </a:ext>
            </a:extLst>
          </p:cNvPr>
          <p:cNvCxnSpPr>
            <a:cxnSpLocks/>
          </p:cNvCxnSpPr>
          <p:nvPr/>
        </p:nvCxnSpPr>
        <p:spPr>
          <a:xfrm flipH="1" flipV="1">
            <a:off x="4307478" y="3657305"/>
            <a:ext cx="3684729" cy="43276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46194DBE-7A16-4F8E-B369-DD14804B7BAC}"/>
              </a:ext>
            </a:extLst>
          </p:cNvPr>
          <p:cNvCxnSpPr>
            <a:cxnSpLocks/>
          </p:cNvCxnSpPr>
          <p:nvPr/>
        </p:nvCxnSpPr>
        <p:spPr>
          <a:xfrm flipH="1">
            <a:off x="3012161" y="4090067"/>
            <a:ext cx="4980046" cy="10885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EDFA2F9-C25F-4A63-B46B-7B5C200A39D1}" type="slidenum">
              <a:rPr lang="en-CA" smtClean="0"/>
              <a:t>19</a:t>
            </a:fld>
            <a:endParaRPr lang="en-CA" dirty="0"/>
          </a:p>
        </p:txBody>
      </p:sp>
    </p:spTree>
    <p:extLst>
      <p:ext uri="{BB962C8B-B14F-4D97-AF65-F5344CB8AC3E}">
        <p14:creationId xmlns:p14="http://schemas.microsoft.com/office/powerpoint/2010/main" val="114990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p:cNvSpPr/>
          <p:nvPr/>
        </p:nvSpPr>
        <p:spPr>
          <a:xfrm>
            <a:off x="9635848" y="1245291"/>
            <a:ext cx="1199065" cy="361834"/>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00156" y="79477"/>
            <a:ext cx="11165500" cy="1325563"/>
          </a:xfrm>
        </p:spPr>
        <p:txBody>
          <a:bodyPr/>
          <a:lstStyle/>
          <a:p>
            <a:r>
              <a:rPr lang="en-US" dirty="0"/>
              <a:t>Reference points in stock assessment</a:t>
            </a:r>
          </a:p>
        </p:txBody>
      </p:sp>
      <p:sp>
        <p:nvSpPr>
          <p:cNvPr id="4" name="Rectangle 3"/>
          <p:cNvSpPr/>
          <p:nvPr/>
        </p:nvSpPr>
        <p:spPr>
          <a:xfrm>
            <a:off x="568088" y="2379959"/>
            <a:ext cx="1566872" cy="3446005"/>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257738" y="2388020"/>
            <a:ext cx="2945905" cy="344600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 name="Rectangle 5"/>
          <p:cNvSpPr/>
          <p:nvPr/>
        </p:nvSpPr>
        <p:spPr>
          <a:xfrm>
            <a:off x="5330854" y="2388020"/>
            <a:ext cx="1374729" cy="344600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6832795" y="2388020"/>
            <a:ext cx="1260780" cy="344600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199976" y="2387414"/>
            <a:ext cx="1305519" cy="3446004"/>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00156" y="2919759"/>
            <a:ext cx="1458505" cy="1015663"/>
          </a:xfrm>
          <a:prstGeom prst="rect">
            <a:avLst/>
          </a:prstGeom>
          <a:noFill/>
        </p:spPr>
        <p:txBody>
          <a:bodyPr wrap="square" rtlCol="0">
            <a:spAutoFit/>
          </a:bodyPr>
          <a:lstStyle/>
          <a:p>
            <a:r>
              <a:rPr lang="en-US" sz="2000" dirty="0">
                <a:solidFill>
                  <a:srgbClr val="002060"/>
                </a:solidFill>
              </a:rPr>
              <a:t>Priors on model parameters</a:t>
            </a:r>
          </a:p>
        </p:txBody>
      </p:sp>
      <p:sp>
        <p:nvSpPr>
          <p:cNvPr id="11" name="TextBox 10"/>
          <p:cNvSpPr txBox="1"/>
          <p:nvPr/>
        </p:nvSpPr>
        <p:spPr>
          <a:xfrm>
            <a:off x="2534113" y="2919759"/>
            <a:ext cx="2764621" cy="707886"/>
          </a:xfrm>
          <a:prstGeom prst="rect">
            <a:avLst/>
          </a:prstGeom>
          <a:noFill/>
        </p:spPr>
        <p:txBody>
          <a:bodyPr wrap="square" rtlCol="0">
            <a:spAutoFit/>
          </a:bodyPr>
          <a:lstStyle/>
          <a:p>
            <a:r>
              <a:rPr lang="en-US" sz="2000" dirty="0">
                <a:solidFill>
                  <a:srgbClr val="002060"/>
                </a:solidFill>
              </a:rPr>
              <a:t>Population and fishery dynamics</a:t>
            </a:r>
          </a:p>
        </p:txBody>
      </p:sp>
      <p:sp>
        <p:nvSpPr>
          <p:cNvPr id="12" name="TextBox 11"/>
          <p:cNvSpPr txBox="1"/>
          <p:nvPr/>
        </p:nvSpPr>
        <p:spPr>
          <a:xfrm>
            <a:off x="5313841" y="2888269"/>
            <a:ext cx="1580668" cy="707886"/>
          </a:xfrm>
          <a:prstGeom prst="rect">
            <a:avLst/>
          </a:prstGeom>
          <a:noFill/>
        </p:spPr>
        <p:txBody>
          <a:bodyPr wrap="square" rtlCol="0">
            <a:spAutoFit/>
          </a:bodyPr>
          <a:lstStyle/>
          <a:p>
            <a:r>
              <a:rPr lang="en-US" sz="2000" dirty="0">
                <a:solidFill>
                  <a:srgbClr val="002060"/>
                </a:solidFill>
              </a:rPr>
              <a:t>Observation models</a:t>
            </a:r>
          </a:p>
        </p:txBody>
      </p:sp>
      <p:sp>
        <p:nvSpPr>
          <p:cNvPr id="13" name="TextBox 12"/>
          <p:cNvSpPr txBox="1"/>
          <p:nvPr/>
        </p:nvSpPr>
        <p:spPr>
          <a:xfrm>
            <a:off x="8230203" y="2786617"/>
            <a:ext cx="1275291" cy="1015663"/>
          </a:xfrm>
          <a:prstGeom prst="rect">
            <a:avLst/>
          </a:prstGeom>
          <a:noFill/>
        </p:spPr>
        <p:txBody>
          <a:bodyPr wrap="square" rtlCol="0">
            <a:spAutoFit/>
          </a:bodyPr>
          <a:lstStyle/>
          <a:p>
            <a:r>
              <a:rPr lang="en-US" sz="2000" dirty="0">
                <a:solidFill>
                  <a:srgbClr val="002060"/>
                </a:solidFill>
              </a:rPr>
              <a:t>Posterior parameter estimates</a:t>
            </a:r>
          </a:p>
        </p:txBody>
      </p:sp>
      <p:sp>
        <p:nvSpPr>
          <p:cNvPr id="14" name="TextBox 13"/>
          <p:cNvSpPr txBox="1"/>
          <p:nvPr/>
        </p:nvSpPr>
        <p:spPr>
          <a:xfrm>
            <a:off x="6839704" y="2894339"/>
            <a:ext cx="1360272" cy="400110"/>
          </a:xfrm>
          <a:prstGeom prst="rect">
            <a:avLst/>
          </a:prstGeom>
          <a:noFill/>
        </p:spPr>
        <p:txBody>
          <a:bodyPr wrap="square" rtlCol="0">
            <a:spAutoFit/>
          </a:bodyPr>
          <a:lstStyle/>
          <a:p>
            <a:r>
              <a:rPr lang="en-US" sz="2000" dirty="0">
                <a:solidFill>
                  <a:srgbClr val="002060"/>
                </a:solidFill>
              </a:rPr>
              <a:t>Likelihood</a:t>
            </a:r>
          </a:p>
        </p:txBody>
      </p:sp>
      <p:sp>
        <p:nvSpPr>
          <p:cNvPr id="16" name="Rectangle 15"/>
          <p:cNvSpPr/>
          <p:nvPr/>
        </p:nvSpPr>
        <p:spPr>
          <a:xfrm>
            <a:off x="6970080" y="6200834"/>
            <a:ext cx="1199065" cy="580991"/>
          </a:xfrm>
          <a:prstGeom prst="rect">
            <a:avLst/>
          </a:prstGeom>
          <a:solidFill>
            <a:schemeClr val="bg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7150208" y="6298619"/>
            <a:ext cx="838808" cy="369332"/>
          </a:xfrm>
          <a:prstGeom prst="rect">
            <a:avLst/>
          </a:prstGeom>
          <a:noFill/>
        </p:spPr>
        <p:txBody>
          <a:bodyPr wrap="square" rtlCol="0">
            <a:spAutoFit/>
          </a:bodyPr>
          <a:lstStyle/>
          <a:p>
            <a:pPr algn="ctr"/>
            <a:r>
              <a:rPr lang="en-US" dirty="0"/>
              <a:t>DATA</a:t>
            </a:r>
          </a:p>
        </p:txBody>
      </p:sp>
      <p:sp>
        <p:nvSpPr>
          <p:cNvPr id="17" name="Right Arrow 16"/>
          <p:cNvSpPr/>
          <p:nvPr/>
        </p:nvSpPr>
        <p:spPr>
          <a:xfrm rot="16200000">
            <a:off x="7384750" y="5911002"/>
            <a:ext cx="270181" cy="212854"/>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9629551" y="2366633"/>
            <a:ext cx="1260780" cy="3446004"/>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9689031" y="2837600"/>
            <a:ext cx="1360272" cy="707886"/>
          </a:xfrm>
          <a:prstGeom prst="rect">
            <a:avLst/>
          </a:prstGeom>
          <a:noFill/>
        </p:spPr>
        <p:txBody>
          <a:bodyPr wrap="square" rtlCol="0">
            <a:spAutoFit/>
          </a:bodyPr>
          <a:lstStyle/>
          <a:p>
            <a:r>
              <a:rPr lang="en-US" sz="2000" dirty="0">
                <a:solidFill>
                  <a:srgbClr val="002060"/>
                </a:solidFill>
              </a:rPr>
              <a:t>Reference</a:t>
            </a:r>
          </a:p>
          <a:p>
            <a:r>
              <a:rPr lang="en-US" sz="2000" dirty="0">
                <a:solidFill>
                  <a:srgbClr val="002060"/>
                </a:solidFill>
              </a:rPr>
              <a:t>points</a:t>
            </a:r>
          </a:p>
        </p:txBody>
      </p:sp>
      <p:sp>
        <p:nvSpPr>
          <p:cNvPr id="21" name="Right Arrow 20"/>
          <p:cNvSpPr/>
          <p:nvPr/>
        </p:nvSpPr>
        <p:spPr>
          <a:xfrm rot="5400000">
            <a:off x="10058061" y="1704309"/>
            <a:ext cx="270181" cy="212854"/>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9629551" y="1231836"/>
            <a:ext cx="1205362" cy="369332"/>
          </a:xfrm>
          <a:prstGeom prst="rect">
            <a:avLst/>
          </a:prstGeom>
          <a:noFill/>
        </p:spPr>
        <p:txBody>
          <a:bodyPr wrap="square" rtlCol="0">
            <a:spAutoFit/>
          </a:bodyPr>
          <a:lstStyle/>
          <a:p>
            <a:pPr algn="ctr"/>
            <a:r>
              <a:rPr lang="en-US" dirty="0"/>
              <a:t>Objectives</a:t>
            </a:r>
          </a:p>
        </p:txBody>
      </p:sp>
      <p:sp>
        <p:nvSpPr>
          <p:cNvPr id="23" name="Rectangle 22"/>
          <p:cNvSpPr/>
          <p:nvPr/>
        </p:nvSpPr>
        <p:spPr>
          <a:xfrm>
            <a:off x="9505494" y="6170193"/>
            <a:ext cx="1790383" cy="597167"/>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rot="5400000">
            <a:off x="10181531" y="5893947"/>
            <a:ext cx="270181" cy="212854"/>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p:cNvSpPr txBox="1"/>
          <p:nvPr/>
        </p:nvSpPr>
        <p:spPr>
          <a:xfrm>
            <a:off x="9574477" y="6114833"/>
            <a:ext cx="1652416" cy="707886"/>
          </a:xfrm>
          <a:prstGeom prst="rect">
            <a:avLst/>
          </a:prstGeom>
          <a:noFill/>
        </p:spPr>
        <p:txBody>
          <a:bodyPr wrap="square" rtlCol="0">
            <a:spAutoFit/>
          </a:bodyPr>
          <a:lstStyle/>
          <a:p>
            <a:pPr algn="ctr"/>
            <a:r>
              <a:rPr lang="en-US" sz="2000" dirty="0"/>
              <a:t>Performance metrics</a:t>
            </a:r>
          </a:p>
        </p:txBody>
      </p:sp>
      <p:sp>
        <p:nvSpPr>
          <p:cNvPr id="28" name="Right Arrow 27"/>
          <p:cNvSpPr/>
          <p:nvPr/>
        </p:nvSpPr>
        <p:spPr>
          <a:xfrm>
            <a:off x="1974697" y="3935422"/>
            <a:ext cx="475452" cy="296512"/>
          </a:xfrm>
          <a:prstGeom prst="rightArrow">
            <a:avLst/>
          </a:prstGeom>
          <a:solidFill>
            <a:schemeClr val="tx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ight Arrow 28"/>
          <p:cNvSpPr/>
          <p:nvPr/>
        </p:nvSpPr>
        <p:spPr>
          <a:xfrm>
            <a:off x="5061008" y="3954705"/>
            <a:ext cx="475452" cy="296512"/>
          </a:xfrm>
          <a:prstGeom prst="rightArrow">
            <a:avLst/>
          </a:prstGeom>
          <a:solidFill>
            <a:schemeClr val="tx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ight Arrow 29"/>
          <p:cNvSpPr/>
          <p:nvPr/>
        </p:nvSpPr>
        <p:spPr>
          <a:xfrm>
            <a:off x="6565226" y="3935422"/>
            <a:ext cx="475452" cy="296512"/>
          </a:xfrm>
          <a:prstGeom prst="rightArrow">
            <a:avLst/>
          </a:prstGeom>
          <a:solidFill>
            <a:schemeClr val="tx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ight Arrow 30"/>
          <p:cNvSpPr/>
          <p:nvPr/>
        </p:nvSpPr>
        <p:spPr>
          <a:xfrm>
            <a:off x="7931419" y="3943710"/>
            <a:ext cx="475452" cy="296512"/>
          </a:xfrm>
          <a:prstGeom prst="rightArrow">
            <a:avLst/>
          </a:prstGeom>
          <a:solidFill>
            <a:schemeClr val="tx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ight Arrow 31"/>
          <p:cNvSpPr/>
          <p:nvPr/>
        </p:nvSpPr>
        <p:spPr>
          <a:xfrm>
            <a:off x="9297612" y="3925752"/>
            <a:ext cx="475452" cy="296512"/>
          </a:xfrm>
          <a:prstGeom prst="rightArrow">
            <a:avLst/>
          </a:prstGeom>
          <a:solidFill>
            <a:schemeClr val="tx2">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p:cNvSpPr/>
          <p:nvPr/>
        </p:nvSpPr>
        <p:spPr>
          <a:xfrm>
            <a:off x="2257737" y="2011564"/>
            <a:ext cx="4447845" cy="27018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p:cNvSpPr/>
          <p:nvPr/>
        </p:nvSpPr>
        <p:spPr>
          <a:xfrm>
            <a:off x="568089" y="2011564"/>
            <a:ext cx="1566872" cy="2701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6828358" y="2021210"/>
            <a:ext cx="2677136" cy="2701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p:cNvSpPr/>
          <p:nvPr/>
        </p:nvSpPr>
        <p:spPr>
          <a:xfrm>
            <a:off x="9629551" y="2021210"/>
            <a:ext cx="1260780" cy="270182"/>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4411270" y="1205596"/>
            <a:ext cx="4117267" cy="707886"/>
          </a:xfrm>
          <a:prstGeom prst="rect">
            <a:avLst/>
          </a:prstGeom>
          <a:noFill/>
        </p:spPr>
        <p:txBody>
          <a:bodyPr wrap="square" rtlCol="0">
            <a:spAutoFit/>
          </a:bodyPr>
          <a:lstStyle/>
          <a:p>
            <a:r>
              <a:rPr lang="en-US" sz="2000" b="1" dirty="0">
                <a:solidFill>
                  <a:srgbClr val="00B050"/>
                </a:solidFill>
              </a:rPr>
              <a:t>Green bar = Easier*</a:t>
            </a:r>
          </a:p>
          <a:p>
            <a:r>
              <a:rPr lang="en-US" sz="2000" b="1" dirty="0">
                <a:solidFill>
                  <a:srgbClr val="FF0000"/>
                </a:solidFill>
              </a:rPr>
              <a:t>Red bar     = Hard!</a:t>
            </a:r>
          </a:p>
        </p:txBody>
      </p:sp>
      <p:grpSp>
        <p:nvGrpSpPr>
          <p:cNvPr id="46" name="Group 45"/>
          <p:cNvGrpSpPr/>
          <p:nvPr/>
        </p:nvGrpSpPr>
        <p:grpSpPr>
          <a:xfrm>
            <a:off x="9486296" y="1945827"/>
            <a:ext cx="1547289" cy="3919456"/>
            <a:chOff x="9486296" y="1945827"/>
            <a:chExt cx="1547289" cy="3919456"/>
          </a:xfrm>
        </p:grpSpPr>
        <p:sp>
          <p:nvSpPr>
            <p:cNvPr id="42" name="Rectangle 41"/>
            <p:cNvSpPr/>
            <p:nvPr/>
          </p:nvSpPr>
          <p:spPr>
            <a:xfrm>
              <a:off x="9486296" y="1945827"/>
              <a:ext cx="1547289" cy="39194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p:cNvSpPr txBox="1"/>
            <p:nvPr/>
          </p:nvSpPr>
          <p:spPr>
            <a:xfrm>
              <a:off x="9611896" y="3522626"/>
              <a:ext cx="1360272" cy="369332"/>
            </a:xfrm>
            <a:prstGeom prst="rect">
              <a:avLst/>
            </a:prstGeom>
            <a:noFill/>
          </p:spPr>
          <p:txBody>
            <a:bodyPr wrap="square" rtlCol="0">
              <a:spAutoFit/>
            </a:bodyPr>
            <a:lstStyle/>
            <a:p>
              <a:r>
                <a:rPr lang="en-US" b="1" dirty="0">
                  <a:effectLst>
                    <a:outerShdw blurRad="38100" dist="38100" dir="2700000" algn="tl">
                      <a:srgbClr val="000000">
                        <a:alpha val="43137"/>
                      </a:srgbClr>
                    </a:outerShdw>
                  </a:effectLst>
                </a:rPr>
                <a:t>We are here</a:t>
              </a:r>
            </a:p>
          </p:txBody>
        </p:sp>
      </p:grpSp>
      <p:sp>
        <p:nvSpPr>
          <p:cNvPr id="3" name="TextBox 2"/>
          <p:cNvSpPr txBox="1"/>
          <p:nvPr/>
        </p:nvSpPr>
        <p:spPr>
          <a:xfrm>
            <a:off x="9327459" y="55247"/>
            <a:ext cx="1706126" cy="830997"/>
          </a:xfrm>
          <a:prstGeom prst="rect">
            <a:avLst/>
          </a:prstGeom>
          <a:solidFill>
            <a:schemeClr val="bg2">
              <a:lumMod val="75000"/>
            </a:schemeClr>
          </a:solidFill>
          <a:ln>
            <a:solidFill>
              <a:schemeClr val="tx2"/>
            </a:solidFill>
          </a:ln>
        </p:spPr>
        <p:txBody>
          <a:bodyPr wrap="square" rtlCol="0">
            <a:spAutoFit/>
          </a:bodyPr>
          <a:lstStyle/>
          <a:p>
            <a:pPr algn="ctr"/>
            <a:r>
              <a:rPr lang="en-US" sz="1200" dirty="0"/>
              <a:t>Science</a:t>
            </a:r>
            <a:br>
              <a:rPr lang="en-US" sz="1200" dirty="0"/>
            </a:br>
            <a:r>
              <a:rPr lang="en-US" sz="1200" dirty="0"/>
              <a:t>Fisheries Management</a:t>
            </a:r>
            <a:br>
              <a:rPr lang="en-US" sz="1200" dirty="0"/>
            </a:br>
            <a:r>
              <a:rPr lang="en-US" sz="1200" dirty="0"/>
              <a:t>First Nations</a:t>
            </a:r>
            <a:br>
              <a:rPr lang="en-US" sz="1200" dirty="0"/>
            </a:br>
            <a:r>
              <a:rPr lang="en-US" sz="1200" dirty="0"/>
              <a:t>Stakeholders</a:t>
            </a:r>
          </a:p>
        </p:txBody>
      </p:sp>
      <p:sp>
        <p:nvSpPr>
          <p:cNvPr id="40" name="Right Arrow 39"/>
          <p:cNvSpPr/>
          <p:nvPr/>
        </p:nvSpPr>
        <p:spPr>
          <a:xfrm rot="5400000">
            <a:off x="10058061" y="959073"/>
            <a:ext cx="270181" cy="212854"/>
          </a:xfrm>
          <a:prstGeom prst="rightArrow">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rot="5400000">
            <a:off x="10445338" y="713336"/>
            <a:ext cx="1566872" cy="27018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p:cNvSpPr txBox="1"/>
          <p:nvPr/>
        </p:nvSpPr>
        <p:spPr>
          <a:xfrm>
            <a:off x="458850" y="6165709"/>
            <a:ext cx="1449408" cy="400110"/>
          </a:xfrm>
          <a:prstGeom prst="rect">
            <a:avLst/>
          </a:prstGeom>
          <a:noFill/>
        </p:spPr>
        <p:txBody>
          <a:bodyPr wrap="square" rtlCol="0">
            <a:spAutoFit/>
          </a:bodyPr>
          <a:lstStyle/>
          <a:p>
            <a:r>
              <a:rPr lang="en-US" sz="2000" dirty="0">
                <a:solidFill>
                  <a:srgbClr val="00B050"/>
                </a:solidFill>
              </a:rPr>
              <a:t>*</a:t>
            </a:r>
            <a:r>
              <a:rPr lang="en-US" sz="2000" dirty="0"/>
              <a:t>Arguably</a:t>
            </a:r>
            <a:endParaRPr lang="en-US" sz="2000" dirty="0">
              <a:solidFill>
                <a:srgbClr val="00B050"/>
              </a:solidFill>
            </a:endParaRPr>
          </a:p>
        </p:txBody>
      </p:sp>
      <p:sp>
        <p:nvSpPr>
          <p:cNvPr id="10" name="Slide Number Placeholder 9"/>
          <p:cNvSpPr>
            <a:spLocks noGrp="1"/>
          </p:cNvSpPr>
          <p:nvPr>
            <p:ph type="sldNum" sz="quarter" idx="12"/>
          </p:nvPr>
        </p:nvSpPr>
        <p:spPr/>
        <p:txBody>
          <a:bodyPr/>
          <a:lstStyle/>
          <a:p>
            <a:fld id="{EEDFA2F9-C25F-4A63-B46B-7B5C200A39D1}" type="slidenum">
              <a:rPr lang="en-CA" smtClean="0"/>
              <a:t>20</a:t>
            </a:fld>
            <a:endParaRPr lang="en-CA"/>
          </a:p>
        </p:txBody>
      </p:sp>
    </p:spTree>
    <p:extLst>
      <p:ext uri="{BB962C8B-B14F-4D97-AF65-F5344CB8AC3E}">
        <p14:creationId xmlns:p14="http://schemas.microsoft.com/office/powerpoint/2010/main" val="22699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700434"/>
            <a:ext cx="10515600" cy="1325563"/>
          </a:xfrm>
        </p:spPr>
        <p:txBody>
          <a:bodyPr>
            <a:noAutofit/>
          </a:bodyPr>
          <a:lstStyle/>
          <a:p>
            <a:pPr algn="ctr"/>
            <a:r>
              <a:rPr lang="en-US" sz="5400" dirty="0">
                <a:solidFill>
                  <a:schemeClr val="bg1"/>
                </a:solidFill>
                <a:latin typeface="+mn-lt"/>
              </a:rPr>
              <a:t>2. Equilibrium Assumptions</a:t>
            </a:r>
          </a:p>
        </p:txBody>
      </p:sp>
      <p:sp>
        <p:nvSpPr>
          <p:cNvPr id="3" name="Slide Number Placeholder 2"/>
          <p:cNvSpPr>
            <a:spLocks noGrp="1"/>
          </p:cNvSpPr>
          <p:nvPr>
            <p:ph type="sldNum" sz="quarter" idx="12"/>
          </p:nvPr>
        </p:nvSpPr>
        <p:spPr/>
        <p:txBody>
          <a:bodyPr/>
          <a:lstStyle/>
          <a:p>
            <a:fld id="{EEDFA2F9-C25F-4A63-B46B-7B5C200A39D1}" type="slidenum">
              <a:rPr lang="en-CA" smtClean="0"/>
              <a:t>21</a:t>
            </a:fld>
            <a:endParaRPr lang="en-CA"/>
          </a:p>
        </p:txBody>
      </p:sp>
    </p:spTree>
    <p:extLst>
      <p:ext uri="{BB962C8B-B14F-4D97-AF65-F5344CB8AC3E}">
        <p14:creationId xmlns:p14="http://schemas.microsoft.com/office/powerpoint/2010/main" val="1079265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Equilibrium reference points</a:t>
            </a:r>
          </a:p>
        </p:txBody>
      </p:sp>
      <p:sp>
        <p:nvSpPr>
          <p:cNvPr id="3" name="Content Placeholder 2"/>
          <p:cNvSpPr>
            <a:spLocks noGrp="1"/>
          </p:cNvSpPr>
          <p:nvPr>
            <p:ph idx="1"/>
          </p:nvPr>
        </p:nvSpPr>
        <p:spPr>
          <a:xfrm>
            <a:off x="838200" y="1690688"/>
            <a:ext cx="10515600" cy="4351338"/>
          </a:xfrm>
        </p:spPr>
        <p:txBody>
          <a:bodyPr>
            <a:normAutofit/>
          </a:bodyPr>
          <a:lstStyle/>
          <a:p>
            <a:r>
              <a:rPr lang="en-US" dirty="0"/>
              <a:t>Many common reference points are based on </a:t>
            </a:r>
            <a:r>
              <a:rPr lang="en-US" b="1" dirty="0"/>
              <a:t>equilibrium</a:t>
            </a:r>
            <a:r>
              <a:rPr lang="en-US" dirty="0"/>
              <a:t> (or steady state) assumptions</a:t>
            </a:r>
          </a:p>
          <a:p>
            <a:r>
              <a:rPr lang="en-US" dirty="0"/>
              <a:t>These include reference points based on:</a:t>
            </a:r>
          </a:p>
          <a:p>
            <a:pPr lvl="1"/>
            <a:r>
              <a:rPr lang="en-US" dirty="0">
                <a:solidFill>
                  <a:schemeClr val="tx2">
                    <a:lumMod val="75000"/>
                  </a:schemeClr>
                </a:solidFill>
              </a:rPr>
              <a:t>Maximum Sustainable Yield (MSY)</a:t>
            </a:r>
          </a:p>
          <a:p>
            <a:pPr lvl="1"/>
            <a:r>
              <a:rPr lang="en-US" dirty="0">
                <a:solidFill>
                  <a:schemeClr val="tx2">
                    <a:lumMod val="75000"/>
                  </a:schemeClr>
                </a:solidFill>
              </a:rPr>
              <a:t>Unfished Spawning Biomass (</a:t>
            </a:r>
            <a:r>
              <a:rPr lang="en-US" i="1" dirty="0">
                <a:solidFill>
                  <a:schemeClr val="tx2">
                    <a:lumMod val="75000"/>
                  </a:schemeClr>
                </a:solidFill>
              </a:rPr>
              <a:t>B</a:t>
            </a:r>
            <a:r>
              <a:rPr lang="en-US" baseline="-25000" dirty="0">
                <a:solidFill>
                  <a:schemeClr val="tx2">
                    <a:lumMod val="75000"/>
                  </a:schemeClr>
                </a:solidFill>
              </a:rPr>
              <a:t>0</a:t>
            </a:r>
            <a:r>
              <a:rPr lang="en-US" dirty="0">
                <a:solidFill>
                  <a:schemeClr val="tx2">
                    <a:lumMod val="75000"/>
                  </a:schemeClr>
                </a:solidFill>
              </a:rPr>
              <a:t> or SSB</a:t>
            </a:r>
            <a:r>
              <a:rPr lang="en-US" baseline="-25000" dirty="0">
                <a:solidFill>
                  <a:schemeClr val="tx2">
                    <a:lumMod val="75000"/>
                  </a:schemeClr>
                </a:solidFill>
              </a:rPr>
              <a:t>0</a:t>
            </a:r>
            <a:r>
              <a:rPr lang="en-US" dirty="0">
                <a:solidFill>
                  <a:schemeClr val="tx2">
                    <a:lumMod val="75000"/>
                  </a:schemeClr>
                </a:solidFill>
              </a:rPr>
              <a:t>)</a:t>
            </a:r>
          </a:p>
          <a:p>
            <a:pPr lvl="1"/>
            <a:r>
              <a:rPr lang="en-US" dirty="0">
                <a:solidFill>
                  <a:schemeClr val="tx2">
                    <a:lumMod val="75000"/>
                  </a:schemeClr>
                </a:solidFill>
              </a:rPr>
              <a:t>The Spawning Potential Ratio (SPR)</a:t>
            </a:r>
          </a:p>
          <a:p>
            <a:r>
              <a:rPr lang="en-US" dirty="0">
                <a:solidFill>
                  <a:schemeClr val="tx2">
                    <a:lumMod val="75000"/>
                  </a:schemeClr>
                </a:solidFill>
              </a:rPr>
              <a:t>We will explore this when we go through</a:t>
            </a:r>
            <a:br>
              <a:rPr lang="en-US" dirty="0">
                <a:solidFill>
                  <a:schemeClr val="tx2">
                    <a:lumMod val="75000"/>
                  </a:schemeClr>
                </a:solidFill>
              </a:rPr>
            </a:br>
            <a:r>
              <a:rPr lang="en-US" dirty="0">
                <a:solidFill>
                  <a:schemeClr val="tx2">
                    <a:lumMod val="75000"/>
                  </a:schemeClr>
                </a:solidFill>
              </a:rPr>
              <a:t>Exercise 1 today</a:t>
            </a:r>
          </a:p>
        </p:txBody>
      </p:sp>
      <p:pic>
        <p:nvPicPr>
          <p:cNvPr id="4" name="Picture 3"/>
          <p:cNvPicPr>
            <a:picLocks noChangeAspect="1"/>
          </p:cNvPicPr>
          <p:nvPr/>
        </p:nvPicPr>
        <p:blipFill>
          <a:blip r:embed="rId2"/>
          <a:stretch>
            <a:fillRect/>
          </a:stretch>
        </p:blipFill>
        <p:spPr>
          <a:xfrm>
            <a:off x="7202324" y="3124200"/>
            <a:ext cx="4713237" cy="3394363"/>
          </a:xfrm>
          <a:prstGeom prst="rect">
            <a:avLst/>
          </a:prstGeom>
        </p:spPr>
      </p:pic>
      <p:sp>
        <p:nvSpPr>
          <p:cNvPr id="5" name="Slide Number Placeholder 4"/>
          <p:cNvSpPr>
            <a:spLocks noGrp="1"/>
          </p:cNvSpPr>
          <p:nvPr>
            <p:ph type="sldNum" sz="quarter" idx="12"/>
          </p:nvPr>
        </p:nvSpPr>
        <p:spPr/>
        <p:txBody>
          <a:bodyPr/>
          <a:lstStyle/>
          <a:p>
            <a:fld id="{EEDFA2F9-C25F-4A63-B46B-7B5C200A39D1}" type="slidenum">
              <a:rPr lang="en-CA" smtClean="0"/>
              <a:t>22</a:t>
            </a:fld>
            <a:endParaRPr lang="en-CA"/>
          </a:p>
        </p:txBody>
      </p:sp>
    </p:spTree>
    <p:extLst>
      <p:ext uri="{BB962C8B-B14F-4D97-AF65-F5344CB8AC3E}">
        <p14:creationId xmlns:p14="http://schemas.microsoft.com/office/powerpoint/2010/main" val="4227394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Equilibrium?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538965"/>
                <a:ext cx="11256818" cy="5121930"/>
              </a:xfrm>
            </p:spPr>
            <p:txBody>
              <a:bodyPr>
                <a:noAutofit/>
              </a:bodyPr>
              <a:lstStyle/>
              <a:p>
                <a:r>
                  <a:rPr lang="en-US" sz="2400" dirty="0"/>
                  <a:t>A tool to help understand effects of fishing on fish populations</a:t>
                </a:r>
              </a:p>
              <a:p>
                <a:r>
                  <a:rPr lang="en-US" sz="2400" dirty="0"/>
                  <a:t>A theoretical model state that arises when the following are constant in time:</a:t>
                </a:r>
              </a:p>
              <a:p>
                <a:pPr lvl="1"/>
                <a:r>
                  <a:rPr lang="en-US" sz="2000" b="1" dirty="0"/>
                  <a:t>Fishing mortality rate </a:t>
                </a:r>
                <a:r>
                  <a:rPr lang="en-US" sz="2000" dirty="0"/>
                  <a:t>(</a:t>
                </a:r>
                <a14:m>
                  <m:oMath xmlns:m="http://schemas.openxmlformats.org/officeDocument/2006/math">
                    <m:r>
                      <a:rPr lang="en-US" sz="2000" i="1" dirty="0" smtClean="0">
                        <a:latin typeface="Cambria Math" panose="02040503050406030204" pitchFamily="18" charset="0"/>
                      </a:rPr>
                      <m:t>𝐹</m:t>
                    </m:r>
                  </m:oMath>
                </a14:m>
                <a:r>
                  <a:rPr lang="en-US" sz="2000" dirty="0"/>
                  <a:t>)</a:t>
                </a:r>
              </a:p>
              <a:p>
                <a:pPr lvl="1"/>
                <a:r>
                  <a:rPr lang="en-US" sz="2000" dirty="0"/>
                  <a:t>Fishery or stock characteristics (</a:t>
                </a:r>
                <a:r>
                  <a:rPr lang="en-US" sz="2000" b="1" dirty="0"/>
                  <a:t>growth, natural mortality rate </a:t>
                </a:r>
                <a:r>
                  <a:rPr lang="en-US" sz="2000" dirty="0"/>
                  <a:t>(</a:t>
                </a:r>
                <a14:m>
                  <m:oMath xmlns:m="http://schemas.openxmlformats.org/officeDocument/2006/math">
                    <m:r>
                      <a:rPr lang="en-US" sz="2000" i="1" dirty="0" smtClean="0">
                        <a:latin typeface="Cambria Math" panose="02040503050406030204" pitchFamily="18" charset="0"/>
                      </a:rPr>
                      <m:t>𝑀</m:t>
                    </m:r>
                  </m:oMath>
                </a14:m>
                <a:r>
                  <a:rPr lang="en-US" sz="2000" dirty="0"/>
                  <a:t>)</a:t>
                </a:r>
                <a:r>
                  <a:rPr lang="en-US" sz="2000" b="1" dirty="0"/>
                  <a:t>, recruitment, selectivity</a:t>
                </a:r>
                <a:r>
                  <a:rPr lang="en-US" sz="2000" dirty="0"/>
                  <a:t>)</a:t>
                </a:r>
              </a:p>
              <a:p>
                <a:r>
                  <a:rPr lang="en-CA" sz="2400" dirty="0"/>
                  <a:t>Simplifying assumptions:</a:t>
                </a:r>
              </a:p>
              <a:p>
                <a:pPr lvl="1"/>
                <a:r>
                  <a:rPr lang="en-CA" sz="2000" dirty="0"/>
                  <a:t>A fish population harvested at a constant </a:t>
                </a:r>
                <a:r>
                  <a:rPr lang="en-CA" sz="2000" i="1" dirty="0"/>
                  <a:t>rate</a:t>
                </a:r>
                <a:r>
                  <a:rPr lang="en-CA" sz="2000" dirty="0"/>
                  <a:t> for many years will achieve equilibrium (“steady state”)</a:t>
                </a:r>
                <a:r>
                  <a:rPr lang="en-US" sz="20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538965"/>
                <a:ext cx="11256818" cy="5121930"/>
              </a:xfrm>
              <a:blipFill>
                <a:blip r:embed="rId2"/>
                <a:stretch>
                  <a:fillRect l="-758" t="-1665"/>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23</a:t>
            </a:fld>
            <a:endParaRPr lang="en-CA"/>
          </a:p>
        </p:txBody>
      </p:sp>
      <p:pic>
        <p:nvPicPr>
          <p:cNvPr id="5" name="Picture 4"/>
          <p:cNvPicPr>
            <a:picLocks noChangeAspect="1"/>
          </p:cNvPicPr>
          <p:nvPr/>
        </p:nvPicPr>
        <p:blipFill>
          <a:blip r:embed="rId3"/>
          <a:stretch>
            <a:fillRect/>
          </a:stretch>
        </p:blipFill>
        <p:spPr>
          <a:xfrm>
            <a:off x="2735947" y="3971664"/>
            <a:ext cx="3734126" cy="2689231"/>
          </a:xfrm>
          <a:prstGeom prst="rect">
            <a:avLst/>
          </a:prstGeom>
        </p:spPr>
      </p:pic>
      <p:sp>
        <p:nvSpPr>
          <p:cNvPr id="6" name="TextBox 5"/>
          <p:cNvSpPr txBox="1"/>
          <p:nvPr/>
        </p:nvSpPr>
        <p:spPr>
          <a:xfrm>
            <a:off x="7266709" y="3955534"/>
            <a:ext cx="3401291" cy="923330"/>
          </a:xfrm>
          <a:prstGeom prst="rect">
            <a:avLst/>
          </a:prstGeom>
          <a:noFill/>
          <a:ln>
            <a:solidFill>
              <a:schemeClr val="tx2"/>
            </a:solidFill>
          </a:ln>
        </p:spPr>
        <p:txBody>
          <a:bodyPr wrap="square" rtlCol="0">
            <a:spAutoFit/>
          </a:bodyPr>
          <a:lstStyle/>
          <a:p>
            <a:r>
              <a:rPr lang="en-US" i="1" dirty="0">
                <a:solidFill>
                  <a:schemeClr val="accent1">
                    <a:lumMod val="50000"/>
                  </a:schemeClr>
                </a:solidFill>
              </a:rPr>
              <a:t>B</a:t>
            </a:r>
            <a:r>
              <a:rPr lang="en-US" baseline="-25000" dirty="0">
                <a:solidFill>
                  <a:schemeClr val="accent1">
                    <a:lumMod val="50000"/>
                  </a:schemeClr>
                </a:solidFill>
              </a:rPr>
              <a:t>0</a:t>
            </a:r>
            <a:r>
              <a:rPr lang="en-US" dirty="0">
                <a:solidFill>
                  <a:schemeClr val="accent1">
                    <a:lumMod val="50000"/>
                  </a:schemeClr>
                </a:solidFill>
              </a:rPr>
              <a:t> = the state the stock will return to long-term with no fishing and steady state conditions</a:t>
            </a:r>
          </a:p>
        </p:txBody>
      </p:sp>
      <p:sp>
        <p:nvSpPr>
          <p:cNvPr id="7" name="TextBox 6"/>
          <p:cNvSpPr txBox="1"/>
          <p:nvPr/>
        </p:nvSpPr>
        <p:spPr>
          <a:xfrm>
            <a:off x="7266709" y="4995217"/>
            <a:ext cx="3401291" cy="1200329"/>
          </a:xfrm>
          <a:prstGeom prst="rect">
            <a:avLst/>
          </a:prstGeom>
          <a:noFill/>
          <a:ln>
            <a:solidFill>
              <a:schemeClr val="tx2"/>
            </a:solidFill>
          </a:ln>
        </p:spPr>
        <p:txBody>
          <a:bodyPr wrap="square" rtlCol="0">
            <a:spAutoFit/>
          </a:bodyPr>
          <a:lstStyle/>
          <a:p>
            <a:r>
              <a:rPr lang="en-US" i="1" dirty="0">
                <a:solidFill>
                  <a:schemeClr val="accent1">
                    <a:lumMod val="50000"/>
                  </a:schemeClr>
                </a:solidFill>
              </a:rPr>
              <a:t>B</a:t>
            </a:r>
            <a:r>
              <a:rPr lang="en-US" baseline="-25000" dirty="0">
                <a:solidFill>
                  <a:schemeClr val="accent1">
                    <a:lumMod val="50000"/>
                  </a:schemeClr>
                </a:solidFill>
              </a:rPr>
              <a:t>MSY</a:t>
            </a:r>
            <a:r>
              <a:rPr lang="en-US" dirty="0">
                <a:solidFill>
                  <a:schemeClr val="accent1">
                    <a:lumMod val="50000"/>
                  </a:schemeClr>
                </a:solidFill>
              </a:rPr>
              <a:t> = the state the stock will reach in the long-term under a harvest rate of U</a:t>
            </a:r>
            <a:r>
              <a:rPr lang="en-US" baseline="-25000" dirty="0">
                <a:solidFill>
                  <a:schemeClr val="accent1">
                    <a:lumMod val="50000"/>
                  </a:schemeClr>
                </a:solidFill>
              </a:rPr>
              <a:t>MSY</a:t>
            </a:r>
            <a:r>
              <a:rPr lang="en-US" dirty="0">
                <a:solidFill>
                  <a:schemeClr val="accent1">
                    <a:lumMod val="50000"/>
                  </a:schemeClr>
                </a:solidFill>
              </a:rPr>
              <a:t> and steady state conditions</a:t>
            </a:r>
          </a:p>
        </p:txBody>
      </p:sp>
      <p:cxnSp>
        <p:nvCxnSpPr>
          <p:cNvPr id="10" name="Straight Arrow Connector 9"/>
          <p:cNvCxnSpPr/>
          <p:nvPr/>
        </p:nvCxnSpPr>
        <p:spPr>
          <a:xfrm flipH="1" flipV="1">
            <a:off x="5749636" y="4287982"/>
            <a:ext cx="1517074" cy="160992"/>
          </a:xfrm>
          <a:prstGeom prst="straightConnector1">
            <a:avLst/>
          </a:prstGeom>
          <a:ln>
            <a:solidFill>
              <a:srgbClr val="FF33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7" idx="1"/>
          </p:cNvCxnSpPr>
          <p:nvPr/>
        </p:nvCxnSpPr>
        <p:spPr>
          <a:xfrm flipH="1" flipV="1">
            <a:off x="5701145" y="5292436"/>
            <a:ext cx="1565564" cy="302946"/>
          </a:xfrm>
          <a:prstGeom prst="straightConnector1">
            <a:avLst/>
          </a:prstGeom>
          <a:ln>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9490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is Equilibrium?</a:t>
            </a:r>
          </a:p>
        </p:txBody>
      </p:sp>
      <p:sp>
        <p:nvSpPr>
          <p:cNvPr id="3" name="Content Placeholder 2"/>
          <p:cNvSpPr>
            <a:spLocks noGrp="1"/>
          </p:cNvSpPr>
          <p:nvPr>
            <p:ph idx="1"/>
          </p:nvPr>
        </p:nvSpPr>
        <p:spPr>
          <a:xfrm>
            <a:off x="838200" y="1538965"/>
            <a:ext cx="11256818" cy="5121930"/>
          </a:xfrm>
        </p:spPr>
        <p:txBody>
          <a:bodyPr>
            <a:noAutofit/>
          </a:bodyPr>
          <a:lstStyle/>
          <a:p>
            <a:r>
              <a:rPr lang="en-CA" u="sng" dirty="0"/>
              <a:t>Reality:</a:t>
            </a:r>
          </a:p>
          <a:p>
            <a:r>
              <a:rPr lang="en-CA" sz="2400" dirty="0"/>
              <a:t>There is annual variability “noise” (e.g., variable recruitment, mortality, growth) and reference points are best thought of as an average rather than deterministic state. </a:t>
            </a:r>
          </a:p>
          <a:p>
            <a:r>
              <a:rPr lang="en-CA" sz="2400" dirty="0"/>
              <a:t>When fluctuating around some average value, this variability is routinely accounted for in stock assessments.</a:t>
            </a:r>
            <a:endParaRPr lang="en-US" sz="2400" dirty="0"/>
          </a:p>
          <a:p>
            <a:r>
              <a:rPr lang="en-US" sz="2400" dirty="0"/>
              <a:t>However, effects of time-varying processes (</a:t>
            </a:r>
            <a:r>
              <a:rPr lang="en-US" sz="2400" u="sng" dirty="0"/>
              <a:t>trends, regime shifts</a:t>
            </a:r>
            <a:r>
              <a:rPr lang="en-US" sz="2400" dirty="0"/>
              <a:t>) under climate and ecosystem change represents one of the biggest challenges for stock assessment and estimating reference points</a:t>
            </a:r>
          </a:p>
          <a:p>
            <a:r>
              <a:rPr lang="en-US" sz="2400" dirty="0"/>
              <a:t>We’ll talk a bit about this next week, but today we’ll focus on equilibrium reference points as a tool for understanding the effects of fishing on fish populations</a:t>
            </a:r>
          </a:p>
        </p:txBody>
      </p:sp>
      <p:sp>
        <p:nvSpPr>
          <p:cNvPr id="4" name="Slide Number Placeholder 3"/>
          <p:cNvSpPr>
            <a:spLocks noGrp="1"/>
          </p:cNvSpPr>
          <p:nvPr>
            <p:ph type="sldNum" sz="quarter" idx="12"/>
          </p:nvPr>
        </p:nvSpPr>
        <p:spPr/>
        <p:txBody>
          <a:bodyPr/>
          <a:lstStyle/>
          <a:p>
            <a:fld id="{EEDFA2F9-C25F-4A63-B46B-7B5C200A39D1}" type="slidenum">
              <a:rPr lang="en-CA" smtClean="0"/>
              <a:t>24</a:t>
            </a:fld>
            <a:endParaRPr lang="en-CA"/>
          </a:p>
        </p:txBody>
      </p:sp>
    </p:spTree>
    <p:extLst>
      <p:ext uri="{BB962C8B-B14F-4D97-AF65-F5344CB8AC3E}">
        <p14:creationId xmlns:p14="http://schemas.microsoft.com/office/powerpoint/2010/main" val="8069336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700434"/>
            <a:ext cx="10515600" cy="1325563"/>
          </a:xfrm>
        </p:spPr>
        <p:txBody>
          <a:bodyPr>
            <a:noAutofit/>
          </a:bodyPr>
          <a:lstStyle/>
          <a:p>
            <a:pPr algn="ctr"/>
            <a:r>
              <a:rPr lang="en-US" sz="5400" dirty="0">
                <a:solidFill>
                  <a:schemeClr val="bg1"/>
                </a:solidFill>
                <a:latin typeface="+mn-lt"/>
              </a:rPr>
              <a:t>3. What is MSY?</a:t>
            </a:r>
          </a:p>
        </p:txBody>
      </p:sp>
      <p:sp>
        <p:nvSpPr>
          <p:cNvPr id="3" name="Slide Number Placeholder 2"/>
          <p:cNvSpPr>
            <a:spLocks noGrp="1"/>
          </p:cNvSpPr>
          <p:nvPr>
            <p:ph type="sldNum" sz="quarter" idx="12"/>
          </p:nvPr>
        </p:nvSpPr>
        <p:spPr/>
        <p:txBody>
          <a:bodyPr/>
          <a:lstStyle/>
          <a:p>
            <a:fld id="{EEDFA2F9-C25F-4A63-B46B-7B5C200A39D1}" type="slidenum">
              <a:rPr lang="en-CA" smtClean="0"/>
              <a:t>25</a:t>
            </a:fld>
            <a:endParaRPr lang="en-CA"/>
          </a:p>
        </p:txBody>
      </p:sp>
    </p:spTree>
    <p:extLst>
      <p:ext uri="{BB962C8B-B14F-4D97-AF65-F5344CB8AC3E}">
        <p14:creationId xmlns:p14="http://schemas.microsoft.com/office/powerpoint/2010/main" val="14770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Maximum Sustainable Yield (MSY)</a:t>
            </a:r>
          </a:p>
        </p:txBody>
      </p:sp>
      <p:sp>
        <p:nvSpPr>
          <p:cNvPr id="3" name="Content Placeholder 2"/>
          <p:cNvSpPr>
            <a:spLocks noGrp="1"/>
          </p:cNvSpPr>
          <p:nvPr>
            <p:ph idx="1"/>
          </p:nvPr>
        </p:nvSpPr>
        <p:spPr>
          <a:xfrm>
            <a:off x="838200" y="1646398"/>
            <a:ext cx="10515600" cy="4351338"/>
          </a:xfrm>
        </p:spPr>
        <p:txBody>
          <a:bodyPr/>
          <a:lstStyle/>
          <a:p>
            <a:r>
              <a:rPr lang="en-US" dirty="0"/>
              <a:t>We begin by exploring yield in a simple surplus production model</a:t>
            </a:r>
          </a:p>
          <a:p>
            <a:r>
              <a:rPr lang="en-US" dirty="0"/>
              <a:t>We then define the theoretical concept of MSY</a:t>
            </a:r>
          </a:p>
          <a:p>
            <a:r>
              <a:rPr lang="en-US" dirty="0"/>
              <a:t>In later sections we explore MSY in age-structured models</a:t>
            </a:r>
          </a:p>
        </p:txBody>
      </p:sp>
      <p:pic>
        <p:nvPicPr>
          <p:cNvPr id="4" name="Picture 3"/>
          <p:cNvPicPr>
            <a:picLocks noChangeAspect="1"/>
          </p:cNvPicPr>
          <p:nvPr/>
        </p:nvPicPr>
        <p:blipFill>
          <a:blip r:embed="rId2"/>
          <a:stretch>
            <a:fillRect/>
          </a:stretch>
        </p:blipFill>
        <p:spPr>
          <a:xfrm>
            <a:off x="3643849" y="3822067"/>
            <a:ext cx="4017612" cy="2871465"/>
          </a:xfrm>
          <a:prstGeom prst="rect">
            <a:avLst/>
          </a:prstGeom>
        </p:spPr>
      </p:pic>
      <p:sp>
        <p:nvSpPr>
          <p:cNvPr id="5" name="Slide Number Placeholder 4"/>
          <p:cNvSpPr>
            <a:spLocks noGrp="1"/>
          </p:cNvSpPr>
          <p:nvPr>
            <p:ph type="sldNum" sz="quarter" idx="12"/>
          </p:nvPr>
        </p:nvSpPr>
        <p:spPr/>
        <p:txBody>
          <a:bodyPr/>
          <a:lstStyle/>
          <a:p>
            <a:fld id="{EEDFA2F9-C25F-4A63-B46B-7B5C200A39D1}" type="slidenum">
              <a:rPr lang="en-CA" smtClean="0"/>
              <a:t>26</a:t>
            </a:fld>
            <a:endParaRPr lang="en-CA"/>
          </a:p>
        </p:txBody>
      </p:sp>
    </p:spTree>
    <p:extLst>
      <p:ext uri="{BB962C8B-B14F-4D97-AF65-F5344CB8AC3E}">
        <p14:creationId xmlns:p14="http://schemas.microsoft.com/office/powerpoint/2010/main" val="1821512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CBB4-66B3-4A2C-9159-CCE70C52D843}"/>
              </a:ext>
            </a:extLst>
          </p:cNvPr>
          <p:cNvSpPr>
            <a:spLocks noGrp="1"/>
          </p:cNvSpPr>
          <p:nvPr>
            <p:ph type="title"/>
          </p:nvPr>
        </p:nvSpPr>
        <p:spPr/>
        <p:txBody>
          <a:bodyPr/>
          <a:lstStyle/>
          <a:p>
            <a:r>
              <a:rPr lang="en-US" dirty="0"/>
              <a:t>Surplus Production Models</a:t>
            </a:r>
            <a:endParaRPr lang="en-US" dirty="0">
              <a:solidFill>
                <a:srgbClr val="FF000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458C2E-3B88-4EAA-9F99-FC7EA2FD9ED5}"/>
                  </a:ext>
                </a:extLst>
              </p:cNvPr>
              <p:cNvSpPr>
                <a:spLocks noGrp="1"/>
              </p:cNvSpPr>
              <p:nvPr>
                <p:ph idx="1"/>
              </p:nvPr>
            </p:nvSpPr>
            <p:spPr>
              <a:xfrm>
                <a:off x="838200" y="1527142"/>
                <a:ext cx="10515600" cy="4440025"/>
              </a:xfrm>
            </p:spPr>
            <p:txBody>
              <a:bodyPr/>
              <a:lstStyle/>
              <a:p>
                <a:r>
                  <a:rPr lang="en-US" dirty="0"/>
                  <a:t>Schaefer Model</a:t>
                </a:r>
                <a:r>
                  <a:rPr lang="en-US" baseline="30000" dirty="0"/>
                  <a:t>1</a:t>
                </a:r>
                <a:r>
                  <a:rPr lang="en-US" dirty="0"/>
                  <a:t>: </a:t>
                </a:r>
                <a:endParaRPr lang="en-US" i="1" dirty="0">
                  <a:effectLst/>
                  <a:latin typeface="Cambria Math" panose="02040503050406030204" pitchFamily="18" charset="0"/>
                  <a:ea typeface="Cambria Math" panose="02040503050406030204" pitchFamily="18" charset="0"/>
                  <a:cs typeface="Cambria Math" panose="02040503050406030204" pitchFamily="18" charset="0"/>
                </a:endParaRPr>
              </a:p>
              <a:p>
                <a:pPr marL="0" indent="0" algn="ctr">
                  <a:buNone/>
                </a:pPr>
                <a14:m>
                  <m:oMath xmlns:m="http://schemas.openxmlformats.org/officeDocument/2006/math">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r>
                          <a:rPr lang="en-US" sz="4000" i="1">
                            <a:effectLst/>
                            <a:latin typeface="Cambria Math" panose="02040503050406030204" pitchFamily="18" charset="0"/>
                            <a:ea typeface="Cambria Math" panose="02040503050406030204" pitchFamily="18" charset="0"/>
                            <a:cs typeface="Cambria Math" panose="02040503050406030204" pitchFamily="18" charset="0"/>
                          </a:rPr>
                          <m:t>+1</m:t>
                        </m:r>
                      </m:sub>
                    </m:sSub>
                    <m:r>
                      <a:rPr lang="en-US" sz="4000"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r>
                      <a:rPr lang="en-US" sz="4000" i="1">
                        <a:effectLst/>
                        <a:latin typeface="Cambria Math" panose="02040503050406030204" pitchFamily="18" charset="0"/>
                        <a:ea typeface="Cambria Math" panose="02040503050406030204" pitchFamily="18" charset="0"/>
                        <a:cs typeface="Cambria Math" panose="02040503050406030204" pitchFamily="18" charset="0"/>
                      </a:rPr>
                      <m:t>+</m:t>
                    </m:r>
                    <m:r>
                      <a:rPr lang="en-US" sz="4000" i="1" smtClean="0">
                        <a:solidFill>
                          <a:srgbClr val="7030A0"/>
                        </a:solidFill>
                        <a:effectLst/>
                        <a:latin typeface="Cambria Math" panose="02040503050406030204" pitchFamily="18" charset="0"/>
                        <a:ea typeface="Cambria Math" panose="02040503050406030204" pitchFamily="18" charset="0"/>
                        <a:cs typeface="Cambria Math" panose="02040503050406030204" pitchFamily="18" charset="0"/>
                      </a:rPr>
                      <m:t>𝑟</m:t>
                    </m:r>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d>
                      <m:d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dPr>
                      <m:e>
                        <m:r>
                          <a:rPr lang="en-US" sz="4000" i="1">
                            <a:effectLst/>
                            <a:latin typeface="Cambria Math" panose="02040503050406030204" pitchFamily="18" charset="0"/>
                            <a:ea typeface="Cambria Math" panose="02040503050406030204" pitchFamily="18" charset="0"/>
                            <a:cs typeface="Cambria Math" panose="02040503050406030204" pitchFamily="18" charset="0"/>
                          </a:rPr>
                          <m:t>1−</m:t>
                        </m:r>
                        <m:f>
                          <m:fPr>
                            <m:ctrlPr>
                              <a:rPr lang="en-US" sz="5400" i="1">
                                <a:effectLst/>
                                <a:latin typeface="Cambria Math" panose="02040503050406030204" pitchFamily="18" charset="0"/>
                                <a:ea typeface="Cambria Math" panose="02040503050406030204" pitchFamily="18" charset="0"/>
                                <a:cs typeface="Cambria Math" panose="02040503050406030204" pitchFamily="18" charset="0"/>
                              </a:rPr>
                            </m:ctrlPr>
                          </m:fPr>
                          <m:num>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num>
                          <m:den>
                            <m:r>
                              <a:rPr lang="en-US" sz="4000" i="1" smtClean="0">
                                <a:solidFill>
                                  <a:srgbClr val="C00000"/>
                                </a:solidFill>
                                <a:effectLst/>
                                <a:latin typeface="Cambria Math" panose="02040503050406030204" pitchFamily="18" charset="0"/>
                                <a:ea typeface="Cambria Math" panose="02040503050406030204" pitchFamily="18" charset="0"/>
                                <a:cs typeface="Cambria Math" panose="02040503050406030204" pitchFamily="18" charset="0"/>
                              </a:rPr>
                              <m:t>𝐾</m:t>
                            </m:r>
                          </m:den>
                        </m:f>
                      </m:e>
                    </m:d>
                    <m:r>
                      <a:rPr lang="en-US" sz="4000"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𝐶</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oMath>
                </a14:m>
                <a:r>
                  <a:rPr lang="en-US" sz="4000" dirty="0">
                    <a:effectLst/>
                    <a:latin typeface="Arial" panose="020B0604020202020204" pitchFamily="34" charset="0"/>
                    <a:ea typeface="Times New Roman" panose="02020603050405020304" pitchFamily="18" charset="0"/>
                    <a:cs typeface="Times New Roman" panose="02020603050405020304" pitchFamily="18" charset="0"/>
                  </a:rPr>
                  <a:t> 	</a:t>
                </a:r>
              </a:p>
              <a:p>
                <a:pPr marL="0" indent="0" algn="ctr">
                  <a:buNone/>
                </a:pPr>
                <a:endParaRPr lang="en-US" sz="20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14:m>
                  <m:oMath xmlns:m="http://schemas.openxmlformats.org/officeDocument/2006/math">
                    <m:r>
                      <a:rPr lang="en-US" sz="2400" i="1" smtClean="0">
                        <a:effectLst/>
                        <a:latin typeface="Cambria Math" panose="02040503050406030204" pitchFamily="18" charset="0"/>
                        <a:ea typeface="Cambria Math" panose="02040503050406030204" pitchFamily="18" charset="0"/>
                        <a:cs typeface="Cambria Math" panose="02040503050406030204" pitchFamily="18" charset="0"/>
                      </a:rPr>
                      <m:t>𝐵</m:t>
                    </m:r>
                  </m:oMath>
                </a14:m>
                <a:r>
                  <a:rPr lang="en-US" sz="2400" dirty="0">
                    <a:latin typeface="Arial" panose="020B0604020202020204" pitchFamily="34" charset="0"/>
                    <a:cs typeface="Times New Roman" panose="02020603050405020304" pitchFamily="18" charset="0"/>
                  </a:rPr>
                  <a:t> = biomass, </a:t>
                </a:r>
                <a14:m>
                  <m:oMath xmlns:m="http://schemas.openxmlformats.org/officeDocument/2006/math">
                    <m:r>
                      <a:rPr lang="en-US" sz="2400" b="0" i="1" smtClean="0">
                        <a:effectLst/>
                        <a:latin typeface="Cambria Math" panose="02040503050406030204" pitchFamily="18" charset="0"/>
                        <a:ea typeface="Cambria Math" panose="02040503050406030204" pitchFamily="18" charset="0"/>
                        <a:cs typeface="Cambria Math" panose="02040503050406030204" pitchFamily="18" charset="0"/>
                      </a:rPr>
                      <m:t>𝐶</m:t>
                    </m:r>
                  </m:oMath>
                </a14:m>
                <a:r>
                  <a:rPr lang="en-US" sz="2400" dirty="0">
                    <a:latin typeface="Arial" panose="020B0604020202020204" pitchFamily="34" charset="0"/>
                    <a:cs typeface="Times New Roman" panose="02020603050405020304" pitchFamily="18" charset="0"/>
                  </a:rPr>
                  <a:t> = catch</a:t>
                </a:r>
              </a:p>
              <a:p>
                <a:pPr marL="0" indent="0">
                  <a:buNone/>
                </a:pPr>
                <a14:m>
                  <m:oMath xmlns:m="http://schemas.openxmlformats.org/officeDocument/2006/math">
                    <m:r>
                      <m:rPr>
                        <m:sty m:val="p"/>
                      </m:rPr>
                      <a:rPr lang="en-US" sz="2400" b="0" i="0" smtClean="0">
                        <a:solidFill>
                          <a:srgbClr val="7030A0"/>
                        </a:solidFill>
                        <a:latin typeface="Cambria Math" panose="02040503050406030204" pitchFamily="18" charset="0"/>
                        <a:ea typeface="Cambria Math" panose="02040503050406030204" pitchFamily="18" charset="0"/>
                        <a:cs typeface="Cambria Math" panose="02040503050406030204" pitchFamily="18" charset="0"/>
                      </a:rPr>
                      <m:t>r</m:t>
                    </m:r>
                  </m:oMath>
                </a14:m>
                <a:r>
                  <a:rPr lang="en-US" sz="2400" dirty="0">
                    <a:solidFill>
                      <a:srgbClr val="7030A0"/>
                    </a:solidFill>
                    <a:latin typeface="Arial" panose="020B0604020202020204" pitchFamily="34" charset="0"/>
                    <a:cs typeface="Times New Roman" panose="02020603050405020304" pitchFamily="18" charset="0"/>
                  </a:rPr>
                  <a:t> = intrinsic rate of population growth </a:t>
                </a:r>
              </a:p>
              <a:p>
                <a:pPr marL="0" indent="0">
                  <a:buNone/>
                </a:pPr>
                <a:endParaRPr lang="en-US" sz="2400" b="0" i="0" dirty="0">
                  <a:solidFill>
                    <a:srgbClr val="C00000"/>
                  </a:solidFill>
                  <a:latin typeface="Cambria Math" panose="02040503050406030204" pitchFamily="18" charset="0"/>
                  <a:ea typeface="Cambria Math" panose="02040503050406030204" pitchFamily="18" charset="0"/>
                  <a:cs typeface="Cambria Math" panose="02040503050406030204" pitchFamily="18" charset="0"/>
                </a:endParaRPr>
              </a:p>
              <a:p>
                <a:pPr marL="0" indent="0">
                  <a:buNone/>
                </a:pPr>
                <a14:m>
                  <m:oMath xmlns:m="http://schemas.openxmlformats.org/officeDocument/2006/math">
                    <m:r>
                      <m:rPr>
                        <m:sty m:val="p"/>
                      </m:rPr>
                      <a:rPr lang="en-US" sz="2400" b="0" i="0" smtClean="0">
                        <a:solidFill>
                          <a:srgbClr val="C00000"/>
                        </a:solidFill>
                        <a:latin typeface="Cambria Math" panose="02040503050406030204" pitchFamily="18" charset="0"/>
                        <a:ea typeface="Cambria Math" panose="02040503050406030204" pitchFamily="18" charset="0"/>
                        <a:cs typeface="Cambria Math" panose="02040503050406030204" pitchFamily="18" charset="0"/>
                      </a:rPr>
                      <m:t>K</m:t>
                    </m:r>
                  </m:oMath>
                </a14:m>
                <a:r>
                  <a:rPr lang="en-US" sz="2400" dirty="0">
                    <a:solidFill>
                      <a:srgbClr val="C00000"/>
                    </a:solidFill>
                    <a:latin typeface="Arial" panose="020B0604020202020204" pitchFamily="34" charset="0"/>
                    <a:cs typeface="Times New Roman" panose="02020603050405020304" pitchFamily="18" charset="0"/>
                  </a:rPr>
                  <a:t> = carrying capacity</a:t>
                </a:r>
              </a:p>
              <a:p>
                <a:pPr marL="0" indent="0">
                  <a:buNone/>
                </a:pPr>
                <a14:m>
                  <m:oMath xmlns:m="http://schemas.openxmlformats.org/officeDocument/2006/math">
                    <m:r>
                      <a:rPr lang="en-US" sz="2400" i="1" smtClean="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𝑡</m:t>
                    </m:r>
                  </m:oMath>
                </a14:m>
                <a:r>
                  <a:rPr lang="en-US" sz="2400" dirty="0">
                    <a:solidFill>
                      <a:schemeClr val="tx1"/>
                    </a:solidFill>
                    <a:latin typeface="Arial" panose="020B0604020202020204" pitchFamily="34" charset="0"/>
                    <a:cs typeface="Times New Roman" panose="02020603050405020304" pitchFamily="18" charset="0"/>
                  </a:rPr>
                  <a:t> = discrete time step</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29458C2E-3B88-4EAA-9F99-FC7EA2FD9ED5}"/>
                  </a:ext>
                </a:extLst>
              </p:cNvPr>
              <p:cNvSpPr>
                <a:spLocks noGrp="1" noRot="1" noChangeAspect="1" noMove="1" noResize="1" noEditPoints="1" noAdjustHandles="1" noChangeArrowheads="1" noChangeShapeType="1" noTextEdit="1"/>
              </p:cNvSpPr>
              <p:nvPr>
                <p:ph idx="1"/>
              </p:nvPr>
            </p:nvSpPr>
            <p:spPr>
              <a:xfrm>
                <a:off x="838200" y="1527142"/>
                <a:ext cx="10515600" cy="4440025"/>
              </a:xfrm>
              <a:blipFill>
                <a:blip r:embed="rId2"/>
                <a:stretch>
                  <a:fillRect l="-1043" t="-2335" b="-2198"/>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FF8491E8-67DA-45AB-90EA-D514FE32718E}"/>
              </a:ext>
            </a:extLst>
          </p:cNvPr>
          <p:cNvCxnSpPr/>
          <p:nvPr/>
        </p:nvCxnSpPr>
        <p:spPr>
          <a:xfrm flipH="1" flipV="1">
            <a:off x="5924302" y="4354642"/>
            <a:ext cx="2260282" cy="13838"/>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2B4CE33-1B16-4A86-935C-14ABCBEFDF9C}"/>
                  </a:ext>
                </a:extLst>
              </p:cNvPr>
              <p:cNvSpPr txBox="1"/>
              <p:nvPr/>
            </p:nvSpPr>
            <p:spPr>
              <a:xfrm>
                <a:off x="8277551" y="3594223"/>
                <a:ext cx="3722771" cy="1200329"/>
              </a:xfrm>
              <a:prstGeom prst="rect">
                <a:avLst/>
              </a:prstGeom>
              <a:noFill/>
            </p:spPr>
            <p:txBody>
              <a:bodyPr wrap="square" rtlCol="0">
                <a:spAutoFit/>
              </a:bodyPr>
              <a:lstStyle/>
              <a:p>
                <a:r>
                  <a:rPr lang="en-US" sz="2400" dirty="0">
                    <a:solidFill>
                      <a:srgbClr val="7030A0"/>
                    </a:solidFill>
                  </a:rPr>
                  <a:t>Combined effects of recruitment, growth, and </a:t>
                </a:r>
                <a:r>
                  <a:rPr lang="en-US" sz="2400" i="1" dirty="0">
                    <a:solidFill>
                      <a:srgbClr val="7030A0"/>
                    </a:solidFill>
                  </a:rPr>
                  <a:t>M</a:t>
                </a:r>
                <a:r>
                  <a:rPr lang="en-US" sz="2400" dirty="0">
                    <a:solidFill>
                      <a:srgbClr val="7030A0"/>
                    </a:solidFill>
                  </a:rPr>
                  <a:t> in a single parameter </a:t>
                </a:r>
                <a14:m>
                  <m:oMath xmlns:m="http://schemas.openxmlformats.org/officeDocument/2006/math">
                    <m:r>
                      <m:rPr>
                        <m:sty m:val="p"/>
                      </m:rPr>
                      <a:rPr lang="en-US" sz="2400" b="0" i="0" smtClean="0">
                        <a:solidFill>
                          <a:srgbClr val="7030A0"/>
                        </a:solidFill>
                        <a:latin typeface="Cambria Math" panose="02040503050406030204" pitchFamily="18" charset="0"/>
                        <a:ea typeface="Cambria Math" panose="02040503050406030204" pitchFamily="18" charset="0"/>
                        <a:cs typeface="Cambria Math" panose="02040503050406030204" pitchFamily="18" charset="0"/>
                      </a:rPr>
                      <m:t>r</m:t>
                    </m:r>
                  </m:oMath>
                </a14:m>
                <a:r>
                  <a:rPr lang="en-US" sz="2400" dirty="0">
                    <a:solidFill>
                      <a:srgbClr val="7030A0"/>
                    </a:solidFill>
                  </a:rPr>
                  <a:t> </a:t>
                </a:r>
              </a:p>
            </p:txBody>
          </p:sp>
        </mc:Choice>
        <mc:Fallback xmlns="">
          <p:sp>
            <p:nvSpPr>
              <p:cNvPr id="6" name="TextBox 5">
                <a:extLst>
                  <a:ext uri="{FF2B5EF4-FFF2-40B4-BE49-F238E27FC236}">
                    <a16:creationId xmlns:a16="http://schemas.microsoft.com/office/drawing/2014/main" id="{42B4CE33-1B16-4A86-935C-14ABCBEFDF9C}"/>
                  </a:ext>
                </a:extLst>
              </p:cNvPr>
              <p:cNvSpPr txBox="1">
                <a:spLocks noRot="1" noChangeAspect="1" noMove="1" noResize="1" noEditPoints="1" noAdjustHandles="1" noChangeArrowheads="1" noChangeShapeType="1" noTextEdit="1"/>
              </p:cNvSpPr>
              <p:nvPr/>
            </p:nvSpPr>
            <p:spPr>
              <a:xfrm>
                <a:off x="8277551" y="3594223"/>
                <a:ext cx="3722771" cy="1200329"/>
              </a:xfrm>
              <a:prstGeom prst="rect">
                <a:avLst/>
              </a:prstGeom>
              <a:blipFill>
                <a:blip r:embed="rId3"/>
                <a:stretch>
                  <a:fillRect l="-2619" t="-4061" b="-10660"/>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3088F1B3-8E26-4A29-A338-DBDA3DF8943B}"/>
              </a:ext>
            </a:extLst>
          </p:cNvPr>
          <p:cNvCxnSpPr>
            <a:cxnSpLocks/>
          </p:cNvCxnSpPr>
          <p:nvPr/>
        </p:nvCxnSpPr>
        <p:spPr>
          <a:xfrm flipH="1">
            <a:off x="3949832" y="5282071"/>
            <a:ext cx="4234752" cy="1301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FC7F7E1-5CF9-4AB0-835E-F495788CAB75}"/>
              </a:ext>
            </a:extLst>
          </p:cNvPr>
          <p:cNvSpPr txBox="1"/>
          <p:nvPr/>
        </p:nvSpPr>
        <p:spPr>
          <a:xfrm>
            <a:off x="8277551" y="4794552"/>
            <a:ext cx="3653640" cy="830997"/>
          </a:xfrm>
          <a:prstGeom prst="rect">
            <a:avLst/>
          </a:prstGeom>
          <a:noFill/>
        </p:spPr>
        <p:txBody>
          <a:bodyPr wrap="square" rtlCol="0">
            <a:spAutoFit/>
          </a:bodyPr>
          <a:lstStyle/>
          <a:p>
            <a:r>
              <a:rPr lang="en-US" sz="2400" dirty="0">
                <a:solidFill>
                  <a:srgbClr val="C00000"/>
                </a:solidFill>
              </a:rPr>
              <a:t>Maximum population size, “unfished biomass”</a:t>
            </a:r>
          </a:p>
        </p:txBody>
      </p:sp>
      <p:sp>
        <p:nvSpPr>
          <p:cNvPr id="12" name="TextBox 11"/>
          <p:cNvSpPr txBox="1"/>
          <p:nvPr/>
        </p:nvSpPr>
        <p:spPr>
          <a:xfrm>
            <a:off x="260809" y="6176963"/>
            <a:ext cx="11164998" cy="646331"/>
          </a:xfrm>
          <a:prstGeom prst="rect">
            <a:avLst/>
          </a:prstGeom>
          <a:solidFill>
            <a:schemeClr val="accent1">
              <a:alpha val="25000"/>
            </a:schemeClr>
          </a:solidFill>
          <a:ln>
            <a:solidFill>
              <a:schemeClr val="accent1">
                <a:lumMod val="50000"/>
              </a:schemeClr>
            </a:solidFill>
          </a:ln>
        </p:spPr>
        <p:txBody>
          <a:bodyPr wrap="square" rtlCol="0">
            <a:spAutoFit/>
          </a:bodyPr>
          <a:lstStyle/>
          <a:p>
            <a:r>
              <a:rPr lang="en-US" dirty="0">
                <a:solidFill>
                  <a:schemeClr val="tx2"/>
                </a:solidFill>
              </a:rPr>
              <a:t>1. Schaefer, M.B. 1954. Some aspects of the dynamics of the populations important to the management of the commercial marine fisheries. Inter-American Tropical Tuna Commission, 1: 27-56. </a:t>
            </a:r>
          </a:p>
        </p:txBody>
      </p:sp>
      <p:sp>
        <p:nvSpPr>
          <p:cNvPr id="4" name="Slide Number Placeholder 3"/>
          <p:cNvSpPr>
            <a:spLocks noGrp="1"/>
          </p:cNvSpPr>
          <p:nvPr>
            <p:ph type="sldNum" sz="quarter" idx="12"/>
          </p:nvPr>
        </p:nvSpPr>
        <p:spPr/>
        <p:txBody>
          <a:bodyPr/>
          <a:lstStyle/>
          <a:p>
            <a:fld id="{EEDFA2F9-C25F-4A63-B46B-7B5C200A39D1}" type="slidenum">
              <a:rPr lang="en-CA" smtClean="0"/>
              <a:t>27</a:t>
            </a:fld>
            <a:endParaRPr lang="en-CA"/>
          </a:p>
        </p:txBody>
      </p:sp>
    </p:spTree>
    <p:extLst>
      <p:ext uri="{BB962C8B-B14F-4D97-AF65-F5344CB8AC3E}">
        <p14:creationId xmlns:p14="http://schemas.microsoft.com/office/powerpoint/2010/main" val="3960805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CBB4-66B3-4A2C-9159-CCE70C52D843}"/>
              </a:ext>
            </a:extLst>
          </p:cNvPr>
          <p:cNvSpPr>
            <a:spLocks noGrp="1"/>
          </p:cNvSpPr>
          <p:nvPr>
            <p:ph type="title"/>
          </p:nvPr>
        </p:nvSpPr>
        <p:spPr>
          <a:xfrm>
            <a:off x="838200" y="53398"/>
            <a:ext cx="10515600" cy="1325563"/>
          </a:xfrm>
        </p:spPr>
        <p:txBody>
          <a:bodyPr/>
          <a:lstStyle/>
          <a:p>
            <a:r>
              <a:rPr lang="en-US" dirty="0"/>
              <a:t>Surplus Production (SP) Models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9458C2E-3B88-4EAA-9F99-FC7EA2FD9ED5}"/>
                  </a:ext>
                </a:extLst>
              </p:cNvPr>
              <p:cNvSpPr>
                <a:spLocks noGrp="1"/>
              </p:cNvSpPr>
              <p:nvPr>
                <p:ph idx="1"/>
              </p:nvPr>
            </p:nvSpPr>
            <p:spPr>
              <a:xfrm>
                <a:off x="820882" y="1565996"/>
                <a:ext cx="11298382" cy="4947598"/>
              </a:xfrm>
            </p:spPr>
            <p:txBody>
              <a:bodyPr>
                <a:normAutofit lnSpcReduction="10000"/>
              </a:bodyPr>
              <a:lstStyle/>
              <a:p>
                <a:r>
                  <a:rPr lang="en-US" dirty="0"/>
                  <a:t>Schaefer Model: </a:t>
                </a:r>
              </a:p>
              <a:p>
                <a:pPr marL="0" indent="0" algn="ctr">
                  <a:buNone/>
                </a:pPr>
                <a14:m>
                  <m:oMath xmlns:m="http://schemas.openxmlformats.org/officeDocument/2006/math">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r>
                          <a:rPr lang="en-US" sz="4000" i="1">
                            <a:effectLst/>
                            <a:latin typeface="Cambria Math" panose="02040503050406030204" pitchFamily="18" charset="0"/>
                            <a:ea typeface="Cambria Math" panose="02040503050406030204" pitchFamily="18" charset="0"/>
                            <a:cs typeface="Cambria Math" panose="02040503050406030204" pitchFamily="18" charset="0"/>
                          </a:rPr>
                          <m:t>+1</m:t>
                        </m:r>
                      </m:sub>
                    </m:sSub>
                    <m:r>
                      <a:rPr lang="en-US" sz="4000" b="0" i="1" smtClean="0">
                        <a:effectLst/>
                        <a:latin typeface="Cambria Math" panose="02040503050406030204" pitchFamily="18" charset="0"/>
                        <a:ea typeface="Cambria Math" panose="02040503050406030204" pitchFamily="18" charset="0"/>
                        <a:cs typeface="Cambria Math" panose="02040503050406030204" pitchFamily="18" charset="0"/>
                      </a:rPr>
                      <m:t>     </m:t>
                    </m:r>
                    <m:r>
                      <a:rPr lang="en-US" sz="4000" i="1">
                        <a:effectLst/>
                        <a:latin typeface="Cambria Math" panose="02040503050406030204" pitchFamily="18" charset="0"/>
                        <a:ea typeface="Cambria Math" panose="02040503050406030204" pitchFamily="18" charset="0"/>
                        <a:cs typeface="Cambria Math" panose="02040503050406030204" pitchFamily="18" charset="0"/>
                      </a:rPr>
                      <m:t>=</m:t>
                    </m:r>
                    <m:r>
                      <a:rPr lang="en-US" sz="4000" b="0" i="1" smtClean="0">
                        <a:effectLst/>
                        <a:latin typeface="Cambria Math" panose="02040503050406030204" pitchFamily="18" charset="0"/>
                        <a:ea typeface="Cambria Math" panose="02040503050406030204" pitchFamily="18" charset="0"/>
                        <a:cs typeface="Cambria Math" panose="02040503050406030204" pitchFamily="18" charset="0"/>
                      </a:rPr>
                      <m:t>       </m:t>
                    </m:r>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r>
                      <a:rPr lang="en-US" sz="4000" b="0" i="1" smtClean="0">
                        <a:effectLst/>
                        <a:latin typeface="Cambria Math" panose="02040503050406030204" pitchFamily="18" charset="0"/>
                        <a:ea typeface="Cambria Math" panose="02040503050406030204" pitchFamily="18" charset="0"/>
                        <a:cs typeface="Cambria Math" panose="02040503050406030204" pitchFamily="18" charset="0"/>
                      </a:rPr>
                      <m:t>      + </m:t>
                    </m:r>
                    <m:r>
                      <a:rPr lang="en-US" sz="4000" i="1" smtClean="0">
                        <a:solidFill>
                          <a:srgbClr val="7030A0"/>
                        </a:solidFill>
                        <a:effectLst/>
                        <a:latin typeface="Cambria Math" panose="02040503050406030204" pitchFamily="18" charset="0"/>
                        <a:ea typeface="Cambria Math" panose="02040503050406030204" pitchFamily="18" charset="0"/>
                        <a:cs typeface="Cambria Math" panose="02040503050406030204" pitchFamily="18" charset="0"/>
                      </a:rPr>
                      <m:t>𝑟</m:t>
                    </m:r>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d>
                      <m:d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dPr>
                      <m:e>
                        <m:r>
                          <a:rPr lang="en-US" sz="4000" i="1">
                            <a:effectLst/>
                            <a:latin typeface="Cambria Math" panose="02040503050406030204" pitchFamily="18" charset="0"/>
                            <a:ea typeface="Cambria Math" panose="02040503050406030204" pitchFamily="18" charset="0"/>
                            <a:cs typeface="Cambria Math" panose="02040503050406030204" pitchFamily="18" charset="0"/>
                          </a:rPr>
                          <m:t>1−</m:t>
                        </m:r>
                        <m:f>
                          <m:fPr>
                            <m:ctrlPr>
                              <a:rPr lang="en-US" sz="5400" i="1">
                                <a:effectLst/>
                                <a:latin typeface="Cambria Math" panose="02040503050406030204" pitchFamily="18" charset="0"/>
                                <a:ea typeface="Cambria Math" panose="02040503050406030204" pitchFamily="18" charset="0"/>
                                <a:cs typeface="Cambria Math" panose="02040503050406030204" pitchFamily="18" charset="0"/>
                              </a:rPr>
                            </m:ctrlPr>
                          </m:fPr>
                          <m:num>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num>
                          <m:den>
                            <m:r>
                              <a:rPr lang="en-US" sz="4000" i="1" smtClean="0">
                                <a:solidFill>
                                  <a:srgbClr val="C00000"/>
                                </a:solidFill>
                                <a:effectLst/>
                                <a:latin typeface="Cambria Math" panose="02040503050406030204" pitchFamily="18" charset="0"/>
                                <a:ea typeface="Cambria Math" panose="02040503050406030204" pitchFamily="18" charset="0"/>
                                <a:cs typeface="Cambria Math" panose="02040503050406030204" pitchFamily="18" charset="0"/>
                              </a:rPr>
                              <m:t>𝐾</m:t>
                            </m:r>
                          </m:den>
                        </m:f>
                      </m:e>
                    </m:d>
                    <m:r>
                      <a:rPr lang="en-US" sz="4000" i="1">
                        <a:effectLst/>
                        <a:latin typeface="Cambria Math" panose="02040503050406030204" pitchFamily="18" charset="0"/>
                        <a:ea typeface="Cambria Math" panose="02040503050406030204" pitchFamily="18" charset="0"/>
                        <a:cs typeface="Cambria Math" panose="02040503050406030204" pitchFamily="18" charset="0"/>
                      </a:rPr>
                      <m:t>−</m:t>
                    </m:r>
                    <m:r>
                      <a:rPr lang="en-US" sz="4000" b="0" i="1" smtClean="0">
                        <a:effectLst/>
                        <a:latin typeface="Cambria Math" panose="02040503050406030204" pitchFamily="18" charset="0"/>
                        <a:ea typeface="Cambria Math" panose="02040503050406030204" pitchFamily="18" charset="0"/>
                        <a:cs typeface="Cambria Math" panose="02040503050406030204" pitchFamily="18" charset="0"/>
                      </a:rPr>
                      <m:t>     </m:t>
                    </m:r>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𝐶</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oMath>
                </a14:m>
                <a:r>
                  <a:rPr lang="en-US" sz="1800" dirty="0">
                    <a:effectLst/>
                    <a:latin typeface="Arial" panose="020B0604020202020204" pitchFamily="34" charset="0"/>
                    <a:ea typeface="Times New Roman" panose="02020603050405020304" pitchFamily="18" charset="0"/>
                    <a:cs typeface="Times New Roman" panose="02020603050405020304" pitchFamily="18" charset="0"/>
                  </a:rPr>
                  <a:t> 	</a:t>
                </a:r>
              </a:p>
              <a:p>
                <a:pPr marL="0" indent="0" algn="ctr">
                  <a:buNone/>
                </a:pPr>
                <a:endParaRPr lang="en-US"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left"/>
                    </m:oMathParaPr>
                    <m:oMath>
                      <m:r>
                        <a:rPr lang="en-US" sz="4000" i="1" dirty="0" smtClean="0">
                          <a:effectLst/>
                          <a:latin typeface="Cambria Math" panose="02040503050406030204" pitchFamily="18" charset="0"/>
                          <a:ea typeface="Cambria Math" panose="02040503050406030204" pitchFamily="18" charset="0"/>
                          <a:cs typeface="Cambria Math" panose="02040503050406030204" pitchFamily="18" charset="0"/>
                        </a:rPr>
                        <m:t> </m:t>
                      </m:r>
                      <m:r>
                        <a:rPr lang="en-US" sz="4000" i="1" dirty="0" smtClean="0">
                          <a:effectLst/>
                          <a:latin typeface="Cambria Math" panose="02040503050406030204" pitchFamily="18" charset="0"/>
                          <a:ea typeface="Cambria Math" panose="02040503050406030204" pitchFamily="18" charset="0"/>
                          <a:cs typeface="Cambria Math" panose="02040503050406030204" pitchFamily="18" charset="0"/>
                        </a:rPr>
                        <m:t>𝐵𝑛</m:t>
                      </m:r>
                      <m:r>
                        <a:rPr lang="en-US" sz="4000" i="1" baseline="-25000" dirty="0" smtClean="0">
                          <a:effectLst/>
                          <a:latin typeface="Cambria Math" panose="02040503050406030204" pitchFamily="18" charset="0"/>
                          <a:ea typeface="Cambria Math" panose="02040503050406030204" pitchFamily="18" charset="0"/>
                          <a:cs typeface="Cambria Math" panose="02040503050406030204" pitchFamily="18" charset="0"/>
                        </a:rPr>
                        <m:t>𝑒𝑥𝑡</m:t>
                      </m:r>
                      <m:r>
                        <a:rPr lang="en-US" sz="4000" i="1" baseline="-25000" dirty="0" smtClean="0">
                          <a:latin typeface="Cambria Math" panose="02040503050406030204" pitchFamily="18" charset="0"/>
                          <a:cs typeface="Times New Roman" panose="02020603050405020304" pitchFamily="18" charset="0"/>
                        </a:rPr>
                        <m:t> </m:t>
                      </m:r>
                      <m:r>
                        <a:rPr lang="en-US" sz="4000" i="1" baseline="-25000" dirty="0">
                          <a:latin typeface="Cambria Math" panose="02040503050406030204" pitchFamily="18" charset="0"/>
                          <a:cs typeface="Times New Roman" panose="02020603050405020304" pitchFamily="18" charset="0"/>
                        </a:rPr>
                        <m:t>𝑦𝑒𝑎𝑟</m:t>
                      </m:r>
                      <m:r>
                        <a:rPr lang="en-US" sz="4000" i="1" dirty="0">
                          <a:latin typeface="Cambria Math" panose="02040503050406030204" pitchFamily="18" charset="0"/>
                          <a:cs typeface="Times New Roman" panose="02020603050405020304" pitchFamily="18" charset="0"/>
                        </a:rPr>
                        <m:t> = </m:t>
                      </m:r>
                      <m:r>
                        <a:rPr lang="en-US" sz="4000" i="1" dirty="0" err="1" smtClean="0">
                          <a:latin typeface="Cambria Math" panose="02040503050406030204" pitchFamily="18" charset="0"/>
                          <a:ea typeface="Cambria Math" panose="02040503050406030204" pitchFamily="18" charset="0"/>
                          <a:cs typeface="Cambria Math" panose="02040503050406030204" pitchFamily="18" charset="0"/>
                        </a:rPr>
                        <m:t>𝐵</m:t>
                      </m:r>
                      <m:r>
                        <a:rPr lang="en-US" sz="4000" i="1" baseline="-25000" dirty="0" err="1" smtClean="0">
                          <a:latin typeface="Cambria Math" panose="02040503050406030204" pitchFamily="18" charset="0"/>
                          <a:cs typeface="Times New Roman" panose="02020603050405020304" pitchFamily="18" charset="0"/>
                        </a:rPr>
                        <m:t>𝑡ℎ𝑖𝑠</m:t>
                      </m:r>
                      <m:r>
                        <a:rPr lang="en-US" sz="4000" i="1" baseline="-25000" dirty="0" smtClean="0">
                          <a:latin typeface="Cambria Math" panose="02040503050406030204" pitchFamily="18" charset="0"/>
                          <a:cs typeface="Times New Roman" panose="02020603050405020304" pitchFamily="18" charset="0"/>
                        </a:rPr>
                        <m:t> </m:t>
                      </m:r>
                      <m:r>
                        <a:rPr lang="en-US" sz="4000" i="1" baseline="-25000" dirty="0">
                          <a:latin typeface="Cambria Math" panose="02040503050406030204" pitchFamily="18" charset="0"/>
                          <a:cs typeface="Times New Roman" panose="02020603050405020304" pitchFamily="18" charset="0"/>
                        </a:rPr>
                        <m:t>𝑦𝑒𝑎</m:t>
                      </m:r>
                      <m:r>
                        <a:rPr lang="en-US" sz="4000" b="0" i="1" baseline="-25000" dirty="0" smtClean="0">
                          <a:latin typeface="Cambria Math" panose="02040503050406030204" pitchFamily="18" charset="0"/>
                          <a:cs typeface="Times New Roman" panose="02020603050405020304" pitchFamily="18" charset="0"/>
                        </a:rPr>
                        <m:t>𝑟</m:t>
                      </m:r>
                      <m:r>
                        <a:rPr lang="en-US" sz="4000" b="0" i="1" baseline="-25000" dirty="0" smtClean="0">
                          <a:latin typeface="Cambria Math" panose="02040503050406030204" pitchFamily="18" charset="0"/>
                          <a:cs typeface="Times New Roman" panose="02020603050405020304" pitchFamily="18" charset="0"/>
                        </a:rPr>
                        <m:t>  +      </m:t>
                      </m:r>
                      <m:r>
                        <a:rPr lang="en-US" sz="4000" b="0" i="1" dirty="0" smtClean="0">
                          <a:latin typeface="Cambria Math" panose="02040503050406030204" pitchFamily="18" charset="0"/>
                          <a:ea typeface="Cambria Math" panose="02040503050406030204" pitchFamily="18" charset="0"/>
                          <a:cs typeface="Cambria Math" panose="02040503050406030204" pitchFamily="18" charset="0"/>
                        </a:rPr>
                        <m:t>𝑆𝑃</m:t>
                      </m:r>
                      <m:r>
                        <a:rPr lang="en-US" sz="4000" b="0" i="1" baseline="-25000" dirty="0" smtClean="0">
                          <a:latin typeface="Cambria Math" panose="02040503050406030204" pitchFamily="18" charset="0"/>
                          <a:ea typeface="Cambria Math" panose="02040503050406030204" pitchFamily="18" charset="0"/>
                          <a:cs typeface="Cambria Math" panose="02040503050406030204" pitchFamily="18" charset="0"/>
                        </a:rPr>
                        <m:t>𝑡ℎ𝑖𝑠</m:t>
                      </m:r>
                      <m:r>
                        <a:rPr lang="en-US" sz="4000" i="1" baseline="-25000" dirty="0" smtClean="0">
                          <a:latin typeface="Cambria Math" panose="02040503050406030204" pitchFamily="18" charset="0"/>
                          <a:cs typeface="Times New Roman" panose="02020603050405020304" pitchFamily="18" charset="0"/>
                        </a:rPr>
                        <m:t> </m:t>
                      </m:r>
                      <m:r>
                        <a:rPr lang="en-US" sz="4000" i="1" baseline="-25000" dirty="0" smtClean="0">
                          <a:latin typeface="Cambria Math" panose="02040503050406030204" pitchFamily="18" charset="0"/>
                          <a:cs typeface="Times New Roman" panose="02020603050405020304" pitchFamily="18" charset="0"/>
                        </a:rPr>
                        <m:t>𝑦𝑒𝑎𝑟</m:t>
                      </m:r>
                      <m:r>
                        <a:rPr lang="en-US" sz="4000" i="1" baseline="-25000" dirty="0" smtClean="0">
                          <a:latin typeface="Cambria Math" panose="02040503050406030204" pitchFamily="18" charset="0"/>
                          <a:cs typeface="Times New Roman" panose="02020603050405020304" pitchFamily="18" charset="0"/>
                        </a:rPr>
                        <m:t>        −</m:t>
                      </m:r>
                      <m:r>
                        <a:rPr lang="en-US" sz="4000" b="0" i="1" dirty="0" smtClean="0">
                          <a:latin typeface="Cambria Math" panose="02040503050406030204" pitchFamily="18" charset="0"/>
                          <a:ea typeface="Cambria Math" panose="02040503050406030204" pitchFamily="18" charset="0"/>
                          <a:cs typeface="Cambria Math" panose="02040503050406030204" pitchFamily="18" charset="0"/>
                        </a:rPr>
                        <m:t>𝐶</m:t>
                      </m:r>
                      <m:r>
                        <a:rPr lang="en-US" sz="4000" b="0" i="1" baseline="-25000" dirty="0" smtClean="0">
                          <a:latin typeface="Cambria Math" panose="02040503050406030204" pitchFamily="18" charset="0"/>
                          <a:ea typeface="Cambria Math" panose="02040503050406030204" pitchFamily="18" charset="0"/>
                          <a:cs typeface="Cambria Math" panose="02040503050406030204" pitchFamily="18" charset="0"/>
                        </a:rPr>
                        <m:t>𝑡</m:t>
                      </m:r>
                      <m:r>
                        <a:rPr lang="en-US" sz="4000" i="1" baseline="-25000" dirty="0" err="1" smtClean="0">
                          <a:latin typeface="Cambria Math" panose="02040503050406030204" pitchFamily="18" charset="0"/>
                          <a:cs typeface="Times New Roman" panose="02020603050405020304" pitchFamily="18" charset="0"/>
                        </a:rPr>
                        <m:t>ℎ𝑖𝑠</m:t>
                      </m:r>
                      <m:r>
                        <a:rPr lang="en-US" sz="4000" i="1" baseline="-25000" dirty="0" smtClean="0">
                          <a:latin typeface="Cambria Math" panose="02040503050406030204" pitchFamily="18" charset="0"/>
                          <a:cs typeface="Times New Roman" panose="02020603050405020304" pitchFamily="18" charset="0"/>
                        </a:rPr>
                        <m:t> </m:t>
                      </m:r>
                      <m:r>
                        <a:rPr lang="en-US" sz="4000" i="1" baseline="-25000" dirty="0">
                          <a:latin typeface="Cambria Math" panose="02040503050406030204" pitchFamily="18" charset="0"/>
                          <a:cs typeface="Times New Roman" panose="02020603050405020304" pitchFamily="18" charset="0"/>
                        </a:rPr>
                        <m:t>𝑦𝑒𝑎𝑟</m:t>
                      </m:r>
                    </m:oMath>
                  </m:oMathPara>
                </a14:m>
                <a:endParaRPr lang="en-US" sz="4000" baseline="-25000" dirty="0">
                  <a:latin typeface="Arial" panose="020B0604020202020204" pitchFamily="34" charset="0"/>
                  <a:cs typeface="Times New Roman" panose="02020603050405020304" pitchFamily="18" charset="0"/>
                </a:endParaRPr>
              </a:p>
              <a:p>
                <a:pPr marL="0" indent="0">
                  <a:buNone/>
                </a:pPr>
                <a:endParaRPr lang="en-US" sz="1600" dirty="0">
                  <a:ea typeface="Cambria Math" panose="02040503050406030204" pitchFamily="18" charset="0"/>
                  <a:cs typeface="Cambria Math" panose="02040503050406030204" pitchFamily="18" charset="0"/>
                </a:endParaRPr>
              </a:p>
              <a:p>
                <a:r>
                  <a:rPr lang="en-US" dirty="0">
                    <a:solidFill>
                      <a:schemeClr val="tx2">
                        <a:lumMod val="75000"/>
                      </a:schemeClr>
                    </a:solidFill>
                    <a:ea typeface="Cambria Math" panose="02040503050406030204" pitchFamily="18" charset="0"/>
                    <a:cs typeface="Cambria Math" panose="02040503050406030204" pitchFamily="18" charset="0"/>
                  </a:rPr>
                  <a:t>The </a:t>
                </a:r>
                <a14:m>
                  <m:oMath xmlns:m="http://schemas.openxmlformats.org/officeDocument/2006/math">
                    <m:r>
                      <a:rPr lang="en-US" i="1" smtClean="0">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oMath>
                </a14:m>
                <a:r>
                  <a:rPr lang="en-US" dirty="0">
                    <a:solidFill>
                      <a:schemeClr val="tx2">
                        <a:lumMod val="75000"/>
                      </a:schemeClr>
                    </a:solidFill>
                    <a:ea typeface="Times New Roman" panose="02020603050405020304" pitchFamily="18" charset="0"/>
                    <a:cs typeface="Times New Roman" panose="02020603050405020304" pitchFamily="18" charset="0"/>
                  </a:rPr>
                  <a:t> and </a:t>
                </a:r>
                <a14:m>
                  <m:oMath xmlns:m="http://schemas.openxmlformats.org/officeDocument/2006/math">
                    <m:r>
                      <a:rPr lang="en-US" i="1" smtClean="0">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oMath>
                </a14:m>
                <a:r>
                  <a:rPr lang="en-US" dirty="0">
                    <a:solidFill>
                      <a:schemeClr val="tx2">
                        <a:lumMod val="75000"/>
                      </a:schemeClr>
                    </a:solidFill>
                    <a:ea typeface="Times New Roman" panose="02020603050405020304" pitchFamily="18" charset="0"/>
                    <a:cs typeface="Times New Roman" panose="02020603050405020304" pitchFamily="18" charset="0"/>
                  </a:rPr>
                  <a:t> parameters are estimated when the model is fit to data.</a:t>
                </a:r>
              </a:p>
              <a:p>
                <a:pPr marL="0" indent="0">
                  <a:spcBef>
                    <a:spcPts val="1800"/>
                  </a:spcBef>
                  <a:buNone/>
                </a:pPr>
                <a:r>
                  <a:rPr lang="en-US" sz="2400" b="0" u="sng" dirty="0">
                    <a:ea typeface="Cambria Math" panose="02040503050406030204" pitchFamily="18" charset="0"/>
                    <a:cs typeface="Cambria Math" panose="02040503050406030204" pitchFamily="18" charset="0"/>
                  </a:rPr>
                  <a:t>Observations:</a:t>
                </a:r>
                <a:endParaRPr lang="en-US" sz="2400" b="0" i="1" u="sng" dirty="0">
                  <a:latin typeface="Cambria Math" panose="02040503050406030204" pitchFamily="18" charset="0"/>
                  <a:ea typeface="Cambria Math" panose="02040503050406030204" pitchFamily="18" charset="0"/>
                  <a:cs typeface="Cambria Math" panose="02040503050406030204" pitchFamily="18" charset="0"/>
                </a:endParaRPr>
              </a:p>
              <a:p>
                <a14:m>
                  <m:oMath xmlns:m="http://schemas.openxmlformats.org/officeDocument/2006/math">
                    <m:r>
                      <a:rPr lang="en-US" sz="2400" b="0" i="1" dirty="0" smtClean="0">
                        <a:latin typeface="Cambria Math" panose="02040503050406030204" pitchFamily="18" charset="0"/>
                        <a:ea typeface="Cambria Math" panose="02040503050406030204" pitchFamily="18" charset="0"/>
                        <a:cs typeface="Cambria Math" panose="02040503050406030204" pitchFamily="18" charset="0"/>
                      </a:rPr>
                      <m:t>𝑆𝑃</m:t>
                    </m:r>
                    <m:r>
                      <a:rPr lang="en-US" sz="2400" b="0" i="1" baseline="-25000" dirty="0" err="1" smtClean="0">
                        <a:latin typeface="Cambria Math" panose="02040503050406030204" pitchFamily="18" charset="0"/>
                        <a:cs typeface="Times New Roman" panose="02020603050405020304" pitchFamily="18" charset="0"/>
                      </a:rPr>
                      <m:t>𝑡</m:t>
                    </m:r>
                  </m:oMath>
                </a14:m>
                <a:r>
                  <a:rPr lang="en-US" sz="2400" dirty="0">
                    <a:latin typeface="Arial" panose="020B0604020202020204" pitchFamily="34" charset="0"/>
                    <a:cs typeface="Times New Roman" panose="02020603050405020304" pitchFamily="18" charset="0"/>
                  </a:rPr>
                  <a:t> </a:t>
                </a:r>
                <a:r>
                  <a:rPr lang="en-US" sz="2400" dirty="0">
                    <a:cs typeface="Times New Roman" panose="02020603050405020304" pitchFamily="18" charset="0"/>
                  </a:rPr>
                  <a:t>depends on </a:t>
                </a:r>
                <a14:m>
                  <m:oMath xmlns:m="http://schemas.openxmlformats.org/officeDocument/2006/math">
                    <m:r>
                      <a:rPr lang="en-US" sz="2400" b="0" i="1" smtClean="0">
                        <a:solidFill>
                          <a:srgbClr val="7030A0"/>
                        </a:solidFill>
                        <a:effectLst/>
                        <a:latin typeface="Cambria Math" panose="02040503050406030204" pitchFamily="18" charset="0"/>
                        <a:ea typeface="Cambria Math" panose="02040503050406030204" pitchFamily="18" charset="0"/>
                        <a:cs typeface="Cambria Math" panose="02040503050406030204" pitchFamily="18" charset="0"/>
                      </a:rPr>
                      <m:t>𝑟</m:t>
                    </m:r>
                  </m:oMath>
                </a14:m>
                <a:r>
                  <a:rPr lang="en-US" sz="2400" dirty="0">
                    <a:latin typeface="Arial" panose="020B0604020202020204" pitchFamily="34" charset="0"/>
                    <a:cs typeface="Times New Roman" panose="02020603050405020304" pitchFamily="18" charset="0"/>
                  </a:rPr>
                  <a:t> </a:t>
                </a:r>
                <a:r>
                  <a:rPr lang="en-US" sz="2400" dirty="0">
                    <a:cs typeface="Times New Roman" panose="02020603050405020304" pitchFamily="18" charset="0"/>
                  </a:rPr>
                  <a:t>and the magnitude of the stock biomass (</a:t>
                </a:r>
                <a14:m>
                  <m:oMath xmlns:m="http://schemas.openxmlformats.org/officeDocument/2006/math">
                    <m:sSub>
                      <m:sSubPr>
                        <m:ctrlPr>
                          <a:rPr lang="en-US" sz="2400" b="0" i="1">
                            <a:latin typeface="Cambria Math" panose="02040503050406030204" pitchFamily="18" charset="0"/>
                            <a:ea typeface="Cambria Math" panose="02040503050406030204" pitchFamily="18" charset="0"/>
                            <a:cs typeface="Cambria Math" panose="02040503050406030204" pitchFamily="18" charset="0"/>
                          </a:rPr>
                        </m:ctrlPr>
                      </m:sSubPr>
                      <m:e>
                        <m:r>
                          <a:rPr lang="en-US" sz="2400" b="0" i="1">
                            <a:latin typeface="Cambria Math" panose="02040503050406030204" pitchFamily="18" charset="0"/>
                            <a:ea typeface="Cambria Math" panose="02040503050406030204" pitchFamily="18" charset="0"/>
                            <a:cs typeface="Cambria Math" panose="02040503050406030204" pitchFamily="18" charset="0"/>
                          </a:rPr>
                          <m:t>𝐵</m:t>
                        </m:r>
                      </m:e>
                      <m:sub>
                        <m:r>
                          <a:rPr lang="en-US" sz="2400" b="0" i="1">
                            <a:latin typeface="Cambria Math" panose="02040503050406030204" pitchFamily="18" charset="0"/>
                            <a:ea typeface="Cambria Math" panose="02040503050406030204" pitchFamily="18" charset="0"/>
                            <a:cs typeface="Cambria Math" panose="02040503050406030204" pitchFamily="18" charset="0"/>
                          </a:rPr>
                          <m:t>𝑡</m:t>
                        </m:r>
                      </m:sub>
                    </m:sSub>
                  </m:oMath>
                </a14:m>
                <a:r>
                  <a:rPr lang="en-US" sz="2400" dirty="0">
                    <a:latin typeface="Arial" panose="020B0604020202020204" pitchFamily="34" charset="0"/>
                    <a:cs typeface="Times New Roman" panose="02020603050405020304" pitchFamily="18" charset="0"/>
                  </a:rPr>
                  <a:t>) </a:t>
                </a:r>
                <a:r>
                  <a:rPr lang="en-US" sz="2400" dirty="0">
                    <a:cs typeface="Times New Roman" panose="02020603050405020304" pitchFamily="18" charset="0"/>
                  </a:rPr>
                  <a:t>relative to </a:t>
                </a:r>
                <a14:m>
                  <m:oMath xmlns:m="http://schemas.openxmlformats.org/officeDocument/2006/math">
                    <m:r>
                      <a:rPr lang="en-US" sz="2400" b="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oMath>
                </a14:m>
                <a:endParaRPr lang="en-US" sz="2400" dirty="0">
                  <a:latin typeface="Arial" panose="020B0604020202020204" pitchFamily="34" charset="0"/>
                  <a:cs typeface="Times New Roman" panose="02020603050405020304" pitchFamily="18" charset="0"/>
                </a:endParaRPr>
              </a:p>
              <a:p>
                <a:r>
                  <a:rPr lang="en-US" sz="2400" dirty="0">
                    <a:cs typeface="Times New Roman" panose="02020603050405020304" pitchFamily="18" charset="0"/>
                  </a:rPr>
                  <a:t>We can see that if </a:t>
                </a:r>
                <a14:m>
                  <m:oMath xmlns:m="http://schemas.openxmlformats.org/officeDocument/2006/math">
                    <m:r>
                      <a:rPr lang="en-US" sz="2400" b="0" i="1" smtClean="0">
                        <a:latin typeface="Cambria Math" panose="02040503050406030204" pitchFamily="18" charset="0"/>
                        <a:ea typeface="Cambria Math" panose="02040503050406030204" pitchFamily="18" charset="0"/>
                        <a:cs typeface="Cambria Math" panose="02040503050406030204" pitchFamily="18" charset="0"/>
                      </a:rPr>
                      <m:t>𝐵</m:t>
                    </m:r>
                  </m:oMath>
                </a14:m>
                <a:r>
                  <a:rPr lang="en-US" sz="2400" dirty="0">
                    <a:cs typeface="Times New Roman" panose="02020603050405020304" pitchFamily="18" charset="0"/>
                  </a:rPr>
                  <a:t> is constant over time (i.e., we are at equilibrium) then </a:t>
                </a:r>
                <a14:m>
                  <m:oMath xmlns:m="http://schemas.openxmlformats.org/officeDocument/2006/math">
                    <m:sSub>
                      <m:sSubPr>
                        <m:ctrlPr>
                          <a:rPr lang="en-US" sz="3600" i="1">
                            <a:latin typeface="Cambria Math" panose="02040503050406030204" pitchFamily="18" charset="0"/>
                            <a:ea typeface="Cambria Math" panose="02040503050406030204" pitchFamily="18" charset="0"/>
                            <a:cs typeface="Cambria Math" panose="02040503050406030204" pitchFamily="18" charset="0"/>
                          </a:rPr>
                        </m:ctrlPr>
                      </m:sSubPr>
                      <m:e>
                        <m:sSub>
                          <m:sSubPr>
                            <m:ctrlPr>
                              <a:rPr lang="en-US" sz="2400" i="1">
                                <a:latin typeface="Cambria Math" panose="02040503050406030204" pitchFamily="18" charset="0"/>
                                <a:ea typeface="Cambria Math" panose="02040503050406030204" pitchFamily="18" charset="0"/>
                                <a:cs typeface="Cambria Math" panose="02040503050406030204" pitchFamily="18" charset="0"/>
                              </a:rPr>
                            </m:ctrlPr>
                          </m:sSubPr>
                          <m:e>
                            <m:r>
                              <a:rPr lang="en-US" sz="2400" i="1">
                                <a:latin typeface="Cambria Math" panose="02040503050406030204" pitchFamily="18" charset="0"/>
                                <a:ea typeface="Cambria Math" panose="02040503050406030204" pitchFamily="18" charset="0"/>
                                <a:cs typeface="Cambria Math" panose="02040503050406030204" pitchFamily="18" charset="0"/>
                              </a:rPr>
                              <m:t>𝐶</m:t>
                            </m:r>
                          </m:e>
                          <m:sub>
                            <m:r>
                              <a:rPr lang="en-US" sz="2400" i="1">
                                <a:latin typeface="Cambria Math" panose="02040503050406030204" pitchFamily="18" charset="0"/>
                                <a:ea typeface="Cambria Math" panose="02040503050406030204" pitchFamily="18" charset="0"/>
                                <a:cs typeface="Cambria Math" panose="02040503050406030204" pitchFamily="18" charset="0"/>
                              </a:rPr>
                              <m:t>𝑡</m:t>
                            </m:r>
                          </m:sub>
                        </m:sSub>
                        <m:r>
                          <m:rPr>
                            <m:nor/>
                          </m:rPr>
                          <a:rPr lang="en-US" sz="2400" b="0" i="0" smtClean="0">
                            <a:latin typeface="Cambria Math" panose="02040503050406030204" pitchFamily="18" charset="0"/>
                            <a:ea typeface="Cambria Math" panose="02040503050406030204" pitchFamily="18" charset="0"/>
                            <a:cs typeface="Cambria Math" panose="02040503050406030204" pitchFamily="18" charset="0"/>
                          </a:rPr>
                          <m:t> </m:t>
                        </m:r>
                        <m:r>
                          <m:rPr>
                            <m:nor/>
                          </m:rPr>
                          <a:rPr lang="en-US" sz="2400" i="0" dirty="0">
                            <a:latin typeface="Arial" panose="020B0604020202020204" pitchFamily="34" charset="0"/>
                            <a:cs typeface="Times New Roman" panose="02020603050405020304" pitchFamily="18" charset="0"/>
                          </a:rPr>
                          <m:t>= </m:t>
                        </m:r>
                        <m:r>
                          <a:rPr lang="en-US" sz="2400" b="0" i="1">
                            <a:latin typeface="Cambria Math" panose="02040503050406030204" pitchFamily="18" charset="0"/>
                            <a:ea typeface="Cambria Math" panose="02040503050406030204" pitchFamily="18" charset="0"/>
                            <a:cs typeface="Cambria Math" panose="02040503050406030204" pitchFamily="18" charset="0"/>
                          </a:rPr>
                          <m:t>𝑆𝑃</m:t>
                        </m:r>
                      </m:e>
                      <m:sub>
                        <m:r>
                          <a:rPr lang="en-US" sz="2400" b="0" i="1">
                            <a:latin typeface="Cambria Math" panose="02040503050406030204" pitchFamily="18" charset="0"/>
                            <a:ea typeface="Cambria Math" panose="02040503050406030204" pitchFamily="18" charset="0"/>
                            <a:cs typeface="Cambria Math" panose="02040503050406030204" pitchFamily="18" charset="0"/>
                          </a:rPr>
                          <m:t>𝑡</m:t>
                        </m:r>
                      </m:sub>
                    </m:sSub>
                  </m:oMath>
                </a14:m>
                <a:endParaRPr lang="en-US" dirty="0"/>
              </a:p>
            </p:txBody>
          </p:sp>
        </mc:Choice>
        <mc:Fallback>
          <p:sp>
            <p:nvSpPr>
              <p:cNvPr id="3" name="Content Placeholder 2">
                <a:extLst>
                  <a:ext uri="{FF2B5EF4-FFF2-40B4-BE49-F238E27FC236}">
                    <a16:creationId xmlns:a16="http://schemas.microsoft.com/office/drawing/2014/main" id="{29458C2E-3B88-4EAA-9F99-FC7EA2FD9ED5}"/>
                  </a:ext>
                </a:extLst>
              </p:cNvPr>
              <p:cNvSpPr>
                <a:spLocks noGrp="1" noRot="1" noChangeAspect="1" noMove="1" noResize="1" noEditPoints="1" noAdjustHandles="1" noChangeArrowheads="1" noChangeShapeType="1" noTextEdit="1"/>
              </p:cNvSpPr>
              <p:nvPr>
                <p:ph idx="1"/>
              </p:nvPr>
            </p:nvSpPr>
            <p:spPr>
              <a:xfrm>
                <a:off x="820882" y="1565996"/>
                <a:ext cx="11298382" cy="4947598"/>
              </a:xfrm>
              <a:blipFill>
                <a:blip r:embed="rId2"/>
                <a:stretch>
                  <a:fillRect l="-971" t="-2833"/>
                </a:stretch>
              </a:blipFill>
            </p:spPr>
            <p:txBody>
              <a:bodyPr/>
              <a:lstStyle/>
              <a:p>
                <a:r>
                  <a:rPr lang="en-US">
                    <a:noFill/>
                  </a:rPr>
                  <a:t> </a:t>
                </a:r>
              </a:p>
            </p:txBody>
          </p:sp>
        </mc:Fallback>
      </mc:AlternateContent>
      <p:sp>
        <p:nvSpPr>
          <p:cNvPr id="4" name="Left Brace 3">
            <a:extLst>
              <a:ext uri="{FF2B5EF4-FFF2-40B4-BE49-F238E27FC236}">
                <a16:creationId xmlns:a16="http://schemas.microsoft.com/office/drawing/2014/main" id="{E1E4E841-0F10-4335-B2E1-470C8952C1C8}"/>
              </a:ext>
            </a:extLst>
          </p:cNvPr>
          <p:cNvSpPr/>
          <p:nvPr/>
        </p:nvSpPr>
        <p:spPr>
          <a:xfrm rot="5400000">
            <a:off x="7525528" y="470864"/>
            <a:ext cx="441025" cy="2787464"/>
          </a:xfrm>
          <a:prstGeom prst="leftBrace">
            <a:avLst>
              <a:gd name="adj1" fmla="val 42858"/>
              <a:gd name="adj2" fmla="val 49703"/>
            </a:avLst>
          </a:prstGeom>
          <a:ln w="19050">
            <a:solidFill>
              <a:schemeClr val="accent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E463208-F18A-4FF1-BCB2-42DB371EDD38}"/>
                  </a:ext>
                </a:extLst>
              </p:cNvPr>
              <p:cNvSpPr txBox="1"/>
              <p:nvPr/>
            </p:nvSpPr>
            <p:spPr>
              <a:xfrm>
                <a:off x="7244940" y="1059309"/>
                <a:ext cx="1199627" cy="584775"/>
              </a:xfrm>
              <a:prstGeom prst="rect">
                <a:avLst/>
              </a:prstGeom>
              <a:noFill/>
            </p:spPr>
            <p:txBody>
              <a:bodyPr wrap="square">
                <a:spAutoFit/>
              </a:bodyPr>
              <a:lstStyle/>
              <a:p>
                <a:pPr/>
                <a14:m>
                  <m:oMathPara xmlns:m="http://schemas.openxmlformats.org/officeDocument/2006/math">
                    <m:oMath>
                      <m:sSub>
                        <m:sSubPr>
                          <m:ctrlPr>
                            <a:rPr lang="en-US" sz="3200" b="0" i="1" smtClean="0">
                              <a:solidFill>
                                <a:schemeClr val="accent1">
                                  <a:lumMod val="50000"/>
                                </a:schemeClr>
                              </a:solidFill>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3200" b="0" i="1" smtClean="0">
                              <a:solidFill>
                                <a:schemeClr val="accent1">
                                  <a:lumMod val="50000"/>
                                </a:schemeClr>
                              </a:solidFill>
                              <a:effectLst/>
                              <a:latin typeface="Cambria Math" panose="02040503050406030204" pitchFamily="18" charset="0"/>
                              <a:ea typeface="Cambria Math" panose="02040503050406030204" pitchFamily="18" charset="0"/>
                              <a:cs typeface="Cambria Math" panose="02040503050406030204" pitchFamily="18" charset="0"/>
                            </a:rPr>
                            <m:t>𝑆𝑃</m:t>
                          </m:r>
                        </m:e>
                        <m:sub>
                          <m:r>
                            <a:rPr lang="en-US" sz="3200" i="1">
                              <a:solidFill>
                                <a:schemeClr val="accent1">
                                  <a:lumMod val="50000"/>
                                </a:schemeClr>
                              </a:solidFill>
                              <a:effectLst/>
                              <a:latin typeface="Cambria Math" panose="02040503050406030204" pitchFamily="18" charset="0"/>
                              <a:ea typeface="Cambria Math" panose="02040503050406030204" pitchFamily="18" charset="0"/>
                              <a:cs typeface="Cambria Math" panose="02040503050406030204" pitchFamily="18" charset="0"/>
                            </a:rPr>
                            <m:t>𝑡</m:t>
                          </m:r>
                        </m:sub>
                      </m:sSub>
                    </m:oMath>
                  </m:oMathPara>
                </a14:m>
                <a:endParaRPr lang="en-US" sz="3200" dirty="0">
                  <a:solidFill>
                    <a:schemeClr val="accent1">
                      <a:lumMod val="50000"/>
                    </a:schemeClr>
                  </a:solidFill>
                </a:endParaRPr>
              </a:p>
            </p:txBody>
          </p:sp>
        </mc:Choice>
        <mc:Fallback xmlns="">
          <p:sp>
            <p:nvSpPr>
              <p:cNvPr id="10" name="TextBox 9">
                <a:extLst>
                  <a:ext uri="{FF2B5EF4-FFF2-40B4-BE49-F238E27FC236}">
                    <a16:creationId xmlns:a16="http://schemas.microsoft.com/office/drawing/2014/main" id="{8E463208-F18A-4FF1-BCB2-42DB371EDD38}"/>
                  </a:ext>
                </a:extLst>
              </p:cNvPr>
              <p:cNvSpPr txBox="1">
                <a:spLocks noRot="1" noChangeAspect="1" noMove="1" noResize="1" noEditPoints="1" noAdjustHandles="1" noChangeArrowheads="1" noChangeShapeType="1" noTextEdit="1"/>
              </p:cNvSpPr>
              <p:nvPr/>
            </p:nvSpPr>
            <p:spPr>
              <a:xfrm>
                <a:off x="7244940" y="1059309"/>
                <a:ext cx="1199627" cy="584775"/>
              </a:xfrm>
              <a:prstGeom prst="rect">
                <a:avLst/>
              </a:prstGeom>
              <a:blipFill>
                <a:blip r:embed="rId3"/>
                <a:stretch>
                  <a:fillRect/>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EEDFA2F9-C25F-4A63-B46B-7B5C200A39D1}" type="slidenum">
              <a:rPr lang="en-CA" smtClean="0"/>
              <a:t>28</a:t>
            </a:fld>
            <a:endParaRPr lang="en-CA"/>
          </a:p>
        </p:txBody>
      </p:sp>
    </p:spTree>
    <p:extLst>
      <p:ext uri="{BB962C8B-B14F-4D97-AF65-F5344CB8AC3E}">
        <p14:creationId xmlns:p14="http://schemas.microsoft.com/office/powerpoint/2010/main" val="3900338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20467-7722-42B0-8B7E-F61DF5F69746}"/>
              </a:ext>
            </a:extLst>
          </p:cNvPr>
          <p:cNvSpPr>
            <a:spLocks noGrp="1"/>
          </p:cNvSpPr>
          <p:nvPr>
            <p:ph type="title"/>
          </p:nvPr>
        </p:nvSpPr>
        <p:spPr/>
        <p:txBody>
          <a:bodyPr/>
          <a:lstStyle/>
          <a:p>
            <a:r>
              <a:rPr lang="en-US" dirty="0"/>
              <a:t>MSY Theory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7FD856F-919C-479E-9FDD-4DE1FCFE4CB7}"/>
                  </a:ext>
                </a:extLst>
              </p:cNvPr>
              <p:cNvSpPr>
                <a:spLocks noGrp="1"/>
              </p:cNvSpPr>
              <p:nvPr>
                <p:ph idx="1"/>
              </p:nvPr>
            </p:nvSpPr>
            <p:spPr>
              <a:xfrm>
                <a:off x="785246" y="1652515"/>
                <a:ext cx="10644753" cy="4351338"/>
              </a:xfrm>
            </p:spPr>
            <p:txBody>
              <a:bodyPr/>
              <a:lstStyle/>
              <a:p>
                <a:r>
                  <a:rPr lang="en-US" dirty="0"/>
                  <a:t>Theory: with increasing long-term harvest rate (</a:t>
                </a:r>
                <a14:m>
                  <m:oMath xmlns:m="http://schemas.openxmlformats.org/officeDocument/2006/math">
                    <m:r>
                      <a:rPr lang="en-US" b="0" i="1" dirty="0" smtClean="0">
                        <a:latin typeface="Cambria Math" panose="02040503050406030204" pitchFamily="18" charset="0"/>
                      </a:rPr>
                      <m:t>𝑢</m:t>
                    </m:r>
                    <m:r>
                      <a:rPr lang="en-US" b="0" i="1" dirty="0" smtClean="0">
                        <a:latin typeface="Cambria Math" panose="02040503050406030204" pitchFamily="18" charset="0"/>
                      </a:rPr>
                      <m:t>)</m:t>
                    </m:r>
                  </m:oMath>
                </a14:m>
                <a:r>
                  <a:rPr lang="en-US" dirty="0"/>
                  <a:t>, the abundance and mean age of a population decreases and the per-capita growth rate of the population increases as a result of reduced competition (or similar effects) as the biomass reduces from carrying capacity </a:t>
                </a:r>
                <a14:m>
                  <m:oMath xmlns:m="http://schemas.openxmlformats.org/officeDocument/2006/math">
                    <m:r>
                      <a:rPr lang="en-US" i="1" dirty="0" smtClean="0">
                        <a:latin typeface="Cambria Math" panose="02040503050406030204" pitchFamily="18" charset="0"/>
                      </a:rPr>
                      <m:t>𝐾</m:t>
                    </m:r>
                  </m:oMath>
                </a14:m>
                <a:r>
                  <a:rPr lang="en-US" dirty="0"/>
                  <a:t> to </a:t>
                </a:r>
                <a14:m>
                  <m:oMath xmlns:m="http://schemas.openxmlformats.org/officeDocument/2006/math">
                    <m:r>
                      <a:rPr lang="en-US" i="1" dirty="0" smtClean="0">
                        <a:latin typeface="Cambria Math" panose="02040503050406030204" pitchFamily="18" charset="0"/>
                      </a:rPr>
                      <m:t>𝐵</m:t>
                    </m:r>
                  </m:oMath>
                </a14:m>
                <a:r>
                  <a:rPr lang="en-US" baseline="-25000" dirty="0"/>
                  <a:t>MSY </a:t>
                </a:r>
              </a:p>
              <a:p>
                <a:endParaRPr lang="en-US" dirty="0"/>
              </a:p>
            </p:txBody>
          </p:sp>
        </mc:Choice>
        <mc:Fallback>
          <p:sp>
            <p:nvSpPr>
              <p:cNvPr id="3" name="Content Placeholder 2">
                <a:extLst>
                  <a:ext uri="{FF2B5EF4-FFF2-40B4-BE49-F238E27FC236}">
                    <a16:creationId xmlns:a16="http://schemas.microsoft.com/office/drawing/2014/main" id="{17FD856F-919C-479E-9FDD-4DE1FCFE4CB7}"/>
                  </a:ext>
                </a:extLst>
              </p:cNvPr>
              <p:cNvSpPr>
                <a:spLocks noGrp="1" noRot="1" noChangeAspect="1" noMove="1" noResize="1" noEditPoints="1" noAdjustHandles="1" noChangeArrowheads="1" noChangeShapeType="1" noTextEdit="1"/>
              </p:cNvSpPr>
              <p:nvPr>
                <p:ph idx="1"/>
              </p:nvPr>
            </p:nvSpPr>
            <p:spPr>
              <a:xfrm>
                <a:off x="785246" y="1652515"/>
                <a:ext cx="10644753" cy="4351338"/>
              </a:xfrm>
              <a:blipFill>
                <a:blip r:embed="rId2"/>
                <a:stretch>
                  <a:fillRect l="-1031" t="-2241" r="-1604"/>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5BC9B770-E1D0-4994-B055-C695F699CF2F}"/>
              </a:ext>
            </a:extLst>
          </p:cNvPr>
          <p:cNvPicPr>
            <a:picLocks noChangeAspect="1"/>
          </p:cNvPicPr>
          <p:nvPr/>
        </p:nvPicPr>
        <p:blipFill>
          <a:blip r:embed="rId3"/>
          <a:stretch>
            <a:fillRect/>
          </a:stretch>
        </p:blipFill>
        <p:spPr>
          <a:xfrm>
            <a:off x="838199" y="3775948"/>
            <a:ext cx="4541267" cy="2860701"/>
          </a:xfrm>
          <a:prstGeom prst="rect">
            <a:avLst/>
          </a:prstGeom>
        </p:spPr>
      </p:pic>
      <p:sp>
        <p:nvSpPr>
          <p:cNvPr id="6" name="TextBox 5">
            <a:extLst>
              <a:ext uri="{FF2B5EF4-FFF2-40B4-BE49-F238E27FC236}">
                <a16:creationId xmlns:a16="http://schemas.microsoft.com/office/drawing/2014/main" id="{05EB9193-4E78-477F-953D-2AEF37737F72}"/>
              </a:ext>
            </a:extLst>
          </p:cNvPr>
          <p:cNvSpPr txBox="1"/>
          <p:nvPr/>
        </p:nvSpPr>
        <p:spPr>
          <a:xfrm>
            <a:off x="3887821" y="4078244"/>
            <a:ext cx="2155226" cy="1015663"/>
          </a:xfrm>
          <a:prstGeom prst="rect">
            <a:avLst/>
          </a:prstGeom>
          <a:noFill/>
        </p:spPr>
        <p:txBody>
          <a:bodyPr wrap="square" rtlCol="0">
            <a:spAutoFit/>
          </a:bodyPr>
          <a:lstStyle/>
          <a:p>
            <a:r>
              <a:rPr lang="en-US" sz="2000" dirty="0">
                <a:solidFill>
                  <a:srgbClr val="C00000"/>
                </a:solidFill>
              </a:rPr>
              <a:t>Maximum population </a:t>
            </a:r>
          </a:p>
          <a:p>
            <a:r>
              <a:rPr lang="en-US" sz="2000" dirty="0">
                <a:solidFill>
                  <a:srgbClr val="C00000"/>
                </a:solidFill>
              </a:rPr>
              <a:t>growth rate</a:t>
            </a:r>
            <a:endParaRPr lang="en-CA" sz="2000" dirty="0">
              <a:solidFill>
                <a:srgbClr val="C00000"/>
              </a:solidFill>
            </a:endParaRPr>
          </a:p>
        </p:txBody>
      </p:sp>
      <p:cxnSp>
        <p:nvCxnSpPr>
          <p:cNvPr id="7" name="Straight Arrow Connector 6">
            <a:extLst>
              <a:ext uri="{FF2B5EF4-FFF2-40B4-BE49-F238E27FC236}">
                <a16:creationId xmlns:a16="http://schemas.microsoft.com/office/drawing/2014/main" id="{FBAB630E-5C5C-4D18-8155-C7C4BA26F88D}"/>
              </a:ext>
            </a:extLst>
          </p:cNvPr>
          <p:cNvCxnSpPr>
            <a:cxnSpLocks/>
          </p:cNvCxnSpPr>
          <p:nvPr/>
        </p:nvCxnSpPr>
        <p:spPr>
          <a:xfrm flipH="1">
            <a:off x="2840908" y="4619331"/>
            <a:ext cx="1046467" cy="48586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3BFA8CF-E5A0-4846-98B9-07C940F31B66}"/>
                  </a:ext>
                </a:extLst>
              </p:cNvPr>
              <p:cNvSpPr txBox="1"/>
              <p:nvPr/>
            </p:nvSpPr>
            <p:spPr>
              <a:xfrm>
                <a:off x="1562739" y="3384734"/>
                <a:ext cx="3423990" cy="461665"/>
              </a:xfrm>
              <a:prstGeom prst="rect">
                <a:avLst/>
              </a:prstGeom>
              <a:noFill/>
            </p:spPr>
            <p:txBody>
              <a:bodyPr wrap="square" rtlCol="0">
                <a:spAutoFit/>
              </a:bodyPr>
              <a:lstStyle/>
              <a:p>
                <a:r>
                  <a:rPr lang="en-US" sz="2400" dirty="0">
                    <a:solidFill>
                      <a:srgbClr val="7030A0"/>
                    </a:solidFill>
                  </a:rPr>
                  <a:t>Carrying capacity </a:t>
                </a:r>
                <a14:m>
                  <m:oMath xmlns:m="http://schemas.openxmlformats.org/officeDocument/2006/math">
                    <m:r>
                      <a:rPr lang="en-US" sz="2400" i="1" dirty="0" smtClean="0">
                        <a:solidFill>
                          <a:srgbClr val="7030A0"/>
                        </a:solidFill>
                        <a:latin typeface="Cambria Math" panose="02040503050406030204" pitchFamily="18" charset="0"/>
                      </a:rPr>
                      <m:t>𝐾</m:t>
                    </m:r>
                  </m:oMath>
                </a14:m>
                <a:endParaRPr lang="en-CA" sz="2400" dirty="0">
                  <a:solidFill>
                    <a:srgbClr val="7030A0"/>
                  </a:solidFill>
                </a:endParaRPr>
              </a:p>
            </p:txBody>
          </p:sp>
        </mc:Choice>
        <mc:Fallback xmlns="">
          <p:sp>
            <p:nvSpPr>
              <p:cNvPr id="8" name="TextBox 7">
                <a:extLst>
                  <a:ext uri="{FF2B5EF4-FFF2-40B4-BE49-F238E27FC236}">
                    <a16:creationId xmlns:a16="http://schemas.microsoft.com/office/drawing/2014/main" id="{D3BFA8CF-E5A0-4846-98B9-07C940F31B66}"/>
                  </a:ext>
                </a:extLst>
              </p:cNvPr>
              <p:cNvSpPr txBox="1">
                <a:spLocks noRot="1" noChangeAspect="1" noMove="1" noResize="1" noEditPoints="1" noAdjustHandles="1" noChangeArrowheads="1" noChangeShapeType="1" noTextEdit="1"/>
              </p:cNvSpPr>
              <p:nvPr/>
            </p:nvSpPr>
            <p:spPr>
              <a:xfrm>
                <a:off x="1562739" y="3384734"/>
                <a:ext cx="3423990" cy="461665"/>
              </a:xfrm>
              <a:prstGeom prst="rect">
                <a:avLst/>
              </a:prstGeom>
              <a:blipFill>
                <a:blip r:embed="rId4"/>
                <a:stretch>
                  <a:fillRect l="-2669" t="-10526" b="-28947"/>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42A78E9F-4399-4EC4-A91F-437C863131A7}"/>
              </a:ext>
            </a:extLst>
          </p:cNvPr>
          <p:cNvSpPr txBox="1"/>
          <p:nvPr/>
        </p:nvSpPr>
        <p:spPr>
          <a:xfrm>
            <a:off x="1226002" y="4678409"/>
            <a:ext cx="1081822" cy="461665"/>
          </a:xfrm>
          <a:prstGeom prst="rect">
            <a:avLst/>
          </a:prstGeom>
          <a:noFill/>
        </p:spPr>
        <p:txBody>
          <a:bodyPr wrap="square" rtlCol="0">
            <a:spAutoFit/>
          </a:bodyPr>
          <a:lstStyle/>
          <a:p>
            <a:r>
              <a:rPr lang="en-US" sz="2400" i="1" dirty="0">
                <a:solidFill>
                  <a:srgbClr val="0000FF"/>
                </a:solidFill>
              </a:rPr>
              <a:t>B</a:t>
            </a:r>
            <a:r>
              <a:rPr lang="en-US" sz="2400" baseline="-25000" dirty="0">
                <a:solidFill>
                  <a:srgbClr val="0000FF"/>
                </a:solidFill>
              </a:rPr>
              <a:t>MSY</a:t>
            </a:r>
            <a:endParaRPr lang="en-CA" sz="2400" baseline="-25000" dirty="0">
              <a:solidFill>
                <a:srgbClr val="0000FF"/>
              </a:solidFill>
            </a:endParaRPr>
          </a:p>
        </p:txBody>
      </p:sp>
      <p:sp>
        <p:nvSpPr>
          <p:cNvPr id="11" name="TextBox 10">
            <a:extLst>
              <a:ext uri="{FF2B5EF4-FFF2-40B4-BE49-F238E27FC236}">
                <a16:creationId xmlns:a16="http://schemas.microsoft.com/office/drawing/2014/main" id="{D691C356-E97D-4BE1-B51A-AE1C96D34334}"/>
              </a:ext>
            </a:extLst>
          </p:cNvPr>
          <p:cNvSpPr txBox="1"/>
          <p:nvPr/>
        </p:nvSpPr>
        <p:spPr>
          <a:xfrm>
            <a:off x="6043047" y="3612989"/>
            <a:ext cx="5959736" cy="2677656"/>
          </a:xfrm>
          <a:prstGeom prst="rect">
            <a:avLst/>
          </a:prstGeom>
          <a:noFill/>
          <a:ln>
            <a:solidFill>
              <a:schemeClr val="tx2"/>
            </a:solidFill>
          </a:ln>
        </p:spPr>
        <p:txBody>
          <a:bodyPr wrap="square" rtlCol="0">
            <a:spAutoFit/>
          </a:bodyPr>
          <a:lstStyle/>
          <a:p>
            <a:r>
              <a:rPr lang="en-US" sz="2400" dirty="0">
                <a:solidFill>
                  <a:schemeClr val="tx2"/>
                </a:solidFill>
              </a:rPr>
              <a:t>Theory: </a:t>
            </a:r>
          </a:p>
          <a:p>
            <a:pPr marL="285750" indent="-285750">
              <a:buFont typeface="Arial" panose="020B0604020202020204" pitchFamily="34" charset="0"/>
              <a:buChar char="•"/>
            </a:pPr>
            <a:r>
              <a:rPr lang="en-US" dirty="0">
                <a:solidFill>
                  <a:schemeClr val="tx2"/>
                </a:solidFill>
              </a:rPr>
              <a:t>The population growth rate is zero at carrying capacity</a:t>
            </a:r>
          </a:p>
          <a:p>
            <a:pPr marL="285750" indent="-285750">
              <a:buFont typeface="Arial" panose="020B0604020202020204" pitchFamily="34" charset="0"/>
              <a:buChar char="•"/>
            </a:pPr>
            <a:r>
              <a:rPr lang="en-US" dirty="0">
                <a:solidFill>
                  <a:schemeClr val="tx2"/>
                </a:solidFill>
              </a:rPr>
              <a:t>As population size is reduced below carry capacity, the population growth rate increases (due to increased available resources, decreased competition)</a:t>
            </a:r>
          </a:p>
          <a:p>
            <a:pPr marL="285750" indent="-285750">
              <a:buFont typeface="Arial" panose="020B0604020202020204" pitchFamily="34" charset="0"/>
              <a:buChar char="•"/>
            </a:pPr>
            <a:r>
              <a:rPr lang="en-US" dirty="0">
                <a:solidFill>
                  <a:schemeClr val="tx2"/>
                </a:solidFill>
              </a:rPr>
              <a:t>Maximum population growth rate occurs at an intermediate population size</a:t>
            </a:r>
          </a:p>
          <a:p>
            <a:pPr marL="285750" indent="-285750">
              <a:buFont typeface="Arial" panose="020B0604020202020204" pitchFamily="34" charset="0"/>
              <a:buChar char="•"/>
            </a:pPr>
            <a:r>
              <a:rPr lang="en-US" dirty="0">
                <a:solidFill>
                  <a:schemeClr val="tx2"/>
                </a:solidFill>
              </a:rPr>
              <a:t>The population “growth” could be harvested as surplus production</a:t>
            </a:r>
            <a:endParaRPr lang="en-CA" dirty="0">
              <a:solidFill>
                <a:schemeClr val="tx2"/>
              </a:solidFill>
            </a:endParaRPr>
          </a:p>
        </p:txBody>
      </p:sp>
      <p:sp>
        <p:nvSpPr>
          <p:cNvPr id="10" name="TextBox 9"/>
          <p:cNvSpPr txBox="1"/>
          <p:nvPr/>
        </p:nvSpPr>
        <p:spPr>
          <a:xfrm rot="16200000">
            <a:off x="169741" y="4600916"/>
            <a:ext cx="1336917" cy="461665"/>
          </a:xfrm>
          <a:prstGeom prst="rect">
            <a:avLst/>
          </a:prstGeom>
          <a:solidFill>
            <a:schemeClr val="bg1"/>
          </a:solidFill>
        </p:spPr>
        <p:txBody>
          <a:bodyPr wrap="square" rtlCol="0">
            <a:spAutoFit/>
          </a:bodyPr>
          <a:lstStyle/>
          <a:p>
            <a:r>
              <a:rPr lang="en-US" sz="2400" dirty="0"/>
              <a:t>Biomass</a:t>
            </a:r>
          </a:p>
        </p:txBody>
      </p:sp>
      <p:sp>
        <p:nvSpPr>
          <p:cNvPr id="12" name="TextBox 11"/>
          <p:cNvSpPr txBox="1"/>
          <p:nvPr/>
        </p:nvSpPr>
        <p:spPr>
          <a:xfrm>
            <a:off x="2113861" y="6452589"/>
            <a:ext cx="2146771" cy="461665"/>
          </a:xfrm>
          <a:prstGeom prst="rect">
            <a:avLst/>
          </a:prstGeom>
          <a:solidFill>
            <a:schemeClr val="bg1"/>
          </a:solidFill>
        </p:spPr>
        <p:txBody>
          <a:bodyPr wrap="square" rtlCol="0">
            <a:spAutoFit/>
          </a:bodyPr>
          <a:lstStyle/>
          <a:p>
            <a:pPr algn="ctr"/>
            <a:r>
              <a:rPr lang="en-US" sz="2400" dirty="0"/>
              <a:t>Time</a:t>
            </a:r>
            <a:endParaRPr lang="en-US" sz="2400" i="1" dirty="0"/>
          </a:p>
        </p:txBody>
      </p:sp>
      <p:sp>
        <p:nvSpPr>
          <p:cNvPr id="4" name="Slide Number Placeholder 3"/>
          <p:cNvSpPr>
            <a:spLocks noGrp="1"/>
          </p:cNvSpPr>
          <p:nvPr>
            <p:ph type="sldNum" sz="quarter" idx="12"/>
          </p:nvPr>
        </p:nvSpPr>
        <p:spPr/>
        <p:txBody>
          <a:bodyPr/>
          <a:lstStyle/>
          <a:p>
            <a:fld id="{EEDFA2F9-C25F-4A63-B46B-7B5C200A39D1}" type="slidenum">
              <a:rPr lang="en-CA" smtClean="0"/>
              <a:t>29</a:t>
            </a:fld>
            <a:endParaRPr lang="en-CA"/>
          </a:p>
        </p:txBody>
      </p:sp>
    </p:spTree>
    <p:extLst>
      <p:ext uri="{BB962C8B-B14F-4D97-AF65-F5344CB8AC3E}">
        <p14:creationId xmlns:p14="http://schemas.microsoft.com/office/powerpoint/2010/main" val="143329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CBB4-66B3-4A2C-9159-CCE70C52D843}"/>
              </a:ext>
            </a:extLst>
          </p:cNvPr>
          <p:cNvSpPr>
            <a:spLocks noGrp="1"/>
          </p:cNvSpPr>
          <p:nvPr>
            <p:ph type="title"/>
          </p:nvPr>
        </p:nvSpPr>
        <p:spPr>
          <a:xfrm>
            <a:off x="838200" y="365126"/>
            <a:ext cx="10515600" cy="1182660"/>
          </a:xfrm>
        </p:spPr>
        <p:txBody>
          <a:bodyPr>
            <a:normAutofit/>
          </a:bodyPr>
          <a:lstStyle/>
          <a:p>
            <a:r>
              <a:rPr lang="en-US" dirty="0"/>
              <a:t>Surplus Production Curve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458C2E-3B88-4EAA-9F99-FC7EA2FD9ED5}"/>
                  </a:ext>
                </a:extLst>
              </p:cNvPr>
              <p:cNvSpPr>
                <a:spLocks noGrp="1"/>
              </p:cNvSpPr>
              <p:nvPr>
                <p:ph idx="1"/>
              </p:nvPr>
            </p:nvSpPr>
            <p:spPr>
              <a:xfrm>
                <a:off x="408709" y="1547786"/>
                <a:ext cx="11468305" cy="5033377"/>
              </a:xfrm>
            </p:spPr>
            <p:txBody>
              <a:bodyPr>
                <a:normAutofit/>
              </a:bodyPr>
              <a:lstStyle/>
              <a:p>
                <a:pPr marL="0" indent="0">
                  <a:buNone/>
                  <a:tabLst>
                    <a:tab pos="2244725" algn="l"/>
                  </a:tabLst>
                </a:pPr>
                <a:r>
                  <a:rPr lang="en-US" sz="4000" dirty="0">
                    <a:effectLst/>
                    <a:ea typeface="Cambria Math" panose="02040503050406030204" pitchFamily="18" charset="0"/>
                    <a:cs typeface="Cambria Math" panose="02040503050406030204" pitchFamily="18" charset="0"/>
                  </a:rPr>
                  <a:t> 	</a:t>
                </a:r>
                <a14:m>
                  <m:oMath xmlns:m="http://schemas.openxmlformats.org/officeDocument/2006/math">
                    <m:sSub>
                      <m:sSubPr>
                        <m:ctrlPr>
                          <a:rPr lang="en-US" b="0" i="1" smtClean="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b="0" i="1" smtClean="0">
                            <a:effectLst/>
                            <a:latin typeface="Cambria Math" panose="02040503050406030204" pitchFamily="18" charset="0"/>
                            <a:ea typeface="Cambria Math" panose="02040503050406030204" pitchFamily="18" charset="0"/>
                            <a:cs typeface="Cambria Math" panose="02040503050406030204" pitchFamily="18" charset="0"/>
                          </a:rPr>
                          <m:t>𝑆𝑃</m:t>
                        </m:r>
                      </m:e>
                      <m:sub>
                        <m:r>
                          <a:rPr lang="en-US" i="1">
                            <a:effectLst/>
                            <a:latin typeface="Cambria Math" panose="02040503050406030204" pitchFamily="18" charset="0"/>
                            <a:ea typeface="Cambria Math" panose="02040503050406030204" pitchFamily="18" charset="0"/>
                            <a:cs typeface="Cambria Math" panose="02040503050406030204" pitchFamily="18" charset="0"/>
                          </a:rPr>
                          <m:t>𝑡</m:t>
                        </m:r>
                      </m:sub>
                    </m:sSub>
                    <m:r>
                      <a:rPr lang="en-US"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n-US" i="1" smtClean="0">
                        <a:solidFill>
                          <a:srgbClr val="7030A0"/>
                        </a:solidFill>
                        <a:effectLst/>
                        <a:latin typeface="Cambria Math" panose="02040503050406030204" pitchFamily="18" charset="0"/>
                        <a:ea typeface="Cambria Math" panose="02040503050406030204" pitchFamily="18" charset="0"/>
                        <a:cs typeface="Cambria Math" panose="02040503050406030204" pitchFamily="18" charset="0"/>
                      </a:rPr>
                      <m:t>𝑟</m:t>
                    </m:r>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i="1">
                            <a:effectLst/>
                            <a:latin typeface="Cambria Math" panose="02040503050406030204" pitchFamily="18" charset="0"/>
                            <a:ea typeface="Cambria Math" panose="02040503050406030204" pitchFamily="18" charset="0"/>
                            <a:cs typeface="Cambria Math" panose="02040503050406030204" pitchFamily="18" charset="0"/>
                          </a:rPr>
                          <m:t>𝑡</m:t>
                        </m:r>
                      </m:sub>
                    </m:sSub>
                    <m:d>
                      <m:d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dPr>
                      <m:e>
                        <m:r>
                          <a:rPr lang="en-US" i="1">
                            <a:effectLst/>
                            <a:latin typeface="Cambria Math" panose="02040503050406030204" pitchFamily="18" charset="0"/>
                            <a:ea typeface="Cambria Math" panose="02040503050406030204" pitchFamily="18" charset="0"/>
                            <a:cs typeface="Cambria Math" panose="02040503050406030204" pitchFamily="18" charset="0"/>
                          </a:rPr>
                          <m:t>1−</m:t>
                        </m:r>
                        <m:f>
                          <m:f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fPr>
                          <m:num>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i="1">
                                    <a:effectLst/>
                                    <a:latin typeface="Cambria Math" panose="02040503050406030204" pitchFamily="18" charset="0"/>
                                    <a:ea typeface="Cambria Math" panose="02040503050406030204" pitchFamily="18" charset="0"/>
                                    <a:cs typeface="Cambria Math" panose="02040503050406030204" pitchFamily="18" charset="0"/>
                                  </a:rPr>
                                  <m:t>𝑡</m:t>
                                </m:r>
                              </m:sub>
                            </m:sSub>
                          </m:num>
                          <m:den>
                            <m:r>
                              <a:rPr lang="en-US" i="1" smtClean="0">
                                <a:solidFill>
                                  <a:srgbClr val="C00000"/>
                                </a:solidFill>
                                <a:effectLst/>
                                <a:latin typeface="Cambria Math" panose="02040503050406030204" pitchFamily="18" charset="0"/>
                                <a:ea typeface="Cambria Math" panose="02040503050406030204" pitchFamily="18" charset="0"/>
                                <a:cs typeface="Cambria Math" panose="02040503050406030204" pitchFamily="18" charset="0"/>
                              </a:rPr>
                              <m:t>𝐾</m:t>
                            </m:r>
                          </m:den>
                        </m:f>
                      </m:e>
                    </m:d>
                  </m:oMath>
                </a14:m>
                <a:endParaRPr lang="en-US" sz="3600" dirty="0">
                  <a:effectLst/>
                  <a:ea typeface="Times New Roman" panose="02020603050405020304" pitchFamily="18" charset="0"/>
                  <a:cs typeface="Times New Roman" panose="02020603050405020304" pitchFamily="18" charset="0"/>
                </a:endParaRPr>
              </a:p>
              <a:p>
                <a:pPr>
                  <a:spcBef>
                    <a:spcPts val="3600"/>
                  </a:spcBef>
                </a:pPr>
                <a:r>
                  <a:rPr lang="en-US" dirty="0"/>
                  <a:t>We can see that </a:t>
                </a:r>
                <a14:m>
                  <m:oMath xmlns:m="http://schemas.openxmlformats.org/officeDocument/2006/math">
                    <m:sSub>
                      <m:sSubPr>
                        <m:ctrlPr>
                          <a:rPr lang="en-US">
                            <a:latin typeface="Cambria Math" panose="02040503050406030204" pitchFamily="18" charset="0"/>
                          </a:rPr>
                        </m:ctrlPr>
                      </m:sSubPr>
                      <m:e>
                        <m:r>
                          <a:rPr lang="en-US">
                            <a:latin typeface="Cambria Math" panose="02040503050406030204" pitchFamily="18" charset="0"/>
                          </a:rPr>
                          <m:t>𝑆𝑃</m:t>
                        </m:r>
                      </m:e>
                      <m:sub>
                        <m:r>
                          <a:rPr lang="en-US">
                            <a:latin typeface="Cambria Math" panose="02040503050406030204" pitchFamily="18" charset="0"/>
                          </a:rPr>
                          <m:t>𝑡</m:t>
                        </m:r>
                      </m:sub>
                    </m:sSub>
                  </m:oMath>
                </a14:m>
                <a:r>
                  <a:rPr lang="en-US" dirty="0"/>
                  <a:t> is a quadratic function of </a:t>
                </a:r>
                <a14:m>
                  <m:oMath xmlns:m="http://schemas.openxmlformats.org/officeDocument/2006/math">
                    <m:sSub>
                      <m:sSubPr>
                        <m:ctrlPr>
                          <a:rPr lang="en-US">
                            <a:latin typeface="Cambria Math" panose="02040503050406030204" pitchFamily="18" charset="0"/>
                          </a:rPr>
                        </m:ctrlPr>
                      </m:sSubPr>
                      <m:e>
                        <m:r>
                          <a:rPr lang="en-US">
                            <a:latin typeface="Cambria Math" panose="02040503050406030204" pitchFamily="18" charset="0"/>
                          </a:rPr>
                          <m:t>𝐵</m:t>
                        </m:r>
                      </m:e>
                      <m:sub>
                        <m:r>
                          <a:rPr lang="en-US">
                            <a:latin typeface="Cambria Math" panose="02040503050406030204" pitchFamily="18" charset="0"/>
                          </a:rPr>
                          <m:t>𝑡</m:t>
                        </m:r>
                      </m:sub>
                    </m:sSub>
                  </m:oMath>
                </a14:m>
                <a:endParaRPr lang="en-US" dirty="0"/>
              </a:p>
              <a:p>
                <a:r>
                  <a:rPr lang="en-US" dirty="0"/>
                  <a:t>Observation:</a:t>
                </a:r>
              </a:p>
              <a:p>
                <a:pPr lvl="1"/>
                <a:r>
                  <a:rPr lang="en-US" dirty="0"/>
                  <a:t>There is a single maximum value of </a:t>
                </a:r>
                <a14:m>
                  <m:oMath xmlns:m="http://schemas.openxmlformats.org/officeDocument/2006/math">
                    <m:r>
                      <a:rPr lang="en-US" i="1" dirty="0" smtClean="0">
                        <a:latin typeface="Cambria Math" panose="02040503050406030204" pitchFamily="18" charset="0"/>
                      </a:rPr>
                      <m:t>𝑆𝑃</m:t>
                    </m:r>
                  </m:oMath>
                </a14:m>
                <a:r>
                  <a:rPr lang="en-US" dirty="0"/>
                  <a:t> (MSY) that </a:t>
                </a:r>
              </a:p>
              <a:p>
                <a:pPr marL="457200" lvl="1" indent="0">
                  <a:buNone/>
                </a:pPr>
                <a:r>
                  <a:rPr lang="en-US" dirty="0"/>
                  <a:t>occurs at an intermediate level of biomass</a:t>
                </a:r>
              </a:p>
              <a:p>
                <a:pPr lvl="1"/>
                <a:endParaRPr lang="en-US" dirty="0"/>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29458C2E-3B88-4EAA-9F99-FC7EA2FD9ED5}"/>
                  </a:ext>
                </a:extLst>
              </p:cNvPr>
              <p:cNvSpPr>
                <a:spLocks noGrp="1" noRot="1" noChangeAspect="1" noMove="1" noResize="1" noEditPoints="1" noAdjustHandles="1" noChangeArrowheads="1" noChangeShapeType="1" noTextEdit="1"/>
              </p:cNvSpPr>
              <p:nvPr>
                <p:ph idx="1"/>
              </p:nvPr>
            </p:nvSpPr>
            <p:spPr>
              <a:xfrm>
                <a:off x="408709" y="1547786"/>
                <a:ext cx="11468305" cy="5033377"/>
              </a:xfrm>
              <a:blipFill>
                <a:blip r:embed="rId2"/>
                <a:stretch>
                  <a:fillRect l="-957"/>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6A1B7CE7-CFA0-4F48-AC0F-3B82EBAED1C0}"/>
              </a:ext>
            </a:extLst>
          </p:cNvPr>
          <p:cNvPicPr>
            <a:picLocks noChangeAspect="1"/>
          </p:cNvPicPr>
          <p:nvPr/>
        </p:nvPicPr>
        <p:blipFill>
          <a:blip r:embed="rId3"/>
          <a:stretch>
            <a:fillRect/>
          </a:stretch>
        </p:blipFill>
        <p:spPr>
          <a:xfrm>
            <a:off x="8346744" y="3367854"/>
            <a:ext cx="3613192" cy="3108866"/>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AADE7E2-BC72-4C29-B220-DE4AD000FE03}"/>
                  </a:ext>
                </a:extLst>
              </p:cNvPr>
              <p:cNvSpPr txBox="1"/>
              <p:nvPr/>
            </p:nvSpPr>
            <p:spPr>
              <a:xfrm>
                <a:off x="6891810" y="1458248"/>
                <a:ext cx="3149065" cy="954107"/>
              </a:xfrm>
              <a:prstGeom prst="rect">
                <a:avLst/>
              </a:prstGeom>
              <a:noFill/>
            </p:spPr>
            <p:txBody>
              <a:bodyPr wrap="square" rtlCol="0">
                <a:spAutoFit/>
              </a:bodyPr>
              <a:lstStyle/>
              <a:p>
                <a:pPr/>
                <a14:m>
                  <m:oMathPara xmlns:m="http://schemas.openxmlformats.org/officeDocument/2006/math">
                    <m:oMath>
                      <m:sSub>
                        <m:sSubPr>
                          <m:ctrlPr>
                            <a:rPr lang="en-US" sz="2800" b="0" i="1" smtClean="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2800" b="0" i="1" smtClean="0">
                              <a:effectLst/>
                              <a:latin typeface="Cambria Math" panose="02040503050406030204" pitchFamily="18" charset="0"/>
                              <a:ea typeface="Cambria Math" panose="02040503050406030204" pitchFamily="18" charset="0"/>
                              <a:cs typeface="Cambria Math" panose="02040503050406030204" pitchFamily="18" charset="0"/>
                            </a:rPr>
                            <m:t>𝑆𝑃</m:t>
                          </m:r>
                        </m:e>
                        <m:sub>
                          <m:r>
                            <a:rPr lang="en-US" sz="2800" i="1">
                              <a:effectLst/>
                              <a:latin typeface="Cambria Math" panose="02040503050406030204" pitchFamily="18" charset="0"/>
                              <a:ea typeface="Cambria Math" panose="02040503050406030204" pitchFamily="18" charset="0"/>
                              <a:cs typeface="Cambria Math" panose="02040503050406030204" pitchFamily="18" charset="0"/>
                            </a:rPr>
                            <m:t>𝑡</m:t>
                          </m:r>
                        </m:sub>
                      </m:sSub>
                      <m:r>
                        <a:rPr lang="en-US" sz="2800"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n-US" sz="2800" i="1">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sSub>
                        <m:sSubPr>
                          <m:ctrlPr>
                            <a:rPr lang="en-US" sz="2800" i="1">
                              <a:latin typeface="Cambria Math" panose="02040503050406030204" pitchFamily="18" charset="0"/>
                              <a:ea typeface="Cambria Math" panose="02040503050406030204" pitchFamily="18" charset="0"/>
                              <a:cs typeface="Cambria Math" panose="02040503050406030204" pitchFamily="18" charset="0"/>
                            </a:rPr>
                          </m:ctrlPr>
                        </m:sSubPr>
                        <m:e>
                          <m:r>
                            <a:rPr lang="en-US" sz="2800" i="1">
                              <a:latin typeface="Cambria Math" panose="02040503050406030204" pitchFamily="18" charset="0"/>
                              <a:ea typeface="Cambria Math" panose="02040503050406030204" pitchFamily="18" charset="0"/>
                              <a:cs typeface="Cambria Math" panose="02040503050406030204" pitchFamily="18" charset="0"/>
                            </a:rPr>
                            <m:t>𝐵</m:t>
                          </m:r>
                        </m:e>
                        <m:sub>
                          <m:r>
                            <a:rPr lang="en-US" sz="2800" i="1">
                              <a:latin typeface="Cambria Math" panose="02040503050406030204" pitchFamily="18" charset="0"/>
                              <a:ea typeface="Cambria Math" panose="02040503050406030204" pitchFamily="18" charset="0"/>
                              <a:cs typeface="Cambria Math" panose="02040503050406030204" pitchFamily="18" charset="0"/>
                            </a:rPr>
                            <m:t>𝑡</m:t>
                          </m:r>
                        </m:sub>
                      </m:sSub>
                      <m:r>
                        <a:rPr lang="en-US" sz="2800" i="1">
                          <a:latin typeface="Cambria Math" panose="02040503050406030204" pitchFamily="18" charset="0"/>
                          <a:ea typeface="Cambria Math" panose="02040503050406030204" pitchFamily="18" charset="0"/>
                          <a:cs typeface="Cambria Math" panose="02040503050406030204" pitchFamily="18" charset="0"/>
                        </a:rPr>
                        <m:t>−</m:t>
                      </m:r>
                      <m:f>
                        <m:fPr>
                          <m:ctrlPr>
                            <a:rPr lang="en-US" sz="2800" i="1">
                              <a:solidFill>
                                <a:srgbClr val="7030A0"/>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sz="2800" i="1">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sSup>
                            <m:sSupPr>
                              <m:ctrlPr>
                                <a:rPr lang="en-US" sz="2800" i="1">
                                  <a:latin typeface="Cambria Math" panose="02040503050406030204" pitchFamily="18" charset="0"/>
                                  <a:ea typeface="Cambria Math" panose="02040503050406030204" pitchFamily="18" charset="0"/>
                                  <a:cs typeface="Cambria Math" panose="02040503050406030204" pitchFamily="18" charset="0"/>
                                </a:rPr>
                              </m:ctrlPr>
                            </m:sSupPr>
                            <m:e>
                              <m:sSub>
                                <m:sSubPr>
                                  <m:ctrlPr>
                                    <a:rPr lang="en-US" sz="2800" i="1">
                                      <a:latin typeface="Cambria Math" panose="02040503050406030204" pitchFamily="18" charset="0"/>
                                      <a:ea typeface="Cambria Math" panose="02040503050406030204" pitchFamily="18" charset="0"/>
                                      <a:cs typeface="Cambria Math" panose="02040503050406030204" pitchFamily="18" charset="0"/>
                                    </a:rPr>
                                  </m:ctrlPr>
                                </m:sSubPr>
                                <m:e>
                                  <m:r>
                                    <a:rPr lang="en-US" sz="2800" i="1">
                                      <a:latin typeface="Cambria Math" panose="02040503050406030204" pitchFamily="18" charset="0"/>
                                      <a:ea typeface="Cambria Math" panose="02040503050406030204" pitchFamily="18" charset="0"/>
                                      <a:cs typeface="Cambria Math" panose="02040503050406030204" pitchFamily="18" charset="0"/>
                                    </a:rPr>
                                    <m:t>(</m:t>
                                  </m:r>
                                  <m:r>
                                    <a:rPr lang="en-US" sz="2800" i="1">
                                      <a:latin typeface="Cambria Math" panose="02040503050406030204" pitchFamily="18" charset="0"/>
                                      <a:ea typeface="Cambria Math" panose="02040503050406030204" pitchFamily="18" charset="0"/>
                                      <a:cs typeface="Cambria Math" panose="02040503050406030204" pitchFamily="18" charset="0"/>
                                    </a:rPr>
                                    <m:t>𝐵</m:t>
                                  </m:r>
                                </m:e>
                                <m:sub>
                                  <m:r>
                                    <a:rPr lang="en-US" sz="2800" i="1">
                                      <a:latin typeface="Cambria Math" panose="02040503050406030204" pitchFamily="18" charset="0"/>
                                      <a:ea typeface="Cambria Math" panose="02040503050406030204" pitchFamily="18" charset="0"/>
                                      <a:cs typeface="Cambria Math" panose="02040503050406030204" pitchFamily="18" charset="0"/>
                                    </a:rPr>
                                    <m:t>𝑡</m:t>
                                  </m:r>
                                </m:sub>
                              </m:sSub>
                              <m:r>
                                <a:rPr lang="en-US" sz="2800" i="1">
                                  <a:latin typeface="Cambria Math" panose="02040503050406030204" pitchFamily="18" charset="0"/>
                                  <a:ea typeface="Cambria Math" panose="02040503050406030204" pitchFamily="18" charset="0"/>
                                  <a:cs typeface="Cambria Math" panose="02040503050406030204" pitchFamily="18" charset="0"/>
                                </a:rPr>
                                <m:t>)</m:t>
                              </m:r>
                            </m:e>
                            <m:sup>
                              <m:r>
                                <a:rPr lang="en-US" sz="2800" b="0" i="1" smtClean="0">
                                  <a:latin typeface="Cambria Math" panose="02040503050406030204" pitchFamily="18" charset="0"/>
                                  <a:ea typeface="Cambria Math" panose="02040503050406030204" pitchFamily="18" charset="0"/>
                                </a:rPr>
                                <m:t>2</m:t>
                              </m:r>
                            </m:sup>
                          </m:sSup>
                        </m:num>
                        <m:den>
                          <m:r>
                            <a:rPr lang="en-US" sz="28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den>
                      </m:f>
                    </m:oMath>
                  </m:oMathPara>
                </a14:m>
                <a:endParaRPr lang="en-US" sz="2800" dirty="0"/>
              </a:p>
            </p:txBody>
          </p:sp>
        </mc:Choice>
        <mc:Fallback xmlns="">
          <p:sp>
            <p:nvSpPr>
              <p:cNvPr id="4" name="TextBox 3">
                <a:extLst>
                  <a:ext uri="{FF2B5EF4-FFF2-40B4-BE49-F238E27FC236}">
                    <a16:creationId xmlns:a16="http://schemas.microsoft.com/office/drawing/2014/main" id="{8AADE7E2-BC72-4C29-B220-DE4AD000FE03}"/>
                  </a:ext>
                </a:extLst>
              </p:cNvPr>
              <p:cNvSpPr txBox="1">
                <a:spLocks noRot="1" noChangeAspect="1" noMove="1" noResize="1" noEditPoints="1" noAdjustHandles="1" noChangeArrowheads="1" noChangeShapeType="1" noTextEdit="1"/>
              </p:cNvSpPr>
              <p:nvPr/>
            </p:nvSpPr>
            <p:spPr>
              <a:xfrm>
                <a:off x="6891810" y="1458248"/>
                <a:ext cx="3149065" cy="954107"/>
              </a:xfrm>
              <a:prstGeom prst="rect">
                <a:avLst/>
              </a:prstGeom>
              <a:blipFill>
                <a:blip r:embed="rId4"/>
                <a:stretch>
                  <a:fillRect/>
                </a:stretch>
              </a:blipFill>
            </p:spPr>
            <p:txBody>
              <a:bodyPr/>
              <a:lstStyle/>
              <a:p>
                <a:r>
                  <a:rPr lang="en-US">
                    <a:noFill/>
                  </a:rPr>
                  <a:t> </a:t>
                </a:r>
              </a:p>
            </p:txBody>
          </p:sp>
        </mc:Fallback>
      </mc:AlternateContent>
      <p:sp>
        <p:nvSpPr>
          <p:cNvPr id="5" name="Oval 4">
            <a:extLst>
              <a:ext uri="{FF2B5EF4-FFF2-40B4-BE49-F238E27FC236}">
                <a16:creationId xmlns:a16="http://schemas.microsoft.com/office/drawing/2014/main" id="{ACB19A3A-EBF3-4CD2-9C4A-63F1972A7AF3}"/>
              </a:ext>
            </a:extLst>
          </p:cNvPr>
          <p:cNvSpPr/>
          <p:nvPr/>
        </p:nvSpPr>
        <p:spPr>
          <a:xfrm>
            <a:off x="10359997" y="3457602"/>
            <a:ext cx="91440" cy="91440"/>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6142861" y="1935302"/>
            <a:ext cx="436418" cy="1385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EEDFA2F9-C25F-4A63-B46B-7B5C200A39D1}" type="slidenum">
              <a:rPr lang="en-CA" smtClean="0"/>
              <a:t>30</a:t>
            </a:fld>
            <a:endParaRPr lang="en-CA"/>
          </a:p>
        </p:txBody>
      </p:sp>
    </p:spTree>
    <p:extLst>
      <p:ext uri="{BB962C8B-B14F-4D97-AF65-F5344CB8AC3E}">
        <p14:creationId xmlns:p14="http://schemas.microsoft.com/office/powerpoint/2010/main" val="2023983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B7AEF-74C2-4ADB-A09F-F6E8351CCEE8}"/>
              </a:ext>
            </a:extLst>
          </p:cNvPr>
          <p:cNvSpPr>
            <a:spLocks noGrp="1"/>
          </p:cNvSpPr>
          <p:nvPr>
            <p:ph type="title"/>
          </p:nvPr>
        </p:nvSpPr>
        <p:spPr>
          <a:xfrm>
            <a:off x="852054" y="0"/>
            <a:ext cx="10515600" cy="1325563"/>
          </a:xfrm>
        </p:spPr>
        <p:txBody>
          <a:bodyPr/>
          <a:lstStyle/>
          <a:p>
            <a:r>
              <a:rPr lang="en-US" dirty="0"/>
              <a:t>Equilibrium yield curve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E4F30B-5E05-4E1F-9793-53C05C001C38}"/>
                  </a:ext>
                </a:extLst>
              </p:cNvPr>
              <p:cNvSpPr>
                <a:spLocks noGrp="1"/>
              </p:cNvSpPr>
              <p:nvPr>
                <p:ph idx="1"/>
              </p:nvPr>
            </p:nvSpPr>
            <p:spPr>
              <a:xfrm>
                <a:off x="852054" y="1292153"/>
                <a:ext cx="10515600" cy="4351338"/>
              </a:xfrm>
            </p:spPr>
            <p:txBody>
              <a:bodyPr/>
              <a:lstStyle/>
              <a:p>
                <a:r>
                  <a:rPr lang="en-US" dirty="0"/>
                  <a:t>MSY = maximum long-term yield that the stock can produce, given constant parameters (i.e., equilibrium conditions).</a:t>
                </a:r>
              </a:p>
              <a:p>
                <a:r>
                  <a:rPr lang="en-US" dirty="0"/>
                  <a:t>MSY occurs at an intermediate harvest rate (</a:t>
                </a:r>
                <a14:m>
                  <m:oMath xmlns:m="http://schemas.openxmlformats.org/officeDocument/2006/math">
                    <m:r>
                      <a:rPr lang="en-US" i="1" dirty="0" smtClean="0">
                        <a:latin typeface="Cambria Math" panose="02040503050406030204" pitchFamily="18" charset="0"/>
                      </a:rPr>
                      <m:t>𝑢</m:t>
                    </m:r>
                  </m:oMath>
                </a14:m>
                <a:r>
                  <a:rPr lang="en-US" dirty="0"/>
                  <a:t>) between </a:t>
                </a:r>
                <a14:m>
                  <m:oMath xmlns:m="http://schemas.openxmlformats.org/officeDocument/2006/math">
                    <m:r>
                      <a:rPr lang="en-US" i="1" dirty="0" smtClean="0">
                        <a:latin typeface="Cambria Math" panose="02040503050406030204" pitchFamily="18" charset="0"/>
                      </a:rPr>
                      <m:t>𝑢</m:t>
                    </m:r>
                    <m:r>
                      <a:rPr lang="en-US" b="0" i="1" dirty="0" smtClean="0">
                        <a:latin typeface="Cambria Math" panose="02040503050406030204" pitchFamily="18" charset="0"/>
                      </a:rPr>
                      <m:t>=0</m:t>
                    </m:r>
                  </m:oMath>
                </a14:m>
                <a:r>
                  <a:rPr lang="en-US" dirty="0"/>
                  <a:t> and a </a:t>
                </a:r>
                <a14:m>
                  <m:oMath xmlns:m="http://schemas.openxmlformats.org/officeDocument/2006/math">
                    <m:r>
                      <a:rPr lang="en-US" i="1" dirty="0">
                        <a:latin typeface="Cambria Math" panose="02040503050406030204" pitchFamily="18" charset="0"/>
                      </a:rPr>
                      <m:t>𝑢</m:t>
                    </m:r>
                  </m:oMath>
                </a14:m>
                <a:r>
                  <a:rPr lang="en-US" dirty="0"/>
                  <a:t> that crashes the stock, and at a biomass below carrying capacity </a:t>
                </a:r>
                <a14:m>
                  <m:oMath xmlns:m="http://schemas.openxmlformats.org/officeDocument/2006/math">
                    <m:r>
                      <a:rPr lang="en-US" i="1" dirty="0" smtClean="0">
                        <a:latin typeface="Cambria Math" panose="02040503050406030204" pitchFamily="18" charset="0"/>
                      </a:rPr>
                      <m:t>𝐾</m:t>
                    </m:r>
                  </m:oMath>
                </a14:m>
                <a:r>
                  <a:rPr lang="en-US"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62E4F30B-5E05-4E1F-9793-53C05C001C38}"/>
                  </a:ext>
                </a:extLst>
              </p:cNvPr>
              <p:cNvSpPr>
                <a:spLocks noGrp="1" noRot="1" noChangeAspect="1" noMove="1" noResize="1" noEditPoints="1" noAdjustHandles="1" noChangeArrowheads="1" noChangeShapeType="1" noTextEdit="1"/>
              </p:cNvSpPr>
              <p:nvPr>
                <p:ph idx="1"/>
              </p:nvPr>
            </p:nvSpPr>
            <p:spPr>
              <a:xfrm>
                <a:off x="852054" y="1292153"/>
                <a:ext cx="10515600" cy="4351338"/>
              </a:xfrm>
              <a:blipFill>
                <a:blip r:embed="rId2"/>
                <a:stretch>
                  <a:fillRect l="-1043" t="-2381" r="-58"/>
                </a:stretch>
              </a:blipFill>
            </p:spPr>
            <p:txBody>
              <a:bodyPr/>
              <a:lstStyle/>
              <a:p>
                <a:r>
                  <a:rPr lang="en-US">
                    <a:noFill/>
                  </a:rPr>
                  <a:t> </a:t>
                </a:r>
              </a:p>
            </p:txBody>
          </p:sp>
        </mc:Fallback>
      </mc:AlternateContent>
      <p:pic>
        <p:nvPicPr>
          <p:cNvPr id="26626" name="Picture 2">
            <a:extLst>
              <a:ext uri="{FF2B5EF4-FFF2-40B4-BE49-F238E27FC236}">
                <a16:creationId xmlns:a16="http://schemas.microsoft.com/office/drawing/2014/main" id="{896C1C39-F90C-46E8-A025-AC503C22A733}"/>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6963"/>
          <a:stretch/>
        </p:blipFill>
        <p:spPr bwMode="auto">
          <a:xfrm>
            <a:off x="3651357" y="3359727"/>
            <a:ext cx="5520351" cy="327424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8CE0DAEA-2CA7-4DEE-9D09-1A87025BB598}"/>
              </a:ext>
            </a:extLst>
          </p:cNvPr>
          <p:cNvCxnSpPr/>
          <p:nvPr/>
        </p:nvCxnSpPr>
        <p:spPr>
          <a:xfrm flipH="1" flipV="1">
            <a:off x="3505201" y="3727962"/>
            <a:ext cx="2197314" cy="1"/>
          </a:xfrm>
          <a:prstGeom prst="straightConnector1">
            <a:avLst/>
          </a:prstGeom>
          <a:ln w="190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3A58933-1AD3-4527-8198-224D71F98FAE}"/>
              </a:ext>
            </a:extLst>
          </p:cNvPr>
          <p:cNvSpPr txBox="1"/>
          <p:nvPr/>
        </p:nvSpPr>
        <p:spPr>
          <a:xfrm>
            <a:off x="2864904" y="3467822"/>
            <a:ext cx="938170" cy="461665"/>
          </a:xfrm>
          <a:prstGeom prst="rect">
            <a:avLst/>
          </a:prstGeom>
          <a:noFill/>
        </p:spPr>
        <p:txBody>
          <a:bodyPr wrap="square" rtlCol="0">
            <a:spAutoFit/>
          </a:bodyPr>
          <a:lstStyle/>
          <a:p>
            <a:r>
              <a:rPr lang="en-US" sz="2400" dirty="0">
                <a:solidFill>
                  <a:schemeClr val="accent2"/>
                </a:solidFill>
              </a:rPr>
              <a:t>MSY</a:t>
            </a:r>
          </a:p>
        </p:txBody>
      </p:sp>
      <p:sp>
        <p:nvSpPr>
          <p:cNvPr id="5" name="TextBox 4"/>
          <p:cNvSpPr txBox="1"/>
          <p:nvPr/>
        </p:nvSpPr>
        <p:spPr>
          <a:xfrm>
            <a:off x="7578256" y="3573089"/>
            <a:ext cx="4392755" cy="1631216"/>
          </a:xfrm>
          <a:prstGeom prst="rect">
            <a:avLst/>
          </a:prstGeom>
          <a:noFill/>
          <a:ln>
            <a:solidFill>
              <a:schemeClr val="tx2">
                <a:lumMod val="50000"/>
              </a:schemeClr>
            </a:solidFill>
          </a:ln>
        </p:spPr>
        <p:txBody>
          <a:bodyPr wrap="square" rtlCol="0">
            <a:spAutoFit/>
          </a:bodyPr>
          <a:lstStyle/>
          <a:p>
            <a:r>
              <a:rPr lang="en-US" sz="2000" dirty="0">
                <a:solidFill>
                  <a:schemeClr val="accent1">
                    <a:lumMod val="50000"/>
                  </a:schemeClr>
                </a:solidFill>
              </a:rPr>
              <a:t>Therefore, there is a constant harvest rate </a:t>
            </a:r>
            <a:r>
              <a:rPr lang="en-US" sz="2000" i="1" dirty="0">
                <a:solidFill>
                  <a:schemeClr val="accent1">
                    <a:lumMod val="50000"/>
                  </a:schemeClr>
                </a:solidFill>
              </a:rPr>
              <a:t>u</a:t>
            </a:r>
            <a:r>
              <a:rPr lang="en-US" sz="2000" dirty="0">
                <a:solidFill>
                  <a:schemeClr val="accent1">
                    <a:lumMod val="50000"/>
                  </a:schemeClr>
                </a:solidFill>
              </a:rPr>
              <a:t> that maximizes long term yield</a:t>
            </a:r>
          </a:p>
          <a:p>
            <a:endParaRPr lang="en-US" sz="2000" dirty="0">
              <a:solidFill>
                <a:schemeClr val="accent1">
                  <a:lumMod val="50000"/>
                </a:schemeClr>
              </a:solidFill>
            </a:endParaRPr>
          </a:p>
          <a:p>
            <a:r>
              <a:rPr lang="en-US" sz="2000" dirty="0">
                <a:solidFill>
                  <a:schemeClr val="accent1">
                    <a:lumMod val="50000"/>
                  </a:schemeClr>
                </a:solidFill>
              </a:rPr>
              <a:t>This is </a:t>
            </a:r>
            <a:r>
              <a:rPr lang="en-US" sz="2000" i="1" dirty="0" err="1">
                <a:solidFill>
                  <a:schemeClr val="accent1">
                    <a:lumMod val="50000"/>
                  </a:schemeClr>
                </a:solidFill>
              </a:rPr>
              <a:t>u</a:t>
            </a:r>
            <a:r>
              <a:rPr lang="en-US" sz="2000" baseline="-25000" dirty="0" err="1">
                <a:solidFill>
                  <a:schemeClr val="accent1">
                    <a:lumMod val="50000"/>
                  </a:schemeClr>
                </a:solidFill>
              </a:rPr>
              <a:t>MSY</a:t>
            </a:r>
            <a:r>
              <a:rPr lang="en-US" sz="2000" dirty="0">
                <a:solidFill>
                  <a:schemeClr val="accent1">
                    <a:lumMod val="50000"/>
                  </a:schemeClr>
                </a:solidFill>
              </a:rPr>
              <a:t>, or in instantaneous terms, </a:t>
            </a:r>
            <a:r>
              <a:rPr lang="en-US" sz="2000" i="1" dirty="0">
                <a:solidFill>
                  <a:schemeClr val="accent1">
                    <a:lumMod val="50000"/>
                  </a:schemeClr>
                </a:solidFill>
              </a:rPr>
              <a:t>F</a:t>
            </a:r>
            <a:r>
              <a:rPr lang="en-US" sz="2000" baseline="-25000" dirty="0">
                <a:solidFill>
                  <a:schemeClr val="accent1">
                    <a:lumMod val="50000"/>
                  </a:schemeClr>
                </a:solidFill>
              </a:rPr>
              <a:t>MSY</a:t>
            </a:r>
          </a:p>
        </p:txBody>
      </p:sp>
      <p:sp>
        <p:nvSpPr>
          <p:cNvPr id="6" name="TextBox 5"/>
          <p:cNvSpPr txBox="1"/>
          <p:nvPr/>
        </p:nvSpPr>
        <p:spPr>
          <a:xfrm rot="16200000">
            <a:off x="3162983" y="4277645"/>
            <a:ext cx="976747" cy="461665"/>
          </a:xfrm>
          <a:prstGeom prst="rect">
            <a:avLst/>
          </a:prstGeom>
          <a:solidFill>
            <a:schemeClr val="bg1"/>
          </a:solidFill>
        </p:spPr>
        <p:txBody>
          <a:bodyPr wrap="square" rtlCol="0">
            <a:spAutoFit/>
          </a:bodyPr>
          <a:lstStyle/>
          <a:p>
            <a:r>
              <a:rPr lang="en-US" sz="2400" dirty="0"/>
              <a:t>Yield</a:t>
            </a:r>
          </a:p>
        </p:txBody>
      </p:sp>
      <p:sp>
        <p:nvSpPr>
          <p:cNvPr id="11" name="TextBox 10"/>
          <p:cNvSpPr txBox="1"/>
          <p:nvPr/>
        </p:nvSpPr>
        <p:spPr>
          <a:xfrm>
            <a:off x="5585109" y="6396335"/>
            <a:ext cx="2146771" cy="461665"/>
          </a:xfrm>
          <a:prstGeom prst="rect">
            <a:avLst/>
          </a:prstGeom>
          <a:solidFill>
            <a:schemeClr val="bg1"/>
          </a:solidFill>
        </p:spPr>
        <p:txBody>
          <a:bodyPr wrap="square" rtlCol="0">
            <a:spAutoFit/>
          </a:bodyPr>
          <a:lstStyle/>
          <a:p>
            <a:r>
              <a:rPr lang="en-US" sz="2400" dirty="0"/>
              <a:t>Harvest rate, </a:t>
            </a:r>
            <a:r>
              <a:rPr lang="en-US" sz="2400" i="1" dirty="0"/>
              <a:t>u</a:t>
            </a:r>
          </a:p>
        </p:txBody>
      </p:sp>
      <p:cxnSp>
        <p:nvCxnSpPr>
          <p:cNvPr id="12" name="Straight Arrow Connector 11"/>
          <p:cNvCxnSpPr/>
          <p:nvPr/>
        </p:nvCxnSpPr>
        <p:spPr>
          <a:xfrm flipH="1">
            <a:off x="5638800" y="4384964"/>
            <a:ext cx="1932709" cy="186343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EDFA2F9-C25F-4A63-B46B-7B5C200A39D1}" type="slidenum">
              <a:rPr lang="en-CA" smtClean="0"/>
              <a:t>31</a:t>
            </a:fld>
            <a:endParaRPr lang="en-CA"/>
          </a:p>
        </p:txBody>
      </p:sp>
    </p:spTree>
    <p:extLst>
      <p:ext uri="{BB962C8B-B14F-4D97-AF65-F5344CB8AC3E}">
        <p14:creationId xmlns:p14="http://schemas.microsoft.com/office/powerpoint/2010/main" val="3062780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MSY as target/limit</a:t>
            </a:r>
          </a:p>
        </p:txBody>
      </p:sp>
      <p:sp>
        <p:nvSpPr>
          <p:cNvPr id="3" name="Content Placeholder 2"/>
          <p:cNvSpPr>
            <a:spLocks noGrp="1"/>
          </p:cNvSpPr>
          <p:nvPr>
            <p:ph idx="1"/>
          </p:nvPr>
        </p:nvSpPr>
        <p:spPr/>
        <p:txBody>
          <a:bodyPr>
            <a:noAutofit/>
          </a:bodyPr>
          <a:lstStyle/>
          <a:p>
            <a:r>
              <a:rPr lang="en-US" dirty="0"/>
              <a:t>The concept of MSY has been the global standard for sustainable fisheries for decades (Sainsbury 2008; Cadrin 2012) and is included in many international agreements, e.g.,</a:t>
            </a:r>
          </a:p>
          <a:p>
            <a:pPr lvl="1"/>
            <a:r>
              <a:rPr lang="en-US" dirty="0">
                <a:solidFill>
                  <a:schemeClr val="tx2"/>
                </a:solidFill>
              </a:rPr>
              <a:t>Straddling Fish Stocks and Highly Migratory Fish Stocks Agreement (UN 1995) </a:t>
            </a:r>
          </a:p>
          <a:p>
            <a:pPr lvl="1"/>
            <a:r>
              <a:rPr lang="en-US" dirty="0">
                <a:solidFill>
                  <a:schemeClr val="tx2"/>
                </a:solidFill>
              </a:rPr>
              <a:t>European Union Common Fisheries Policy (EU 2013)</a:t>
            </a:r>
            <a:endParaRPr lang="en-US" sz="2800" dirty="0">
              <a:solidFill>
                <a:schemeClr val="tx2"/>
              </a:solidFill>
            </a:endParaRPr>
          </a:p>
          <a:p>
            <a:pPr marL="0" indent="0">
              <a:buNone/>
            </a:pPr>
            <a:r>
              <a:rPr lang="en-US" dirty="0"/>
              <a:t>and national laws, e.g., </a:t>
            </a:r>
          </a:p>
          <a:p>
            <a:pPr lvl="1"/>
            <a:r>
              <a:rPr lang="en-US" dirty="0">
                <a:solidFill>
                  <a:schemeClr val="tx2"/>
                </a:solidFill>
              </a:rPr>
              <a:t>US Magnuson-Stevens Fishery Conservation and Management Act (2007)</a:t>
            </a:r>
          </a:p>
          <a:p>
            <a:r>
              <a:rPr lang="en-US" dirty="0"/>
              <a:t>Role of </a:t>
            </a:r>
            <a:r>
              <a:rPr lang="en-US" i="1" dirty="0"/>
              <a:t>F</a:t>
            </a:r>
            <a:r>
              <a:rPr lang="en-US" baseline="-25000" dirty="0"/>
              <a:t>MSY</a:t>
            </a:r>
            <a:r>
              <a:rPr lang="en-US" dirty="0"/>
              <a:t> has shifted towards being a limit rather than a target (Larkin 1977; Mace 2001; Punt and Smith 2001). See Ex 1 for references.</a:t>
            </a:r>
          </a:p>
        </p:txBody>
      </p:sp>
      <p:sp>
        <p:nvSpPr>
          <p:cNvPr id="4" name="Slide Number Placeholder 3"/>
          <p:cNvSpPr>
            <a:spLocks noGrp="1"/>
          </p:cNvSpPr>
          <p:nvPr>
            <p:ph type="sldNum" sz="quarter" idx="12"/>
          </p:nvPr>
        </p:nvSpPr>
        <p:spPr/>
        <p:txBody>
          <a:bodyPr/>
          <a:lstStyle/>
          <a:p>
            <a:fld id="{EEDFA2F9-C25F-4A63-B46B-7B5C200A39D1}" type="slidenum">
              <a:rPr lang="en-CA" smtClean="0"/>
              <a:t>32</a:t>
            </a:fld>
            <a:endParaRPr lang="en-CA"/>
          </a:p>
        </p:txBody>
      </p:sp>
    </p:spTree>
    <p:extLst>
      <p:ext uri="{BB962C8B-B14F-4D97-AF65-F5344CB8AC3E}">
        <p14:creationId xmlns:p14="http://schemas.microsoft.com/office/powerpoint/2010/main" val="1651020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5EA85-7E86-48D1-AD60-53EC4CE993F7}"/>
              </a:ext>
            </a:extLst>
          </p:cNvPr>
          <p:cNvSpPr>
            <a:spLocks noGrp="1"/>
          </p:cNvSpPr>
          <p:nvPr>
            <p:ph type="title"/>
          </p:nvPr>
        </p:nvSpPr>
        <p:spPr/>
        <p:txBody>
          <a:bodyPr/>
          <a:lstStyle/>
          <a:p>
            <a:r>
              <a:rPr lang="en-US" dirty="0"/>
              <a:t>MSY in Canadian Policy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0B80C9-E240-46B0-8A05-1FFC3DA02840}"/>
                  </a:ext>
                </a:extLst>
              </p:cNvPr>
              <p:cNvSpPr>
                <a:spLocks noGrp="1"/>
              </p:cNvSpPr>
              <p:nvPr>
                <p:ph idx="1"/>
              </p:nvPr>
            </p:nvSpPr>
            <p:spPr/>
            <p:txBody>
              <a:bodyPr/>
              <a:lstStyle/>
              <a:p>
                <a:r>
                  <a:rPr lang="en-US" dirty="0"/>
                  <a:t>From DFO’s PA Policy (DFO 2009):</a:t>
                </a:r>
              </a:p>
              <a:p>
                <a:pPr lvl="1"/>
                <a:r>
                  <a:rPr lang="en-US" b="0" i="0" dirty="0">
                    <a:solidFill>
                      <a:srgbClr val="333333"/>
                    </a:solidFill>
                    <a:effectLst/>
                    <a:latin typeface="Noto Sans" panose="020B0502040504020204" pitchFamily="34" charset="0"/>
                  </a:rPr>
                  <a:t>“the Removal Reference must be less than or equal to the removal rate associated with maximum sustainable yield” </a:t>
                </a:r>
                <a:r>
                  <a:rPr lang="en-US" dirty="0">
                    <a:solidFill>
                      <a:srgbClr val="333333"/>
                    </a:solidFill>
                    <a:latin typeface="Noto Sans" panose="020B0502040504020204" pitchFamily="34" charset="0"/>
                  </a:rPr>
                  <a:t>i.e., </a:t>
                </a:r>
                <a14:m>
                  <m:oMath xmlns:m="http://schemas.openxmlformats.org/officeDocument/2006/math">
                    <m:r>
                      <a:rPr lang="en-US" i="1" dirty="0" smtClean="0">
                        <a:effectLst/>
                        <a:latin typeface="Cambria Math" panose="02040503050406030204" pitchFamily="18" charset="0"/>
                        <a:ea typeface="Times New Roman" panose="02020603050405020304" pitchFamily="18" charset="0"/>
                        <a:cs typeface="Arial" panose="020B0604020202020204" pitchFamily="34" charset="0"/>
                      </a:rPr>
                      <m:t>𝐹</m:t>
                    </m:r>
                    <m:r>
                      <m:rPr>
                        <m:sty m:val="p"/>
                      </m:rPr>
                      <a:rPr lang="en-US" i="0" baseline="-25000" dirty="0" smtClean="0">
                        <a:effectLst/>
                        <a:latin typeface="Cambria Math" panose="02040503050406030204" pitchFamily="18" charset="0"/>
                        <a:ea typeface="Times New Roman" panose="02020603050405020304" pitchFamily="18" charset="0"/>
                        <a:cs typeface="Arial" panose="020B0604020202020204" pitchFamily="34" charset="0"/>
                      </a:rPr>
                      <m:t>MSY</m:t>
                    </m:r>
                  </m:oMath>
                </a14:m>
                <a:r>
                  <a:rPr lang="en-US" dirty="0">
                    <a:effectLst/>
                    <a:ea typeface="Times New Roman" panose="02020603050405020304" pitchFamily="18" charset="0"/>
                    <a:cs typeface="Arial" panose="020B0604020202020204" pitchFamily="34" charset="0"/>
                  </a:rPr>
                  <a:t> is a </a:t>
                </a:r>
                <a:r>
                  <a:rPr lang="en-US" u="sng" dirty="0">
                    <a:effectLst/>
                    <a:ea typeface="Times New Roman" panose="02020603050405020304" pitchFamily="18" charset="0"/>
                    <a:cs typeface="Arial" panose="020B0604020202020204" pitchFamily="34" charset="0"/>
                  </a:rPr>
                  <a:t>limit</a:t>
                </a:r>
                <a:r>
                  <a:rPr lang="en-US" dirty="0">
                    <a:effectLst/>
                    <a:ea typeface="Times New Roman" panose="02020603050405020304" pitchFamily="18" charset="0"/>
                    <a:cs typeface="Arial" panose="020B0604020202020204" pitchFamily="34" charset="0"/>
                  </a:rPr>
                  <a:t> </a:t>
                </a:r>
              </a:p>
              <a:p>
                <a14:m>
                  <m:oMath xmlns:m="http://schemas.openxmlformats.org/officeDocument/2006/math">
                    <m:r>
                      <a:rPr lang="en-US" b="0" i="1" dirty="0" smtClean="0">
                        <a:effectLst/>
                        <a:latin typeface="Cambria Math" panose="02040503050406030204" pitchFamily="18" charset="0"/>
                        <a:ea typeface="Times New Roman" panose="02020603050405020304" pitchFamily="18" charset="0"/>
                        <a:cs typeface="Arial" panose="020B0604020202020204" pitchFamily="34" charset="0"/>
                      </a:rPr>
                      <m:t>𝐵</m:t>
                    </m:r>
                    <m:r>
                      <m:rPr>
                        <m:sty m:val="p"/>
                      </m:rPr>
                      <a:rPr lang="en-US" i="0" baseline="-25000" dirty="0" smtClean="0">
                        <a:effectLst/>
                        <a:latin typeface="Cambria Math" panose="02040503050406030204" pitchFamily="18" charset="0"/>
                        <a:ea typeface="Times New Roman" panose="02020603050405020304" pitchFamily="18" charset="0"/>
                        <a:cs typeface="Arial" panose="020B0604020202020204" pitchFamily="34" charset="0"/>
                      </a:rPr>
                      <m:t>MSY</m:t>
                    </m:r>
                  </m:oMath>
                </a14:m>
                <a:r>
                  <a:rPr lang="en-US" dirty="0"/>
                  <a:t> is the long-term average biomass from fishing at a constant </a:t>
                </a:r>
                <a14:m>
                  <m:oMath xmlns:m="http://schemas.openxmlformats.org/officeDocument/2006/math">
                    <m:r>
                      <a:rPr lang="en-US" i="1" dirty="0">
                        <a:latin typeface="Cambria Math" panose="02040503050406030204" pitchFamily="18" charset="0"/>
                        <a:ea typeface="Times New Roman" panose="02020603050405020304" pitchFamily="18" charset="0"/>
                        <a:cs typeface="Arial" panose="020B0604020202020204" pitchFamily="34" charset="0"/>
                      </a:rPr>
                      <m:t>𝐹</m:t>
                    </m:r>
                    <m:r>
                      <m:rPr>
                        <m:sty m:val="p"/>
                      </m:rPr>
                      <a:rPr lang="en-US" baseline="-25000" dirty="0">
                        <a:latin typeface="Cambria Math" panose="02040503050406030204" pitchFamily="18" charset="0"/>
                        <a:ea typeface="Times New Roman" panose="02020603050405020304" pitchFamily="18" charset="0"/>
                        <a:cs typeface="Arial" panose="020B0604020202020204" pitchFamily="34" charset="0"/>
                      </a:rPr>
                      <m:t>MSY</m:t>
                    </m:r>
                  </m:oMath>
                </a14:m>
                <a:r>
                  <a:rPr lang="en-US" dirty="0">
                    <a:ea typeface="Times New Roman" panose="02020603050405020304" pitchFamily="18" charset="0"/>
                    <a:cs typeface="Arial" panose="020B0604020202020204" pitchFamily="34" charset="0"/>
                  </a:rPr>
                  <a:t> under equilibrium conditions.</a:t>
                </a:r>
              </a:p>
              <a:p>
                <a14:m>
                  <m:oMath xmlns:m="http://schemas.openxmlformats.org/officeDocument/2006/math">
                    <m:r>
                      <a:rPr lang="en-US" b="0" i="1" dirty="0" smtClean="0">
                        <a:effectLst/>
                        <a:latin typeface="Cambria Math" panose="02040503050406030204" pitchFamily="18" charset="0"/>
                        <a:ea typeface="Times New Roman" panose="02020603050405020304" pitchFamily="18" charset="0"/>
                        <a:cs typeface="Arial" panose="020B0604020202020204" pitchFamily="34" charset="0"/>
                      </a:rPr>
                      <m:t>𝐵</m:t>
                    </m:r>
                    <m:r>
                      <m:rPr>
                        <m:sty m:val="p"/>
                      </m:rPr>
                      <a:rPr lang="en-US" i="0" baseline="-25000" dirty="0" smtClean="0">
                        <a:effectLst/>
                        <a:latin typeface="Cambria Math" panose="02040503050406030204" pitchFamily="18" charset="0"/>
                        <a:ea typeface="Times New Roman" panose="02020603050405020304" pitchFamily="18" charset="0"/>
                        <a:cs typeface="Arial" panose="020B0604020202020204" pitchFamily="34" charset="0"/>
                      </a:rPr>
                      <m:t>MSY</m:t>
                    </m:r>
                  </m:oMath>
                </a14:m>
                <a:r>
                  <a:rPr lang="en-US" dirty="0"/>
                  <a:t> is commonly used as a </a:t>
                </a:r>
                <a:r>
                  <a:rPr lang="en-US" u="sng" dirty="0"/>
                  <a:t>target</a:t>
                </a:r>
                <a:r>
                  <a:rPr lang="en-US" dirty="0"/>
                  <a:t> biomass</a:t>
                </a:r>
              </a:p>
            </p:txBody>
          </p:sp>
        </mc:Choice>
        <mc:Fallback xmlns="">
          <p:sp>
            <p:nvSpPr>
              <p:cNvPr id="3" name="Content Placeholder 2">
                <a:extLst>
                  <a:ext uri="{FF2B5EF4-FFF2-40B4-BE49-F238E27FC236}">
                    <a16:creationId xmlns:a16="http://schemas.microsoft.com/office/drawing/2014/main" id="{030B80C9-E240-46B0-8A05-1FFC3DA0284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33</a:t>
            </a:fld>
            <a:endParaRPr lang="en-CA"/>
          </a:p>
        </p:txBody>
      </p:sp>
    </p:spTree>
    <p:extLst>
      <p:ext uri="{BB962C8B-B14F-4D97-AF65-F5344CB8AC3E}">
        <p14:creationId xmlns:p14="http://schemas.microsoft.com/office/powerpoint/2010/main" val="1026041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EAFE9-C92E-4C0D-AF55-B7CDB4CEE800}"/>
              </a:ext>
            </a:extLst>
          </p:cNvPr>
          <p:cNvSpPr>
            <a:spLocks noGrp="1"/>
          </p:cNvSpPr>
          <p:nvPr>
            <p:ph type="title"/>
          </p:nvPr>
        </p:nvSpPr>
        <p:spPr>
          <a:xfrm>
            <a:off x="865910" y="0"/>
            <a:ext cx="10515600" cy="1325563"/>
          </a:xfrm>
        </p:spPr>
        <p:txBody>
          <a:bodyPr/>
          <a:lstStyle/>
          <a:p>
            <a:r>
              <a:rPr lang="en-US" dirty="0"/>
              <a:t>References</a:t>
            </a:r>
          </a:p>
        </p:txBody>
      </p:sp>
      <p:sp>
        <p:nvSpPr>
          <p:cNvPr id="4" name="TextBox 3">
            <a:extLst>
              <a:ext uri="{FF2B5EF4-FFF2-40B4-BE49-F238E27FC236}">
                <a16:creationId xmlns:a16="http://schemas.microsoft.com/office/drawing/2014/main" id="{FB59732B-FDAB-40AD-9EB2-A8B6F08A0B92}"/>
              </a:ext>
            </a:extLst>
          </p:cNvPr>
          <p:cNvSpPr txBox="1"/>
          <p:nvPr/>
        </p:nvSpPr>
        <p:spPr>
          <a:xfrm>
            <a:off x="364717" y="1131570"/>
            <a:ext cx="11670383" cy="5416868"/>
          </a:xfrm>
          <a:prstGeom prst="rect">
            <a:avLst/>
          </a:prstGeom>
          <a:solidFill>
            <a:schemeClr val="accent1">
              <a:alpha val="25000"/>
            </a:schemeClr>
          </a:solidFill>
          <a:ln>
            <a:solidFill>
              <a:schemeClr val="accent1">
                <a:lumMod val="50000"/>
              </a:schemeClr>
            </a:solidFill>
          </a:ln>
        </p:spPr>
        <p:txBody>
          <a:bodyPr wrap="square" rtlCol="0">
            <a:spAutoFit/>
          </a:bodyPr>
          <a:lstStyle/>
          <a:p>
            <a:pPr marL="269875" indent="-269875">
              <a:spcBef>
                <a:spcPts val="600"/>
              </a:spcBef>
            </a:pPr>
            <a:r>
              <a:rPr lang="en-US" dirty="0">
                <a:solidFill>
                  <a:schemeClr val="tx2"/>
                </a:solidFill>
              </a:rPr>
              <a:t>Caddy, J.F. and Agnew, D.J. 2003. Recovery plans for depleted stocks: an overview of global experience. ICES CM 2003.</a:t>
            </a:r>
          </a:p>
          <a:p>
            <a:pPr marL="269875" indent="-269875">
              <a:spcBef>
                <a:spcPts val="600"/>
              </a:spcBef>
            </a:pPr>
            <a:r>
              <a:rPr lang="en-US" dirty="0">
                <a:solidFill>
                  <a:schemeClr val="tx2"/>
                </a:solidFill>
              </a:rPr>
              <a:t>Cadrin, S.X. 2012. Unintended consequences of MSY proxies for defining overfishing. ICES Evolution of management frameworks to prevent overfishing. ICES CM 2012/L:23. </a:t>
            </a:r>
          </a:p>
          <a:p>
            <a:pPr marL="269875" indent="-269875">
              <a:spcBef>
                <a:spcPts val="600"/>
              </a:spcBef>
            </a:pPr>
            <a:r>
              <a:rPr lang="en-US" dirty="0">
                <a:solidFill>
                  <a:schemeClr val="tx2"/>
                </a:solidFill>
              </a:rPr>
              <a:t>EU (European Union). 2013. </a:t>
            </a:r>
            <a:r>
              <a:rPr lang="en-US" dirty="0">
                <a:solidFill>
                  <a:schemeClr val="tx2"/>
                </a:solidFill>
                <a:hlinkClick r:id="rId2"/>
              </a:rPr>
              <a:t>European Union: Common fisheries policy.</a:t>
            </a:r>
            <a:endParaRPr lang="en-US" dirty="0">
              <a:solidFill>
                <a:schemeClr val="tx2"/>
              </a:solidFill>
            </a:endParaRPr>
          </a:p>
          <a:p>
            <a:pPr marL="269875" indent="-269875">
              <a:spcBef>
                <a:spcPts val="600"/>
              </a:spcBef>
            </a:pPr>
            <a:r>
              <a:rPr lang="en-US" dirty="0">
                <a:solidFill>
                  <a:schemeClr val="tx2"/>
                </a:solidFill>
              </a:rPr>
              <a:t>Larkin, P.A. 1977. An epitaph for the concept of maximum sustained yield. Tran. Am. Fish. Soc. 106: 1‐11.</a:t>
            </a:r>
          </a:p>
          <a:p>
            <a:pPr marL="269875" indent="-269875">
              <a:spcBef>
                <a:spcPts val="600"/>
              </a:spcBef>
            </a:pPr>
            <a:r>
              <a:rPr lang="en-US" dirty="0">
                <a:solidFill>
                  <a:schemeClr val="tx2"/>
                </a:solidFill>
              </a:rPr>
              <a:t>Mace, P.M. 2001. A new role for MSY in single-species and ecosystem approaches to fisheries stock assessment and management. Fish and Fisheries, 2, 2-32. </a:t>
            </a:r>
          </a:p>
          <a:p>
            <a:pPr marL="269875" indent="-269875">
              <a:spcBef>
                <a:spcPts val="600"/>
              </a:spcBef>
            </a:pPr>
            <a:r>
              <a:rPr lang="en-US" dirty="0">
                <a:solidFill>
                  <a:schemeClr val="tx2"/>
                </a:solidFill>
              </a:rPr>
              <a:t>Mace, P.M. 2004. In </a:t>
            </a:r>
            <a:r>
              <a:rPr lang="en-US" dirty="0" err="1">
                <a:solidFill>
                  <a:schemeClr val="tx2"/>
                </a:solidFill>
              </a:rPr>
              <a:t>defence</a:t>
            </a:r>
            <a:r>
              <a:rPr lang="en-US" dirty="0">
                <a:solidFill>
                  <a:schemeClr val="tx2"/>
                </a:solidFill>
              </a:rPr>
              <a:t> of fisheries scientists, single-species models and other scapegoats: confronting the real problems: Perspectives on eco-system-based approaches to the management of marine resources. Marine Ecology Progress Series 274: 285-291</a:t>
            </a:r>
          </a:p>
          <a:p>
            <a:pPr marL="269875" indent="-269875">
              <a:spcBef>
                <a:spcPts val="600"/>
              </a:spcBef>
            </a:pPr>
            <a:r>
              <a:rPr lang="en-US" dirty="0">
                <a:solidFill>
                  <a:schemeClr val="tx2"/>
                </a:solidFill>
              </a:rPr>
              <a:t>Magnuson-Stevens Fishery Conservation and Management Act. 2007. Management Reauthorization Act of 2006. Public Law 109–479. US Congress, Washington, DC. 91 pp.</a:t>
            </a:r>
          </a:p>
          <a:p>
            <a:pPr marL="269875" indent="-269875">
              <a:spcBef>
                <a:spcPts val="600"/>
              </a:spcBef>
            </a:pPr>
            <a:r>
              <a:rPr lang="en-US" dirty="0">
                <a:solidFill>
                  <a:schemeClr val="tx2"/>
                </a:solidFill>
              </a:rPr>
              <a:t>Sainsbury, K. 2008. Best Practice Reference Points for Australian Fisheries. Australian Fisheries Management Authority Report R2001/0999.</a:t>
            </a:r>
          </a:p>
          <a:p>
            <a:pPr marL="269875" indent="-269875">
              <a:spcBef>
                <a:spcPts val="600"/>
              </a:spcBef>
            </a:pPr>
            <a:r>
              <a:rPr lang="en-US" dirty="0">
                <a:solidFill>
                  <a:schemeClr val="tx2"/>
                </a:solidFill>
              </a:rPr>
              <a:t>UN (United Nations). 1995. Agreement for the implementation of the provisions of the United Nations Convention on the Law of the Sea of 10 December, 1982 relating to the conservation and management of straddling fish stocks and highly migratory fish stocks. UN Rome, Italy.</a:t>
            </a:r>
          </a:p>
        </p:txBody>
      </p:sp>
      <p:sp>
        <p:nvSpPr>
          <p:cNvPr id="3" name="Slide Number Placeholder 2"/>
          <p:cNvSpPr>
            <a:spLocks noGrp="1"/>
          </p:cNvSpPr>
          <p:nvPr>
            <p:ph type="sldNum" sz="quarter" idx="12"/>
          </p:nvPr>
        </p:nvSpPr>
        <p:spPr/>
        <p:txBody>
          <a:bodyPr/>
          <a:lstStyle/>
          <a:p>
            <a:fld id="{EEDFA2F9-C25F-4A63-B46B-7B5C200A39D1}" type="slidenum">
              <a:rPr lang="en-CA" smtClean="0"/>
              <a:t>34</a:t>
            </a:fld>
            <a:endParaRPr lang="en-CA"/>
          </a:p>
        </p:txBody>
      </p:sp>
    </p:spTree>
    <p:extLst>
      <p:ext uri="{BB962C8B-B14F-4D97-AF65-F5344CB8AC3E}">
        <p14:creationId xmlns:p14="http://schemas.microsoft.com/office/powerpoint/2010/main" val="3897903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700434"/>
            <a:ext cx="10515600" cy="1325563"/>
          </a:xfrm>
        </p:spPr>
        <p:txBody>
          <a:bodyPr>
            <a:noAutofit/>
          </a:bodyPr>
          <a:lstStyle/>
          <a:p>
            <a:pPr algn="ctr"/>
            <a:r>
              <a:rPr lang="en-US" sz="5400" dirty="0">
                <a:solidFill>
                  <a:schemeClr val="bg1"/>
                </a:solidFill>
                <a:latin typeface="+mn-lt"/>
              </a:rPr>
              <a:t>4. Reference Points in Surplus Production Models</a:t>
            </a:r>
          </a:p>
        </p:txBody>
      </p:sp>
      <p:sp>
        <p:nvSpPr>
          <p:cNvPr id="3" name="Slide Number Placeholder 2"/>
          <p:cNvSpPr>
            <a:spLocks noGrp="1"/>
          </p:cNvSpPr>
          <p:nvPr>
            <p:ph type="sldNum" sz="quarter" idx="12"/>
          </p:nvPr>
        </p:nvSpPr>
        <p:spPr/>
        <p:txBody>
          <a:bodyPr/>
          <a:lstStyle/>
          <a:p>
            <a:fld id="{EEDFA2F9-C25F-4A63-B46B-7B5C200A39D1}" type="slidenum">
              <a:rPr lang="en-CA" smtClean="0"/>
              <a:t>35</a:t>
            </a:fld>
            <a:endParaRPr lang="en-CA"/>
          </a:p>
        </p:txBody>
      </p:sp>
    </p:spTree>
    <p:extLst>
      <p:ext uri="{BB962C8B-B14F-4D97-AF65-F5344CB8AC3E}">
        <p14:creationId xmlns:p14="http://schemas.microsoft.com/office/powerpoint/2010/main" val="12999660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CBB4-66B3-4A2C-9159-CCE70C52D843}"/>
              </a:ext>
            </a:extLst>
          </p:cNvPr>
          <p:cNvSpPr>
            <a:spLocks noGrp="1"/>
          </p:cNvSpPr>
          <p:nvPr>
            <p:ph type="title"/>
          </p:nvPr>
        </p:nvSpPr>
        <p:spPr>
          <a:xfrm>
            <a:off x="838200" y="365125"/>
            <a:ext cx="10832184" cy="1325563"/>
          </a:xfrm>
        </p:spPr>
        <p:txBody>
          <a:bodyPr/>
          <a:lstStyle/>
          <a:p>
            <a:r>
              <a:rPr lang="en-US" dirty="0"/>
              <a:t>Reference points from the Schaefer Model</a:t>
            </a:r>
            <a:r>
              <a:rPr lang="en-US" baseline="30000" dirty="0"/>
              <a:t>1</a:t>
            </a:r>
          </a:p>
        </p:txBody>
      </p:sp>
      <p:sp>
        <p:nvSpPr>
          <p:cNvPr id="14" name="TextBox 13"/>
          <p:cNvSpPr txBox="1"/>
          <p:nvPr/>
        </p:nvSpPr>
        <p:spPr>
          <a:xfrm>
            <a:off x="260808" y="6176963"/>
            <a:ext cx="11670383" cy="646331"/>
          </a:xfrm>
          <a:prstGeom prst="rect">
            <a:avLst/>
          </a:prstGeom>
          <a:solidFill>
            <a:schemeClr val="accent1">
              <a:alpha val="25000"/>
            </a:schemeClr>
          </a:solidFill>
          <a:ln>
            <a:solidFill>
              <a:schemeClr val="accent1">
                <a:lumMod val="50000"/>
              </a:schemeClr>
            </a:solidFill>
          </a:ln>
        </p:spPr>
        <p:txBody>
          <a:bodyPr wrap="square" rtlCol="0">
            <a:spAutoFit/>
          </a:bodyPr>
          <a:lstStyle/>
          <a:p>
            <a:pPr marL="342900" indent="-342900">
              <a:buAutoNum type="arabicPeriod"/>
            </a:pPr>
            <a:r>
              <a:rPr lang="en-US" dirty="0">
                <a:solidFill>
                  <a:schemeClr val="tx2"/>
                </a:solidFill>
              </a:rPr>
              <a:t>Hilborn R. and Walters, C.J. 1992. Quantitative fisheries stock assessment: choice, dynamics and uncertainty. Chapman and Hall, New York. 570 pp.</a:t>
            </a:r>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1A13328C-AA9F-4A63-811E-2BF0FC83AB50}"/>
                  </a:ext>
                </a:extLst>
              </p:cNvPr>
              <p:cNvSpPr>
                <a:spLocks noGrp="1"/>
              </p:cNvSpPr>
              <p:nvPr>
                <p:ph idx="1"/>
              </p:nvPr>
            </p:nvSpPr>
            <p:spPr>
              <a:xfrm>
                <a:off x="838200" y="1527142"/>
                <a:ext cx="10515600" cy="4440025"/>
              </a:xfrm>
            </p:spPr>
            <p:txBody>
              <a:bodyPr>
                <a:normAutofit lnSpcReduction="10000"/>
              </a:bodyPr>
              <a:lstStyle/>
              <a:p>
                <a:r>
                  <a:rPr lang="en-US" dirty="0"/>
                  <a:t>Schaefer Model</a:t>
                </a:r>
                <a:r>
                  <a:rPr lang="en-US" baseline="30000" dirty="0"/>
                  <a:t>1</a:t>
                </a:r>
                <a:r>
                  <a:rPr lang="en-US" dirty="0"/>
                  <a:t>: </a:t>
                </a:r>
              </a:p>
              <a:p>
                <a:pPr marL="0" indent="0">
                  <a:buNone/>
                </a:pPr>
                <a:endParaRPr lang="en-US" i="1" dirty="0">
                  <a:effectLst/>
                  <a:latin typeface="Cambria Math" panose="02040503050406030204" pitchFamily="18" charset="0"/>
                  <a:ea typeface="Cambria Math" panose="02040503050406030204" pitchFamily="18" charset="0"/>
                  <a:cs typeface="Cambria Math" panose="02040503050406030204" pitchFamily="18" charset="0"/>
                </a:endParaRPr>
              </a:p>
              <a:p>
                <a:pPr marL="0" indent="0" algn="ctr">
                  <a:buNone/>
                </a:pPr>
                <a14:m>
                  <m:oMath xmlns:m="http://schemas.openxmlformats.org/officeDocument/2006/math">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r>
                          <a:rPr lang="en-US" sz="4000" i="1">
                            <a:effectLst/>
                            <a:latin typeface="Cambria Math" panose="02040503050406030204" pitchFamily="18" charset="0"/>
                            <a:ea typeface="Cambria Math" panose="02040503050406030204" pitchFamily="18" charset="0"/>
                            <a:cs typeface="Cambria Math" panose="02040503050406030204" pitchFamily="18" charset="0"/>
                          </a:rPr>
                          <m:t>+1</m:t>
                        </m:r>
                      </m:sub>
                    </m:sSub>
                    <m:r>
                      <a:rPr lang="en-US" sz="4000"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r>
                      <a:rPr lang="en-US" sz="4000" i="1">
                        <a:effectLst/>
                        <a:latin typeface="Cambria Math" panose="02040503050406030204" pitchFamily="18" charset="0"/>
                        <a:ea typeface="Cambria Math" panose="02040503050406030204" pitchFamily="18" charset="0"/>
                        <a:cs typeface="Cambria Math" panose="02040503050406030204" pitchFamily="18" charset="0"/>
                      </a:rPr>
                      <m:t>+</m:t>
                    </m:r>
                    <m:r>
                      <a:rPr lang="en-US" sz="4000" i="1" smtClean="0">
                        <a:solidFill>
                          <a:srgbClr val="7030A0"/>
                        </a:solidFill>
                        <a:effectLst/>
                        <a:latin typeface="Cambria Math" panose="02040503050406030204" pitchFamily="18" charset="0"/>
                        <a:ea typeface="Cambria Math" panose="02040503050406030204" pitchFamily="18" charset="0"/>
                        <a:cs typeface="Cambria Math" panose="02040503050406030204" pitchFamily="18" charset="0"/>
                      </a:rPr>
                      <m:t>𝑟</m:t>
                    </m:r>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d>
                      <m:d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dPr>
                      <m:e>
                        <m:r>
                          <a:rPr lang="en-US" sz="4000" i="1">
                            <a:effectLst/>
                            <a:latin typeface="Cambria Math" panose="02040503050406030204" pitchFamily="18" charset="0"/>
                            <a:ea typeface="Cambria Math" panose="02040503050406030204" pitchFamily="18" charset="0"/>
                            <a:cs typeface="Cambria Math" panose="02040503050406030204" pitchFamily="18" charset="0"/>
                          </a:rPr>
                          <m:t>1−</m:t>
                        </m:r>
                        <m:f>
                          <m:fPr>
                            <m:ctrlPr>
                              <a:rPr lang="en-US" sz="5400" i="1">
                                <a:effectLst/>
                                <a:latin typeface="Cambria Math" panose="02040503050406030204" pitchFamily="18" charset="0"/>
                                <a:ea typeface="Cambria Math" panose="02040503050406030204" pitchFamily="18" charset="0"/>
                                <a:cs typeface="Cambria Math" panose="02040503050406030204" pitchFamily="18" charset="0"/>
                              </a:rPr>
                            </m:ctrlPr>
                          </m:fPr>
                          <m:num>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num>
                          <m:den>
                            <m:r>
                              <a:rPr lang="en-US" sz="4000" i="1" smtClean="0">
                                <a:solidFill>
                                  <a:srgbClr val="C00000"/>
                                </a:solidFill>
                                <a:effectLst/>
                                <a:latin typeface="Cambria Math" panose="02040503050406030204" pitchFamily="18" charset="0"/>
                                <a:ea typeface="Cambria Math" panose="02040503050406030204" pitchFamily="18" charset="0"/>
                                <a:cs typeface="Cambria Math" panose="02040503050406030204" pitchFamily="18" charset="0"/>
                              </a:rPr>
                              <m:t>𝐾</m:t>
                            </m:r>
                          </m:den>
                        </m:f>
                      </m:e>
                    </m:d>
                    <m:r>
                      <a:rPr lang="en-US" sz="4000" i="1">
                        <a:effectLst/>
                        <a:latin typeface="Cambria Math" panose="02040503050406030204" pitchFamily="18" charset="0"/>
                        <a:ea typeface="Cambria Math" panose="02040503050406030204" pitchFamily="18" charset="0"/>
                        <a:cs typeface="Cambria Math" panose="02040503050406030204" pitchFamily="18" charset="0"/>
                      </a:rPr>
                      <m:t>−</m:t>
                    </m:r>
                    <m:sSub>
                      <m:sSub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effectLst/>
                            <a:latin typeface="Cambria Math" panose="02040503050406030204" pitchFamily="18" charset="0"/>
                            <a:ea typeface="Cambria Math" panose="02040503050406030204" pitchFamily="18" charset="0"/>
                            <a:cs typeface="Cambria Math" panose="02040503050406030204" pitchFamily="18" charset="0"/>
                          </a:rPr>
                          <m:t>𝐶</m:t>
                        </m:r>
                      </m:e>
                      <m:sub>
                        <m:r>
                          <a:rPr lang="en-US" sz="4000" i="1">
                            <a:effectLst/>
                            <a:latin typeface="Cambria Math" panose="02040503050406030204" pitchFamily="18" charset="0"/>
                            <a:ea typeface="Cambria Math" panose="02040503050406030204" pitchFamily="18" charset="0"/>
                            <a:cs typeface="Cambria Math" panose="02040503050406030204" pitchFamily="18" charset="0"/>
                          </a:rPr>
                          <m:t>𝑡</m:t>
                        </m:r>
                      </m:sub>
                    </m:sSub>
                  </m:oMath>
                </a14:m>
                <a:r>
                  <a:rPr lang="en-US" sz="4000" dirty="0">
                    <a:effectLst/>
                    <a:latin typeface="Arial" panose="020B0604020202020204" pitchFamily="34" charset="0"/>
                    <a:ea typeface="Times New Roman" panose="02020603050405020304" pitchFamily="18" charset="0"/>
                    <a:cs typeface="Times New Roman" panose="02020603050405020304" pitchFamily="18" charset="0"/>
                  </a:rPr>
                  <a:t> 	</a:t>
                </a:r>
              </a:p>
              <a:p>
                <a:pPr marL="0" indent="0" algn="ctr">
                  <a:buNone/>
                </a:pPr>
                <a:endParaRPr lang="en-US" sz="20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sz="2400" dirty="0">
                  <a:effectLst/>
                  <a:ea typeface="Cambria Math" panose="02040503050406030204" pitchFamily="18" charset="0"/>
                  <a:cs typeface="Cambria Math" panose="02040503050406030204" pitchFamily="18" charset="0"/>
                </a:endParaRPr>
              </a:p>
              <a:p>
                <a:pPr marL="0" indent="0">
                  <a:buNone/>
                </a:pPr>
                <a:r>
                  <a:rPr lang="en-US" sz="2400" dirty="0">
                    <a:effectLst/>
                    <a:ea typeface="Cambria Math" panose="02040503050406030204" pitchFamily="18" charset="0"/>
                    <a:cs typeface="Cambria Math" panose="02040503050406030204" pitchFamily="18" charset="0"/>
                  </a:rPr>
                  <a:t>The model has two estimated parameters:</a:t>
                </a:r>
              </a:p>
              <a:p>
                <a:pPr marL="0" indent="0">
                  <a:buNone/>
                </a:pPr>
                <a14:m>
                  <m:oMath xmlns:m="http://schemas.openxmlformats.org/officeDocument/2006/math">
                    <m:r>
                      <m:rPr>
                        <m:sty m:val="p"/>
                      </m:rPr>
                      <a:rPr lang="en-US" sz="2400" b="0" i="0" smtClean="0">
                        <a:solidFill>
                          <a:srgbClr val="7030A0"/>
                        </a:solidFill>
                        <a:latin typeface="Cambria Math" panose="02040503050406030204" pitchFamily="18" charset="0"/>
                        <a:ea typeface="Cambria Math" panose="02040503050406030204" pitchFamily="18" charset="0"/>
                        <a:cs typeface="Cambria Math" panose="02040503050406030204" pitchFamily="18" charset="0"/>
                      </a:rPr>
                      <m:t>r</m:t>
                    </m:r>
                  </m:oMath>
                </a14:m>
                <a:r>
                  <a:rPr lang="en-US" sz="2400" dirty="0">
                    <a:solidFill>
                      <a:srgbClr val="7030A0"/>
                    </a:solidFill>
                    <a:latin typeface="Arial" panose="020B0604020202020204" pitchFamily="34" charset="0"/>
                    <a:cs typeface="Times New Roman" panose="02020603050405020304" pitchFamily="18" charset="0"/>
                  </a:rPr>
                  <a:t> = intrinsic rate of population growth </a:t>
                </a:r>
              </a:p>
              <a:p>
                <a:pPr marL="0" indent="0">
                  <a:buNone/>
                </a:pPr>
                <a14:m>
                  <m:oMath xmlns:m="http://schemas.openxmlformats.org/officeDocument/2006/math">
                    <m:r>
                      <m:rPr>
                        <m:sty m:val="p"/>
                      </m:rPr>
                      <a:rPr lang="en-US" sz="2400" b="0" i="0" smtClean="0">
                        <a:solidFill>
                          <a:srgbClr val="C00000"/>
                        </a:solidFill>
                        <a:latin typeface="Cambria Math" panose="02040503050406030204" pitchFamily="18" charset="0"/>
                        <a:ea typeface="Cambria Math" panose="02040503050406030204" pitchFamily="18" charset="0"/>
                        <a:cs typeface="Cambria Math" panose="02040503050406030204" pitchFamily="18" charset="0"/>
                      </a:rPr>
                      <m:t>K</m:t>
                    </m:r>
                  </m:oMath>
                </a14:m>
                <a:r>
                  <a:rPr lang="en-US" sz="2400" dirty="0">
                    <a:solidFill>
                      <a:srgbClr val="C00000"/>
                    </a:solidFill>
                    <a:latin typeface="Arial" panose="020B0604020202020204" pitchFamily="34" charset="0"/>
                    <a:cs typeface="Times New Roman" panose="02020603050405020304" pitchFamily="18" charset="0"/>
                  </a:rPr>
                  <a:t> = carrying capacity</a:t>
                </a:r>
              </a:p>
              <a:p>
                <a:pPr marL="0" indent="0">
                  <a:buNone/>
                </a:pPr>
                <a:endParaRPr lang="en-US" dirty="0"/>
              </a:p>
            </p:txBody>
          </p:sp>
        </mc:Choice>
        <mc:Fallback xmlns="">
          <p:sp>
            <p:nvSpPr>
              <p:cNvPr id="15" name="Content Placeholder 2">
                <a:extLst>
                  <a:ext uri="{FF2B5EF4-FFF2-40B4-BE49-F238E27FC236}">
                    <a16:creationId xmlns:a16="http://schemas.microsoft.com/office/drawing/2014/main" id="{1A13328C-AA9F-4A63-811E-2BF0FC83AB50}"/>
                  </a:ext>
                </a:extLst>
              </p:cNvPr>
              <p:cNvSpPr>
                <a:spLocks noGrp="1" noRot="1" noChangeAspect="1" noMove="1" noResize="1" noEditPoints="1" noAdjustHandles="1" noChangeArrowheads="1" noChangeShapeType="1" noTextEdit="1"/>
              </p:cNvSpPr>
              <p:nvPr>
                <p:ph idx="1"/>
              </p:nvPr>
            </p:nvSpPr>
            <p:spPr>
              <a:xfrm>
                <a:off x="838200" y="1527142"/>
                <a:ext cx="10515600" cy="4440025"/>
              </a:xfrm>
              <a:blipFill>
                <a:blip r:embed="rId2"/>
                <a:stretch>
                  <a:fillRect l="-1043" t="-3159"/>
                </a:stretch>
              </a:blipFill>
            </p:spPr>
            <p:txBody>
              <a:bodyPr/>
              <a:lstStyle/>
              <a:p>
                <a:r>
                  <a:rPr lang="en-US">
                    <a:noFill/>
                  </a:rPr>
                  <a:t> </a:t>
                </a:r>
              </a:p>
            </p:txBody>
          </p:sp>
        </mc:Fallback>
      </mc:AlternateContent>
      <p:sp>
        <p:nvSpPr>
          <p:cNvPr id="18" name="Left Brace 17">
            <a:extLst>
              <a:ext uri="{FF2B5EF4-FFF2-40B4-BE49-F238E27FC236}">
                <a16:creationId xmlns:a16="http://schemas.microsoft.com/office/drawing/2014/main" id="{5965A79F-A7C1-4AB2-8A08-3FF50A82BF93}"/>
              </a:ext>
            </a:extLst>
          </p:cNvPr>
          <p:cNvSpPr/>
          <p:nvPr/>
        </p:nvSpPr>
        <p:spPr>
          <a:xfrm rot="5400000">
            <a:off x="6414430" y="900557"/>
            <a:ext cx="411060" cy="2659310"/>
          </a:xfrm>
          <a:prstGeom prst="leftBrace">
            <a:avLst>
              <a:gd name="adj1" fmla="val 42858"/>
              <a:gd name="adj2" fmla="val 49703"/>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E5584BF-F86D-4116-8640-62D64836A7CE}"/>
                  </a:ext>
                </a:extLst>
              </p:cNvPr>
              <p:cNvSpPr txBox="1"/>
              <p:nvPr/>
            </p:nvSpPr>
            <p:spPr>
              <a:xfrm>
                <a:off x="6095999" y="1439907"/>
                <a:ext cx="1199627" cy="584775"/>
              </a:xfrm>
              <a:prstGeom prst="rect">
                <a:avLst/>
              </a:prstGeom>
              <a:noFill/>
            </p:spPr>
            <p:txBody>
              <a:bodyPr wrap="square">
                <a:spAutoFit/>
              </a:bodyPr>
              <a:lstStyle/>
              <a:p>
                <a:pPr/>
                <a14:m>
                  <m:oMathPara xmlns:m="http://schemas.openxmlformats.org/officeDocument/2006/math">
                    <m:oMath>
                      <m:sSub>
                        <m:sSubPr>
                          <m:ctrlPr>
                            <a:rPr lang="en-US" sz="3200" b="0" i="1" smtClean="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3200" b="0" i="1" smtClean="0">
                              <a:effectLst/>
                              <a:latin typeface="Cambria Math" panose="02040503050406030204" pitchFamily="18" charset="0"/>
                              <a:ea typeface="Cambria Math" panose="02040503050406030204" pitchFamily="18" charset="0"/>
                              <a:cs typeface="Cambria Math" panose="02040503050406030204" pitchFamily="18" charset="0"/>
                            </a:rPr>
                            <m:t>𝑆𝑃</m:t>
                          </m:r>
                        </m:e>
                        <m:sub>
                          <m:r>
                            <a:rPr lang="en-US" sz="3200" i="1">
                              <a:effectLst/>
                              <a:latin typeface="Cambria Math" panose="02040503050406030204" pitchFamily="18" charset="0"/>
                              <a:ea typeface="Cambria Math" panose="02040503050406030204" pitchFamily="18" charset="0"/>
                              <a:cs typeface="Cambria Math" panose="02040503050406030204" pitchFamily="18" charset="0"/>
                            </a:rPr>
                            <m:t>𝑡</m:t>
                          </m:r>
                        </m:sub>
                      </m:sSub>
                    </m:oMath>
                  </m:oMathPara>
                </a14:m>
                <a:endParaRPr lang="en-US" sz="3200" dirty="0"/>
              </a:p>
            </p:txBody>
          </p:sp>
        </mc:Choice>
        <mc:Fallback xmlns="">
          <p:sp>
            <p:nvSpPr>
              <p:cNvPr id="19" name="TextBox 18">
                <a:extLst>
                  <a:ext uri="{FF2B5EF4-FFF2-40B4-BE49-F238E27FC236}">
                    <a16:creationId xmlns:a16="http://schemas.microsoft.com/office/drawing/2014/main" id="{9E5584BF-F86D-4116-8640-62D64836A7CE}"/>
                  </a:ext>
                </a:extLst>
              </p:cNvPr>
              <p:cNvSpPr txBox="1">
                <a:spLocks noRot="1" noChangeAspect="1" noMove="1" noResize="1" noEditPoints="1" noAdjustHandles="1" noChangeArrowheads="1" noChangeShapeType="1" noTextEdit="1"/>
              </p:cNvSpPr>
              <p:nvPr/>
            </p:nvSpPr>
            <p:spPr>
              <a:xfrm>
                <a:off x="6095999" y="1439907"/>
                <a:ext cx="1199627" cy="584775"/>
              </a:xfrm>
              <a:prstGeom prst="rect">
                <a:avLst/>
              </a:prstGeom>
              <a:blipFill>
                <a:blip r:embed="rId3"/>
                <a:stretch>
                  <a:fillRect/>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EEDFA2F9-C25F-4A63-B46B-7B5C200A39D1}" type="slidenum">
              <a:rPr lang="en-CA" smtClean="0"/>
              <a:t>36</a:t>
            </a:fld>
            <a:endParaRPr lang="en-CA"/>
          </a:p>
        </p:txBody>
      </p:sp>
    </p:spTree>
    <p:extLst>
      <p:ext uri="{BB962C8B-B14F-4D97-AF65-F5344CB8AC3E}">
        <p14:creationId xmlns:p14="http://schemas.microsoft.com/office/powerpoint/2010/main" val="3730178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CBB4-66B3-4A2C-9159-CCE70C52D843}"/>
              </a:ext>
            </a:extLst>
          </p:cNvPr>
          <p:cNvSpPr>
            <a:spLocks noGrp="1"/>
          </p:cNvSpPr>
          <p:nvPr>
            <p:ph type="title"/>
          </p:nvPr>
        </p:nvSpPr>
        <p:spPr>
          <a:xfrm>
            <a:off x="838200" y="365125"/>
            <a:ext cx="10832184" cy="1325563"/>
          </a:xfrm>
        </p:spPr>
        <p:txBody>
          <a:bodyPr/>
          <a:lstStyle/>
          <a:p>
            <a:r>
              <a:rPr lang="en-US" dirty="0"/>
              <a:t>Reference points from the Schaefer Model</a:t>
            </a:r>
            <a:endParaRPr lang="en-US" baseline="30000" dirty="0"/>
          </a:p>
        </p:txBody>
      </p:sp>
      <mc:AlternateContent xmlns:mc="http://schemas.openxmlformats.org/markup-compatibility/2006" xmlns:a14="http://schemas.microsoft.com/office/drawing/2010/main">
        <mc:Choice Requires="a14">
          <p:sp>
            <p:nvSpPr>
              <p:cNvPr id="15" name="Content Placeholder 2">
                <a:extLst>
                  <a:ext uri="{FF2B5EF4-FFF2-40B4-BE49-F238E27FC236}">
                    <a16:creationId xmlns:a16="http://schemas.microsoft.com/office/drawing/2014/main" id="{1A13328C-AA9F-4A63-811E-2BF0FC83AB50}"/>
                  </a:ext>
                </a:extLst>
              </p:cNvPr>
              <p:cNvSpPr>
                <a:spLocks noGrp="1"/>
              </p:cNvSpPr>
              <p:nvPr>
                <p:ph idx="1"/>
              </p:nvPr>
            </p:nvSpPr>
            <p:spPr>
              <a:xfrm>
                <a:off x="838200" y="1527142"/>
                <a:ext cx="10515600" cy="4440025"/>
              </a:xfrm>
            </p:spPr>
            <p:txBody>
              <a:bodyPr>
                <a:normAutofit/>
              </a:bodyPr>
              <a:lstStyle/>
              <a:p>
                <a:r>
                  <a:rPr lang="en-US" dirty="0"/>
                  <a:t>Our reference point calculations depend on the model parameters </a:t>
                </a:r>
                <a14:m>
                  <m:oMath xmlns:m="http://schemas.openxmlformats.org/officeDocument/2006/math">
                    <m:r>
                      <m:rPr>
                        <m:sty m:val="p"/>
                      </m:rPr>
                      <a:rPr lang="en-US" sz="2800" b="0" i="0" smtClean="0">
                        <a:solidFill>
                          <a:srgbClr val="7030A0"/>
                        </a:solidFill>
                        <a:latin typeface="Cambria Math" panose="02040503050406030204" pitchFamily="18" charset="0"/>
                        <a:ea typeface="Cambria Math" panose="02040503050406030204" pitchFamily="18" charset="0"/>
                        <a:cs typeface="Cambria Math" panose="02040503050406030204" pitchFamily="18" charset="0"/>
                      </a:rPr>
                      <m:t>r</m:t>
                    </m:r>
                    <m:r>
                      <a:rPr lang="en-US" sz="2800" b="0" i="1" smtClean="0">
                        <a:solidFill>
                          <a:srgbClr val="7030A0"/>
                        </a:solidFill>
                        <a:latin typeface="Cambria Math" panose="02040503050406030204" pitchFamily="18" charset="0"/>
                        <a:ea typeface="Cambria Math" panose="02040503050406030204" pitchFamily="18" charset="0"/>
                        <a:cs typeface="Cambria Math" panose="02040503050406030204" pitchFamily="18" charset="0"/>
                      </a:rPr>
                      <m:t> </m:t>
                    </m:r>
                  </m:oMath>
                </a14:m>
                <a:r>
                  <a:rPr lang="en-US" dirty="0"/>
                  <a:t>and </a:t>
                </a:r>
                <a14:m>
                  <m:oMath xmlns:m="http://schemas.openxmlformats.org/officeDocument/2006/math">
                    <m:r>
                      <a:rPr lang="en-US"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oMath>
                </a14:m>
                <a:endParaRPr lang="en-US" dirty="0"/>
              </a:p>
              <a:p>
                <a:r>
                  <a:rPr lang="en-US" dirty="0"/>
                  <a:t>We can derive formulas for:</a:t>
                </a:r>
              </a:p>
              <a:p>
                <a:pPr lvl="1"/>
                <a14:m>
                  <m:oMath xmlns:m="http://schemas.openxmlformats.org/officeDocument/2006/math">
                    <m:r>
                      <a:rPr lang="en-US" b="0" i="1" dirty="0" smtClean="0">
                        <a:latin typeface="Cambria Math" panose="02040503050406030204" pitchFamily="18" charset="0"/>
                        <a:ea typeface="Times New Roman" panose="02020603050405020304" pitchFamily="18" charset="0"/>
                        <a:cs typeface="Arial" panose="020B0604020202020204" pitchFamily="34" charset="0"/>
                      </a:rPr>
                      <m:t>𝐵</m:t>
                    </m:r>
                    <m:r>
                      <m:rPr>
                        <m:sty m:val="p"/>
                      </m:rPr>
                      <a:rPr lang="en-US" baseline="-25000" dirty="0">
                        <a:latin typeface="Cambria Math" panose="02040503050406030204" pitchFamily="18" charset="0"/>
                        <a:ea typeface="Times New Roman" panose="02020603050405020304" pitchFamily="18" charset="0"/>
                        <a:cs typeface="Arial" panose="020B0604020202020204" pitchFamily="34" charset="0"/>
                      </a:rPr>
                      <m:t>MSY</m:t>
                    </m:r>
                  </m:oMath>
                </a14:m>
                <a:endParaRPr lang="en-US" dirty="0"/>
              </a:p>
              <a:p>
                <a:pPr lvl="1"/>
                <a14:m>
                  <m:oMath xmlns:m="http://schemas.openxmlformats.org/officeDocument/2006/math">
                    <m:r>
                      <m:rPr>
                        <m:sty m:val="p"/>
                      </m:rPr>
                      <a:rPr lang="en-US" b="0" i="0" dirty="0" smtClean="0">
                        <a:latin typeface="Cambria Math" panose="02040503050406030204" pitchFamily="18" charset="0"/>
                        <a:ea typeface="Times New Roman" panose="02020603050405020304" pitchFamily="18" charset="0"/>
                        <a:cs typeface="Arial" panose="020B0604020202020204" pitchFamily="34" charset="0"/>
                      </a:rPr>
                      <m:t>MSY</m:t>
                    </m:r>
                  </m:oMath>
                </a14:m>
                <a:endParaRPr lang="en-US" dirty="0"/>
              </a:p>
              <a:p>
                <a:pPr lvl="1"/>
                <a14:m>
                  <m:oMath xmlns:m="http://schemas.openxmlformats.org/officeDocument/2006/math">
                    <m:r>
                      <a:rPr lang="en-US" b="0" i="1" dirty="0" smtClean="0">
                        <a:latin typeface="Cambria Math" panose="02040503050406030204" pitchFamily="18" charset="0"/>
                        <a:ea typeface="Times New Roman" panose="02020603050405020304" pitchFamily="18" charset="0"/>
                        <a:cs typeface="Arial" panose="020B0604020202020204" pitchFamily="34" charset="0"/>
                      </a:rPr>
                      <m:t>𝑈</m:t>
                    </m:r>
                    <m:r>
                      <m:rPr>
                        <m:sty m:val="p"/>
                      </m:rPr>
                      <a:rPr lang="en-US" baseline="-25000" dirty="0">
                        <a:latin typeface="Cambria Math" panose="02040503050406030204" pitchFamily="18" charset="0"/>
                        <a:ea typeface="Times New Roman" panose="02020603050405020304" pitchFamily="18" charset="0"/>
                        <a:cs typeface="Arial" panose="020B0604020202020204" pitchFamily="34" charset="0"/>
                      </a:rPr>
                      <m:t>MSY</m:t>
                    </m:r>
                  </m:oMath>
                </a14:m>
                <a:r>
                  <a:rPr lang="en-US" dirty="0"/>
                  <a:t> = harvest rate at </a:t>
                </a:r>
                <a14:m>
                  <m:oMath xmlns:m="http://schemas.openxmlformats.org/officeDocument/2006/math">
                    <m:r>
                      <m:rPr>
                        <m:sty m:val="p"/>
                      </m:rPr>
                      <a:rPr lang="en-US" dirty="0">
                        <a:latin typeface="Cambria Math" panose="02040503050406030204" pitchFamily="18" charset="0"/>
                        <a:ea typeface="Times New Roman" panose="02020603050405020304" pitchFamily="18" charset="0"/>
                        <a:cs typeface="Arial" panose="020B0604020202020204" pitchFamily="34" charset="0"/>
                      </a:rPr>
                      <m:t>MSY</m:t>
                    </m:r>
                  </m:oMath>
                </a14:m>
                <a:endParaRPr lang="en-US" dirty="0"/>
              </a:p>
              <a:p>
                <a:pPr lvl="1"/>
                <a:endParaRPr lang="en-US" dirty="0"/>
              </a:p>
              <a:p>
                <a:endParaRPr lang="en-US" dirty="0"/>
              </a:p>
            </p:txBody>
          </p:sp>
        </mc:Choice>
        <mc:Fallback xmlns="">
          <p:sp>
            <p:nvSpPr>
              <p:cNvPr id="15" name="Content Placeholder 2">
                <a:extLst>
                  <a:ext uri="{FF2B5EF4-FFF2-40B4-BE49-F238E27FC236}">
                    <a16:creationId xmlns:a16="http://schemas.microsoft.com/office/drawing/2014/main" id="{1A13328C-AA9F-4A63-811E-2BF0FC83AB50}"/>
                  </a:ext>
                </a:extLst>
              </p:cNvPr>
              <p:cNvSpPr>
                <a:spLocks noGrp="1" noRot="1" noChangeAspect="1" noMove="1" noResize="1" noEditPoints="1" noAdjustHandles="1" noChangeArrowheads="1" noChangeShapeType="1" noTextEdit="1"/>
              </p:cNvSpPr>
              <p:nvPr>
                <p:ph idx="1"/>
              </p:nvPr>
            </p:nvSpPr>
            <p:spPr>
              <a:xfrm>
                <a:off x="838200" y="1527142"/>
                <a:ext cx="10515600" cy="4440025"/>
              </a:xfrm>
              <a:blipFill>
                <a:blip r:embed="rId2"/>
                <a:stretch>
                  <a:fillRect l="-1043" t="-2335"/>
                </a:stretch>
              </a:blipFill>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EEDFA2F9-C25F-4A63-B46B-7B5C200A39D1}" type="slidenum">
              <a:rPr lang="en-CA" smtClean="0"/>
              <a:t>37</a:t>
            </a:fld>
            <a:endParaRPr lang="en-CA"/>
          </a:p>
        </p:txBody>
      </p:sp>
    </p:spTree>
    <p:extLst>
      <p:ext uri="{BB962C8B-B14F-4D97-AF65-F5344CB8AC3E}">
        <p14:creationId xmlns:p14="http://schemas.microsoft.com/office/powerpoint/2010/main" val="29157237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5D6CBB4-66B3-4A2C-9159-CCE70C52D843}"/>
                  </a:ext>
                </a:extLst>
              </p:cNvPr>
              <p:cNvSpPr>
                <a:spLocks noGrp="1"/>
              </p:cNvSpPr>
              <p:nvPr>
                <p:ph type="title"/>
              </p:nvPr>
            </p:nvSpPr>
            <p:spPr>
              <a:xfrm>
                <a:off x="838200" y="365126"/>
                <a:ext cx="10515600" cy="1182660"/>
              </a:xfrm>
            </p:spPr>
            <p:txBody>
              <a:bodyPr>
                <a:normAutofit/>
              </a:bodyPr>
              <a:lstStyle/>
              <a:p>
                <a14:m>
                  <m:oMath xmlns:m="http://schemas.openxmlformats.org/officeDocument/2006/math">
                    <m:r>
                      <a:rPr lang="en-US" b="0" i="1" dirty="0" smtClean="0">
                        <a:latin typeface="Cambria Math" panose="02040503050406030204" pitchFamily="18" charset="0"/>
                        <a:ea typeface="Times New Roman" panose="02020603050405020304" pitchFamily="18" charset="0"/>
                        <a:cs typeface="Arial" panose="020B0604020202020204" pitchFamily="34" charset="0"/>
                      </a:rPr>
                      <m:t>𝐵</m:t>
                    </m:r>
                    <m:r>
                      <m:rPr>
                        <m:sty m:val="p"/>
                      </m:rPr>
                      <a:rPr lang="en-US" baseline="-25000" dirty="0">
                        <a:latin typeface="Cambria Math" panose="02040503050406030204" pitchFamily="18" charset="0"/>
                        <a:ea typeface="Times New Roman" panose="02020603050405020304" pitchFamily="18" charset="0"/>
                        <a:cs typeface="Arial" panose="020B0604020202020204" pitchFamily="34" charset="0"/>
                      </a:rPr>
                      <m:t>MSY</m:t>
                    </m:r>
                  </m:oMath>
                </a14:m>
                <a:r>
                  <a:rPr lang="en-US" dirty="0"/>
                  <a:t> from the Schaefer Model</a:t>
                </a:r>
              </a:p>
            </p:txBody>
          </p:sp>
        </mc:Choice>
        <mc:Fallback xmlns="">
          <p:sp>
            <p:nvSpPr>
              <p:cNvPr id="2" name="Title 1">
                <a:extLst>
                  <a:ext uri="{FF2B5EF4-FFF2-40B4-BE49-F238E27FC236}">
                    <a16:creationId xmlns:a16="http://schemas.microsoft.com/office/drawing/2014/main" id="{C5D6CBB4-66B3-4A2C-9159-CCE70C52D843}"/>
                  </a:ext>
                </a:extLst>
              </p:cNvPr>
              <p:cNvSpPr>
                <a:spLocks noGrp="1" noRot="1" noChangeAspect="1" noMove="1" noResize="1" noEditPoints="1" noAdjustHandles="1" noChangeArrowheads="1" noChangeShapeType="1" noTextEdit="1"/>
              </p:cNvSpPr>
              <p:nvPr>
                <p:ph type="title"/>
              </p:nvPr>
            </p:nvSpPr>
            <p:spPr>
              <a:xfrm>
                <a:off x="838200" y="365126"/>
                <a:ext cx="10515600" cy="1182660"/>
              </a:xfrm>
              <a:blipFill>
                <a:blip r:embed="rId2"/>
                <a:stretch>
                  <a:fillRect b="-41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458C2E-3B88-4EAA-9F99-FC7EA2FD9ED5}"/>
                  </a:ext>
                </a:extLst>
              </p:cNvPr>
              <p:cNvSpPr>
                <a:spLocks noGrp="1"/>
              </p:cNvSpPr>
              <p:nvPr>
                <p:ph idx="1"/>
              </p:nvPr>
            </p:nvSpPr>
            <p:spPr>
              <a:xfrm>
                <a:off x="838199" y="1547786"/>
                <a:ext cx="11038815" cy="5033377"/>
              </a:xfrm>
            </p:spPr>
            <p:txBody>
              <a:bodyPr>
                <a:normAutofit/>
              </a:bodyPr>
              <a:lstStyle/>
              <a:p>
                <a:pPr marL="0" indent="0">
                  <a:buNone/>
                </a:pPr>
                <a14:m>
                  <m:oMath xmlns:m="http://schemas.openxmlformats.org/officeDocument/2006/math">
                    <m:sSub>
                      <m:sSubPr>
                        <m:ctrlPr>
                          <a:rPr lang="en-US" b="0" i="1" smtClean="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b="0" i="1" smtClean="0">
                            <a:effectLst/>
                            <a:latin typeface="Cambria Math" panose="02040503050406030204" pitchFamily="18" charset="0"/>
                            <a:ea typeface="Cambria Math" panose="02040503050406030204" pitchFamily="18" charset="0"/>
                            <a:cs typeface="Cambria Math" panose="02040503050406030204" pitchFamily="18" charset="0"/>
                          </a:rPr>
                          <m:t>𝑆𝑃</m:t>
                        </m:r>
                      </m:e>
                      <m:sub>
                        <m:r>
                          <a:rPr lang="en-US" i="1">
                            <a:effectLst/>
                            <a:latin typeface="Cambria Math" panose="02040503050406030204" pitchFamily="18" charset="0"/>
                            <a:ea typeface="Cambria Math" panose="02040503050406030204" pitchFamily="18" charset="0"/>
                            <a:cs typeface="Cambria Math" panose="02040503050406030204" pitchFamily="18" charset="0"/>
                          </a:rPr>
                          <m:t>𝑡</m:t>
                        </m:r>
                      </m:sub>
                    </m:sSub>
                    <m:r>
                      <a:rPr lang="en-US"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n-US" i="1" smtClean="0">
                        <a:solidFill>
                          <a:srgbClr val="7030A0"/>
                        </a:solidFill>
                        <a:effectLst/>
                        <a:latin typeface="Cambria Math" panose="02040503050406030204" pitchFamily="18" charset="0"/>
                        <a:ea typeface="Cambria Math" panose="02040503050406030204" pitchFamily="18" charset="0"/>
                        <a:cs typeface="Cambria Math" panose="02040503050406030204" pitchFamily="18" charset="0"/>
                      </a:rPr>
                      <m:t>𝑟</m:t>
                    </m:r>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i="1">
                            <a:effectLst/>
                            <a:latin typeface="Cambria Math" panose="02040503050406030204" pitchFamily="18" charset="0"/>
                            <a:ea typeface="Cambria Math" panose="02040503050406030204" pitchFamily="18" charset="0"/>
                            <a:cs typeface="Cambria Math" panose="02040503050406030204" pitchFamily="18" charset="0"/>
                          </a:rPr>
                          <m:t>𝑡</m:t>
                        </m:r>
                      </m:sub>
                    </m:sSub>
                    <m:d>
                      <m:d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dPr>
                      <m:e>
                        <m:r>
                          <a:rPr lang="en-US" i="1">
                            <a:effectLst/>
                            <a:latin typeface="Cambria Math" panose="02040503050406030204" pitchFamily="18" charset="0"/>
                            <a:ea typeface="Cambria Math" panose="02040503050406030204" pitchFamily="18" charset="0"/>
                            <a:cs typeface="Cambria Math" panose="02040503050406030204" pitchFamily="18" charset="0"/>
                          </a:rPr>
                          <m:t>1−</m:t>
                        </m:r>
                        <m:f>
                          <m:f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fPr>
                          <m:num>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i="1">
                                    <a:effectLst/>
                                    <a:latin typeface="Cambria Math" panose="02040503050406030204" pitchFamily="18" charset="0"/>
                                    <a:ea typeface="Cambria Math" panose="02040503050406030204" pitchFamily="18" charset="0"/>
                                    <a:cs typeface="Cambria Math" panose="02040503050406030204" pitchFamily="18" charset="0"/>
                                  </a:rPr>
                                  <m:t>𝑡</m:t>
                                </m:r>
                              </m:sub>
                            </m:sSub>
                          </m:num>
                          <m:den>
                            <m:r>
                              <a:rPr lang="en-US" i="1" smtClean="0">
                                <a:solidFill>
                                  <a:srgbClr val="C00000"/>
                                </a:solidFill>
                                <a:effectLst/>
                                <a:latin typeface="Cambria Math" panose="02040503050406030204" pitchFamily="18" charset="0"/>
                                <a:ea typeface="Cambria Math" panose="02040503050406030204" pitchFamily="18" charset="0"/>
                                <a:cs typeface="Cambria Math" panose="02040503050406030204" pitchFamily="18" charset="0"/>
                              </a:rPr>
                              <m:t>𝐾</m:t>
                            </m:r>
                          </m:den>
                        </m:f>
                      </m:e>
                    </m:d>
                  </m:oMath>
                </a14:m>
                <a:r>
                  <a:rPr lang="en-US" sz="3600" dirty="0">
                    <a:effectLst/>
                    <a:latin typeface="Arial" panose="020B0604020202020204" pitchFamily="34" charset="0"/>
                    <a:ea typeface="Times New Roman" panose="02020603050405020304" pitchFamily="18" charset="0"/>
                    <a:cs typeface="Times New Roman" panose="02020603050405020304" pitchFamily="18" charset="0"/>
                  </a:rPr>
                  <a:t>	     </a:t>
                </a:r>
                <a:r>
                  <a:rPr lang="en-US" b="1" dirty="0"/>
                  <a:t>What stock biomass maximizes production?</a:t>
                </a:r>
                <a:endParaRPr lang="en-US" sz="3600" b="1" dirty="0"/>
              </a:p>
              <a:p>
                <a:pPr marL="0" indent="0">
                  <a:buNone/>
                </a:pPr>
                <a:endParaRPr lang="en-US" i="1" dirty="0">
                  <a:latin typeface="Cambria Math" panose="02040503050406030204" pitchFamily="18" charset="0"/>
                </a:endParaRPr>
              </a:p>
              <a:p>
                <a:pPr marL="0" indent="0">
                  <a:buNone/>
                </a:pP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d>
                          <m:dPr>
                            <m:ctrlPr>
                              <a:rPr lang="en-US"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cs typeface="Cambria Math" panose="02040503050406030204" pitchFamily="18" charset="0"/>
                                  </a:rPr>
                                </m:ctrlPr>
                              </m:sSubPr>
                              <m:e>
                                <m:r>
                                  <a:rPr lang="en-US" i="1">
                                    <a:latin typeface="Cambria Math" panose="02040503050406030204" pitchFamily="18" charset="0"/>
                                    <a:ea typeface="Cambria Math" panose="02040503050406030204" pitchFamily="18" charset="0"/>
                                    <a:cs typeface="Cambria Math" panose="02040503050406030204" pitchFamily="18" charset="0"/>
                                  </a:rPr>
                                  <m:t>𝑆𝑃</m:t>
                                </m:r>
                              </m:e>
                              <m:sub>
                                <m:r>
                                  <a:rPr lang="en-US" i="1">
                                    <a:latin typeface="Cambria Math" panose="02040503050406030204" pitchFamily="18" charset="0"/>
                                    <a:ea typeface="Cambria Math" panose="02040503050406030204" pitchFamily="18" charset="0"/>
                                    <a:cs typeface="Cambria Math" panose="02040503050406030204" pitchFamily="18" charset="0"/>
                                  </a:rPr>
                                  <m:t>𝑡</m:t>
                                </m:r>
                              </m:sub>
                            </m:sSub>
                          </m:e>
                        </m:d>
                      </m:num>
                      <m:den>
                        <m:r>
                          <a:rPr lang="en-US" i="1">
                            <a:latin typeface="Cambria Math" panose="02040503050406030204" pitchFamily="18" charset="0"/>
                          </a:rPr>
                          <m:t>𝑑</m:t>
                        </m:r>
                        <m:d>
                          <m:dPr>
                            <m:ctrlPr>
                              <a:rPr lang="en-US" i="1">
                                <a:latin typeface="Cambria Math" panose="02040503050406030204" pitchFamily="18" charset="0"/>
                                <a:ea typeface="Cambria Math" panose="02040503050406030204" pitchFamily="18" charset="0"/>
                                <a:cs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cs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cs typeface="Cambria Math" panose="02040503050406030204" pitchFamily="18" charset="0"/>
                                  </a:rPr>
                                  <m:t>𝐵</m:t>
                                </m:r>
                              </m:e>
                              <m:sub>
                                <m:r>
                                  <a:rPr lang="en-US" i="1">
                                    <a:latin typeface="Cambria Math" panose="02040503050406030204" pitchFamily="18" charset="0"/>
                                    <a:ea typeface="Cambria Math" panose="02040503050406030204" pitchFamily="18" charset="0"/>
                                    <a:cs typeface="Cambria Math" panose="02040503050406030204" pitchFamily="18" charset="0"/>
                                  </a:rPr>
                                  <m:t>𝑡</m:t>
                                </m:r>
                              </m:sub>
                            </m:sSub>
                          </m:e>
                        </m:d>
                      </m:den>
                    </m:f>
                    <m:r>
                      <a:rPr lang="en-US" b="0" i="1" smtClean="0">
                        <a:latin typeface="Cambria Math" panose="02040503050406030204" pitchFamily="18" charset="0"/>
                      </a:rPr>
                      <m:t> = </m:t>
                    </m:r>
                    <m:r>
                      <a:rPr lang="en-US" i="1">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r>
                      <a:rPr lang="en-US"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oMath>
                </a14:m>
                <a:r>
                  <a:rPr lang="en-US" dirty="0">
                    <a:ea typeface="Cambria Math" panose="02040503050406030204" pitchFamily="18" charset="0"/>
                    <a:cs typeface="Cambria Math" panose="02040503050406030204" pitchFamily="18" charset="0"/>
                  </a:rPr>
                  <a:t> </a:t>
                </a:r>
                <a14:m>
                  <m:oMath xmlns:m="http://schemas.openxmlformats.org/officeDocument/2006/math">
                    <m:f>
                      <m:fPr>
                        <m:ctrlPr>
                          <a:rPr lang="en-US" i="1">
                            <a:latin typeface="Cambria Math" panose="02040503050406030204" pitchFamily="18" charset="0"/>
                            <a:ea typeface="Cambria Math" panose="02040503050406030204" pitchFamily="18" charset="0"/>
                            <a:cs typeface="Cambria Math" panose="02040503050406030204" pitchFamily="18" charset="0"/>
                          </a:rPr>
                        </m:ctrlPr>
                      </m:fPr>
                      <m:num>
                        <m:sSub>
                          <m:sSubPr>
                            <m:ctrlPr>
                              <a:rPr lang="en-US" b="0" i="1" smtClean="0">
                                <a:latin typeface="Cambria Math" panose="02040503050406030204" pitchFamily="18" charset="0"/>
                                <a:ea typeface="Cambria Math" panose="02040503050406030204" pitchFamily="18" charset="0"/>
                                <a:cs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cs typeface="Cambria Math" panose="02040503050406030204" pitchFamily="18" charset="0"/>
                              </a:rPr>
                              <m:t>2</m:t>
                            </m:r>
                            <m:r>
                              <a:rPr lang="en-US" b="0" i="1" smtClean="0">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r>
                              <a:rPr lang="en-US" i="1">
                                <a:latin typeface="Cambria Math" panose="02040503050406030204" pitchFamily="18" charset="0"/>
                                <a:ea typeface="Cambria Math" panose="02040503050406030204" pitchFamily="18" charset="0"/>
                                <a:cs typeface="Cambria Math" panose="02040503050406030204" pitchFamily="18" charset="0"/>
                              </a:rPr>
                              <m:t>𝐵</m:t>
                            </m:r>
                          </m:e>
                          <m:sub>
                            <m:r>
                              <a:rPr lang="en-US" i="1">
                                <a:latin typeface="Cambria Math" panose="02040503050406030204" pitchFamily="18" charset="0"/>
                                <a:ea typeface="Cambria Math" panose="02040503050406030204" pitchFamily="18" charset="0"/>
                                <a:cs typeface="Cambria Math" panose="02040503050406030204" pitchFamily="18" charset="0"/>
                              </a:rPr>
                              <m:t>𝑡</m:t>
                            </m:r>
                          </m:sub>
                        </m:sSub>
                      </m:num>
                      <m:den>
                        <m:r>
                          <a:rPr lang="en-US"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den>
                    </m:f>
                    <m:r>
                      <a:rPr lang="en-US"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=0</m:t>
                    </m:r>
                  </m:oMath>
                </a14:m>
                <a:r>
                  <a:rPr lang="en-US" dirty="0"/>
                  <a:t> </a:t>
                </a:r>
              </a:p>
              <a:p>
                <a:pPr marL="0" indent="0">
                  <a:buNone/>
                </a:pPr>
                <a:r>
                  <a:rPr lang="en-US" dirty="0">
                    <a:ea typeface="Cambria Math" panose="02040503050406030204" pitchFamily="18" charset="0"/>
                    <a:cs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cs typeface="Cambria Math" panose="02040503050406030204" pitchFamily="18" charset="0"/>
                          </a:rPr>
                        </m:ctrlPr>
                      </m:sSubPr>
                      <m:e>
                        <m:r>
                          <a:rPr lang="en-US" i="1">
                            <a:latin typeface="Cambria Math" panose="02040503050406030204" pitchFamily="18" charset="0"/>
                            <a:ea typeface="Cambria Math" panose="02040503050406030204" pitchFamily="18" charset="0"/>
                            <a:cs typeface="Cambria Math" panose="02040503050406030204" pitchFamily="18" charset="0"/>
                          </a:rPr>
                          <m:t>2</m:t>
                        </m:r>
                        <m:r>
                          <a:rPr lang="en-US" i="1">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r>
                          <a:rPr lang="en-US" i="1">
                            <a:latin typeface="Cambria Math" panose="02040503050406030204" pitchFamily="18" charset="0"/>
                            <a:ea typeface="Cambria Math" panose="02040503050406030204" pitchFamily="18" charset="0"/>
                            <a:cs typeface="Cambria Math" panose="02040503050406030204" pitchFamily="18" charset="0"/>
                          </a:rPr>
                          <m:t>𝐵</m:t>
                        </m:r>
                      </m:e>
                      <m:sub>
                        <m:r>
                          <a:rPr lang="en-US" i="1">
                            <a:latin typeface="Cambria Math" panose="02040503050406030204" pitchFamily="18" charset="0"/>
                            <a:ea typeface="Cambria Math" panose="02040503050406030204" pitchFamily="18" charset="0"/>
                            <a:cs typeface="Cambria Math" panose="02040503050406030204" pitchFamily="18" charset="0"/>
                          </a:rPr>
                          <m:t>𝑡</m:t>
                        </m:r>
                      </m:sub>
                    </m:sSub>
                  </m:oMath>
                </a14:m>
                <a:r>
                  <a:rPr lang="en-US" dirty="0"/>
                  <a:t> </a:t>
                </a:r>
                <a:r>
                  <a:rPr lang="en-US" dirty="0">
                    <a:solidFill>
                      <a:srgbClr val="7030A0"/>
                    </a:solidFill>
                    <a:ea typeface="Cambria Math" panose="02040503050406030204" pitchFamily="18" charset="0"/>
                    <a:cs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cs typeface="Cambria Math" panose="02040503050406030204" pitchFamily="18" charset="0"/>
                      </a:rPr>
                      <m:t>=</m:t>
                    </m:r>
                    <m:r>
                      <a:rPr lang="en-US" i="1">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r>
                      <a:rPr lang="en-US"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oMath>
                </a14:m>
                <a:r>
                  <a:rPr lang="en-US" dirty="0"/>
                  <a:t>	</a:t>
                </a:r>
              </a:p>
              <a:p>
                <a:pPr marL="0" indent="0">
                  <a:buNone/>
                </a:pPr>
                <a:r>
                  <a:rPr lang="en-US" dirty="0"/>
                  <a:t>	</a:t>
                </a:r>
                <a:r>
                  <a:rPr lang="en-US" dirty="0">
                    <a:ea typeface="Cambria Math" panose="02040503050406030204" pitchFamily="18" charset="0"/>
                    <a:cs typeface="Cambria Math" panose="02040503050406030204" pitchFamily="18" charset="0"/>
                  </a:rPr>
                  <a:t>                </a:t>
                </a:r>
                <a14:m>
                  <m:oMath xmlns:m="http://schemas.openxmlformats.org/officeDocument/2006/math">
                    <m:sSub>
                      <m:sSubPr>
                        <m:ctrlPr>
                          <a:rPr lang="en-US" i="1">
                            <a:latin typeface="Cambria Math" panose="02040503050406030204" pitchFamily="18" charset="0"/>
                            <a:ea typeface="Cambria Math" panose="02040503050406030204" pitchFamily="18" charset="0"/>
                            <a:cs typeface="Cambria Math" panose="02040503050406030204" pitchFamily="18" charset="0"/>
                          </a:rPr>
                        </m:ctrlPr>
                      </m:sSubPr>
                      <m:e>
                        <m:r>
                          <a:rPr lang="en-US" i="1">
                            <a:latin typeface="Cambria Math" panose="02040503050406030204" pitchFamily="18" charset="0"/>
                            <a:ea typeface="Cambria Math" panose="02040503050406030204" pitchFamily="18" charset="0"/>
                            <a:cs typeface="Cambria Math" panose="02040503050406030204" pitchFamily="18" charset="0"/>
                          </a:rPr>
                          <m:t>𝐵</m:t>
                        </m:r>
                      </m:e>
                      <m:sub>
                        <m:r>
                          <a:rPr lang="en-US" i="1">
                            <a:latin typeface="Cambria Math" panose="02040503050406030204" pitchFamily="18" charset="0"/>
                            <a:ea typeface="Cambria Math" panose="02040503050406030204" pitchFamily="18" charset="0"/>
                            <a:cs typeface="Cambria Math" panose="02040503050406030204" pitchFamily="18" charset="0"/>
                          </a:rPr>
                          <m:t>𝑡</m:t>
                        </m:r>
                      </m:sub>
                    </m:sSub>
                    <m:r>
                      <a:rPr lang="en-US" i="1">
                        <a:latin typeface="Cambria Math" panose="02040503050406030204" pitchFamily="18" charset="0"/>
                        <a:ea typeface="Cambria Math" panose="02040503050406030204" pitchFamily="18" charset="0"/>
                        <a:cs typeface="Cambria Math" panose="02040503050406030204" pitchFamily="18" charset="0"/>
                      </a:rPr>
                      <m:t> =</m:t>
                    </m:r>
                  </m:oMath>
                </a14:m>
                <a:r>
                  <a:rPr lang="en-US" dirty="0">
                    <a:ea typeface="Cambria Math" panose="02040503050406030204" pitchFamily="18" charset="0"/>
                    <a:cs typeface="Cambria Math" panose="02040503050406030204" pitchFamily="18" charset="0"/>
                  </a:rPr>
                  <a:t> </a:t>
                </a:r>
                <a14:m>
                  <m:oMath xmlns:m="http://schemas.openxmlformats.org/officeDocument/2006/math">
                    <m:f>
                      <m:fPr>
                        <m:ctrlPr>
                          <a:rPr lang="en-US" i="1">
                            <a:solidFill>
                              <a:srgbClr val="C00000"/>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num>
                      <m:den>
                        <m:r>
                          <a:rPr lang="en-US" i="1">
                            <a:latin typeface="Cambria Math" panose="02040503050406030204" pitchFamily="18" charset="0"/>
                            <a:ea typeface="Cambria Math" panose="02040503050406030204" pitchFamily="18" charset="0"/>
                            <a:cs typeface="Cambria Math" panose="02040503050406030204" pitchFamily="18" charset="0"/>
                          </a:rPr>
                          <m:t>2</m:t>
                        </m:r>
                      </m:den>
                    </m:f>
                  </m:oMath>
                </a14:m>
                <a:r>
                  <a:rPr lang="en-US" dirty="0"/>
                  <a:t>        (</a:t>
                </a:r>
                <a14:m>
                  <m:oMath xmlns:m="http://schemas.openxmlformats.org/officeDocument/2006/math">
                    <m:sSub>
                      <m:sSubPr>
                        <m:ctrlPr>
                          <a:rPr lang="en-US" b="1" i="1">
                            <a:latin typeface="Cambria Math" panose="02040503050406030204" pitchFamily="18" charset="0"/>
                            <a:ea typeface="Cambria Math" panose="02040503050406030204" pitchFamily="18" charset="0"/>
                            <a:cs typeface="Cambria Math" panose="02040503050406030204" pitchFamily="18" charset="0"/>
                          </a:rPr>
                        </m:ctrlPr>
                      </m:sSubPr>
                      <m:e>
                        <m:r>
                          <a:rPr lang="en-US" b="1" i="1">
                            <a:latin typeface="Cambria Math" panose="02040503050406030204" pitchFamily="18" charset="0"/>
                            <a:ea typeface="Cambria Math" panose="02040503050406030204" pitchFamily="18" charset="0"/>
                            <a:cs typeface="Cambria Math" panose="02040503050406030204" pitchFamily="18" charset="0"/>
                          </a:rPr>
                          <m:t>𝑩</m:t>
                        </m:r>
                      </m:e>
                      <m:sub>
                        <m:r>
                          <a:rPr lang="en-US" b="1">
                            <a:latin typeface="Cambria Math" panose="02040503050406030204" pitchFamily="18" charset="0"/>
                            <a:ea typeface="Cambria Math" panose="02040503050406030204" pitchFamily="18" charset="0"/>
                            <a:cs typeface="Cambria Math" panose="02040503050406030204" pitchFamily="18" charset="0"/>
                          </a:rPr>
                          <m:t>𝐌𝐒𝐘</m:t>
                        </m:r>
                      </m:sub>
                    </m:sSub>
                  </m:oMath>
                </a14:m>
                <a:r>
                  <a:rPr lang="en-US" dirty="0"/>
                  <a:t>)</a:t>
                </a:r>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29458C2E-3B88-4EAA-9F99-FC7EA2FD9ED5}"/>
                  </a:ext>
                </a:extLst>
              </p:cNvPr>
              <p:cNvSpPr>
                <a:spLocks noGrp="1" noRot="1" noChangeAspect="1" noMove="1" noResize="1" noEditPoints="1" noAdjustHandles="1" noChangeArrowheads="1" noChangeShapeType="1" noTextEdit="1"/>
              </p:cNvSpPr>
              <p:nvPr>
                <p:ph idx="1"/>
              </p:nvPr>
            </p:nvSpPr>
            <p:spPr>
              <a:xfrm>
                <a:off x="838199" y="1547786"/>
                <a:ext cx="11038815" cy="5033377"/>
              </a:xfrm>
              <a:blipFill>
                <a:blip r:embed="rId3"/>
                <a:stretch>
                  <a:fillRect/>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6A1B7CE7-CFA0-4F48-AC0F-3B82EBAED1C0}"/>
              </a:ext>
            </a:extLst>
          </p:cNvPr>
          <p:cNvPicPr>
            <a:picLocks noChangeAspect="1"/>
          </p:cNvPicPr>
          <p:nvPr/>
        </p:nvPicPr>
        <p:blipFill>
          <a:blip r:embed="rId4"/>
          <a:stretch>
            <a:fillRect/>
          </a:stretch>
        </p:blipFill>
        <p:spPr>
          <a:xfrm>
            <a:off x="6903217" y="2307420"/>
            <a:ext cx="5288783" cy="4550580"/>
          </a:xfrm>
          <a:prstGeom prst="rect">
            <a:avLst/>
          </a:prstGeom>
        </p:spPr>
      </p:pic>
      <p:cxnSp>
        <p:nvCxnSpPr>
          <p:cNvPr id="14" name="Straight Connector 13">
            <a:extLst>
              <a:ext uri="{FF2B5EF4-FFF2-40B4-BE49-F238E27FC236}">
                <a16:creationId xmlns:a16="http://schemas.microsoft.com/office/drawing/2014/main" id="{5BF5EF64-4062-4B15-8A1E-822D7D3FC885}"/>
              </a:ext>
            </a:extLst>
          </p:cNvPr>
          <p:cNvCxnSpPr>
            <a:cxnSpLocks/>
          </p:cNvCxnSpPr>
          <p:nvPr/>
        </p:nvCxnSpPr>
        <p:spPr>
          <a:xfrm>
            <a:off x="9893386" y="2542233"/>
            <a:ext cx="0" cy="34011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CE18CCF-127D-4C9F-8C1F-C5C060177A26}"/>
                  </a:ext>
                </a:extLst>
              </p:cNvPr>
              <p:cNvSpPr txBox="1"/>
              <p:nvPr/>
            </p:nvSpPr>
            <p:spPr>
              <a:xfrm>
                <a:off x="8963189" y="5428635"/>
                <a:ext cx="2245743" cy="523220"/>
              </a:xfrm>
              <a:prstGeom prst="rect">
                <a:avLst/>
              </a:prstGeom>
              <a:noFill/>
            </p:spPr>
            <p:txBody>
              <a:bodyPr wrap="none" rtlCol="0">
                <a:spAutoFit/>
              </a:bodyPr>
              <a:lstStyle/>
              <a:p>
                <a:pPr/>
                <a14:m>
                  <m:oMathPara xmlns:m="http://schemas.openxmlformats.org/officeDocument/2006/math">
                    <m:oMath>
                      <m:r>
                        <a:rPr lang="en-US" sz="2800" i="1" dirty="0" smtClean="0">
                          <a:solidFill>
                            <a:schemeClr val="accent2"/>
                          </a:solidFill>
                          <a:latin typeface="Cambria Math" panose="02040503050406030204" pitchFamily="18" charset="0"/>
                        </a:rPr>
                        <m:t>𝐵</m:t>
                      </m:r>
                      <m:r>
                        <m:rPr>
                          <m:sty m:val="p"/>
                        </m:rPr>
                        <a:rPr lang="en-US" sz="2800" i="0" baseline="-25000" dirty="0">
                          <a:solidFill>
                            <a:schemeClr val="accent2"/>
                          </a:solidFill>
                          <a:latin typeface="Cambria Math" panose="02040503050406030204" pitchFamily="18" charset="0"/>
                        </a:rPr>
                        <m:t>MSY</m:t>
                      </m:r>
                      <m:r>
                        <a:rPr lang="en-US" sz="2800" i="1" dirty="0">
                          <a:solidFill>
                            <a:schemeClr val="accent2"/>
                          </a:solidFill>
                          <a:latin typeface="Cambria Math" panose="02040503050406030204" pitchFamily="18" charset="0"/>
                        </a:rPr>
                        <m:t> =</m:t>
                      </m:r>
                      <m:r>
                        <a:rPr lang="en-US" sz="2800" i="1" dirty="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 </m:t>
                      </m:r>
                      <m:r>
                        <a:rPr lang="en-US" sz="2800" i="1">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𝐾</m:t>
                      </m:r>
                      <m:r>
                        <a:rPr lang="en-US" sz="2800" b="0" i="1" smtClean="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/2</m:t>
                      </m:r>
                    </m:oMath>
                  </m:oMathPara>
                </a14:m>
                <a:endParaRPr lang="en-US" sz="2800" dirty="0">
                  <a:solidFill>
                    <a:schemeClr val="accent2"/>
                  </a:solidFill>
                </a:endParaRPr>
              </a:p>
            </p:txBody>
          </p:sp>
        </mc:Choice>
        <mc:Fallback xmlns="">
          <p:sp>
            <p:nvSpPr>
              <p:cNvPr id="18" name="TextBox 17">
                <a:extLst>
                  <a:ext uri="{FF2B5EF4-FFF2-40B4-BE49-F238E27FC236}">
                    <a16:creationId xmlns:a16="http://schemas.microsoft.com/office/drawing/2014/main" id="{DCE18CCF-127D-4C9F-8C1F-C5C060177A26}"/>
                  </a:ext>
                </a:extLst>
              </p:cNvPr>
              <p:cNvSpPr txBox="1">
                <a:spLocks noRot="1" noChangeAspect="1" noMove="1" noResize="1" noEditPoints="1" noAdjustHandles="1" noChangeArrowheads="1" noChangeShapeType="1" noTextEdit="1"/>
              </p:cNvSpPr>
              <p:nvPr/>
            </p:nvSpPr>
            <p:spPr>
              <a:xfrm>
                <a:off x="8963189" y="5428635"/>
                <a:ext cx="2245743" cy="523220"/>
              </a:xfrm>
              <a:prstGeom prst="rect">
                <a:avLst/>
              </a:prstGeom>
              <a:blipFill>
                <a:blip r:embed="rId5"/>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38</a:t>
            </a:fld>
            <a:endParaRPr lang="en-CA"/>
          </a:p>
        </p:txBody>
      </p:sp>
    </p:spTree>
    <p:extLst>
      <p:ext uri="{BB962C8B-B14F-4D97-AF65-F5344CB8AC3E}">
        <p14:creationId xmlns:p14="http://schemas.microsoft.com/office/powerpoint/2010/main" val="1154280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5D6CBB4-66B3-4A2C-9159-CCE70C52D843}"/>
                  </a:ext>
                </a:extLst>
              </p:cNvPr>
              <p:cNvSpPr>
                <a:spLocks noGrp="1"/>
              </p:cNvSpPr>
              <p:nvPr>
                <p:ph type="title"/>
              </p:nvPr>
            </p:nvSpPr>
            <p:spPr>
              <a:xfrm>
                <a:off x="838200" y="365126"/>
                <a:ext cx="10515600" cy="1182660"/>
              </a:xfrm>
            </p:spPr>
            <p:txBody>
              <a:bodyPr>
                <a:normAutofit/>
              </a:bodyPr>
              <a:lstStyle/>
              <a:p>
                <a14:m>
                  <m:oMath xmlns:m="http://schemas.openxmlformats.org/officeDocument/2006/math">
                    <m:r>
                      <m:rPr>
                        <m:sty m:val="p"/>
                      </m:rPr>
                      <a:rPr lang="en-US" b="0" i="0" dirty="0" smtClean="0">
                        <a:latin typeface="Cambria Math" panose="02040503050406030204" pitchFamily="18" charset="0"/>
                        <a:ea typeface="Times New Roman" panose="02020603050405020304" pitchFamily="18" charset="0"/>
                        <a:cs typeface="Arial" panose="020B0604020202020204" pitchFamily="34" charset="0"/>
                      </a:rPr>
                      <m:t>MSY</m:t>
                    </m:r>
                  </m:oMath>
                </a14:m>
                <a:r>
                  <a:rPr lang="en-US" dirty="0"/>
                  <a:t> from the Schaefer Model</a:t>
                </a:r>
              </a:p>
            </p:txBody>
          </p:sp>
        </mc:Choice>
        <mc:Fallback xmlns="">
          <p:sp>
            <p:nvSpPr>
              <p:cNvPr id="2" name="Title 1">
                <a:extLst>
                  <a:ext uri="{FF2B5EF4-FFF2-40B4-BE49-F238E27FC236}">
                    <a16:creationId xmlns:a16="http://schemas.microsoft.com/office/drawing/2014/main" id="{C5D6CBB4-66B3-4A2C-9159-CCE70C52D843}"/>
                  </a:ext>
                </a:extLst>
              </p:cNvPr>
              <p:cNvSpPr>
                <a:spLocks noGrp="1" noRot="1" noChangeAspect="1" noMove="1" noResize="1" noEditPoints="1" noAdjustHandles="1" noChangeArrowheads="1" noChangeShapeType="1" noTextEdit="1"/>
              </p:cNvSpPr>
              <p:nvPr>
                <p:ph type="title"/>
              </p:nvPr>
            </p:nvSpPr>
            <p:spPr>
              <a:xfrm>
                <a:off x="838200" y="365126"/>
                <a:ext cx="10515600" cy="1182660"/>
              </a:xfrm>
              <a:blipFill>
                <a:blip r:embed="rId2"/>
                <a:stretch>
                  <a:fillRect b="-41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458C2E-3B88-4EAA-9F99-FC7EA2FD9ED5}"/>
                  </a:ext>
                </a:extLst>
              </p:cNvPr>
              <p:cNvSpPr>
                <a:spLocks noGrp="1"/>
              </p:cNvSpPr>
              <p:nvPr>
                <p:ph idx="1"/>
              </p:nvPr>
            </p:nvSpPr>
            <p:spPr>
              <a:xfrm>
                <a:off x="838199" y="1547786"/>
                <a:ext cx="11038815" cy="5033377"/>
              </a:xfrm>
            </p:spPr>
            <p:txBody>
              <a:bodyPr>
                <a:normAutofit/>
              </a:bodyPr>
              <a:lstStyle/>
              <a:p>
                <a:pPr marL="0" indent="0">
                  <a:buNone/>
                </a:pPr>
                <a14:m>
                  <m:oMath xmlns:m="http://schemas.openxmlformats.org/officeDocument/2006/math">
                    <m:sSub>
                      <m:sSubPr>
                        <m:ctrlPr>
                          <a:rPr lang="en-US" b="0" i="1" smtClean="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b="0" i="1" smtClean="0">
                            <a:effectLst/>
                            <a:latin typeface="Cambria Math" panose="02040503050406030204" pitchFamily="18" charset="0"/>
                            <a:ea typeface="Cambria Math" panose="02040503050406030204" pitchFamily="18" charset="0"/>
                            <a:cs typeface="Cambria Math" panose="02040503050406030204" pitchFamily="18" charset="0"/>
                          </a:rPr>
                          <m:t>𝑆𝑃</m:t>
                        </m:r>
                      </m:e>
                      <m:sub>
                        <m:r>
                          <a:rPr lang="en-US" i="1">
                            <a:effectLst/>
                            <a:latin typeface="Cambria Math" panose="02040503050406030204" pitchFamily="18" charset="0"/>
                            <a:ea typeface="Cambria Math" panose="02040503050406030204" pitchFamily="18" charset="0"/>
                            <a:cs typeface="Cambria Math" panose="02040503050406030204" pitchFamily="18" charset="0"/>
                          </a:rPr>
                          <m:t>𝑡</m:t>
                        </m:r>
                      </m:sub>
                    </m:sSub>
                    <m:r>
                      <a:rPr lang="en-US"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n-US" i="1" smtClean="0">
                        <a:solidFill>
                          <a:srgbClr val="7030A0"/>
                        </a:solidFill>
                        <a:effectLst/>
                        <a:latin typeface="Cambria Math" panose="02040503050406030204" pitchFamily="18" charset="0"/>
                        <a:ea typeface="Cambria Math" panose="02040503050406030204" pitchFamily="18" charset="0"/>
                        <a:cs typeface="Cambria Math" panose="02040503050406030204" pitchFamily="18" charset="0"/>
                      </a:rPr>
                      <m:t>𝑟</m:t>
                    </m:r>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i="1">
                            <a:effectLst/>
                            <a:latin typeface="Cambria Math" panose="02040503050406030204" pitchFamily="18" charset="0"/>
                            <a:ea typeface="Cambria Math" panose="02040503050406030204" pitchFamily="18" charset="0"/>
                            <a:cs typeface="Cambria Math" panose="02040503050406030204" pitchFamily="18" charset="0"/>
                          </a:rPr>
                          <m:t>𝑡</m:t>
                        </m:r>
                      </m:sub>
                    </m:sSub>
                    <m:d>
                      <m:d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dPr>
                      <m:e>
                        <m:r>
                          <a:rPr lang="en-US" i="1">
                            <a:effectLst/>
                            <a:latin typeface="Cambria Math" panose="02040503050406030204" pitchFamily="18" charset="0"/>
                            <a:ea typeface="Cambria Math" panose="02040503050406030204" pitchFamily="18" charset="0"/>
                            <a:cs typeface="Cambria Math" panose="02040503050406030204" pitchFamily="18" charset="0"/>
                          </a:rPr>
                          <m:t>1−</m:t>
                        </m:r>
                        <m:f>
                          <m:fPr>
                            <m:ctrlPr>
                              <a:rPr lang="en-US" sz="4000" i="1">
                                <a:effectLst/>
                                <a:latin typeface="Cambria Math" panose="02040503050406030204" pitchFamily="18" charset="0"/>
                                <a:ea typeface="Cambria Math" panose="02040503050406030204" pitchFamily="18" charset="0"/>
                                <a:cs typeface="Cambria Math" panose="02040503050406030204" pitchFamily="18" charset="0"/>
                              </a:rPr>
                            </m:ctrlPr>
                          </m:fPr>
                          <m:num>
                            <m:sSub>
                              <m:sSubPr>
                                <m:ctrlPr>
                                  <a:rPr lang="en-US"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i="1">
                                    <a:effectLst/>
                                    <a:latin typeface="Cambria Math" panose="02040503050406030204" pitchFamily="18" charset="0"/>
                                    <a:ea typeface="Cambria Math" panose="02040503050406030204" pitchFamily="18" charset="0"/>
                                    <a:cs typeface="Cambria Math" panose="02040503050406030204" pitchFamily="18" charset="0"/>
                                  </a:rPr>
                                  <m:t>𝑡</m:t>
                                </m:r>
                              </m:sub>
                            </m:sSub>
                          </m:num>
                          <m:den>
                            <m:r>
                              <a:rPr lang="en-US" i="1" smtClean="0">
                                <a:solidFill>
                                  <a:srgbClr val="C00000"/>
                                </a:solidFill>
                                <a:effectLst/>
                                <a:latin typeface="Cambria Math" panose="02040503050406030204" pitchFamily="18" charset="0"/>
                                <a:ea typeface="Cambria Math" panose="02040503050406030204" pitchFamily="18" charset="0"/>
                                <a:cs typeface="Cambria Math" panose="02040503050406030204" pitchFamily="18" charset="0"/>
                              </a:rPr>
                              <m:t>𝐾</m:t>
                            </m:r>
                          </m:den>
                        </m:f>
                      </m:e>
                    </m:d>
                  </m:oMath>
                </a14:m>
                <a:r>
                  <a:rPr lang="en-US" sz="3600" dirty="0">
                    <a:effectLst/>
                    <a:latin typeface="Arial" panose="020B0604020202020204" pitchFamily="34" charset="0"/>
                    <a:ea typeface="Times New Roman" panose="02020603050405020304" pitchFamily="18" charset="0"/>
                    <a:cs typeface="Times New Roman" panose="02020603050405020304" pitchFamily="18" charset="0"/>
                  </a:rPr>
                  <a:t>	               </a:t>
                </a:r>
                <a:r>
                  <a:rPr lang="en-US" sz="3600" b="1" dirty="0"/>
                  <a:t>What is the maximum</a:t>
                </a:r>
                <a:r>
                  <a:rPr lang="en-US" sz="3600" b="1" dirty="0">
                    <a:ea typeface="Cambria Math" panose="02040503050406030204" pitchFamily="18" charset="0"/>
                    <a:cs typeface="Cambria Math" panose="02040503050406030204" pitchFamily="18" charset="0"/>
                  </a:rPr>
                  <a:t> </a:t>
                </a:r>
                <a14:m>
                  <m:oMath xmlns:m="http://schemas.openxmlformats.org/officeDocument/2006/math">
                    <m:sSub>
                      <m:sSubPr>
                        <m:ctrlPr>
                          <a:rPr lang="en-US" sz="3600" b="1" i="1">
                            <a:latin typeface="Cambria Math" panose="02040503050406030204" pitchFamily="18" charset="0"/>
                            <a:ea typeface="Cambria Math" panose="02040503050406030204" pitchFamily="18" charset="0"/>
                            <a:cs typeface="Cambria Math" panose="02040503050406030204" pitchFamily="18" charset="0"/>
                          </a:rPr>
                        </m:ctrlPr>
                      </m:sSubPr>
                      <m:e>
                        <m:r>
                          <a:rPr lang="en-US" sz="3600" b="1" i="1">
                            <a:latin typeface="Cambria Math" panose="02040503050406030204" pitchFamily="18" charset="0"/>
                            <a:ea typeface="Cambria Math" panose="02040503050406030204" pitchFamily="18" charset="0"/>
                            <a:cs typeface="Cambria Math" panose="02040503050406030204" pitchFamily="18" charset="0"/>
                          </a:rPr>
                          <m:t>𝑺𝑷</m:t>
                        </m:r>
                      </m:e>
                      <m:sub>
                        <m:r>
                          <a:rPr lang="en-US" sz="3600" b="1" i="1">
                            <a:latin typeface="Cambria Math" panose="02040503050406030204" pitchFamily="18" charset="0"/>
                            <a:ea typeface="Cambria Math" panose="02040503050406030204" pitchFamily="18" charset="0"/>
                            <a:cs typeface="Cambria Math" panose="02040503050406030204" pitchFamily="18" charset="0"/>
                          </a:rPr>
                          <m:t>𝒕</m:t>
                        </m:r>
                      </m:sub>
                    </m:sSub>
                  </m:oMath>
                </a14:m>
                <a:r>
                  <a:rPr lang="en-US" sz="3600" b="1" dirty="0"/>
                  <a:t>?</a:t>
                </a:r>
                <a:r>
                  <a:rPr lang="en-US" sz="3600" dirty="0"/>
                  <a:t> </a:t>
                </a:r>
                <a:endParaRPr lang="en-US" i="1" dirty="0">
                  <a:latin typeface="Cambria Math" panose="02040503050406030204" pitchFamily="18" charset="0"/>
                </a:endParaRPr>
              </a:p>
              <a:p>
                <a:pPr marL="0" indent="0">
                  <a:buNone/>
                </a:pPr>
                <a:r>
                  <a:rPr lang="en-US" dirty="0"/>
                  <a:t>Evaluate </a:t>
                </a:r>
                <a14:m>
                  <m:oMath xmlns:m="http://schemas.openxmlformats.org/officeDocument/2006/math">
                    <m:sSub>
                      <m:sSubPr>
                        <m:ctrlPr>
                          <a:rPr lang="en-US" b="0" i="1" smtClean="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b="0" i="1" smtClean="0">
                            <a:effectLst/>
                            <a:latin typeface="Cambria Math" panose="02040503050406030204" pitchFamily="18" charset="0"/>
                            <a:ea typeface="Cambria Math" panose="02040503050406030204" pitchFamily="18" charset="0"/>
                            <a:cs typeface="Cambria Math" panose="02040503050406030204" pitchFamily="18" charset="0"/>
                          </a:rPr>
                          <m:t>𝑆𝑃</m:t>
                        </m:r>
                      </m:e>
                      <m:sub>
                        <m:r>
                          <a:rPr lang="en-US" i="1">
                            <a:effectLst/>
                            <a:latin typeface="Cambria Math" panose="02040503050406030204" pitchFamily="18" charset="0"/>
                            <a:ea typeface="Cambria Math" panose="02040503050406030204" pitchFamily="18" charset="0"/>
                            <a:cs typeface="Cambria Math" panose="02040503050406030204" pitchFamily="18" charset="0"/>
                          </a:rPr>
                          <m:t>𝑡</m:t>
                        </m:r>
                      </m:sub>
                    </m:sSub>
                  </m:oMath>
                </a14:m>
                <a:r>
                  <a:rPr lang="en-US" dirty="0"/>
                  <a:t> at </a:t>
                </a:r>
                <a14:m>
                  <m:oMath xmlns:m="http://schemas.openxmlformats.org/officeDocument/2006/math">
                    <m:sSub>
                      <m:sSubPr>
                        <m:ctrlPr>
                          <a:rPr lang="en-US" i="1">
                            <a:latin typeface="Cambria Math" panose="02040503050406030204" pitchFamily="18" charset="0"/>
                            <a:ea typeface="Cambria Math" panose="02040503050406030204" pitchFamily="18" charset="0"/>
                            <a:cs typeface="Cambria Math" panose="02040503050406030204" pitchFamily="18" charset="0"/>
                          </a:rPr>
                        </m:ctrlPr>
                      </m:sSubPr>
                      <m:e>
                        <m:r>
                          <a:rPr lang="en-US" i="1">
                            <a:latin typeface="Cambria Math" panose="02040503050406030204" pitchFamily="18" charset="0"/>
                            <a:ea typeface="Cambria Math" panose="02040503050406030204" pitchFamily="18" charset="0"/>
                            <a:cs typeface="Cambria Math" panose="02040503050406030204" pitchFamily="18" charset="0"/>
                          </a:rPr>
                          <m:t>𝐵</m:t>
                        </m:r>
                      </m:e>
                      <m:sub>
                        <m:r>
                          <a:rPr lang="en-US" i="1">
                            <a:latin typeface="Cambria Math" panose="02040503050406030204" pitchFamily="18" charset="0"/>
                            <a:ea typeface="Cambria Math" panose="02040503050406030204" pitchFamily="18" charset="0"/>
                            <a:cs typeface="Cambria Math" panose="02040503050406030204" pitchFamily="18" charset="0"/>
                          </a:rPr>
                          <m:t>𝑡</m:t>
                        </m:r>
                      </m:sub>
                    </m:sSub>
                  </m:oMath>
                </a14:m>
                <a:r>
                  <a:rPr lang="en-US" dirty="0"/>
                  <a:t>=</a:t>
                </a:r>
                <a:r>
                  <a:rPr lang="en-US" dirty="0">
                    <a:ea typeface="Cambria Math" panose="02040503050406030204" pitchFamily="18" charset="0"/>
                    <a:cs typeface="Cambria Math" panose="02040503050406030204" pitchFamily="18" charset="0"/>
                  </a:rPr>
                  <a:t> </a:t>
                </a:r>
                <a14:m>
                  <m:oMath xmlns:m="http://schemas.openxmlformats.org/officeDocument/2006/math">
                    <m:f>
                      <m:fPr>
                        <m:ctrlPr>
                          <a:rPr lang="en-US" i="1">
                            <a:solidFill>
                              <a:srgbClr val="C00000"/>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num>
                      <m:den>
                        <m:r>
                          <a:rPr lang="en-US" i="1">
                            <a:latin typeface="Cambria Math" panose="02040503050406030204" pitchFamily="18" charset="0"/>
                            <a:ea typeface="Cambria Math" panose="02040503050406030204" pitchFamily="18" charset="0"/>
                            <a:cs typeface="Cambria Math" panose="02040503050406030204" pitchFamily="18" charset="0"/>
                          </a:rPr>
                          <m:t>2</m:t>
                        </m:r>
                      </m:den>
                    </m:f>
                  </m:oMath>
                </a14:m>
                <a:endParaRPr lang="en-US" dirty="0"/>
              </a:p>
              <a:p>
                <a:pPr marL="0" indent="0">
                  <a:buNone/>
                </a:pPr>
                <a:endParaRPr lang="en-US" dirty="0"/>
              </a:p>
              <a:p>
                <a:pPr marL="0" indent="0">
                  <a:buNone/>
                </a:pPr>
                <a14:m>
                  <m:oMath xmlns:m="http://schemas.openxmlformats.org/officeDocument/2006/math">
                    <m:sSub>
                      <m:sSubPr>
                        <m:ctrlPr>
                          <a:rPr lang="en-US" sz="2800" b="0" i="1" smtClean="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2800" b="0" i="1" smtClean="0">
                            <a:effectLst/>
                            <a:latin typeface="Cambria Math" panose="02040503050406030204" pitchFamily="18" charset="0"/>
                            <a:ea typeface="Cambria Math" panose="02040503050406030204" pitchFamily="18" charset="0"/>
                            <a:cs typeface="Cambria Math" panose="02040503050406030204" pitchFamily="18" charset="0"/>
                          </a:rPr>
                          <m:t>𝑆𝑃</m:t>
                        </m:r>
                      </m:e>
                      <m:sub>
                        <m:r>
                          <a:rPr lang="en-US" sz="2800" i="1">
                            <a:effectLst/>
                            <a:latin typeface="Cambria Math" panose="02040503050406030204" pitchFamily="18" charset="0"/>
                            <a:ea typeface="Cambria Math" panose="02040503050406030204" pitchFamily="18" charset="0"/>
                            <a:cs typeface="Cambria Math" panose="02040503050406030204" pitchFamily="18" charset="0"/>
                          </a:rPr>
                          <m:t>𝑡</m:t>
                        </m:r>
                      </m:sub>
                    </m:sSub>
                    <m:r>
                      <a:rPr lang="en-US" sz="2800"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n-US" sz="2800" i="1" smtClean="0">
                        <a:solidFill>
                          <a:srgbClr val="7030A0"/>
                        </a:solidFill>
                        <a:effectLst/>
                        <a:latin typeface="Cambria Math" panose="02040503050406030204" pitchFamily="18" charset="0"/>
                        <a:ea typeface="Cambria Math" panose="02040503050406030204" pitchFamily="18" charset="0"/>
                        <a:cs typeface="Cambria Math" panose="02040503050406030204" pitchFamily="18" charset="0"/>
                      </a:rPr>
                      <m:t>𝑟</m:t>
                    </m:r>
                    <m:f>
                      <m:fPr>
                        <m:ctrlPr>
                          <a:rPr lang="en-US" i="1">
                            <a:solidFill>
                              <a:srgbClr val="C00000"/>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num>
                      <m:den>
                        <m:r>
                          <a:rPr lang="en-US" i="1">
                            <a:latin typeface="Cambria Math" panose="02040503050406030204" pitchFamily="18" charset="0"/>
                            <a:ea typeface="Cambria Math" panose="02040503050406030204" pitchFamily="18" charset="0"/>
                            <a:cs typeface="Cambria Math" panose="02040503050406030204" pitchFamily="18" charset="0"/>
                          </a:rPr>
                          <m:t>2</m:t>
                        </m:r>
                      </m:den>
                    </m:f>
                    <m:d>
                      <m:dPr>
                        <m:ctrlPr>
                          <a:rPr lang="en-US" sz="2800" i="1">
                            <a:effectLst/>
                            <a:latin typeface="Cambria Math" panose="02040503050406030204" pitchFamily="18" charset="0"/>
                            <a:ea typeface="Cambria Math" panose="02040503050406030204" pitchFamily="18" charset="0"/>
                            <a:cs typeface="Cambria Math" panose="02040503050406030204" pitchFamily="18" charset="0"/>
                          </a:rPr>
                        </m:ctrlPr>
                      </m:dPr>
                      <m:e>
                        <m:r>
                          <a:rPr lang="en-US" sz="2800" i="1">
                            <a:effectLst/>
                            <a:latin typeface="Cambria Math" panose="02040503050406030204" pitchFamily="18" charset="0"/>
                            <a:ea typeface="Cambria Math" panose="02040503050406030204" pitchFamily="18" charset="0"/>
                            <a:cs typeface="Cambria Math" panose="02040503050406030204" pitchFamily="18" charset="0"/>
                          </a:rPr>
                          <m:t>1−</m:t>
                        </m:r>
                        <m:f>
                          <m:fPr>
                            <m:ctrlPr>
                              <a:rPr lang="en-US" b="0" i="1" smtClean="0">
                                <a:solidFill>
                                  <a:srgbClr val="C00000"/>
                                </a:solidFill>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b="0" i="1" smtClean="0">
                                <a:solidFill>
                                  <a:srgbClr val="C00000"/>
                                </a:solidFill>
                                <a:effectLst/>
                                <a:latin typeface="Cambria Math" panose="02040503050406030204" pitchFamily="18" charset="0"/>
                                <a:ea typeface="Cambria Math" panose="02040503050406030204" pitchFamily="18" charset="0"/>
                                <a:cs typeface="Cambria Math" panose="02040503050406030204" pitchFamily="18" charset="0"/>
                              </a:rPr>
                              <m:t>𝐾</m:t>
                            </m:r>
                            <m:r>
                              <a:rPr lang="en-US" b="0" i="1" smtClean="0">
                                <a:solidFill>
                                  <a:schemeClr val="tx1"/>
                                </a:solidFill>
                                <a:effectLst/>
                                <a:latin typeface="Cambria Math" panose="02040503050406030204" pitchFamily="18" charset="0"/>
                                <a:ea typeface="Cambria Math" panose="02040503050406030204" pitchFamily="18" charset="0"/>
                                <a:cs typeface="Cambria Math" panose="02040503050406030204" pitchFamily="18" charset="0"/>
                              </a:rPr>
                              <m:t>/2</m:t>
                            </m:r>
                          </m:num>
                          <m:den>
                            <m:r>
                              <a:rPr lang="en-US" sz="2800" i="1" smtClean="0">
                                <a:solidFill>
                                  <a:srgbClr val="C00000"/>
                                </a:solidFill>
                                <a:effectLst/>
                                <a:latin typeface="Cambria Math" panose="02040503050406030204" pitchFamily="18" charset="0"/>
                                <a:ea typeface="Cambria Math" panose="02040503050406030204" pitchFamily="18" charset="0"/>
                                <a:cs typeface="Cambria Math" panose="02040503050406030204" pitchFamily="18" charset="0"/>
                              </a:rPr>
                              <m:t>𝐾</m:t>
                            </m:r>
                          </m:den>
                        </m:f>
                      </m:e>
                    </m:d>
                  </m:oMath>
                </a14:m>
                <a:r>
                  <a:rPr lang="en-US" dirty="0">
                    <a:ea typeface="Cambria Math" panose="02040503050406030204" pitchFamily="18" charset="0"/>
                    <a:cs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cs typeface="Cambria Math" panose="02040503050406030204" pitchFamily="18" charset="0"/>
                      </a:rPr>
                      <m:t>=</m:t>
                    </m:r>
                  </m:oMath>
                </a14:m>
                <a:r>
                  <a:rPr lang="en-US" dirty="0">
                    <a:ea typeface="Cambria Math" panose="02040503050406030204" pitchFamily="18" charset="0"/>
                    <a:cs typeface="Cambria Math" panose="02040503050406030204" pitchFamily="18" charset="0"/>
                  </a:rPr>
                  <a:t> </a:t>
                </a:r>
                <a14:m>
                  <m:oMath xmlns:m="http://schemas.openxmlformats.org/officeDocument/2006/math">
                    <m:f>
                      <m:fPr>
                        <m:ctrlPr>
                          <a:rPr lang="en-US" i="1">
                            <a:solidFill>
                              <a:srgbClr val="7030A0"/>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i="1">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r>
                          <a:rPr lang="en-US"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num>
                      <m:den>
                        <m:r>
                          <a:rPr lang="en-US"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4</m:t>
                        </m:r>
                      </m:den>
                    </m:f>
                    <m:r>
                      <a:rPr lang="en-US" b="0" i="0"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r>
                      <m:rPr>
                        <m:sty m:val="p"/>
                      </m:rPr>
                      <a:rPr lang="en-US" b="0" i="0"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MSY</m:t>
                    </m:r>
                  </m:oMath>
                </a14:m>
                <a:endParaRPr lang="en-US" dirty="0"/>
              </a:p>
              <a:p>
                <a:pPr marL="0" indent="0">
                  <a:buNone/>
                </a:pPr>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29458C2E-3B88-4EAA-9F99-FC7EA2FD9ED5}"/>
                  </a:ext>
                </a:extLst>
              </p:cNvPr>
              <p:cNvSpPr>
                <a:spLocks noGrp="1" noRot="1" noChangeAspect="1" noMove="1" noResize="1" noEditPoints="1" noAdjustHandles="1" noChangeArrowheads="1" noChangeShapeType="1" noTextEdit="1"/>
              </p:cNvSpPr>
              <p:nvPr>
                <p:ph idx="1"/>
              </p:nvPr>
            </p:nvSpPr>
            <p:spPr>
              <a:xfrm>
                <a:off x="838199" y="1547786"/>
                <a:ext cx="11038815" cy="5033377"/>
              </a:xfrm>
              <a:blipFill>
                <a:blip r:embed="rId3"/>
                <a:stretch>
                  <a:fillRect l="-1104" r="-1160"/>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6A1B7CE7-CFA0-4F48-AC0F-3B82EBAED1C0}"/>
              </a:ext>
            </a:extLst>
          </p:cNvPr>
          <p:cNvPicPr>
            <a:picLocks noChangeAspect="1"/>
          </p:cNvPicPr>
          <p:nvPr/>
        </p:nvPicPr>
        <p:blipFill>
          <a:blip r:embed="rId4"/>
          <a:stretch>
            <a:fillRect/>
          </a:stretch>
        </p:blipFill>
        <p:spPr>
          <a:xfrm>
            <a:off x="6903217" y="2307420"/>
            <a:ext cx="5288783" cy="4550580"/>
          </a:xfrm>
          <a:prstGeom prst="rect">
            <a:avLst/>
          </a:prstGeom>
        </p:spPr>
      </p:pic>
      <p:cxnSp>
        <p:nvCxnSpPr>
          <p:cNvPr id="14" name="Straight Connector 13">
            <a:extLst>
              <a:ext uri="{FF2B5EF4-FFF2-40B4-BE49-F238E27FC236}">
                <a16:creationId xmlns:a16="http://schemas.microsoft.com/office/drawing/2014/main" id="{5BF5EF64-4062-4B15-8A1E-822D7D3FC885}"/>
              </a:ext>
            </a:extLst>
          </p:cNvPr>
          <p:cNvCxnSpPr>
            <a:cxnSpLocks/>
          </p:cNvCxnSpPr>
          <p:nvPr/>
        </p:nvCxnSpPr>
        <p:spPr>
          <a:xfrm>
            <a:off x="9893386" y="2542233"/>
            <a:ext cx="0" cy="34011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0969EDB-3DE3-42BF-8BEC-09AA926AFA14}"/>
                  </a:ext>
                </a:extLst>
              </p:cNvPr>
              <p:cNvSpPr txBox="1"/>
              <p:nvPr/>
            </p:nvSpPr>
            <p:spPr>
              <a:xfrm>
                <a:off x="8963189" y="5428635"/>
                <a:ext cx="2245743" cy="523220"/>
              </a:xfrm>
              <a:prstGeom prst="rect">
                <a:avLst/>
              </a:prstGeom>
              <a:noFill/>
            </p:spPr>
            <p:txBody>
              <a:bodyPr wrap="none" rtlCol="0">
                <a:spAutoFit/>
              </a:bodyPr>
              <a:lstStyle/>
              <a:p>
                <a:pPr/>
                <a14:m>
                  <m:oMathPara xmlns:m="http://schemas.openxmlformats.org/officeDocument/2006/math">
                    <m:oMath>
                      <m:r>
                        <a:rPr lang="en-US" sz="2800" i="1" dirty="0" smtClean="0">
                          <a:solidFill>
                            <a:schemeClr val="accent2"/>
                          </a:solidFill>
                          <a:latin typeface="Cambria Math" panose="02040503050406030204" pitchFamily="18" charset="0"/>
                        </a:rPr>
                        <m:t>𝐵</m:t>
                      </m:r>
                      <m:r>
                        <m:rPr>
                          <m:sty m:val="p"/>
                        </m:rPr>
                        <a:rPr lang="en-US" sz="2800" i="0" baseline="-25000" dirty="0">
                          <a:solidFill>
                            <a:schemeClr val="accent2"/>
                          </a:solidFill>
                          <a:latin typeface="Cambria Math" panose="02040503050406030204" pitchFamily="18" charset="0"/>
                        </a:rPr>
                        <m:t>MSY</m:t>
                      </m:r>
                      <m:r>
                        <a:rPr lang="en-US" sz="2800" i="1" dirty="0">
                          <a:solidFill>
                            <a:schemeClr val="accent2"/>
                          </a:solidFill>
                          <a:latin typeface="Cambria Math" panose="02040503050406030204" pitchFamily="18" charset="0"/>
                        </a:rPr>
                        <m:t> =</m:t>
                      </m:r>
                      <m:r>
                        <a:rPr lang="en-US" sz="2800" i="1" dirty="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 </m:t>
                      </m:r>
                      <m:r>
                        <a:rPr lang="en-US" sz="2800" i="1">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𝐾</m:t>
                      </m:r>
                      <m:r>
                        <a:rPr lang="en-US" sz="2800" b="0" i="1" smtClean="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/2</m:t>
                      </m:r>
                    </m:oMath>
                  </m:oMathPara>
                </a14:m>
                <a:endParaRPr lang="en-US" sz="2800" dirty="0">
                  <a:solidFill>
                    <a:schemeClr val="accent2"/>
                  </a:solidFill>
                </a:endParaRPr>
              </a:p>
            </p:txBody>
          </p:sp>
        </mc:Choice>
        <mc:Fallback xmlns="">
          <p:sp>
            <p:nvSpPr>
              <p:cNvPr id="15" name="TextBox 14">
                <a:extLst>
                  <a:ext uri="{FF2B5EF4-FFF2-40B4-BE49-F238E27FC236}">
                    <a16:creationId xmlns:a16="http://schemas.microsoft.com/office/drawing/2014/main" id="{40969EDB-3DE3-42BF-8BEC-09AA926AFA14}"/>
                  </a:ext>
                </a:extLst>
              </p:cNvPr>
              <p:cNvSpPr txBox="1">
                <a:spLocks noRot="1" noChangeAspect="1" noMove="1" noResize="1" noEditPoints="1" noAdjustHandles="1" noChangeArrowheads="1" noChangeShapeType="1" noTextEdit="1"/>
              </p:cNvSpPr>
              <p:nvPr/>
            </p:nvSpPr>
            <p:spPr>
              <a:xfrm>
                <a:off x="8963189" y="5428635"/>
                <a:ext cx="2245743" cy="523220"/>
              </a:xfrm>
              <a:prstGeom prst="rect">
                <a:avLst/>
              </a:prstGeom>
              <a:blipFill>
                <a:blip r:embed="rId5"/>
                <a:stretch>
                  <a:fillRect/>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9ABF9378-013C-4ABF-B5C3-951233724273}"/>
              </a:ext>
            </a:extLst>
          </p:cNvPr>
          <p:cNvCxnSpPr>
            <a:cxnSpLocks/>
          </p:cNvCxnSpPr>
          <p:nvPr/>
        </p:nvCxnSpPr>
        <p:spPr>
          <a:xfrm flipH="1">
            <a:off x="7887956" y="2533747"/>
            <a:ext cx="200543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C1FE3EC-D9E1-4D1F-AA89-1872FCC9AAAC}"/>
                  </a:ext>
                </a:extLst>
              </p:cNvPr>
              <p:cNvSpPr txBox="1"/>
              <p:nvPr/>
            </p:nvSpPr>
            <p:spPr>
              <a:xfrm>
                <a:off x="5904329" y="2191303"/>
                <a:ext cx="1842043" cy="701859"/>
              </a:xfrm>
              <a:prstGeom prst="rect">
                <a:avLst/>
              </a:prstGeom>
              <a:noFill/>
            </p:spPr>
            <p:txBody>
              <a:bodyPr wrap="none" rtlCol="0">
                <a:spAutoFit/>
              </a:bodyPr>
              <a:lstStyle/>
              <a:p>
                <a14:m>
                  <m:oMath xmlns:m="http://schemas.openxmlformats.org/officeDocument/2006/math">
                    <m:r>
                      <m:rPr>
                        <m:sty m:val="p"/>
                      </m:rPr>
                      <a:rPr lang="en-US" sz="2800" i="0" dirty="0" smtClean="0">
                        <a:solidFill>
                          <a:schemeClr val="accent2"/>
                        </a:solidFill>
                        <a:latin typeface="Cambria Math" panose="02040503050406030204" pitchFamily="18" charset="0"/>
                      </a:rPr>
                      <m:t>MSY</m:t>
                    </m:r>
                    <m:r>
                      <a:rPr lang="en-US" sz="2800" i="1" dirty="0" smtClean="0">
                        <a:solidFill>
                          <a:schemeClr val="accent2"/>
                        </a:solidFill>
                        <a:latin typeface="Cambria Math" panose="02040503050406030204" pitchFamily="18" charset="0"/>
                      </a:rPr>
                      <m:t>=</m:t>
                    </m:r>
                    <m:r>
                      <a:rPr lang="en-US" sz="2800" i="1" dirty="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 </m:t>
                    </m:r>
                    <m:f>
                      <m:fPr>
                        <m:ctrlPr>
                          <a:rPr lang="en-US" sz="2800" i="1">
                            <a:solidFill>
                              <a:schemeClr val="accent2"/>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sz="2800" i="1">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𝑟𝐾</m:t>
                        </m:r>
                      </m:num>
                      <m:den>
                        <m:r>
                          <a:rPr lang="en-US" sz="2800" b="0" i="1" smtClean="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4</m:t>
                        </m:r>
                      </m:den>
                    </m:f>
                  </m:oMath>
                </a14:m>
                <a:r>
                  <a:rPr lang="en-US" dirty="0">
                    <a:solidFill>
                      <a:schemeClr val="accent2"/>
                    </a:solidFill>
                  </a:rPr>
                  <a:t> </a:t>
                </a:r>
              </a:p>
            </p:txBody>
          </p:sp>
        </mc:Choice>
        <mc:Fallback xmlns="">
          <p:sp>
            <p:nvSpPr>
              <p:cNvPr id="8" name="TextBox 7">
                <a:extLst>
                  <a:ext uri="{FF2B5EF4-FFF2-40B4-BE49-F238E27FC236}">
                    <a16:creationId xmlns:a16="http://schemas.microsoft.com/office/drawing/2014/main" id="{2C1FE3EC-D9E1-4D1F-AA89-1872FCC9AAAC}"/>
                  </a:ext>
                </a:extLst>
              </p:cNvPr>
              <p:cNvSpPr txBox="1">
                <a:spLocks noRot="1" noChangeAspect="1" noMove="1" noResize="1" noEditPoints="1" noAdjustHandles="1" noChangeArrowheads="1" noChangeShapeType="1" noTextEdit="1"/>
              </p:cNvSpPr>
              <p:nvPr/>
            </p:nvSpPr>
            <p:spPr>
              <a:xfrm>
                <a:off x="5904329" y="2191303"/>
                <a:ext cx="1842043" cy="701859"/>
              </a:xfrm>
              <a:prstGeom prst="rect">
                <a:avLst/>
              </a:prstGeom>
              <a:blipFill>
                <a:blip r:embed="rId6"/>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39</a:t>
            </a:fld>
            <a:endParaRPr lang="en-CA"/>
          </a:p>
        </p:txBody>
      </p:sp>
    </p:spTree>
    <p:extLst>
      <p:ext uri="{BB962C8B-B14F-4D97-AF65-F5344CB8AC3E}">
        <p14:creationId xmlns:p14="http://schemas.microsoft.com/office/powerpoint/2010/main" val="1051852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5D6CBB4-66B3-4A2C-9159-CCE70C52D843}"/>
                  </a:ext>
                </a:extLst>
              </p:cNvPr>
              <p:cNvSpPr>
                <a:spLocks noGrp="1"/>
              </p:cNvSpPr>
              <p:nvPr>
                <p:ph type="title"/>
              </p:nvPr>
            </p:nvSpPr>
            <p:spPr>
              <a:xfrm>
                <a:off x="838200" y="365126"/>
                <a:ext cx="10515600" cy="1182660"/>
              </a:xfrm>
            </p:spPr>
            <p:txBody>
              <a:bodyPr>
                <a:normAutofit/>
              </a:bodyPr>
              <a:lstStyle/>
              <a:p>
                <a14:m>
                  <m:oMath xmlns:m="http://schemas.openxmlformats.org/officeDocument/2006/math">
                    <m:r>
                      <a:rPr lang="en-US" b="0" i="1" dirty="0" smtClean="0">
                        <a:latin typeface="Cambria Math" panose="02040503050406030204" pitchFamily="18" charset="0"/>
                        <a:ea typeface="Times New Roman" panose="02020603050405020304" pitchFamily="18" charset="0"/>
                        <a:cs typeface="Arial" panose="020B0604020202020204" pitchFamily="34" charset="0"/>
                      </a:rPr>
                      <m:t>𝑈</m:t>
                    </m:r>
                    <m:r>
                      <m:rPr>
                        <m:sty m:val="p"/>
                      </m:rPr>
                      <a:rPr lang="en-US" baseline="-25000" dirty="0">
                        <a:latin typeface="Cambria Math" panose="02040503050406030204" pitchFamily="18" charset="0"/>
                        <a:ea typeface="Times New Roman" panose="02020603050405020304" pitchFamily="18" charset="0"/>
                        <a:cs typeface="Arial" panose="020B0604020202020204" pitchFamily="34" charset="0"/>
                      </a:rPr>
                      <m:t>MSY</m:t>
                    </m:r>
                  </m:oMath>
                </a14:m>
                <a:r>
                  <a:rPr lang="en-US" dirty="0"/>
                  <a:t> from the Schaefer Model</a:t>
                </a:r>
              </a:p>
            </p:txBody>
          </p:sp>
        </mc:Choice>
        <mc:Fallback xmlns="">
          <p:sp>
            <p:nvSpPr>
              <p:cNvPr id="2" name="Title 1">
                <a:extLst>
                  <a:ext uri="{FF2B5EF4-FFF2-40B4-BE49-F238E27FC236}">
                    <a16:creationId xmlns:a16="http://schemas.microsoft.com/office/drawing/2014/main" id="{C5D6CBB4-66B3-4A2C-9159-CCE70C52D843}"/>
                  </a:ext>
                </a:extLst>
              </p:cNvPr>
              <p:cNvSpPr>
                <a:spLocks noGrp="1" noRot="1" noChangeAspect="1" noMove="1" noResize="1" noEditPoints="1" noAdjustHandles="1" noChangeArrowheads="1" noChangeShapeType="1" noTextEdit="1"/>
              </p:cNvSpPr>
              <p:nvPr>
                <p:ph type="title"/>
              </p:nvPr>
            </p:nvSpPr>
            <p:spPr>
              <a:xfrm>
                <a:off x="838200" y="365126"/>
                <a:ext cx="10515600" cy="1182660"/>
              </a:xfrm>
              <a:blipFill>
                <a:blip r:embed="rId2"/>
                <a:stretch>
                  <a:fillRect b="-41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458C2E-3B88-4EAA-9F99-FC7EA2FD9ED5}"/>
                  </a:ext>
                </a:extLst>
              </p:cNvPr>
              <p:cNvSpPr>
                <a:spLocks noGrp="1"/>
              </p:cNvSpPr>
              <p:nvPr>
                <p:ph idx="1"/>
              </p:nvPr>
            </p:nvSpPr>
            <p:spPr>
              <a:xfrm>
                <a:off x="734290" y="1430014"/>
                <a:ext cx="11038815" cy="5033377"/>
              </a:xfrm>
            </p:spPr>
            <p:txBody>
              <a:bodyPr>
                <a:normAutofit/>
              </a:bodyPr>
              <a:lstStyle/>
              <a:p>
                <a:pPr marL="0" indent="0">
                  <a:buNone/>
                </a:pPr>
                <a14:m>
                  <m:oMath xmlns:m="http://schemas.openxmlformats.org/officeDocument/2006/math">
                    <m:sSub>
                      <m:sSubPr>
                        <m:ctrlPr>
                          <a:rPr lang="en-US" sz="3200" b="0" i="1" smtClean="0">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3200" b="0" i="1" smtClean="0">
                            <a:effectLst/>
                            <a:latin typeface="Cambria Math" panose="02040503050406030204" pitchFamily="18" charset="0"/>
                            <a:ea typeface="Cambria Math" panose="02040503050406030204" pitchFamily="18" charset="0"/>
                            <a:cs typeface="Cambria Math" panose="02040503050406030204" pitchFamily="18" charset="0"/>
                          </a:rPr>
                          <m:t>𝑆𝑃</m:t>
                        </m:r>
                      </m:e>
                      <m:sub>
                        <m:r>
                          <a:rPr lang="en-US" sz="3200" i="1">
                            <a:effectLst/>
                            <a:latin typeface="Cambria Math" panose="02040503050406030204" pitchFamily="18" charset="0"/>
                            <a:ea typeface="Cambria Math" panose="02040503050406030204" pitchFamily="18" charset="0"/>
                            <a:cs typeface="Cambria Math" panose="02040503050406030204" pitchFamily="18" charset="0"/>
                          </a:rPr>
                          <m:t>𝑡</m:t>
                        </m:r>
                      </m:sub>
                    </m:sSub>
                    <m:r>
                      <a:rPr lang="en-US" sz="3200" b="0" i="1" smtClean="0">
                        <a:effectLst/>
                        <a:latin typeface="Cambria Math" panose="02040503050406030204" pitchFamily="18" charset="0"/>
                        <a:ea typeface="Cambria Math" panose="02040503050406030204" pitchFamily="18" charset="0"/>
                        <a:cs typeface="Cambria Math" panose="02040503050406030204" pitchFamily="18" charset="0"/>
                      </a:rPr>
                      <m:t>=</m:t>
                    </m:r>
                    <m:r>
                      <a:rPr lang="en-US" sz="3200" i="1" smtClean="0">
                        <a:solidFill>
                          <a:srgbClr val="7030A0"/>
                        </a:solidFill>
                        <a:effectLst/>
                        <a:latin typeface="Cambria Math" panose="02040503050406030204" pitchFamily="18" charset="0"/>
                        <a:ea typeface="Cambria Math" panose="02040503050406030204" pitchFamily="18" charset="0"/>
                        <a:cs typeface="Cambria Math" panose="02040503050406030204" pitchFamily="18" charset="0"/>
                      </a:rPr>
                      <m:t>𝑟</m:t>
                    </m:r>
                    <m:sSub>
                      <m:sSubPr>
                        <m:ctrlPr>
                          <a:rPr lang="en-US" sz="32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32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3200" i="1">
                            <a:effectLst/>
                            <a:latin typeface="Cambria Math" panose="02040503050406030204" pitchFamily="18" charset="0"/>
                            <a:ea typeface="Cambria Math" panose="02040503050406030204" pitchFamily="18" charset="0"/>
                            <a:cs typeface="Cambria Math" panose="02040503050406030204" pitchFamily="18" charset="0"/>
                          </a:rPr>
                          <m:t>𝑡</m:t>
                        </m:r>
                      </m:sub>
                    </m:sSub>
                    <m:d>
                      <m:dPr>
                        <m:ctrlPr>
                          <a:rPr lang="en-US" sz="3200" i="1">
                            <a:effectLst/>
                            <a:latin typeface="Cambria Math" panose="02040503050406030204" pitchFamily="18" charset="0"/>
                            <a:ea typeface="Cambria Math" panose="02040503050406030204" pitchFamily="18" charset="0"/>
                            <a:cs typeface="Cambria Math" panose="02040503050406030204" pitchFamily="18" charset="0"/>
                          </a:rPr>
                        </m:ctrlPr>
                      </m:dPr>
                      <m:e>
                        <m:r>
                          <a:rPr lang="en-US" sz="3200" i="1">
                            <a:effectLst/>
                            <a:latin typeface="Cambria Math" panose="02040503050406030204" pitchFamily="18" charset="0"/>
                            <a:ea typeface="Cambria Math" panose="02040503050406030204" pitchFamily="18" charset="0"/>
                            <a:cs typeface="Cambria Math" panose="02040503050406030204" pitchFamily="18" charset="0"/>
                          </a:rPr>
                          <m:t>1−</m:t>
                        </m:r>
                        <m:f>
                          <m:fPr>
                            <m:ctrlPr>
                              <a:rPr lang="en-US" sz="4400" i="1">
                                <a:effectLst/>
                                <a:latin typeface="Cambria Math" panose="02040503050406030204" pitchFamily="18" charset="0"/>
                                <a:ea typeface="Cambria Math" panose="02040503050406030204" pitchFamily="18" charset="0"/>
                                <a:cs typeface="Cambria Math" panose="02040503050406030204" pitchFamily="18" charset="0"/>
                              </a:rPr>
                            </m:ctrlPr>
                          </m:fPr>
                          <m:num>
                            <m:sSub>
                              <m:sSubPr>
                                <m:ctrlPr>
                                  <a:rPr lang="en-US" sz="3200" i="1">
                                    <a:effectLst/>
                                    <a:latin typeface="Cambria Math" panose="02040503050406030204" pitchFamily="18" charset="0"/>
                                    <a:ea typeface="Cambria Math" panose="02040503050406030204" pitchFamily="18" charset="0"/>
                                    <a:cs typeface="Cambria Math" panose="02040503050406030204" pitchFamily="18" charset="0"/>
                                  </a:rPr>
                                </m:ctrlPr>
                              </m:sSubPr>
                              <m:e>
                                <m:r>
                                  <a:rPr lang="en-US" sz="3200" i="1">
                                    <a:effectLst/>
                                    <a:latin typeface="Cambria Math" panose="02040503050406030204" pitchFamily="18" charset="0"/>
                                    <a:ea typeface="Cambria Math" panose="02040503050406030204" pitchFamily="18" charset="0"/>
                                    <a:cs typeface="Cambria Math" panose="02040503050406030204" pitchFamily="18" charset="0"/>
                                  </a:rPr>
                                  <m:t>𝐵</m:t>
                                </m:r>
                              </m:e>
                              <m:sub>
                                <m:r>
                                  <a:rPr lang="en-US" sz="3200" i="1">
                                    <a:effectLst/>
                                    <a:latin typeface="Cambria Math" panose="02040503050406030204" pitchFamily="18" charset="0"/>
                                    <a:ea typeface="Cambria Math" panose="02040503050406030204" pitchFamily="18" charset="0"/>
                                    <a:cs typeface="Cambria Math" panose="02040503050406030204" pitchFamily="18" charset="0"/>
                                  </a:rPr>
                                  <m:t>𝑡</m:t>
                                </m:r>
                              </m:sub>
                            </m:sSub>
                          </m:num>
                          <m:den>
                            <m:r>
                              <a:rPr lang="en-US" sz="3200" i="1" smtClean="0">
                                <a:solidFill>
                                  <a:srgbClr val="C00000"/>
                                </a:solidFill>
                                <a:effectLst/>
                                <a:latin typeface="Cambria Math" panose="02040503050406030204" pitchFamily="18" charset="0"/>
                                <a:ea typeface="Cambria Math" panose="02040503050406030204" pitchFamily="18" charset="0"/>
                                <a:cs typeface="Cambria Math" panose="02040503050406030204" pitchFamily="18" charset="0"/>
                              </a:rPr>
                              <m:t>𝐾</m:t>
                            </m:r>
                          </m:den>
                        </m:f>
                      </m:e>
                    </m:d>
                  </m:oMath>
                </a14:m>
                <a:r>
                  <a:rPr lang="en-US" sz="4000" dirty="0">
                    <a:effectLst/>
                    <a:latin typeface="Arial" panose="020B0604020202020204" pitchFamily="34" charset="0"/>
                    <a:ea typeface="Times New Roman" panose="02020603050405020304" pitchFamily="18" charset="0"/>
                    <a:cs typeface="Times New Roman" panose="02020603050405020304" pitchFamily="18" charset="0"/>
                  </a:rPr>
                  <a:t>	</a:t>
                </a:r>
                <a:r>
                  <a:rPr lang="en-US" sz="3600" dirty="0">
                    <a:effectLst/>
                    <a:latin typeface="Arial" panose="020B0604020202020204" pitchFamily="34" charset="0"/>
                    <a:ea typeface="Times New Roman" panose="02020603050405020304" pitchFamily="18" charset="0"/>
                    <a:cs typeface="Times New Roman" panose="02020603050405020304" pitchFamily="18" charset="0"/>
                  </a:rPr>
                  <a:t>       </a:t>
                </a:r>
                <a:r>
                  <a:rPr lang="en-US" sz="3600" b="1" dirty="0">
                    <a:ea typeface="Cambria Math" panose="02040503050406030204" pitchFamily="18" charset="0"/>
                    <a:cs typeface="Cambria Math" panose="02040503050406030204" pitchFamily="18" charset="0"/>
                  </a:rPr>
                  <a:t>What is the harvest rate at MSY?</a:t>
                </a:r>
                <a:r>
                  <a:rPr lang="en-US" sz="3600" dirty="0"/>
                  <a:t> </a:t>
                </a:r>
                <a:endParaRPr lang="en-US" i="1" dirty="0">
                  <a:latin typeface="Cambria Math" panose="02040503050406030204" pitchFamily="18" charset="0"/>
                </a:endParaRPr>
              </a:p>
              <a:p>
                <a:pPr marL="0" indent="0">
                  <a:buNone/>
                </a:pPr>
                <a:endParaRPr lang="en-US" i="1" dirty="0">
                  <a:solidFill>
                    <a:schemeClr val="tx1"/>
                  </a:solidFill>
                  <a:latin typeface="Cambria Math" panose="02040503050406030204" pitchFamily="18" charset="0"/>
                  <a:ea typeface="Cambria Math" panose="02040503050406030204" pitchFamily="18" charset="0"/>
                  <a:cs typeface="Cambria Math" panose="02040503050406030204" pitchFamily="18" charset="0"/>
                </a:endParaRPr>
              </a:p>
              <a:p>
                <a:pPr marL="0" indent="0">
                  <a:buNone/>
                </a:pPr>
                <a14:m>
                  <m:oMath xmlns:m="http://schemas.openxmlformats.org/officeDocument/2006/math">
                    <m:f>
                      <m:fPr>
                        <m:ctrlPr>
                          <a:rPr lang="en-US" sz="40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sz="40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𝑀𝑆𝑌</m:t>
                        </m:r>
                      </m:num>
                      <m:den>
                        <m:sSub>
                          <m:sSubPr>
                            <m:ctrlPr>
                              <a:rPr lang="en-US" sz="4000" i="1">
                                <a:latin typeface="Cambria Math" panose="02040503050406030204" pitchFamily="18" charset="0"/>
                                <a:ea typeface="Cambria Math" panose="02040503050406030204" pitchFamily="18" charset="0"/>
                                <a:cs typeface="Cambria Math" panose="02040503050406030204" pitchFamily="18" charset="0"/>
                              </a:rPr>
                            </m:ctrlPr>
                          </m:sSubPr>
                          <m:e>
                            <m:r>
                              <a:rPr lang="en-US" sz="4000" i="1">
                                <a:latin typeface="Cambria Math" panose="02040503050406030204" pitchFamily="18" charset="0"/>
                                <a:ea typeface="Cambria Math" panose="02040503050406030204" pitchFamily="18" charset="0"/>
                                <a:cs typeface="Cambria Math" panose="02040503050406030204" pitchFamily="18" charset="0"/>
                              </a:rPr>
                              <m:t>𝐵</m:t>
                            </m:r>
                          </m:e>
                          <m:sub>
                            <m:r>
                              <a:rPr lang="en-US" sz="4000" i="1">
                                <a:latin typeface="Cambria Math" panose="02040503050406030204" pitchFamily="18" charset="0"/>
                                <a:ea typeface="Cambria Math" panose="02040503050406030204" pitchFamily="18" charset="0"/>
                                <a:cs typeface="Cambria Math" panose="02040503050406030204" pitchFamily="18" charset="0"/>
                              </a:rPr>
                              <m:t>𝑀𝑆𝑌</m:t>
                            </m:r>
                          </m:sub>
                        </m:sSub>
                      </m:den>
                    </m:f>
                    <m:r>
                      <a:rPr lang="en-US" sz="40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oMath>
                </a14:m>
                <a:r>
                  <a:rPr lang="en-US" sz="4000" dirty="0">
                    <a:ea typeface="Cambria Math" panose="02040503050406030204" pitchFamily="18" charset="0"/>
                    <a:cs typeface="Cambria Math" panose="02040503050406030204" pitchFamily="18" charset="0"/>
                  </a:rPr>
                  <a:t> </a:t>
                </a:r>
                <a14:m>
                  <m:oMath xmlns:m="http://schemas.openxmlformats.org/officeDocument/2006/math">
                    <m:f>
                      <m:fPr>
                        <m:ctrlPr>
                          <a:rPr lang="en-US" sz="4000" i="1">
                            <a:solidFill>
                              <a:srgbClr val="7030A0"/>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sz="4000" i="1">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r>
                          <a:rPr lang="en-US" sz="4000" b="0" i="1" smtClean="0">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r>
                          <a:rPr lang="en-US" sz="40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/4</m:t>
                        </m:r>
                      </m:num>
                      <m:den>
                        <m:r>
                          <a:rPr lang="en-US" sz="4000" b="0" i="1" smtClean="0">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r>
                          <a:rPr lang="en-US" sz="40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den>
                    </m:f>
                    <m:r>
                      <a:rPr lang="en-US" sz="40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oMath>
                </a14:m>
                <a:r>
                  <a:rPr lang="en-US" sz="4000" dirty="0">
                    <a:ea typeface="Cambria Math" panose="02040503050406030204" pitchFamily="18" charset="0"/>
                    <a:cs typeface="Cambria Math" panose="02040503050406030204" pitchFamily="18" charset="0"/>
                  </a:rPr>
                  <a:t> </a:t>
                </a:r>
                <a14:m>
                  <m:oMath xmlns:m="http://schemas.openxmlformats.org/officeDocument/2006/math">
                    <m:f>
                      <m:fPr>
                        <m:ctrlPr>
                          <a:rPr lang="en-US" sz="4000" i="1">
                            <a:solidFill>
                              <a:srgbClr val="7030A0"/>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sz="4000" i="1">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num>
                      <m:den>
                        <m:r>
                          <a:rPr lang="en-US" sz="4000" i="1">
                            <a:latin typeface="Cambria Math" panose="02040503050406030204" pitchFamily="18" charset="0"/>
                            <a:ea typeface="Cambria Math" panose="02040503050406030204" pitchFamily="18" charset="0"/>
                            <a:cs typeface="Cambria Math" panose="02040503050406030204" pitchFamily="18" charset="0"/>
                          </a:rPr>
                          <m:t>2</m:t>
                        </m:r>
                      </m:den>
                    </m:f>
                    <m:r>
                      <a:rPr lang="en-US" sz="4000" b="0" i="1" smtClean="0">
                        <a:latin typeface="Cambria Math" panose="02040503050406030204" pitchFamily="18" charset="0"/>
                        <a:ea typeface="Cambria Math" panose="02040503050406030204" pitchFamily="18" charset="0"/>
                        <a:cs typeface="Cambria Math" panose="02040503050406030204" pitchFamily="18" charset="0"/>
                      </a:rPr>
                      <m:t>=</m:t>
                    </m:r>
                  </m:oMath>
                </a14:m>
                <a:r>
                  <a:rPr lang="en-US" sz="4000" dirty="0"/>
                  <a:t> </a:t>
                </a:r>
                <a14:m>
                  <m:oMath xmlns:m="http://schemas.openxmlformats.org/officeDocument/2006/math">
                    <m:r>
                      <a:rPr lang="en-US" sz="4000" i="1" dirty="0">
                        <a:latin typeface="Cambria Math" panose="02040503050406030204" pitchFamily="18" charset="0"/>
                        <a:ea typeface="Times New Roman" panose="02020603050405020304" pitchFamily="18" charset="0"/>
                        <a:cs typeface="Arial" panose="020B0604020202020204" pitchFamily="34" charset="0"/>
                      </a:rPr>
                      <m:t>𝑈</m:t>
                    </m:r>
                    <m:r>
                      <m:rPr>
                        <m:sty m:val="p"/>
                      </m:rPr>
                      <a:rPr lang="en-US" sz="4000" baseline="-25000" dirty="0">
                        <a:latin typeface="Cambria Math" panose="02040503050406030204" pitchFamily="18" charset="0"/>
                        <a:ea typeface="Times New Roman" panose="02020603050405020304" pitchFamily="18" charset="0"/>
                        <a:cs typeface="Arial" panose="020B0604020202020204" pitchFamily="34" charset="0"/>
                      </a:rPr>
                      <m:t>MSY</m:t>
                    </m:r>
                  </m:oMath>
                </a14:m>
                <a:r>
                  <a:rPr lang="en-US" sz="4000" dirty="0"/>
                  <a:t> </a:t>
                </a:r>
              </a:p>
              <a:p>
                <a:pPr marL="0" indent="0">
                  <a:buNone/>
                </a:pPr>
                <a:endParaRPr lang="en-US" sz="4000" dirty="0"/>
              </a:p>
            </p:txBody>
          </p:sp>
        </mc:Choice>
        <mc:Fallback xmlns="">
          <p:sp>
            <p:nvSpPr>
              <p:cNvPr id="3" name="Content Placeholder 2">
                <a:extLst>
                  <a:ext uri="{FF2B5EF4-FFF2-40B4-BE49-F238E27FC236}">
                    <a16:creationId xmlns:a16="http://schemas.microsoft.com/office/drawing/2014/main" id="{29458C2E-3B88-4EAA-9F99-FC7EA2FD9ED5}"/>
                  </a:ext>
                </a:extLst>
              </p:cNvPr>
              <p:cNvSpPr>
                <a:spLocks noGrp="1" noRot="1" noChangeAspect="1" noMove="1" noResize="1" noEditPoints="1" noAdjustHandles="1" noChangeArrowheads="1" noChangeShapeType="1" noTextEdit="1"/>
              </p:cNvSpPr>
              <p:nvPr>
                <p:ph idx="1"/>
              </p:nvPr>
            </p:nvSpPr>
            <p:spPr>
              <a:xfrm>
                <a:off x="734290" y="1430014"/>
                <a:ext cx="11038815" cy="5033377"/>
              </a:xfrm>
              <a:blipFill>
                <a:blip r:embed="rId3"/>
                <a:stretch>
                  <a:fillRect r="-718"/>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6A1B7CE7-CFA0-4F48-AC0F-3B82EBAED1C0}"/>
              </a:ext>
            </a:extLst>
          </p:cNvPr>
          <p:cNvPicPr>
            <a:picLocks noChangeAspect="1"/>
          </p:cNvPicPr>
          <p:nvPr/>
        </p:nvPicPr>
        <p:blipFill>
          <a:blip r:embed="rId4"/>
          <a:stretch>
            <a:fillRect/>
          </a:stretch>
        </p:blipFill>
        <p:spPr>
          <a:xfrm>
            <a:off x="6903217" y="2307420"/>
            <a:ext cx="5288783" cy="4550580"/>
          </a:xfrm>
          <a:prstGeom prst="rect">
            <a:avLst/>
          </a:prstGeom>
        </p:spPr>
      </p:pic>
      <p:cxnSp>
        <p:nvCxnSpPr>
          <p:cNvPr id="14" name="Straight Connector 13">
            <a:extLst>
              <a:ext uri="{FF2B5EF4-FFF2-40B4-BE49-F238E27FC236}">
                <a16:creationId xmlns:a16="http://schemas.microsoft.com/office/drawing/2014/main" id="{5BF5EF64-4062-4B15-8A1E-822D7D3FC885}"/>
              </a:ext>
            </a:extLst>
          </p:cNvPr>
          <p:cNvCxnSpPr>
            <a:cxnSpLocks/>
          </p:cNvCxnSpPr>
          <p:nvPr/>
        </p:nvCxnSpPr>
        <p:spPr>
          <a:xfrm>
            <a:off x="9893386" y="2542233"/>
            <a:ext cx="0" cy="34011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40969EDB-3DE3-42BF-8BEC-09AA926AFA14}"/>
                  </a:ext>
                </a:extLst>
              </p:cNvPr>
              <p:cNvSpPr txBox="1"/>
              <p:nvPr/>
            </p:nvSpPr>
            <p:spPr>
              <a:xfrm>
                <a:off x="8963189" y="5428635"/>
                <a:ext cx="2245743" cy="523220"/>
              </a:xfrm>
              <a:prstGeom prst="rect">
                <a:avLst/>
              </a:prstGeom>
              <a:noFill/>
            </p:spPr>
            <p:txBody>
              <a:bodyPr wrap="none" rtlCol="0">
                <a:spAutoFit/>
              </a:bodyPr>
              <a:lstStyle/>
              <a:p>
                <a:pPr/>
                <a14:m>
                  <m:oMathPara xmlns:m="http://schemas.openxmlformats.org/officeDocument/2006/math">
                    <m:oMath>
                      <m:r>
                        <a:rPr lang="en-US" sz="2800" i="1" dirty="0" smtClean="0">
                          <a:solidFill>
                            <a:schemeClr val="accent2"/>
                          </a:solidFill>
                          <a:latin typeface="Cambria Math" panose="02040503050406030204" pitchFamily="18" charset="0"/>
                        </a:rPr>
                        <m:t>𝐵</m:t>
                      </m:r>
                      <m:r>
                        <m:rPr>
                          <m:sty m:val="p"/>
                        </m:rPr>
                        <a:rPr lang="en-US" sz="2800" i="0" baseline="-25000" dirty="0">
                          <a:solidFill>
                            <a:schemeClr val="accent2"/>
                          </a:solidFill>
                          <a:latin typeface="Cambria Math" panose="02040503050406030204" pitchFamily="18" charset="0"/>
                        </a:rPr>
                        <m:t>MSY</m:t>
                      </m:r>
                      <m:r>
                        <a:rPr lang="en-US" sz="2800" i="1" dirty="0">
                          <a:solidFill>
                            <a:schemeClr val="accent2"/>
                          </a:solidFill>
                          <a:latin typeface="Cambria Math" panose="02040503050406030204" pitchFamily="18" charset="0"/>
                        </a:rPr>
                        <m:t> =</m:t>
                      </m:r>
                      <m:r>
                        <a:rPr lang="en-US" sz="2800" i="1" dirty="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 </m:t>
                      </m:r>
                      <m:r>
                        <a:rPr lang="en-US" sz="2800" i="1">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𝐾</m:t>
                      </m:r>
                      <m:r>
                        <a:rPr lang="en-US" sz="2800" b="0" i="1" smtClean="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/2</m:t>
                      </m:r>
                    </m:oMath>
                  </m:oMathPara>
                </a14:m>
                <a:endParaRPr lang="en-US" sz="2800" dirty="0">
                  <a:solidFill>
                    <a:schemeClr val="accent2"/>
                  </a:solidFill>
                </a:endParaRPr>
              </a:p>
            </p:txBody>
          </p:sp>
        </mc:Choice>
        <mc:Fallback xmlns="">
          <p:sp>
            <p:nvSpPr>
              <p:cNvPr id="15" name="TextBox 14">
                <a:extLst>
                  <a:ext uri="{FF2B5EF4-FFF2-40B4-BE49-F238E27FC236}">
                    <a16:creationId xmlns:a16="http://schemas.microsoft.com/office/drawing/2014/main" id="{40969EDB-3DE3-42BF-8BEC-09AA926AFA14}"/>
                  </a:ext>
                </a:extLst>
              </p:cNvPr>
              <p:cNvSpPr txBox="1">
                <a:spLocks noRot="1" noChangeAspect="1" noMove="1" noResize="1" noEditPoints="1" noAdjustHandles="1" noChangeArrowheads="1" noChangeShapeType="1" noTextEdit="1"/>
              </p:cNvSpPr>
              <p:nvPr/>
            </p:nvSpPr>
            <p:spPr>
              <a:xfrm>
                <a:off x="8963189" y="5428635"/>
                <a:ext cx="2245743" cy="523220"/>
              </a:xfrm>
              <a:prstGeom prst="rect">
                <a:avLst/>
              </a:prstGeom>
              <a:blipFill>
                <a:blip r:embed="rId5"/>
                <a:stretch>
                  <a:fillRect/>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9ABF9378-013C-4ABF-B5C3-951233724273}"/>
              </a:ext>
            </a:extLst>
          </p:cNvPr>
          <p:cNvCxnSpPr>
            <a:cxnSpLocks/>
          </p:cNvCxnSpPr>
          <p:nvPr/>
        </p:nvCxnSpPr>
        <p:spPr>
          <a:xfrm flipH="1">
            <a:off x="7887956" y="2533747"/>
            <a:ext cx="200543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C1FE3EC-D9E1-4D1F-AA89-1872FCC9AAAC}"/>
                  </a:ext>
                </a:extLst>
              </p:cNvPr>
              <p:cNvSpPr txBox="1"/>
              <p:nvPr/>
            </p:nvSpPr>
            <p:spPr>
              <a:xfrm>
                <a:off x="5904329" y="2191303"/>
                <a:ext cx="1842043" cy="701859"/>
              </a:xfrm>
              <a:prstGeom prst="rect">
                <a:avLst/>
              </a:prstGeom>
              <a:noFill/>
            </p:spPr>
            <p:txBody>
              <a:bodyPr wrap="none" rtlCol="0">
                <a:spAutoFit/>
              </a:bodyPr>
              <a:lstStyle/>
              <a:p>
                <a14:m>
                  <m:oMath xmlns:m="http://schemas.openxmlformats.org/officeDocument/2006/math">
                    <m:r>
                      <m:rPr>
                        <m:sty m:val="p"/>
                      </m:rPr>
                      <a:rPr lang="en-US" sz="2800" i="0" dirty="0" smtClean="0">
                        <a:solidFill>
                          <a:schemeClr val="accent2"/>
                        </a:solidFill>
                        <a:latin typeface="Cambria Math" panose="02040503050406030204" pitchFamily="18" charset="0"/>
                      </a:rPr>
                      <m:t>MSY</m:t>
                    </m:r>
                    <m:r>
                      <a:rPr lang="en-US" sz="2800" i="1" dirty="0" smtClean="0">
                        <a:solidFill>
                          <a:schemeClr val="accent2"/>
                        </a:solidFill>
                        <a:latin typeface="Cambria Math" panose="02040503050406030204" pitchFamily="18" charset="0"/>
                      </a:rPr>
                      <m:t>=</m:t>
                    </m:r>
                    <m:r>
                      <a:rPr lang="en-US" sz="2800" i="1" dirty="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 </m:t>
                    </m:r>
                    <m:f>
                      <m:fPr>
                        <m:ctrlPr>
                          <a:rPr lang="en-US" sz="2800" i="1">
                            <a:solidFill>
                              <a:schemeClr val="accent2"/>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sz="2800" i="1">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𝑟𝐾</m:t>
                        </m:r>
                      </m:num>
                      <m:den>
                        <m:r>
                          <a:rPr lang="en-US" sz="2800" b="0" i="1" smtClean="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4</m:t>
                        </m:r>
                      </m:den>
                    </m:f>
                  </m:oMath>
                </a14:m>
                <a:r>
                  <a:rPr lang="en-US" dirty="0">
                    <a:solidFill>
                      <a:schemeClr val="accent2"/>
                    </a:solidFill>
                  </a:rPr>
                  <a:t> </a:t>
                </a:r>
              </a:p>
            </p:txBody>
          </p:sp>
        </mc:Choice>
        <mc:Fallback xmlns="">
          <p:sp>
            <p:nvSpPr>
              <p:cNvPr id="8" name="TextBox 7">
                <a:extLst>
                  <a:ext uri="{FF2B5EF4-FFF2-40B4-BE49-F238E27FC236}">
                    <a16:creationId xmlns:a16="http://schemas.microsoft.com/office/drawing/2014/main" id="{2C1FE3EC-D9E1-4D1F-AA89-1872FCC9AAAC}"/>
                  </a:ext>
                </a:extLst>
              </p:cNvPr>
              <p:cNvSpPr txBox="1">
                <a:spLocks noRot="1" noChangeAspect="1" noMove="1" noResize="1" noEditPoints="1" noAdjustHandles="1" noChangeArrowheads="1" noChangeShapeType="1" noTextEdit="1"/>
              </p:cNvSpPr>
              <p:nvPr/>
            </p:nvSpPr>
            <p:spPr>
              <a:xfrm>
                <a:off x="5904329" y="2191303"/>
                <a:ext cx="1842043" cy="701859"/>
              </a:xfrm>
              <a:prstGeom prst="rect">
                <a:avLst/>
              </a:prstGeom>
              <a:blipFill>
                <a:blip r:embed="rId6"/>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40</a:t>
            </a:fld>
            <a:endParaRPr lang="en-CA"/>
          </a:p>
        </p:txBody>
      </p:sp>
      <p:sp>
        <p:nvSpPr>
          <p:cNvPr id="11" name="TextBox 10"/>
          <p:cNvSpPr txBox="1"/>
          <p:nvPr/>
        </p:nvSpPr>
        <p:spPr>
          <a:xfrm>
            <a:off x="146436" y="5753695"/>
            <a:ext cx="6998974" cy="923330"/>
          </a:xfrm>
          <a:prstGeom prst="rect">
            <a:avLst/>
          </a:prstGeom>
          <a:solidFill>
            <a:schemeClr val="accent1">
              <a:alpha val="25000"/>
            </a:schemeClr>
          </a:solidFill>
          <a:ln>
            <a:solidFill>
              <a:schemeClr val="accent1">
                <a:lumMod val="50000"/>
              </a:schemeClr>
            </a:solidFill>
          </a:ln>
        </p:spPr>
        <p:txBody>
          <a:bodyPr wrap="square" rtlCol="0">
            <a:spAutoFit/>
          </a:bodyPr>
          <a:lstStyle/>
          <a:p>
            <a:pPr marL="342900" indent="-342900">
              <a:buAutoNum type="arabicPeriod"/>
            </a:pPr>
            <a:r>
              <a:rPr lang="en-US" dirty="0">
                <a:solidFill>
                  <a:schemeClr val="tx2"/>
                </a:solidFill>
              </a:rPr>
              <a:t>Hilborn R. and Walters, C.J. 1992. Quantitative fisheries stock assessment: choice, dynamics and uncertainty. Chapman and Hall, New York. 570 pp.</a:t>
            </a:r>
          </a:p>
        </p:txBody>
      </p:sp>
    </p:spTree>
    <p:extLst>
      <p:ext uri="{BB962C8B-B14F-4D97-AF65-F5344CB8AC3E}">
        <p14:creationId xmlns:p14="http://schemas.microsoft.com/office/powerpoint/2010/main" val="85012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6CBB4-66B3-4A2C-9159-CCE70C52D843}"/>
              </a:ext>
            </a:extLst>
          </p:cNvPr>
          <p:cNvSpPr>
            <a:spLocks noGrp="1"/>
          </p:cNvSpPr>
          <p:nvPr>
            <p:ph type="title"/>
          </p:nvPr>
        </p:nvSpPr>
        <p:spPr>
          <a:xfrm>
            <a:off x="838200" y="365125"/>
            <a:ext cx="10832184" cy="1325563"/>
          </a:xfrm>
        </p:spPr>
        <p:txBody>
          <a:bodyPr/>
          <a:lstStyle/>
          <a:p>
            <a:r>
              <a:rPr lang="en-US" dirty="0"/>
              <a:t>Reference points from the Schaefer Model</a:t>
            </a:r>
            <a:r>
              <a:rPr lang="en-US" baseline="30000" dirty="0"/>
              <a:t>1</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458C2E-3B88-4EAA-9F99-FC7EA2FD9ED5}"/>
                  </a:ext>
                </a:extLst>
              </p:cNvPr>
              <p:cNvSpPr>
                <a:spLocks noGrp="1"/>
              </p:cNvSpPr>
              <p:nvPr>
                <p:ph idx="1"/>
              </p:nvPr>
            </p:nvSpPr>
            <p:spPr>
              <a:xfrm>
                <a:off x="982663" y="1364295"/>
                <a:ext cx="10515600" cy="3792263"/>
              </a:xfrm>
            </p:spPr>
            <p:txBody>
              <a:bodyPr>
                <a:normAutofit/>
              </a:bodyPr>
              <a:lstStyle/>
              <a:p>
                <a:pPr marL="0" indent="0" algn="ctr">
                  <a:buNone/>
                </a:pPr>
                <a:endParaRPr lang="en-US" sz="1800"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spcBef>
                    <a:spcPts val="1200"/>
                  </a:spcBef>
                  <a:spcAft>
                    <a:spcPts val="1200"/>
                  </a:spcAft>
                  <a:buNone/>
                </a:pPr>
                <a14:m>
                  <m:oMath xmlns:m="http://schemas.openxmlformats.org/officeDocument/2006/math">
                    <m:sSub>
                      <m:sSubPr>
                        <m:ctrlPr>
                          <a:rPr lang="en-US" sz="3600" i="1">
                            <a:latin typeface="Cambria Math" panose="02040503050406030204" pitchFamily="18" charset="0"/>
                            <a:ea typeface="Cambria Math" panose="02040503050406030204" pitchFamily="18" charset="0"/>
                            <a:cs typeface="Cambria Math" panose="02040503050406030204" pitchFamily="18" charset="0"/>
                          </a:rPr>
                        </m:ctrlPr>
                      </m:sSubPr>
                      <m:e>
                        <m:r>
                          <a:rPr lang="en-US" sz="3600" i="1">
                            <a:latin typeface="Cambria Math" panose="02040503050406030204" pitchFamily="18" charset="0"/>
                            <a:ea typeface="Cambria Math" panose="02040503050406030204" pitchFamily="18" charset="0"/>
                            <a:cs typeface="Cambria Math" panose="02040503050406030204" pitchFamily="18" charset="0"/>
                          </a:rPr>
                          <m:t>𝐵</m:t>
                        </m:r>
                      </m:e>
                      <m:sub>
                        <m:r>
                          <a:rPr lang="en-US" sz="3600" i="1">
                            <a:latin typeface="Cambria Math" panose="02040503050406030204" pitchFamily="18" charset="0"/>
                            <a:ea typeface="Cambria Math" panose="02040503050406030204" pitchFamily="18" charset="0"/>
                            <a:cs typeface="Cambria Math" panose="02040503050406030204" pitchFamily="18" charset="0"/>
                          </a:rPr>
                          <m:t>𝑀𝑆𝑌</m:t>
                        </m:r>
                      </m:sub>
                    </m:sSub>
                    <m:r>
                      <a:rPr lang="en-US" sz="3600" i="1">
                        <a:latin typeface="Cambria Math" panose="02040503050406030204" pitchFamily="18" charset="0"/>
                        <a:ea typeface="Cambria Math" panose="02040503050406030204" pitchFamily="18" charset="0"/>
                        <a:cs typeface="Cambria Math" panose="02040503050406030204" pitchFamily="18" charset="0"/>
                      </a:rPr>
                      <m:t>=</m:t>
                    </m:r>
                  </m:oMath>
                </a14:m>
                <a:r>
                  <a:rPr lang="en-US" sz="3600" dirty="0">
                    <a:ea typeface="Cambria Math" panose="02040503050406030204" pitchFamily="18" charset="0"/>
                    <a:cs typeface="Cambria Math" panose="02040503050406030204" pitchFamily="18" charset="0"/>
                  </a:rPr>
                  <a:t> </a:t>
                </a:r>
                <a14:m>
                  <m:oMath xmlns:m="http://schemas.openxmlformats.org/officeDocument/2006/math">
                    <m:f>
                      <m:fPr>
                        <m:ctrlPr>
                          <a:rPr lang="en-US" sz="3600" b="0" i="1" smtClean="0">
                            <a:solidFill>
                              <a:srgbClr val="C00000"/>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sz="3600" b="0" i="1" smtClean="0">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num>
                      <m:den>
                        <m:r>
                          <a:rPr lang="en-US" sz="36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den>
                    </m:f>
                  </m:oMath>
                </a14:m>
                <a:endParaRPr lang="en-US" sz="3600" dirty="0"/>
              </a:p>
              <a:p>
                <a:pPr marL="0" indent="0">
                  <a:spcBef>
                    <a:spcPts val="1200"/>
                  </a:spcBef>
                  <a:spcAft>
                    <a:spcPts val="1200"/>
                  </a:spcAft>
                  <a:buNone/>
                </a:pPr>
                <a:r>
                  <a:rPr lang="en-US" sz="3600" dirty="0">
                    <a:latin typeface="Cambria Math" panose="02040503050406030204" pitchFamily="18" charset="0"/>
                    <a:ea typeface="Cambria Math" panose="02040503050406030204" pitchFamily="18" charset="0"/>
                  </a:rPr>
                  <a:t>MSY</a:t>
                </a:r>
                <a:r>
                  <a:rPr lang="en-US" sz="3600" dirty="0">
                    <a:ea typeface="Cambria Math" panose="02040503050406030204" pitchFamily="18" charset="0"/>
                    <a:cs typeface="Cambria Math" panose="02040503050406030204" pitchFamily="18" charset="0"/>
                  </a:rPr>
                  <a:t> </a:t>
                </a:r>
                <a14:m>
                  <m:oMath xmlns:m="http://schemas.openxmlformats.org/officeDocument/2006/math">
                    <m:r>
                      <a:rPr lang="en-US" sz="3600" i="1">
                        <a:latin typeface="Cambria Math" panose="02040503050406030204" pitchFamily="18" charset="0"/>
                        <a:ea typeface="Cambria Math" panose="02040503050406030204" pitchFamily="18" charset="0"/>
                        <a:cs typeface="Cambria Math" panose="02040503050406030204" pitchFamily="18" charset="0"/>
                      </a:rPr>
                      <m:t>=</m:t>
                    </m:r>
                  </m:oMath>
                </a14:m>
                <a:r>
                  <a:rPr lang="en-US" sz="3600" dirty="0">
                    <a:ea typeface="Cambria Math" panose="02040503050406030204" pitchFamily="18" charset="0"/>
                    <a:cs typeface="Cambria Math" panose="02040503050406030204" pitchFamily="18" charset="0"/>
                  </a:rPr>
                  <a:t> </a:t>
                </a:r>
                <a14:m>
                  <m:oMath xmlns:m="http://schemas.openxmlformats.org/officeDocument/2006/math">
                    <m:f>
                      <m:fPr>
                        <m:ctrlPr>
                          <a:rPr lang="en-US" sz="3600" i="1">
                            <a:solidFill>
                              <a:srgbClr val="7030A0"/>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sz="3600" i="1">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r>
                          <a:rPr lang="en-US" sz="3600" i="1">
                            <a:solidFill>
                              <a:srgbClr val="C00000"/>
                            </a:solidFill>
                            <a:latin typeface="Cambria Math" panose="02040503050406030204" pitchFamily="18" charset="0"/>
                            <a:ea typeface="Cambria Math" panose="02040503050406030204" pitchFamily="18" charset="0"/>
                            <a:cs typeface="Cambria Math" panose="02040503050406030204" pitchFamily="18" charset="0"/>
                          </a:rPr>
                          <m:t>𝐾</m:t>
                        </m:r>
                      </m:num>
                      <m:den>
                        <m:r>
                          <a:rPr lang="en-US" sz="36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4</m:t>
                        </m:r>
                      </m:den>
                    </m:f>
                  </m:oMath>
                </a14:m>
                <a:endParaRPr lang="en-US" sz="3600" dirty="0"/>
              </a:p>
              <a:p>
                <a:pPr marL="0" indent="0">
                  <a:spcBef>
                    <a:spcPts val="1200"/>
                  </a:spcBef>
                  <a:spcAft>
                    <a:spcPts val="1200"/>
                  </a:spcAft>
                  <a:buNone/>
                </a:pPr>
                <a14:m>
                  <m:oMath xmlns:m="http://schemas.openxmlformats.org/officeDocument/2006/math">
                    <m:sSub>
                      <m:sSubPr>
                        <m:ctrlPr>
                          <a:rPr lang="en-US" sz="3600" b="0" i="1" smtClean="0">
                            <a:latin typeface="Cambria Math" panose="02040503050406030204" pitchFamily="18" charset="0"/>
                            <a:ea typeface="Cambria Math" panose="02040503050406030204" pitchFamily="18" charset="0"/>
                            <a:cs typeface="Cambria Math" panose="02040503050406030204" pitchFamily="18" charset="0"/>
                          </a:rPr>
                        </m:ctrlPr>
                      </m:sSubPr>
                      <m:e>
                        <m:r>
                          <a:rPr lang="en-US" sz="3600" b="0" i="1" smtClean="0">
                            <a:latin typeface="Cambria Math" panose="02040503050406030204" pitchFamily="18" charset="0"/>
                            <a:ea typeface="Cambria Math" panose="02040503050406030204" pitchFamily="18" charset="0"/>
                            <a:cs typeface="Cambria Math" panose="02040503050406030204" pitchFamily="18" charset="0"/>
                          </a:rPr>
                          <m:t>𝑈</m:t>
                        </m:r>
                      </m:e>
                      <m:sub>
                        <m:r>
                          <a:rPr lang="en-US" sz="3600" i="1">
                            <a:latin typeface="Cambria Math" panose="02040503050406030204" pitchFamily="18" charset="0"/>
                            <a:ea typeface="Cambria Math" panose="02040503050406030204" pitchFamily="18" charset="0"/>
                            <a:cs typeface="Cambria Math" panose="02040503050406030204" pitchFamily="18" charset="0"/>
                          </a:rPr>
                          <m:t>𝑀𝑆𝑌</m:t>
                        </m:r>
                      </m:sub>
                    </m:sSub>
                    <m:r>
                      <a:rPr lang="en-US" sz="36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m:t>
                    </m:r>
                  </m:oMath>
                </a14:m>
                <a:r>
                  <a:rPr lang="en-US" sz="3600" dirty="0">
                    <a:ea typeface="Cambria Math" panose="02040503050406030204" pitchFamily="18" charset="0"/>
                    <a:cs typeface="Cambria Math" panose="02040503050406030204" pitchFamily="18" charset="0"/>
                  </a:rPr>
                  <a:t> </a:t>
                </a:r>
                <a14:m>
                  <m:oMath xmlns:m="http://schemas.openxmlformats.org/officeDocument/2006/math">
                    <m:f>
                      <m:fPr>
                        <m:ctrlPr>
                          <a:rPr lang="en-US" sz="3600" i="1">
                            <a:solidFill>
                              <a:srgbClr val="7030A0"/>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sz="3600" i="1">
                            <a:solidFill>
                              <a:srgbClr val="7030A0"/>
                            </a:solidFill>
                            <a:latin typeface="Cambria Math" panose="02040503050406030204" pitchFamily="18" charset="0"/>
                            <a:ea typeface="Cambria Math" panose="02040503050406030204" pitchFamily="18" charset="0"/>
                            <a:cs typeface="Cambria Math" panose="02040503050406030204" pitchFamily="18" charset="0"/>
                          </a:rPr>
                          <m:t>𝑟</m:t>
                        </m:r>
                      </m:num>
                      <m:den>
                        <m:r>
                          <a:rPr lang="en-US" sz="3600" b="0" i="1" smtClean="0">
                            <a:solidFill>
                              <a:schemeClr val="tx1"/>
                            </a:solidFill>
                            <a:latin typeface="Cambria Math" panose="02040503050406030204" pitchFamily="18" charset="0"/>
                            <a:ea typeface="Cambria Math" panose="02040503050406030204" pitchFamily="18" charset="0"/>
                            <a:cs typeface="Cambria Math" panose="02040503050406030204" pitchFamily="18" charset="0"/>
                          </a:rPr>
                          <m:t>2</m:t>
                        </m:r>
                      </m:den>
                    </m:f>
                  </m:oMath>
                </a14:m>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29458C2E-3B88-4EAA-9F99-FC7EA2FD9ED5}"/>
                  </a:ext>
                </a:extLst>
              </p:cNvPr>
              <p:cNvSpPr>
                <a:spLocks noGrp="1" noRot="1" noChangeAspect="1" noMove="1" noResize="1" noEditPoints="1" noAdjustHandles="1" noChangeArrowheads="1" noChangeShapeType="1" noTextEdit="1"/>
              </p:cNvSpPr>
              <p:nvPr>
                <p:ph idx="1"/>
              </p:nvPr>
            </p:nvSpPr>
            <p:spPr>
              <a:xfrm>
                <a:off x="982663" y="1364295"/>
                <a:ext cx="10515600" cy="3792263"/>
              </a:xfrm>
              <a:blipFill>
                <a:blip r:embed="rId2"/>
                <a:stretch>
                  <a:fillRect l="-1739"/>
                </a:stretch>
              </a:blipFill>
            </p:spPr>
            <p:txBody>
              <a:bodyPr/>
              <a:lstStyle/>
              <a:p>
                <a:r>
                  <a:rPr lang="en-US">
                    <a:noFill/>
                  </a:rPr>
                  <a:t> </a:t>
                </a:r>
              </a:p>
            </p:txBody>
          </p:sp>
        </mc:Fallback>
      </mc:AlternateContent>
      <p:sp>
        <p:nvSpPr>
          <p:cNvPr id="14" name="TextBox 13"/>
          <p:cNvSpPr txBox="1"/>
          <p:nvPr/>
        </p:nvSpPr>
        <p:spPr>
          <a:xfrm>
            <a:off x="260808" y="6176963"/>
            <a:ext cx="11670383" cy="646331"/>
          </a:xfrm>
          <a:prstGeom prst="rect">
            <a:avLst/>
          </a:prstGeom>
          <a:solidFill>
            <a:schemeClr val="accent1">
              <a:alpha val="25000"/>
            </a:schemeClr>
          </a:solidFill>
          <a:ln>
            <a:solidFill>
              <a:schemeClr val="accent1">
                <a:lumMod val="50000"/>
              </a:schemeClr>
            </a:solidFill>
          </a:ln>
        </p:spPr>
        <p:txBody>
          <a:bodyPr wrap="square" rtlCol="0">
            <a:spAutoFit/>
          </a:bodyPr>
          <a:lstStyle/>
          <a:p>
            <a:pPr marL="342900" indent="-342900">
              <a:buAutoNum type="arabicPeriod"/>
            </a:pPr>
            <a:r>
              <a:rPr lang="en-US" dirty="0">
                <a:solidFill>
                  <a:schemeClr val="tx2"/>
                </a:solidFill>
              </a:rPr>
              <a:t>Hilborn R. and Walters, C.J. 1992. Quantitative fisheries stock assessment: choice, dynamics and uncertainty. Chapman and Hall, New York. 570 pp.</a:t>
            </a:r>
          </a:p>
        </p:txBody>
      </p:sp>
      <p:sp>
        <p:nvSpPr>
          <p:cNvPr id="6" name="TextBox 5"/>
          <p:cNvSpPr txBox="1"/>
          <p:nvPr/>
        </p:nvSpPr>
        <p:spPr>
          <a:xfrm>
            <a:off x="591647" y="4760322"/>
            <a:ext cx="5551317" cy="1200329"/>
          </a:xfrm>
          <a:prstGeom prst="rect">
            <a:avLst/>
          </a:prstGeom>
          <a:noFill/>
        </p:spPr>
        <p:txBody>
          <a:bodyPr wrap="square" rtlCol="0">
            <a:spAutoFit/>
          </a:bodyPr>
          <a:lstStyle/>
          <a:p>
            <a:r>
              <a:rPr lang="en-US" sz="2400" i="1" dirty="0"/>
              <a:t>For three-parameter models with non-symmetrical yield curves (e.g., Fox, Pella-Tomlinson), see 1. </a:t>
            </a:r>
          </a:p>
        </p:txBody>
      </p:sp>
      <p:pic>
        <p:nvPicPr>
          <p:cNvPr id="11" name="Picture 10">
            <a:extLst>
              <a:ext uri="{FF2B5EF4-FFF2-40B4-BE49-F238E27FC236}">
                <a16:creationId xmlns:a16="http://schemas.microsoft.com/office/drawing/2014/main" id="{B09261FE-8E84-4D4D-9048-F4D28899FCF7}"/>
              </a:ext>
            </a:extLst>
          </p:cNvPr>
          <p:cNvPicPr>
            <a:picLocks noChangeAspect="1"/>
          </p:cNvPicPr>
          <p:nvPr/>
        </p:nvPicPr>
        <p:blipFill>
          <a:blip r:embed="rId3"/>
          <a:stretch>
            <a:fillRect/>
          </a:stretch>
        </p:blipFill>
        <p:spPr>
          <a:xfrm>
            <a:off x="6642408" y="1512123"/>
            <a:ext cx="5288783" cy="4550580"/>
          </a:xfrm>
          <a:prstGeom prst="rect">
            <a:avLst/>
          </a:prstGeom>
        </p:spPr>
      </p:pic>
      <p:cxnSp>
        <p:nvCxnSpPr>
          <p:cNvPr id="15" name="Straight Connector 14">
            <a:extLst>
              <a:ext uri="{FF2B5EF4-FFF2-40B4-BE49-F238E27FC236}">
                <a16:creationId xmlns:a16="http://schemas.microsoft.com/office/drawing/2014/main" id="{633502C1-3EB4-4439-AB64-2A52F522D934}"/>
              </a:ext>
            </a:extLst>
          </p:cNvPr>
          <p:cNvCxnSpPr>
            <a:cxnSpLocks/>
          </p:cNvCxnSpPr>
          <p:nvPr/>
        </p:nvCxnSpPr>
        <p:spPr>
          <a:xfrm>
            <a:off x="9632577" y="1746936"/>
            <a:ext cx="0" cy="340113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6068A6F-AC0F-47D7-B671-33069470AC13}"/>
                  </a:ext>
                </a:extLst>
              </p:cNvPr>
              <p:cNvSpPr txBox="1"/>
              <p:nvPr/>
            </p:nvSpPr>
            <p:spPr>
              <a:xfrm>
                <a:off x="8702380" y="4633338"/>
                <a:ext cx="2245743" cy="523220"/>
              </a:xfrm>
              <a:prstGeom prst="rect">
                <a:avLst/>
              </a:prstGeom>
              <a:noFill/>
            </p:spPr>
            <p:txBody>
              <a:bodyPr wrap="none" rtlCol="0">
                <a:spAutoFit/>
              </a:bodyPr>
              <a:lstStyle/>
              <a:p>
                <a:pPr/>
                <a14:m>
                  <m:oMathPara xmlns:m="http://schemas.openxmlformats.org/officeDocument/2006/math">
                    <m:oMath>
                      <m:r>
                        <a:rPr lang="en-US" sz="2800" i="1" dirty="0" smtClean="0">
                          <a:solidFill>
                            <a:schemeClr val="accent2"/>
                          </a:solidFill>
                          <a:latin typeface="Cambria Math" panose="02040503050406030204" pitchFamily="18" charset="0"/>
                        </a:rPr>
                        <m:t>𝐵</m:t>
                      </m:r>
                      <m:r>
                        <m:rPr>
                          <m:sty m:val="p"/>
                        </m:rPr>
                        <a:rPr lang="en-US" sz="2800" i="0" baseline="-25000" dirty="0">
                          <a:solidFill>
                            <a:schemeClr val="accent2"/>
                          </a:solidFill>
                          <a:latin typeface="Cambria Math" panose="02040503050406030204" pitchFamily="18" charset="0"/>
                        </a:rPr>
                        <m:t>MSY</m:t>
                      </m:r>
                      <m:r>
                        <a:rPr lang="en-US" sz="2800" i="1" dirty="0">
                          <a:solidFill>
                            <a:schemeClr val="accent2"/>
                          </a:solidFill>
                          <a:latin typeface="Cambria Math" panose="02040503050406030204" pitchFamily="18" charset="0"/>
                        </a:rPr>
                        <m:t> =</m:t>
                      </m:r>
                      <m:r>
                        <a:rPr lang="en-US" sz="2800" i="1" dirty="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 </m:t>
                      </m:r>
                      <m:r>
                        <a:rPr lang="en-US" sz="2800" i="1">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𝐾</m:t>
                      </m:r>
                      <m:r>
                        <a:rPr lang="en-US" sz="2800" b="0" i="1" smtClean="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/2</m:t>
                      </m:r>
                    </m:oMath>
                  </m:oMathPara>
                </a14:m>
                <a:endParaRPr lang="en-US" sz="2800" dirty="0">
                  <a:solidFill>
                    <a:schemeClr val="accent2"/>
                  </a:solidFill>
                </a:endParaRPr>
              </a:p>
            </p:txBody>
          </p:sp>
        </mc:Choice>
        <mc:Fallback xmlns="">
          <p:sp>
            <p:nvSpPr>
              <p:cNvPr id="18" name="TextBox 17">
                <a:extLst>
                  <a:ext uri="{FF2B5EF4-FFF2-40B4-BE49-F238E27FC236}">
                    <a16:creationId xmlns:a16="http://schemas.microsoft.com/office/drawing/2014/main" id="{76068A6F-AC0F-47D7-B671-33069470AC13}"/>
                  </a:ext>
                </a:extLst>
              </p:cNvPr>
              <p:cNvSpPr txBox="1">
                <a:spLocks noRot="1" noChangeAspect="1" noMove="1" noResize="1" noEditPoints="1" noAdjustHandles="1" noChangeArrowheads="1" noChangeShapeType="1" noTextEdit="1"/>
              </p:cNvSpPr>
              <p:nvPr/>
            </p:nvSpPr>
            <p:spPr>
              <a:xfrm>
                <a:off x="8702380" y="4633338"/>
                <a:ext cx="2245743" cy="523220"/>
              </a:xfrm>
              <a:prstGeom prst="rect">
                <a:avLst/>
              </a:prstGeom>
              <a:blipFill>
                <a:blip r:embed="rId4"/>
                <a:stretch>
                  <a:fillRect/>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18B9B8AD-198A-4D6C-B7D1-F6DCD18D4D36}"/>
              </a:ext>
            </a:extLst>
          </p:cNvPr>
          <p:cNvCxnSpPr>
            <a:cxnSpLocks/>
          </p:cNvCxnSpPr>
          <p:nvPr/>
        </p:nvCxnSpPr>
        <p:spPr>
          <a:xfrm flipH="1">
            <a:off x="7627147" y="1738450"/>
            <a:ext cx="2005431"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8F6F106-678C-4DE6-9B67-FDDB9EB7AC81}"/>
                  </a:ext>
                </a:extLst>
              </p:cNvPr>
              <p:cNvSpPr txBox="1"/>
              <p:nvPr/>
            </p:nvSpPr>
            <p:spPr>
              <a:xfrm>
                <a:off x="5643520" y="1396006"/>
                <a:ext cx="1842043" cy="701859"/>
              </a:xfrm>
              <a:prstGeom prst="rect">
                <a:avLst/>
              </a:prstGeom>
              <a:noFill/>
            </p:spPr>
            <p:txBody>
              <a:bodyPr wrap="none" rtlCol="0">
                <a:spAutoFit/>
              </a:bodyPr>
              <a:lstStyle/>
              <a:p>
                <a14:m>
                  <m:oMath xmlns:m="http://schemas.openxmlformats.org/officeDocument/2006/math">
                    <m:r>
                      <m:rPr>
                        <m:sty m:val="p"/>
                      </m:rPr>
                      <a:rPr lang="en-US" sz="2800" i="0" dirty="0" smtClean="0">
                        <a:solidFill>
                          <a:schemeClr val="accent2"/>
                        </a:solidFill>
                        <a:latin typeface="Cambria Math" panose="02040503050406030204" pitchFamily="18" charset="0"/>
                      </a:rPr>
                      <m:t>MSY</m:t>
                    </m:r>
                    <m:r>
                      <a:rPr lang="en-US" sz="2800" i="1" dirty="0" smtClean="0">
                        <a:solidFill>
                          <a:schemeClr val="accent2"/>
                        </a:solidFill>
                        <a:latin typeface="Cambria Math" panose="02040503050406030204" pitchFamily="18" charset="0"/>
                      </a:rPr>
                      <m:t>=</m:t>
                    </m:r>
                    <m:r>
                      <a:rPr lang="en-US" sz="2800" i="1" dirty="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 </m:t>
                    </m:r>
                    <m:f>
                      <m:fPr>
                        <m:ctrlPr>
                          <a:rPr lang="en-US" sz="2800" i="1">
                            <a:solidFill>
                              <a:schemeClr val="accent2"/>
                            </a:solidFill>
                            <a:latin typeface="Cambria Math" panose="02040503050406030204" pitchFamily="18" charset="0"/>
                            <a:ea typeface="Cambria Math" panose="02040503050406030204" pitchFamily="18" charset="0"/>
                            <a:cs typeface="Cambria Math" panose="02040503050406030204" pitchFamily="18" charset="0"/>
                          </a:rPr>
                        </m:ctrlPr>
                      </m:fPr>
                      <m:num>
                        <m:r>
                          <a:rPr lang="en-US" sz="2800" i="1">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𝑟𝐾</m:t>
                        </m:r>
                      </m:num>
                      <m:den>
                        <m:r>
                          <a:rPr lang="en-US" sz="2800" b="0" i="1" smtClean="0">
                            <a:solidFill>
                              <a:schemeClr val="accent2"/>
                            </a:solidFill>
                            <a:latin typeface="Cambria Math" panose="02040503050406030204" pitchFamily="18" charset="0"/>
                            <a:ea typeface="Cambria Math" panose="02040503050406030204" pitchFamily="18" charset="0"/>
                            <a:cs typeface="Cambria Math" panose="02040503050406030204" pitchFamily="18" charset="0"/>
                          </a:rPr>
                          <m:t>4</m:t>
                        </m:r>
                      </m:den>
                    </m:f>
                  </m:oMath>
                </a14:m>
                <a:r>
                  <a:rPr lang="en-US" dirty="0">
                    <a:solidFill>
                      <a:schemeClr val="accent2"/>
                    </a:solidFill>
                  </a:rPr>
                  <a:t> </a:t>
                </a:r>
              </a:p>
            </p:txBody>
          </p:sp>
        </mc:Choice>
        <mc:Fallback xmlns="">
          <p:sp>
            <p:nvSpPr>
              <p:cNvPr id="20" name="TextBox 19">
                <a:extLst>
                  <a:ext uri="{FF2B5EF4-FFF2-40B4-BE49-F238E27FC236}">
                    <a16:creationId xmlns:a16="http://schemas.microsoft.com/office/drawing/2014/main" id="{98F6F106-678C-4DE6-9B67-FDDB9EB7AC81}"/>
                  </a:ext>
                </a:extLst>
              </p:cNvPr>
              <p:cNvSpPr txBox="1">
                <a:spLocks noRot="1" noChangeAspect="1" noMove="1" noResize="1" noEditPoints="1" noAdjustHandles="1" noChangeArrowheads="1" noChangeShapeType="1" noTextEdit="1"/>
              </p:cNvSpPr>
              <p:nvPr/>
            </p:nvSpPr>
            <p:spPr>
              <a:xfrm>
                <a:off x="5643520" y="1396006"/>
                <a:ext cx="1842043" cy="701859"/>
              </a:xfrm>
              <a:prstGeom prst="rect">
                <a:avLst/>
              </a:prstGeom>
              <a:blipFill>
                <a:blip r:embed="rId5"/>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41</a:t>
            </a:fld>
            <a:endParaRPr lang="en-CA"/>
          </a:p>
        </p:txBody>
      </p:sp>
    </p:spTree>
    <p:extLst>
      <p:ext uri="{BB962C8B-B14F-4D97-AF65-F5344CB8AC3E}">
        <p14:creationId xmlns:p14="http://schemas.microsoft.com/office/powerpoint/2010/main" val="41343010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Exercise 1</a:t>
            </a:r>
            <a:endParaRPr lang="en-US" sz="4000" dirty="0">
              <a:solidFill>
                <a:srgbClr val="FF0000"/>
              </a:solidFill>
            </a:endParaRPr>
          </a:p>
        </p:txBody>
      </p:sp>
      <p:sp>
        <p:nvSpPr>
          <p:cNvPr id="3" name="Content Placeholder 2"/>
          <p:cNvSpPr>
            <a:spLocks noGrp="1"/>
          </p:cNvSpPr>
          <p:nvPr>
            <p:ph idx="1"/>
          </p:nvPr>
        </p:nvSpPr>
        <p:spPr>
          <a:xfrm>
            <a:off x="900546" y="1509316"/>
            <a:ext cx="10515600" cy="4351338"/>
          </a:xfrm>
        </p:spPr>
        <p:txBody>
          <a:bodyPr/>
          <a:lstStyle/>
          <a:p>
            <a:r>
              <a:rPr lang="en-US" dirty="0"/>
              <a:t>Let’s fit a SP model and calculate </a:t>
            </a:r>
            <a:r>
              <a:rPr lang="en-US" u="sng" dirty="0"/>
              <a:t>equilibrium</a:t>
            </a:r>
            <a:r>
              <a:rPr lang="en-US" dirty="0"/>
              <a:t> reference points in R</a:t>
            </a:r>
          </a:p>
        </p:txBody>
      </p:sp>
      <p:pic>
        <p:nvPicPr>
          <p:cNvPr id="4" name="Picture 3"/>
          <p:cNvPicPr>
            <a:picLocks noChangeAspect="1"/>
          </p:cNvPicPr>
          <p:nvPr/>
        </p:nvPicPr>
        <p:blipFill rotWithShape="1">
          <a:blip r:embed="rId2"/>
          <a:srcRect r="19265"/>
          <a:stretch/>
        </p:blipFill>
        <p:spPr>
          <a:xfrm>
            <a:off x="303068" y="2834879"/>
            <a:ext cx="6047509" cy="1988107"/>
          </a:xfrm>
          <a:prstGeom prst="rect">
            <a:avLst/>
          </a:prstGeom>
        </p:spPr>
      </p:pic>
      <p:pic>
        <p:nvPicPr>
          <p:cNvPr id="7" name="Picture 6"/>
          <p:cNvPicPr>
            <a:picLocks noChangeAspect="1"/>
          </p:cNvPicPr>
          <p:nvPr/>
        </p:nvPicPr>
        <p:blipFill>
          <a:blip r:embed="rId3"/>
          <a:stretch>
            <a:fillRect/>
          </a:stretch>
        </p:blipFill>
        <p:spPr>
          <a:xfrm>
            <a:off x="6877050" y="2665978"/>
            <a:ext cx="5314950" cy="2611178"/>
          </a:xfrm>
          <a:prstGeom prst="rect">
            <a:avLst/>
          </a:prstGeom>
        </p:spPr>
      </p:pic>
      <p:sp>
        <p:nvSpPr>
          <p:cNvPr id="8" name="Right Arrow 7"/>
          <p:cNvSpPr/>
          <p:nvPr/>
        </p:nvSpPr>
        <p:spPr>
          <a:xfrm>
            <a:off x="6142759" y="3650979"/>
            <a:ext cx="734291" cy="2563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905489" y="5337434"/>
            <a:ext cx="7190366" cy="523220"/>
          </a:xfrm>
          <a:prstGeom prst="rect">
            <a:avLst/>
          </a:prstGeom>
        </p:spPr>
        <p:txBody>
          <a:bodyPr wrap="none">
            <a:spAutoFit/>
          </a:bodyPr>
          <a:lstStyle/>
          <a:p>
            <a:r>
              <a:rPr lang="en-US" sz="2800" dirty="0">
                <a:solidFill>
                  <a:srgbClr val="C00000"/>
                </a:solidFill>
                <a:hlinkClick r:id="rId4"/>
              </a:rPr>
              <a:t>https://github.com/TESA-workshops/Ref-Pt-101</a:t>
            </a:r>
            <a:endParaRPr lang="en-US" sz="2800" dirty="0">
              <a:solidFill>
                <a:srgbClr val="C00000"/>
              </a:solidFill>
            </a:endParaRPr>
          </a:p>
        </p:txBody>
      </p:sp>
      <p:sp>
        <p:nvSpPr>
          <p:cNvPr id="5" name="Slide Number Placeholder 4"/>
          <p:cNvSpPr>
            <a:spLocks noGrp="1"/>
          </p:cNvSpPr>
          <p:nvPr>
            <p:ph type="sldNum" sz="quarter" idx="12"/>
          </p:nvPr>
        </p:nvSpPr>
        <p:spPr/>
        <p:txBody>
          <a:bodyPr/>
          <a:lstStyle/>
          <a:p>
            <a:fld id="{EEDFA2F9-C25F-4A63-B46B-7B5C200A39D1}" type="slidenum">
              <a:rPr lang="en-CA" smtClean="0"/>
              <a:t>42</a:t>
            </a:fld>
            <a:endParaRPr lang="en-CA"/>
          </a:p>
        </p:txBody>
      </p:sp>
    </p:spTree>
    <p:extLst>
      <p:ext uri="{BB962C8B-B14F-4D97-AF65-F5344CB8AC3E}">
        <p14:creationId xmlns:p14="http://schemas.microsoft.com/office/powerpoint/2010/main" val="29891815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700434"/>
            <a:ext cx="10515600" cy="1325563"/>
          </a:xfrm>
        </p:spPr>
        <p:txBody>
          <a:bodyPr>
            <a:noAutofit/>
          </a:bodyPr>
          <a:lstStyle/>
          <a:p>
            <a:pPr algn="ctr"/>
            <a:r>
              <a:rPr lang="en-US" sz="5400" dirty="0">
                <a:solidFill>
                  <a:schemeClr val="bg1"/>
                </a:solidFill>
                <a:latin typeface="+mn-lt"/>
              </a:rPr>
              <a:t>5. Recruitment Productivity</a:t>
            </a:r>
          </a:p>
        </p:txBody>
      </p:sp>
      <p:sp>
        <p:nvSpPr>
          <p:cNvPr id="3" name="Slide Number Placeholder 2"/>
          <p:cNvSpPr>
            <a:spLocks noGrp="1"/>
          </p:cNvSpPr>
          <p:nvPr>
            <p:ph type="sldNum" sz="quarter" idx="12"/>
          </p:nvPr>
        </p:nvSpPr>
        <p:spPr/>
        <p:txBody>
          <a:bodyPr/>
          <a:lstStyle/>
          <a:p>
            <a:fld id="{EEDFA2F9-C25F-4A63-B46B-7B5C200A39D1}" type="slidenum">
              <a:rPr lang="en-CA" smtClean="0"/>
              <a:t>43</a:t>
            </a:fld>
            <a:endParaRPr lang="en-CA"/>
          </a:p>
        </p:txBody>
      </p:sp>
    </p:spTree>
    <p:extLst>
      <p:ext uri="{BB962C8B-B14F-4D97-AF65-F5344CB8AC3E}">
        <p14:creationId xmlns:p14="http://schemas.microsoft.com/office/powerpoint/2010/main" val="105318971"/>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Limitations of Surplus Production Models</a:t>
            </a:r>
            <a:endParaRPr lang="en-US" dirty="0">
              <a:solidFill>
                <a:srgbClr val="FF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89709" y="1733292"/>
                <a:ext cx="10515600" cy="4351338"/>
              </a:xfrm>
            </p:spPr>
            <p:txBody>
              <a:bodyPr>
                <a:normAutofit/>
              </a:bodyPr>
              <a:lstStyle/>
              <a:p>
                <a:r>
                  <a:rPr lang="en-US" sz="3200" dirty="0"/>
                  <a:t>Criticisms of surplus production models:</a:t>
                </a:r>
              </a:p>
              <a:p>
                <a:pPr lvl="1"/>
                <a:r>
                  <a:rPr lang="en-US" dirty="0"/>
                  <a:t>The possible problem that they do not account for reductions in the rate of recruitment at low biomass (Froese et al. 2017) </a:t>
                </a:r>
              </a:p>
              <a:p>
                <a:pPr lvl="1"/>
                <a:r>
                  <a:rPr lang="en-US" dirty="0"/>
                  <a:t>They assume that the rate of change of biomass over time increases as biomass approaches zero (</a:t>
                </a:r>
                <a:r>
                  <a:rPr lang="en-US" dirty="0" err="1"/>
                  <a:t>Schnute</a:t>
                </a:r>
                <a:r>
                  <a:rPr lang="en-US" dirty="0"/>
                  <a:t> and Richards 2002)</a:t>
                </a:r>
              </a:p>
              <a:p>
                <a:pPr lvl="1"/>
                <a:endParaRPr lang="en-US" sz="2800" dirty="0"/>
              </a:p>
              <a:p>
                <a:pPr lvl="1">
                  <a:spcBef>
                    <a:spcPts val="1800"/>
                  </a:spcBef>
                </a:pPr>
                <a:r>
                  <a:rPr lang="en-US" sz="2800" dirty="0"/>
                  <a:t>They collapse all productivity parameters (growth, </a:t>
                </a:r>
                <a14:m>
                  <m:oMath xmlns:m="http://schemas.openxmlformats.org/officeDocument/2006/math">
                    <m:r>
                      <a:rPr lang="en-US" sz="2800" i="1" dirty="0" smtClean="0">
                        <a:latin typeface="Cambria Math" panose="02040503050406030204" pitchFamily="18" charset="0"/>
                      </a:rPr>
                      <m:t>𝑀</m:t>
                    </m:r>
                  </m:oMath>
                </a14:m>
                <a:r>
                  <a:rPr lang="en-US" sz="2800" dirty="0"/>
                  <a:t>, maturity, recruitment) into a single parameter </a:t>
                </a:r>
                <a14:m>
                  <m:oMath xmlns:m="http://schemas.openxmlformats.org/officeDocument/2006/math">
                    <m:r>
                      <a:rPr lang="en-US" sz="2800" i="1" dirty="0" smtClean="0">
                        <a:solidFill>
                          <a:srgbClr val="7030A0"/>
                        </a:solidFill>
                        <a:latin typeface="Cambria Math" panose="02040503050406030204" pitchFamily="18" charset="0"/>
                      </a:rPr>
                      <m:t>𝑟</m:t>
                    </m:r>
                  </m:oMath>
                </a14:m>
                <a:r>
                  <a:rPr lang="en-US" sz="28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89709" y="1733292"/>
                <a:ext cx="10515600" cy="4351338"/>
              </a:xfrm>
              <a:blipFill>
                <a:blip r:embed="rId2"/>
                <a:stretch>
                  <a:fillRect l="-1333" t="-29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9470099B-7696-4417-9337-0FC7DEB5354C}"/>
              </a:ext>
            </a:extLst>
          </p:cNvPr>
          <p:cNvSpPr txBox="1"/>
          <p:nvPr/>
        </p:nvSpPr>
        <p:spPr>
          <a:xfrm>
            <a:off x="3344047" y="3816628"/>
            <a:ext cx="6298199" cy="461665"/>
          </a:xfrm>
          <a:prstGeom prst="rect">
            <a:avLst/>
          </a:prstGeom>
          <a:solidFill>
            <a:schemeClr val="bg1">
              <a:alpha val="90000"/>
            </a:schemeClr>
          </a:solidFill>
        </p:spPr>
        <p:txBody>
          <a:bodyPr wrap="none" rtlCol="0">
            <a:spAutoFit/>
          </a:bodyPr>
          <a:lstStyle/>
          <a:p>
            <a:r>
              <a:rPr lang="en-US" sz="2400" dirty="0">
                <a:solidFill>
                  <a:srgbClr val="0070C0"/>
                </a:solidFill>
              </a:rPr>
              <a:t>Addressed using a stock-recruitment relationship</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AEA1098-6B7D-426F-B978-E191B651CA4E}"/>
                  </a:ext>
                </a:extLst>
              </p:cNvPr>
              <p:cNvSpPr txBox="1"/>
              <p:nvPr/>
            </p:nvSpPr>
            <p:spPr>
              <a:xfrm>
                <a:off x="2838545" y="5253633"/>
                <a:ext cx="7644978" cy="830997"/>
              </a:xfrm>
              <a:prstGeom prst="rect">
                <a:avLst/>
              </a:prstGeom>
              <a:solidFill>
                <a:schemeClr val="bg1">
                  <a:alpha val="90000"/>
                </a:schemeClr>
              </a:solidFill>
            </p:spPr>
            <p:txBody>
              <a:bodyPr wrap="none" rtlCol="0">
                <a:spAutoFit/>
              </a:bodyPr>
              <a:lstStyle>
                <a:defPPr>
                  <a:defRPr lang="en-US"/>
                </a:defPPr>
                <a:lvl1pPr>
                  <a:defRPr sz="2400">
                    <a:solidFill>
                      <a:srgbClr val="0070C0"/>
                    </a:solidFill>
                  </a:defRPr>
                </a:lvl1pPr>
              </a:lstStyle>
              <a:p>
                <a:r>
                  <a:rPr lang="en-US" dirty="0"/>
                  <a:t>Addressed using an age-structured model that accounts for:</a:t>
                </a:r>
              </a:p>
              <a:p>
                <a:r>
                  <a:rPr lang="en-US" dirty="0"/>
                  <a:t>weight-at-age, </a:t>
                </a:r>
                <a14:m>
                  <m:oMath xmlns:m="http://schemas.openxmlformats.org/officeDocument/2006/math">
                    <m:r>
                      <a:rPr lang="en-US" dirty="0">
                        <a:latin typeface="Cambria Math" panose="02040503050406030204" pitchFamily="18" charset="0"/>
                      </a:rPr>
                      <m:t>𝑀</m:t>
                    </m:r>
                  </m:oMath>
                </a14:m>
                <a:r>
                  <a:rPr lang="en-US" dirty="0"/>
                  <a:t>-at-age, maturity-at-age, recruitment</a:t>
                </a:r>
              </a:p>
            </p:txBody>
          </p:sp>
        </mc:Choice>
        <mc:Fallback xmlns="">
          <p:sp>
            <p:nvSpPr>
              <p:cNvPr id="5" name="TextBox 4">
                <a:extLst>
                  <a:ext uri="{FF2B5EF4-FFF2-40B4-BE49-F238E27FC236}">
                    <a16:creationId xmlns:a16="http://schemas.microsoft.com/office/drawing/2014/main" id="{7AEA1098-6B7D-426F-B978-E191B651CA4E}"/>
                  </a:ext>
                </a:extLst>
              </p:cNvPr>
              <p:cNvSpPr txBox="1">
                <a:spLocks noRot="1" noChangeAspect="1" noMove="1" noResize="1" noEditPoints="1" noAdjustHandles="1" noChangeArrowheads="1" noChangeShapeType="1" noTextEdit="1"/>
              </p:cNvSpPr>
              <p:nvPr/>
            </p:nvSpPr>
            <p:spPr>
              <a:xfrm>
                <a:off x="2838545" y="5253633"/>
                <a:ext cx="7644978" cy="830997"/>
              </a:xfrm>
              <a:prstGeom prst="rect">
                <a:avLst/>
              </a:prstGeom>
              <a:blipFill>
                <a:blip r:embed="rId3"/>
                <a:stretch>
                  <a:fillRect l="-1276" t="-5882" r="-159" b="-16176"/>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EEDFA2F9-C25F-4A63-B46B-7B5C200A39D1}" type="slidenum">
              <a:rPr lang="en-CA" smtClean="0"/>
              <a:t>44</a:t>
            </a:fld>
            <a:endParaRPr lang="en-CA"/>
          </a:p>
        </p:txBody>
      </p:sp>
    </p:spTree>
    <p:extLst>
      <p:ext uri="{BB962C8B-B14F-4D97-AF65-F5344CB8AC3E}">
        <p14:creationId xmlns:p14="http://schemas.microsoft.com/office/powerpoint/2010/main" val="3073183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221555" y="962774"/>
            <a:ext cx="6399509" cy="3355382"/>
          </a:xfrm>
        </p:spPr>
        <p:txBody>
          <a:bodyPr>
            <a:noAutofit/>
          </a:bodyPr>
          <a:lstStyle/>
          <a:p>
            <a:r>
              <a:rPr lang="en-US" sz="3600" dirty="0"/>
              <a:t>The productivity of a fish stock is the key determinant of how hard it can be fished sustainably</a:t>
            </a:r>
          </a:p>
          <a:p>
            <a:endParaRPr lang="en-US" sz="3600" dirty="0"/>
          </a:p>
          <a:p>
            <a:r>
              <a:rPr lang="en-US" sz="3600" b="1" dirty="0"/>
              <a:t>Therefore productivity is the key determinant of reference points</a:t>
            </a:r>
          </a:p>
        </p:txBody>
      </p:sp>
      <p:pic>
        <p:nvPicPr>
          <p:cNvPr id="4" name="Picture 3"/>
          <p:cNvPicPr>
            <a:picLocks noChangeAspect="1"/>
          </p:cNvPicPr>
          <p:nvPr/>
        </p:nvPicPr>
        <p:blipFill>
          <a:blip r:embed="rId2"/>
          <a:stretch>
            <a:fillRect/>
          </a:stretch>
        </p:blipFill>
        <p:spPr>
          <a:xfrm>
            <a:off x="6528062" y="720322"/>
            <a:ext cx="5474682" cy="4663844"/>
          </a:xfrm>
          <a:prstGeom prst="rect">
            <a:avLst/>
          </a:prstGeom>
        </p:spPr>
      </p:pic>
      <p:sp>
        <p:nvSpPr>
          <p:cNvPr id="2" name="TextBox 1">
            <a:extLst>
              <a:ext uri="{FF2B5EF4-FFF2-40B4-BE49-F238E27FC236}">
                <a16:creationId xmlns:a16="http://schemas.microsoft.com/office/drawing/2014/main" id="{23F84238-0E7B-490A-8ACB-93A0AB411A0E}"/>
              </a:ext>
            </a:extLst>
          </p:cNvPr>
          <p:cNvSpPr txBox="1"/>
          <p:nvPr/>
        </p:nvSpPr>
        <p:spPr>
          <a:xfrm>
            <a:off x="8833324" y="5268163"/>
            <a:ext cx="864158" cy="369332"/>
          </a:xfrm>
          <a:prstGeom prst="rect">
            <a:avLst/>
          </a:prstGeom>
          <a:noFill/>
        </p:spPr>
        <p:txBody>
          <a:bodyPr wrap="square" rtlCol="0">
            <a:spAutoFit/>
          </a:bodyPr>
          <a:lstStyle/>
          <a:p>
            <a:pPr algn="ctr"/>
            <a:r>
              <a:rPr lang="en-US" i="1" dirty="0">
                <a:solidFill>
                  <a:schemeClr val="tx2"/>
                </a:solidFill>
              </a:rPr>
              <a:t>F</a:t>
            </a:r>
          </a:p>
        </p:txBody>
      </p:sp>
      <p:sp>
        <p:nvSpPr>
          <p:cNvPr id="5" name="TextBox 4">
            <a:extLst>
              <a:ext uri="{FF2B5EF4-FFF2-40B4-BE49-F238E27FC236}">
                <a16:creationId xmlns:a16="http://schemas.microsoft.com/office/drawing/2014/main" id="{8FAAE844-3198-4000-9644-FCBA81A766DA}"/>
              </a:ext>
            </a:extLst>
          </p:cNvPr>
          <p:cNvSpPr txBox="1"/>
          <p:nvPr/>
        </p:nvSpPr>
        <p:spPr>
          <a:xfrm rot="16200000">
            <a:off x="5911317" y="2822579"/>
            <a:ext cx="864158" cy="369332"/>
          </a:xfrm>
          <a:prstGeom prst="rect">
            <a:avLst/>
          </a:prstGeom>
          <a:noFill/>
        </p:spPr>
        <p:txBody>
          <a:bodyPr wrap="square" rtlCol="0">
            <a:spAutoFit/>
          </a:bodyPr>
          <a:lstStyle/>
          <a:p>
            <a:pPr algn="ctr"/>
            <a:r>
              <a:rPr lang="en-US" dirty="0">
                <a:solidFill>
                  <a:schemeClr val="tx2"/>
                </a:solidFill>
              </a:rPr>
              <a:t>Yield</a:t>
            </a:r>
          </a:p>
        </p:txBody>
      </p:sp>
      <p:sp>
        <p:nvSpPr>
          <p:cNvPr id="6" name="Slide Number Placeholder 5"/>
          <p:cNvSpPr>
            <a:spLocks noGrp="1"/>
          </p:cNvSpPr>
          <p:nvPr>
            <p:ph type="sldNum" sz="quarter" idx="12"/>
          </p:nvPr>
        </p:nvSpPr>
        <p:spPr/>
        <p:txBody>
          <a:bodyPr/>
          <a:lstStyle/>
          <a:p>
            <a:fld id="{EEDFA2F9-C25F-4A63-B46B-7B5C200A39D1}" type="slidenum">
              <a:rPr lang="en-CA" smtClean="0"/>
              <a:t>45</a:t>
            </a:fld>
            <a:endParaRPr lang="en-CA"/>
          </a:p>
        </p:txBody>
      </p:sp>
    </p:spTree>
    <p:extLst>
      <p:ext uri="{BB962C8B-B14F-4D97-AF65-F5344CB8AC3E}">
        <p14:creationId xmlns:p14="http://schemas.microsoft.com/office/powerpoint/2010/main" val="6391769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Productivity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In surplus production models the productivity is captured in a composite parameter (</a:t>
                </a:r>
                <a14:m>
                  <m:oMath xmlns:m="http://schemas.openxmlformats.org/officeDocument/2006/math">
                    <m:r>
                      <m:rPr>
                        <m:sty m:val="p"/>
                      </m:rPr>
                      <a:rPr lang="en-US" sz="2800" b="0" i="0" smtClean="0">
                        <a:solidFill>
                          <a:srgbClr val="7030A0"/>
                        </a:solidFill>
                        <a:latin typeface="Cambria Math" panose="02040503050406030204" pitchFamily="18" charset="0"/>
                        <a:ea typeface="Cambria Math" panose="02040503050406030204" pitchFamily="18" charset="0"/>
                        <a:cs typeface="Cambria Math" panose="02040503050406030204" pitchFamily="18" charset="0"/>
                      </a:rPr>
                      <m:t>r</m:t>
                    </m:r>
                  </m:oMath>
                </a14:m>
                <a:r>
                  <a:rPr lang="en-US" sz="2800" dirty="0">
                    <a:solidFill>
                      <a:srgbClr val="7030A0"/>
                    </a:solidFill>
                    <a:cs typeface="Times New Roman" panose="02020603050405020304" pitchFamily="18" charset="0"/>
                  </a:rPr>
                  <a:t> = intrinsic rate of population growth)</a:t>
                </a:r>
              </a:p>
              <a:p>
                <a:r>
                  <a:rPr lang="en-US" dirty="0"/>
                  <a:t>Age-structured models represent different components of productivity separately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46</a:t>
            </a:fld>
            <a:endParaRPr lang="en-CA"/>
          </a:p>
        </p:txBody>
      </p:sp>
    </p:spTree>
    <p:extLst>
      <p:ext uri="{BB962C8B-B14F-4D97-AF65-F5344CB8AC3E}">
        <p14:creationId xmlns:p14="http://schemas.microsoft.com/office/powerpoint/2010/main" val="19867402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5603" name="Rectangle 2"/>
              <p:cNvSpPr>
                <a:spLocks noGrp="1" noChangeArrowheads="1"/>
              </p:cNvSpPr>
              <p:nvPr>
                <p:ph type="body" idx="1"/>
              </p:nvPr>
            </p:nvSpPr>
            <p:spPr>
              <a:xfrm>
                <a:off x="779768" y="1967746"/>
                <a:ext cx="9142412" cy="2969401"/>
              </a:xfrm>
            </p:spPr>
            <p:txBody>
              <a:bodyPr>
                <a:normAutofit/>
              </a:bodyPr>
              <a:lstStyle/>
              <a:p>
                <a:pPr marL="715963" indent="-450850"/>
                <a:r>
                  <a:rPr lang="en-US" altLang="en-US" sz="3600" dirty="0"/>
                  <a:t>Growth of individuals</a:t>
                </a:r>
              </a:p>
              <a:p>
                <a:pPr marL="715963" indent="-450850"/>
                <a:r>
                  <a:rPr lang="en-US" altLang="en-US" sz="3600" dirty="0"/>
                  <a:t>Natural mortality rate (</a:t>
                </a:r>
                <a14:m>
                  <m:oMath xmlns:m="http://schemas.openxmlformats.org/officeDocument/2006/math">
                    <m:r>
                      <a:rPr lang="en-US" altLang="en-US" sz="3600" i="1" dirty="0" smtClean="0">
                        <a:latin typeface="Cambria Math" panose="02040503050406030204" pitchFamily="18" charset="0"/>
                      </a:rPr>
                      <m:t>𝑀</m:t>
                    </m:r>
                  </m:oMath>
                </a14:m>
                <a:r>
                  <a:rPr lang="en-US" altLang="en-US" sz="3600" dirty="0"/>
                  <a:t>)</a:t>
                </a:r>
              </a:p>
              <a:p>
                <a:pPr marL="715963" indent="-450850"/>
                <a:r>
                  <a:rPr lang="en-US" altLang="en-US" sz="3600" dirty="0"/>
                  <a:t>Recruitment (</a:t>
                </a:r>
                <a:r>
                  <a:rPr lang="en-US" altLang="en-US" sz="3600" u="sng" dirty="0"/>
                  <a:t>survival</a:t>
                </a:r>
                <a:r>
                  <a:rPr lang="en-US" altLang="en-US" sz="3600" dirty="0"/>
                  <a:t> of juveniles)</a:t>
                </a:r>
              </a:p>
            </p:txBody>
          </p:sp>
        </mc:Choice>
        <mc:Fallback xmlns="">
          <p:sp>
            <p:nvSpPr>
              <p:cNvPr id="25603" name="Rectangle 2"/>
              <p:cNvSpPr>
                <a:spLocks noGrp="1" noRot="1" noChangeAspect="1" noMove="1" noResize="1" noEditPoints="1" noAdjustHandles="1" noChangeArrowheads="1" noChangeShapeType="1" noTextEdit="1"/>
              </p:cNvSpPr>
              <p:nvPr>
                <p:ph type="body" idx="1"/>
              </p:nvPr>
            </p:nvSpPr>
            <p:spPr>
              <a:xfrm>
                <a:off x="779768" y="1967746"/>
                <a:ext cx="9142412" cy="2969401"/>
              </a:xfrm>
              <a:blipFill>
                <a:blip r:embed="rId3"/>
                <a:stretch>
                  <a:fillRect t="-5133"/>
                </a:stretch>
              </a:blipFill>
            </p:spPr>
            <p:txBody>
              <a:bodyPr/>
              <a:lstStyle/>
              <a:p>
                <a:r>
                  <a:rPr lang="en-US">
                    <a:noFill/>
                  </a:rPr>
                  <a:t> </a:t>
                </a:r>
              </a:p>
            </p:txBody>
          </p:sp>
        </mc:Fallback>
      </mc:AlternateContent>
      <p:pic>
        <p:nvPicPr>
          <p:cNvPr id="25604" name="Picture 3" descr="giant-trevally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3220" y="4803950"/>
            <a:ext cx="2369901" cy="113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4"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53163" y="5265326"/>
            <a:ext cx="5508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5"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44886" y="5930326"/>
            <a:ext cx="55086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6"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47836" y="5624746"/>
            <a:ext cx="5508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0" name="Picture 9"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26620" y="5638926"/>
            <a:ext cx="5508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1" name="Picture 10"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29480" y="5337558"/>
            <a:ext cx="5508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2" name="Picture 11"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71795" y="5624746"/>
            <a:ext cx="5508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3" name="Picture 12"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69249" y="5869085"/>
            <a:ext cx="5508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4" name="Picture 13" descr="giant-trevally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3992" y="5088855"/>
            <a:ext cx="1278527" cy="497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5" name="Picture 14" descr="giant-trevally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0819" y="5787576"/>
            <a:ext cx="738564"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p:cNvGrpSpPr/>
          <p:nvPr/>
        </p:nvGrpSpPr>
        <p:grpSpPr>
          <a:xfrm>
            <a:off x="1440571" y="5777937"/>
            <a:ext cx="985607" cy="568833"/>
            <a:chOff x="1315892" y="5809742"/>
            <a:chExt cx="985607" cy="568833"/>
          </a:xfrm>
        </p:grpSpPr>
        <p:pic>
          <p:nvPicPr>
            <p:cNvPr id="25608"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10195" y="60182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9"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44193" y="583416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6"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15892" y="605391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7"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4535" y="62341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8"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9109" y="580974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619" name="Picture 18"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94024" y="5384170"/>
            <a:ext cx="5508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0" name="Rectangle 19"/>
          <p:cNvSpPr>
            <a:spLocks noGrp="1" noChangeArrowheads="1"/>
          </p:cNvSpPr>
          <p:nvPr>
            <p:ph type="title"/>
          </p:nvPr>
        </p:nvSpPr>
        <p:spPr/>
        <p:txBody>
          <a:bodyPr/>
          <a:lstStyle/>
          <a:p>
            <a:pPr eaLnBrk="1" hangingPunct="1"/>
            <a:r>
              <a:rPr lang="en-AU" altLang="en-US" dirty="0"/>
              <a:t>Productivity is a composite function of:</a:t>
            </a:r>
            <a:endParaRPr lang="en-US" altLang="en-US" dirty="0"/>
          </a:p>
        </p:txBody>
      </p:sp>
      <p:grpSp>
        <p:nvGrpSpPr>
          <p:cNvPr id="22" name="Group 21"/>
          <p:cNvGrpSpPr/>
          <p:nvPr/>
        </p:nvGrpSpPr>
        <p:grpSpPr>
          <a:xfrm>
            <a:off x="2227608" y="5899643"/>
            <a:ext cx="985607" cy="568833"/>
            <a:chOff x="1315892" y="5809742"/>
            <a:chExt cx="985607" cy="568833"/>
          </a:xfrm>
        </p:grpSpPr>
        <p:pic>
          <p:nvPicPr>
            <p:cNvPr id="23"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10195" y="60182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44193" y="583416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15892" y="605391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4535" y="62341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9109" y="580974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 name="Group 27"/>
          <p:cNvGrpSpPr/>
          <p:nvPr/>
        </p:nvGrpSpPr>
        <p:grpSpPr>
          <a:xfrm>
            <a:off x="2390719" y="5348016"/>
            <a:ext cx="985607" cy="568833"/>
            <a:chOff x="1315892" y="5809742"/>
            <a:chExt cx="985607" cy="568833"/>
          </a:xfrm>
        </p:grpSpPr>
        <p:pic>
          <p:nvPicPr>
            <p:cNvPr id="29"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10195" y="60182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44193" y="583416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15892" y="605391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4535" y="62341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9109" y="580974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4" name="Group 33"/>
          <p:cNvGrpSpPr/>
          <p:nvPr/>
        </p:nvGrpSpPr>
        <p:grpSpPr>
          <a:xfrm>
            <a:off x="1529873" y="5189022"/>
            <a:ext cx="985607" cy="568833"/>
            <a:chOff x="1315892" y="5809742"/>
            <a:chExt cx="985607" cy="568833"/>
          </a:xfrm>
        </p:grpSpPr>
        <p:pic>
          <p:nvPicPr>
            <p:cNvPr id="35"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10195" y="60182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44193" y="583416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15892" y="605391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4535" y="62341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9109" y="580974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0" name="Group 39"/>
          <p:cNvGrpSpPr/>
          <p:nvPr/>
        </p:nvGrpSpPr>
        <p:grpSpPr>
          <a:xfrm>
            <a:off x="625107" y="5540880"/>
            <a:ext cx="985607" cy="568833"/>
            <a:chOff x="1315892" y="5809742"/>
            <a:chExt cx="985607" cy="568833"/>
          </a:xfrm>
        </p:grpSpPr>
        <p:pic>
          <p:nvPicPr>
            <p:cNvPr id="41"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10195" y="60182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44193" y="583416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15892" y="605391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4535" y="62341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9109" y="580974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6" name="Group 45"/>
          <p:cNvGrpSpPr/>
          <p:nvPr/>
        </p:nvGrpSpPr>
        <p:grpSpPr>
          <a:xfrm>
            <a:off x="790159" y="4905918"/>
            <a:ext cx="985607" cy="568833"/>
            <a:chOff x="1315892" y="5809742"/>
            <a:chExt cx="985607" cy="568833"/>
          </a:xfrm>
        </p:grpSpPr>
        <p:pic>
          <p:nvPicPr>
            <p:cNvPr id="47"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10195" y="60182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44193" y="583416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15892" y="605391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4535" y="62341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9109" y="580974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2" name="Group 51"/>
          <p:cNvGrpSpPr/>
          <p:nvPr/>
        </p:nvGrpSpPr>
        <p:grpSpPr>
          <a:xfrm>
            <a:off x="27907" y="6075315"/>
            <a:ext cx="985607" cy="568833"/>
            <a:chOff x="1315892" y="5809742"/>
            <a:chExt cx="985607" cy="568833"/>
          </a:xfrm>
        </p:grpSpPr>
        <p:pic>
          <p:nvPicPr>
            <p:cNvPr id="53"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10195" y="60182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44193" y="583416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15892" y="605391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6"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4535" y="62341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9109" y="580974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8" name="Group 57"/>
          <p:cNvGrpSpPr/>
          <p:nvPr/>
        </p:nvGrpSpPr>
        <p:grpSpPr>
          <a:xfrm>
            <a:off x="-48211" y="5328977"/>
            <a:ext cx="985607" cy="568833"/>
            <a:chOff x="1315892" y="5809742"/>
            <a:chExt cx="985607" cy="568833"/>
          </a:xfrm>
        </p:grpSpPr>
        <p:pic>
          <p:nvPicPr>
            <p:cNvPr id="59"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10195" y="60182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44193" y="583416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15892" y="605391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4535" y="62341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9109" y="580974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64" name="Picture 5"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72249" y="5869085"/>
            <a:ext cx="55086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5" name="Picture 14" descr="giant-trevally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40441" y="5258851"/>
            <a:ext cx="738564"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14" descr="giant-trevally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61419" y="6059119"/>
            <a:ext cx="738564"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13" descr="giant-trevally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5067" y="5600673"/>
            <a:ext cx="986921" cy="383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 name="Picture 14" descr="giant-trevally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1835" y="5578945"/>
            <a:ext cx="738564"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Picture 14" descr="giant-trevally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1457" y="5050220"/>
            <a:ext cx="738564"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Picture 12"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93818" y="6213935"/>
            <a:ext cx="5508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1" name="Group 70"/>
          <p:cNvGrpSpPr/>
          <p:nvPr/>
        </p:nvGrpSpPr>
        <p:grpSpPr>
          <a:xfrm>
            <a:off x="2547013" y="4784565"/>
            <a:ext cx="985607" cy="568833"/>
            <a:chOff x="1315892" y="5809742"/>
            <a:chExt cx="985607" cy="568833"/>
          </a:xfrm>
        </p:grpSpPr>
        <p:pic>
          <p:nvPicPr>
            <p:cNvPr id="72"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10195" y="60182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44193" y="583416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15892" y="605391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4535" y="62341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9109" y="580974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7" name="Group 76"/>
          <p:cNvGrpSpPr/>
          <p:nvPr/>
        </p:nvGrpSpPr>
        <p:grpSpPr>
          <a:xfrm>
            <a:off x="1702207" y="4600617"/>
            <a:ext cx="985607" cy="568833"/>
            <a:chOff x="1315892" y="5809742"/>
            <a:chExt cx="985607" cy="568833"/>
          </a:xfrm>
        </p:grpSpPr>
        <p:pic>
          <p:nvPicPr>
            <p:cNvPr id="78"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10195" y="60182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9"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44193" y="583416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0"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15892" y="605391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4535" y="62341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9109" y="580974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3" name="Group 82"/>
          <p:cNvGrpSpPr/>
          <p:nvPr/>
        </p:nvGrpSpPr>
        <p:grpSpPr>
          <a:xfrm>
            <a:off x="760243" y="6189090"/>
            <a:ext cx="985607" cy="568833"/>
            <a:chOff x="1315892" y="5809742"/>
            <a:chExt cx="985607" cy="568833"/>
          </a:xfrm>
        </p:grpSpPr>
        <p:pic>
          <p:nvPicPr>
            <p:cNvPr id="84"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10195" y="60182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944193" y="583416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15892" y="605391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24535" y="623411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9109" y="580974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90" name="Picture 7"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998794" y="6657144"/>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Picture 8" descr="giant-trevally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132792" y="6473093"/>
            <a:ext cx="357306" cy="139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 name="Picture 15" descr="giant-trevally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504491" y="6692847"/>
            <a:ext cx="395879" cy="154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3"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98293" y="6539915"/>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 name="Picture 17" descr="giant-trevally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667708" y="6448672"/>
            <a:ext cx="403965" cy="157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 name="Picture 5"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27828" y="6197039"/>
            <a:ext cx="55086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951969" y="6319490"/>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 name="Picture 16" descr="giant-trevally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332087" y="5150647"/>
            <a:ext cx="371319" cy="144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9" name="Picture 12" descr="giant-trevally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02689" y="6106354"/>
            <a:ext cx="550862"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lide Number Placeholder 2"/>
          <p:cNvSpPr>
            <a:spLocks noGrp="1"/>
          </p:cNvSpPr>
          <p:nvPr>
            <p:ph type="sldNum" sz="quarter" idx="12"/>
          </p:nvPr>
        </p:nvSpPr>
        <p:spPr/>
        <p:txBody>
          <a:bodyPr/>
          <a:lstStyle/>
          <a:p>
            <a:fld id="{EEDFA2F9-C25F-4A63-B46B-7B5C200A39D1}" type="slidenum">
              <a:rPr lang="en-CA" smtClean="0"/>
              <a:t>47</a:t>
            </a:fld>
            <a:endParaRPr lang="en-CA"/>
          </a:p>
        </p:txBody>
      </p:sp>
    </p:spTree>
    <p:extLst>
      <p:ext uri="{BB962C8B-B14F-4D97-AF65-F5344CB8AC3E}">
        <p14:creationId xmlns:p14="http://schemas.microsoft.com/office/powerpoint/2010/main" val="1108184997"/>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body" idx="1"/>
          </p:nvPr>
        </p:nvSpPr>
        <p:spPr>
          <a:xfrm>
            <a:off x="350110" y="2151358"/>
            <a:ext cx="11320113" cy="1196276"/>
          </a:xfrm>
        </p:spPr>
        <p:txBody>
          <a:bodyPr>
            <a:noAutofit/>
          </a:bodyPr>
          <a:lstStyle/>
          <a:p>
            <a:pPr marL="0" indent="0">
              <a:lnSpc>
                <a:spcPct val="100000"/>
              </a:lnSpc>
              <a:spcAft>
                <a:spcPts val="1200"/>
              </a:spcAft>
              <a:buNone/>
            </a:pPr>
            <a:r>
              <a:rPr lang="en-CA" altLang="en-US" dirty="0"/>
              <a:t>In many animal populations, the </a:t>
            </a:r>
            <a:r>
              <a:rPr lang="en-CA" altLang="en-US" u="sng" dirty="0"/>
              <a:t>juvenile survival rate</a:t>
            </a:r>
            <a:r>
              <a:rPr lang="en-CA" altLang="en-US" dirty="0"/>
              <a:t> improves as population size is reduced. This can be due to:</a:t>
            </a:r>
          </a:p>
          <a:p>
            <a:pPr marL="534988" indent="-263525">
              <a:lnSpc>
                <a:spcPct val="100000"/>
              </a:lnSpc>
              <a:spcAft>
                <a:spcPts val="1200"/>
              </a:spcAft>
            </a:pPr>
            <a:r>
              <a:rPr lang="en-CA" altLang="en-US" dirty="0"/>
              <a:t>Reduced competition for resources in smaller populations;</a:t>
            </a:r>
          </a:p>
          <a:p>
            <a:pPr marL="534988" indent="-263525">
              <a:lnSpc>
                <a:spcPct val="100000"/>
              </a:lnSpc>
              <a:spcAft>
                <a:spcPts val="1200"/>
              </a:spcAft>
            </a:pPr>
            <a:r>
              <a:rPr lang="en-CA" altLang="en-US" dirty="0"/>
              <a:t>Territorial behaviour at larger population sizes;</a:t>
            </a:r>
          </a:p>
          <a:p>
            <a:pPr marL="534988" indent="-263525">
              <a:lnSpc>
                <a:spcPct val="100000"/>
              </a:lnSpc>
              <a:spcAft>
                <a:spcPts val="1200"/>
              </a:spcAft>
            </a:pPr>
            <a:r>
              <a:rPr lang="en-CA" altLang="en-US" dirty="0"/>
              <a:t>Reduced predation risk (foraging arena theory).</a:t>
            </a:r>
          </a:p>
        </p:txBody>
      </p:sp>
      <p:sp>
        <p:nvSpPr>
          <p:cNvPr id="27654" name="Rectangle 5"/>
          <p:cNvSpPr>
            <a:spLocks noGrp="1" noChangeArrowheads="1"/>
          </p:cNvSpPr>
          <p:nvPr>
            <p:ph type="title"/>
          </p:nvPr>
        </p:nvSpPr>
        <p:spPr>
          <a:xfrm>
            <a:off x="838200" y="309561"/>
            <a:ext cx="10515600" cy="1325563"/>
          </a:xfrm>
        </p:spPr>
        <p:txBody>
          <a:bodyPr>
            <a:normAutofit/>
          </a:bodyPr>
          <a:lstStyle/>
          <a:p>
            <a:pPr eaLnBrk="1" hangingPunct="1"/>
            <a:r>
              <a:rPr lang="en-US" altLang="en-US" dirty="0"/>
              <a:t>Density dependence in juvenile survival (recruitment compensation)</a:t>
            </a:r>
          </a:p>
        </p:txBody>
      </p:sp>
      <p:sp>
        <p:nvSpPr>
          <p:cNvPr id="2" name="Slide Number Placeholder 1"/>
          <p:cNvSpPr>
            <a:spLocks noGrp="1"/>
          </p:cNvSpPr>
          <p:nvPr>
            <p:ph type="sldNum" sz="quarter" idx="12"/>
          </p:nvPr>
        </p:nvSpPr>
        <p:spPr/>
        <p:txBody>
          <a:bodyPr/>
          <a:lstStyle/>
          <a:p>
            <a:fld id="{EEDFA2F9-C25F-4A63-B46B-7B5C200A39D1}" type="slidenum">
              <a:rPr lang="en-CA" smtClean="0"/>
              <a:t>48</a:t>
            </a:fld>
            <a:endParaRPr lang="en-CA"/>
          </a:p>
        </p:txBody>
      </p:sp>
    </p:spTree>
    <p:extLst>
      <p:ext uri="{BB962C8B-B14F-4D97-AF65-F5344CB8AC3E}">
        <p14:creationId xmlns:p14="http://schemas.microsoft.com/office/powerpoint/2010/main" val="926612659"/>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701"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l="5031" t="8476" r="11829" b="10341"/>
          <a:stretch/>
        </p:blipFill>
        <p:spPr bwMode="auto">
          <a:xfrm>
            <a:off x="7411163" y="1522278"/>
            <a:ext cx="4780837" cy="25241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699" name="Rectangle 2"/>
          <p:cNvSpPr>
            <a:spLocks noGrp="1" noChangeArrowheads="1"/>
          </p:cNvSpPr>
          <p:nvPr>
            <p:ph type="title"/>
          </p:nvPr>
        </p:nvSpPr>
        <p:spPr>
          <a:xfrm>
            <a:off x="311259" y="41604"/>
            <a:ext cx="10515600" cy="1325563"/>
          </a:xfrm>
        </p:spPr>
        <p:txBody>
          <a:bodyPr>
            <a:normAutofit/>
          </a:bodyPr>
          <a:lstStyle/>
          <a:p>
            <a:pPr eaLnBrk="1" hangingPunct="1"/>
            <a:r>
              <a:rPr lang="en-US" altLang="en-US" dirty="0"/>
              <a:t>Density dependence in juvenile survival</a:t>
            </a:r>
          </a:p>
        </p:txBody>
      </p:sp>
      <p:sp>
        <p:nvSpPr>
          <p:cNvPr id="29700" name="Rectangle 3"/>
          <p:cNvSpPr>
            <a:spLocks noGrp="1" noChangeArrowheads="1"/>
          </p:cNvSpPr>
          <p:nvPr>
            <p:ph type="body" idx="1"/>
          </p:nvPr>
        </p:nvSpPr>
        <p:spPr>
          <a:xfrm>
            <a:off x="442913" y="1761357"/>
            <a:ext cx="10568848" cy="1857375"/>
          </a:xfrm>
        </p:spPr>
        <p:txBody>
          <a:bodyPr>
            <a:noAutofit/>
          </a:bodyPr>
          <a:lstStyle/>
          <a:p>
            <a:pPr eaLnBrk="1" hangingPunct="1">
              <a:buFontTx/>
              <a:buNone/>
            </a:pPr>
            <a:r>
              <a:rPr lang="en-US" altLang="en-US" b="1" dirty="0"/>
              <a:t>Foraging arena theory</a:t>
            </a:r>
          </a:p>
          <a:p>
            <a:pPr eaLnBrk="1" hangingPunct="1"/>
            <a:r>
              <a:rPr lang="en-US" altLang="en-US" dirty="0"/>
              <a:t>As density increases, fewer safe refuges</a:t>
            </a:r>
          </a:p>
          <a:p>
            <a:pPr eaLnBrk="1" hangingPunct="1"/>
            <a:r>
              <a:rPr lang="en-US" altLang="en-US" dirty="0"/>
              <a:t>More individuals must feed in unsafe areas</a:t>
            </a:r>
          </a:p>
          <a:p>
            <a:pPr eaLnBrk="1" hangingPunct="1"/>
            <a:r>
              <a:rPr lang="en-US" altLang="en-US" dirty="0"/>
              <a:t>As density increases, rate of juvenile survival decreases</a:t>
            </a:r>
          </a:p>
          <a:p>
            <a:pPr eaLnBrk="1" hangingPunct="1"/>
            <a:r>
              <a:rPr lang="en-US" altLang="en-US" dirty="0"/>
              <a:t>Number of survivors similar across wide range of stock sizes </a:t>
            </a:r>
          </a:p>
        </p:txBody>
      </p:sp>
      <p:sp>
        <p:nvSpPr>
          <p:cNvPr id="29702" name="Rectangle 5"/>
          <p:cNvSpPr>
            <a:spLocks noChangeArrowheads="1"/>
          </p:cNvSpPr>
          <p:nvPr/>
        </p:nvSpPr>
        <p:spPr bwMode="auto">
          <a:xfrm>
            <a:off x="9723719" y="4046396"/>
            <a:ext cx="25760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30000"/>
              </a:spcBef>
            </a:pPr>
            <a:r>
              <a:rPr lang="en-CA" altLang="en-US" b="1" i="1" dirty="0">
                <a:solidFill>
                  <a:schemeClr val="tx2"/>
                </a:solidFill>
                <a:latin typeface="+mj-lt"/>
              </a:rPr>
              <a:t>Source:</a:t>
            </a:r>
            <a:r>
              <a:rPr lang="en-CA" altLang="en-US" b="1" dirty="0">
                <a:solidFill>
                  <a:schemeClr val="tx2"/>
                </a:solidFill>
                <a:latin typeface="+mj-lt"/>
              </a:rPr>
              <a:t> Walters and </a:t>
            </a:r>
            <a:r>
              <a:rPr lang="en-CA" altLang="en-US" b="1" dirty="0" err="1">
                <a:solidFill>
                  <a:schemeClr val="tx2"/>
                </a:solidFill>
                <a:latin typeface="+mj-lt"/>
              </a:rPr>
              <a:t>Juanes</a:t>
            </a:r>
            <a:r>
              <a:rPr lang="en-CA" altLang="en-US" b="1" dirty="0">
                <a:solidFill>
                  <a:schemeClr val="tx2"/>
                </a:solidFill>
                <a:latin typeface="+mj-lt"/>
              </a:rPr>
              <a:t> 1993</a:t>
            </a:r>
            <a:endParaRPr lang="en-AU" altLang="en-US" b="1" dirty="0">
              <a:solidFill>
                <a:schemeClr val="tx2"/>
              </a:solidFill>
              <a:latin typeface="+mj-lt"/>
            </a:endParaRPr>
          </a:p>
        </p:txBody>
      </p:sp>
      <p:sp>
        <p:nvSpPr>
          <p:cNvPr id="7" name="Rectangle 3"/>
          <p:cNvSpPr>
            <a:spLocks noChangeArrowheads="1"/>
          </p:cNvSpPr>
          <p:nvPr/>
        </p:nvSpPr>
        <p:spPr bwMode="auto">
          <a:xfrm>
            <a:off x="102083" y="5405746"/>
            <a:ext cx="11294229" cy="1354217"/>
          </a:xfrm>
          <a:prstGeom prst="rect">
            <a:avLst/>
          </a:prstGeom>
          <a:solidFill>
            <a:schemeClr val="accent1">
              <a:alpha val="25000"/>
            </a:schemeClr>
          </a:solidFill>
          <a:ln>
            <a:solidFill>
              <a:schemeClr val="accent1">
                <a:lumMod val="50000"/>
              </a:schemeClr>
            </a:solidFill>
          </a:ln>
        </p:spPr>
        <p:txBody>
          <a:bodyPr wrap="square" rtlCol="0">
            <a:spAutoFit/>
          </a:bodyPr>
          <a:lstStyle/>
          <a:p>
            <a:pPr marL="534988" indent="-534988"/>
            <a:r>
              <a:rPr lang="en-US" altLang="en-US" sz="1600" dirty="0">
                <a:solidFill>
                  <a:schemeClr val="tx2"/>
                </a:solidFill>
              </a:rPr>
              <a:t>Walters, C.J. and </a:t>
            </a:r>
            <a:r>
              <a:rPr lang="en-US" altLang="en-US" sz="1600" dirty="0" err="1">
                <a:solidFill>
                  <a:schemeClr val="tx2"/>
                </a:solidFill>
              </a:rPr>
              <a:t>Juanes</a:t>
            </a:r>
            <a:r>
              <a:rPr lang="en-US" altLang="en-US" sz="1600" dirty="0">
                <a:solidFill>
                  <a:schemeClr val="tx2"/>
                </a:solidFill>
              </a:rPr>
              <a:t>, F. 1993. Recruitment limitation as a consequence of natural selection for use of restricted feeding habitats and predation risk taking by juvenile fishes. Can. J. Fish. </a:t>
            </a:r>
            <a:r>
              <a:rPr lang="en-US" altLang="en-US" sz="1600" dirty="0" err="1">
                <a:solidFill>
                  <a:schemeClr val="tx2"/>
                </a:solidFill>
              </a:rPr>
              <a:t>Aquat</a:t>
            </a:r>
            <a:r>
              <a:rPr lang="en-US" altLang="en-US" sz="1600" dirty="0">
                <a:solidFill>
                  <a:schemeClr val="tx2"/>
                </a:solidFill>
              </a:rPr>
              <a:t>. Sci. 50(10): 2058-2070.</a:t>
            </a:r>
          </a:p>
          <a:p>
            <a:pPr marL="534988" indent="-534988"/>
            <a:r>
              <a:rPr lang="en-US" altLang="en-US" sz="1600" dirty="0">
                <a:solidFill>
                  <a:schemeClr val="tx2"/>
                </a:solidFill>
              </a:rPr>
              <a:t>Walters, C.J. and </a:t>
            </a:r>
            <a:r>
              <a:rPr lang="en-US" altLang="en-US" sz="1600" dirty="0" err="1">
                <a:solidFill>
                  <a:schemeClr val="tx2"/>
                </a:solidFill>
              </a:rPr>
              <a:t>Korman</a:t>
            </a:r>
            <a:r>
              <a:rPr lang="en-US" altLang="en-US" sz="1600" dirty="0">
                <a:solidFill>
                  <a:schemeClr val="tx2"/>
                </a:solidFill>
              </a:rPr>
              <a:t>, J. 1999. Linking recruitment to trophic factors: revisiting the </a:t>
            </a:r>
            <a:r>
              <a:rPr lang="en-US" altLang="en-US" sz="1600" dirty="0" err="1">
                <a:solidFill>
                  <a:schemeClr val="tx2"/>
                </a:solidFill>
              </a:rPr>
              <a:t>Beverton</a:t>
            </a:r>
            <a:r>
              <a:rPr lang="en-US" altLang="en-US" sz="1600" dirty="0">
                <a:solidFill>
                  <a:schemeClr val="tx2"/>
                </a:solidFill>
              </a:rPr>
              <a:t>−Holt recruitment model from a life history and multispecies perspective. Rev. Fish. Biol. Fish. 9, 187–202.</a:t>
            </a:r>
          </a:p>
          <a:p>
            <a:pPr marL="534988" indent="-534988"/>
            <a:r>
              <a:rPr lang="en-AU" altLang="en-US" sz="1600" dirty="0">
                <a:solidFill>
                  <a:schemeClr val="tx2"/>
                </a:solidFill>
              </a:rPr>
              <a:t>Walters, C.J. and Martell, S.J.D. 2004. Fisheries Ecology and Management. Princeton University Press, Princeton, 399 pp.</a:t>
            </a:r>
          </a:p>
        </p:txBody>
      </p:sp>
      <p:sp>
        <p:nvSpPr>
          <p:cNvPr id="2" name="Slide Number Placeholder 1"/>
          <p:cNvSpPr>
            <a:spLocks noGrp="1"/>
          </p:cNvSpPr>
          <p:nvPr>
            <p:ph type="sldNum" sz="quarter" idx="12"/>
          </p:nvPr>
        </p:nvSpPr>
        <p:spPr/>
        <p:txBody>
          <a:bodyPr/>
          <a:lstStyle/>
          <a:p>
            <a:fld id="{EEDFA2F9-C25F-4A63-B46B-7B5C200A39D1}" type="slidenum">
              <a:rPr lang="en-CA" smtClean="0"/>
              <a:t>49</a:t>
            </a:fld>
            <a:endParaRPr lang="en-CA"/>
          </a:p>
        </p:txBody>
      </p:sp>
    </p:spTree>
    <p:extLst>
      <p:ext uri="{BB962C8B-B14F-4D97-AF65-F5344CB8AC3E}">
        <p14:creationId xmlns:p14="http://schemas.microsoft.com/office/powerpoint/2010/main" val="131388408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377575" y="127866"/>
            <a:ext cx="11670684" cy="1325563"/>
          </a:xfrm>
        </p:spPr>
        <p:txBody>
          <a:bodyPr>
            <a:noAutofit/>
          </a:bodyPr>
          <a:lstStyle/>
          <a:p>
            <a:pPr eaLnBrk="1" hangingPunct="1"/>
            <a:r>
              <a:rPr lang="en-CA" altLang="en-US" sz="4000" dirty="0"/>
              <a:t>Linear density dependence in juvenile (</a:t>
            </a:r>
            <a:r>
              <a:rPr lang="en-CA" altLang="en-US" sz="4000" b="1" dirty="0"/>
              <a:t>pre</a:t>
            </a:r>
            <a:r>
              <a:rPr lang="en-CA" altLang="en-US" sz="4000" dirty="0"/>
              <a:t>-recruit) natural mortality predicts asymptotic stock-recruit relationships</a:t>
            </a:r>
          </a:p>
        </p:txBody>
      </p:sp>
      <p:sp>
        <p:nvSpPr>
          <p:cNvPr id="32775" name="Rectangle 24"/>
          <p:cNvSpPr>
            <a:spLocks noChangeArrowheads="1"/>
          </p:cNvSpPr>
          <p:nvPr/>
        </p:nvSpPr>
        <p:spPr bwMode="auto">
          <a:xfrm>
            <a:off x="5627688" y="2243138"/>
            <a:ext cx="144462" cy="2159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endParaRPr lang="en-US" altLang="en-US"/>
          </a:p>
        </p:txBody>
      </p:sp>
      <p:sp>
        <p:nvSpPr>
          <p:cNvPr id="32776" name="Rectangle 25"/>
          <p:cNvSpPr>
            <a:spLocks noChangeArrowheads="1"/>
          </p:cNvSpPr>
          <p:nvPr/>
        </p:nvSpPr>
        <p:spPr bwMode="auto">
          <a:xfrm>
            <a:off x="5303838" y="1954213"/>
            <a:ext cx="144462" cy="2159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algn="ctr" eaLnBrk="1" hangingPunct="1"/>
            <a:endParaRPr lang="en-US" altLang="en-US"/>
          </a:p>
        </p:txBody>
      </p:sp>
      <p:sp>
        <p:nvSpPr>
          <p:cNvPr id="32779" name="Text Box 33"/>
          <p:cNvSpPr txBox="1">
            <a:spLocks noChangeArrowheads="1"/>
          </p:cNvSpPr>
          <p:nvPr/>
        </p:nvSpPr>
        <p:spPr bwMode="auto">
          <a:xfrm>
            <a:off x="102445" y="5845772"/>
            <a:ext cx="12019005" cy="954107"/>
          </a:xfrm>
          <a:prstGeom prst="rect">
            <a:avLst/>
          </a:prstGeom>
          <a:solidFill>
            <a:schemeClr val="accent1">
              <a:alpha val="25000"/>
            </a:schemeClr>
          </a:solidFill>
          <a:ln>
            <a:solidFill>
              <a:schemeClr val="accent1">
                <a:lumMod val="50000"/>
              </a:schemeClr>
            </a:solidFill>
          </a:ln>
        </p:spPr>
        <p:txBody>
          <a:bodyPr wrap="square" rtlCol="0">
            <a:spAutoFit/>
          </a:bodyPr>
          <a:lstStyle>
            <a:defPPr>
              <a:defRPr lang="en-US"/>
            </a:defPPr>
            <a:lvl1pPr marL="357188" indent="-357188">
              <a:defRPr>
                <a:solidFill>
                  <a:schemeClr val="tx2"/>
                </a:solidFill>
              </a:defRPr>
            </a:lvl1pPr>
          </a:lstStyle>
          <a:p>
            <a:r>
              <a:rPr lang="en-US" altLang="en-US" sz="1400" dirty="0" err="1"/>
              <a:t>Beverton</a:t>
            </a:r>
            <a:r>
              <a:rPr lang="en-US" altLang="en-US" sz="1400" dirty="0"/>
              <a:t>, R.J.H. and Holt, S.J. 1957. On the dynamics of exploited fish populations. Fisheries Investment Series 2, Vol. 19. U.K. Min. Agriculture &amp; Fisheries, London.</a:t>
            </a:r>
            <a:endParaRPr lang="en-AU" altLang="en-US" sz="1400" dirty="0"/>
          </a:p>
          <a:p>
            <a:r>
              <a:rPr lang="en-AU" altLang="en-US" sz="1400" dirty="0"/>
              <a:t>Walters, C.J. and </a:t>
            </a:r>
            <a:r>
              <a:rPr lang="en-AU" altLang="en-US" sz="1400" dirty="0" err="1"/>
              <a:t>Korman</a:t>
            </a:r>
            <a:r>
              <a:rPr lang="en-AU" altLang="en-US" sz="1400" dirty="0"/>
              <a:t>, J. 1999. Linking recruitment to trophic factors: revisiting the </a:t>
            </a:r>
            <a:r>
              <a:rPr lang="en-AU" altLang="en-US" sz="1400" dirty="0" err="1"/>
              <a:t>Beverton</a:t>
            </a:r>
            <a:r>
              <a:rPr lang="en-AU" altLang="en-US" sz="1400" dirty="0"/>
              <a:t>−Holt recruitment model from a life history and multispecies perspective. Rev. Fish. Biol. Fish. 9, 187–202.</a:t>
            </a:r>
          </a:p>
          <a:p>
            <a:r>
              <a:rPr lang="en-AU" altLang="en-US" sz="1400" b="1" dirty="0"/>
              <a:t>*</a:t>
            </a:r>
            <a:r>
              <a:rPr lang="en-AU" altLang="en-US" sz="1400" dirty="0"/>
              <a:t>Walters, C.J. and Martell, S.J.D. 2004. Fisheries Ecology and Management. Princeton University Press, Princeton, pp. 128 - 132.</a:t>
            </a:r>
            <a:endParaRPr lang="en-CA" altLang="en-US" sz="1400" dirty="0"/>
          </a:p>
        </p:txBody>
      </p:sp>
      <p:sp>
        <p:nvSpPr>
          <p:cNvPr id="32783" name="Text Box 37"/>
          <p:cNvSpPr txBox="1">
            <a:spLocks noChangeArrowheads="1"/>
          </p:cNvSpPr>
          <p:nvPr/>
        </p:nvSpPr>
        <p:spPr bwMode="auto">
          <a:xfrm>
            <a:off x="442913" y="557762"/>
            <a:ext cx="8748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50000"/>
              </a:spcBef>
            </a:pPr>
            <a:endParaRPr lang="en-CA" altLang="en-US" sz="2400" b="1">
              <a:latin typeface="Arial" panose="020B0604020202020204" pitchFamily="34" charset="0"/>
            </a:endParaRPr>
          </a:p>
        </p:txBody>
      </p:sp>
      <p:sp>
        <p:nvSpPr>
          <p:cNvPr id="32785" name="Text Box 39"/>
          <p:cNvSpPr txBox="1">
            <a:spLocks noChangeArrowheads="1"/>
          </p:cNvSpPr>
          <p:nvPr/>
        </p:nvSpPr>
        <p:spPr bwMode="auto">
          <a:xfrm>
            <a:off x="5807076" y="5373688"/>
            <a:ext cx="45370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50000"/>
              </a:spcBef>
            </a:pPr>
            <a:endParaRPr lang="en-CA" altLang="en-US" sz="1800" b="1">
              <a:solidFill>
                <a:schemeClr val="accent2"/>
              </a:solidFill>
            </a:endParaRPr>
          </a:p>
        </p:txBody>
      </p:sp>
      <p:grpSp>
        <p:nvGrpSpPr>
          <p:cNvPr id="2" name="Group 1"/>
          <p:cNvGrpSpPr/>
          <p:nvPr/>
        </p:nvGrpSpPr>
        <p:grpSpPr>
          <a:xfrm>
            <a:off x="1337131" y="2306504"/>
            <a:ext cx="8063539" cy="3419659"/>
            <a:chOff x="1557484" y="2420938"/>
            <a:chExt cx="8846991" cy="3751911"/>
          </a:xfrm>
        </p:grpSpPr>
        <p:grpSp>
          <p:nvGrpSpPr>
            <p:cNvPr id="32772" name="Group 9"/>
            <p:cNvGrpSpPr>
              <a:grpSpLocks/>
            </p:cNvGrpSpPr>
            <p:nvPr/>
          </p:nvGrpSpPr>
          <p:grpSpPr bwMode="auto">
            <a:xfrm>
              <a:off x="2281239" y="3135313"/>
              <a:ext cx="2879725" cy="2520950"/>
              <a:chOff x="340" y="1525"/>
              <a:chExt cx="1814" cy="1588"/>
            </a:xfrm>
          </p:grpSpPr>
          <p:sp>
            <p:nvSpPr>
              <p:cNvPr id="32789" name="Line 6"/>
              <p:cNvSpPr>
                <a:spLocks noChangeShapeType="1"/>
              </p:cNvSpPr>
              <p:nvPr/>
            </p:nvSpPr>
            <p:spPr bwMode="auto">
              <a:xfrm>
                <a:off x="340" y="1525"/>
                <a:ext cx="0"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90" name="Line 8"/>
              <p:cNvSpPr>
                <a:spLocks noChangeShapeType="1"/>
              </p:cNvSpPr>
              <p:nvPr/>
            </p:nvSpPr>
            <p:spPr bwMode="auto">
              <a:xfrm>
                <a:off x="340" y="3113"/>
                <a:ext cx="181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32773" name="Line 10"/>
            <p:cNvSpPr>
              <a:spLocks noChangeShapeType="1"/>
            </p:cNvSpPr>
            <p:nvPr/>
          </p:nvSpPr>
          <p:spPr bwMode="auto">
            <a:xfrm flipV="1">
              <a:off x="2281239" y="3638550"/>
              <a:ext cx="2592387" cy="17287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32774" name="Picture 16"/>
            <p:cNvPicPr>
              <a:picLocks noChangeAspect="1" noChangeArrowheads="1"/>
            </p:cNvPicPr>
            <p:nvPr/>
          </p:nvPicPr>
          <p:blipFill>
            <a:blip r:embed="rId3">
              <a:extLst>
                <a:ext uri="{28A0092B-C50C-407E-A947-70E740481C1C}">
                  <a14:useLocalDpi xmlns:a14="http://schemas.microsoft.com/office/drawing/2010/main" val="0"/>
                </a:ext>
              </a:extLst>
            </a:blip>
            <a:srcRect l="10988" b="12724"/>
            <a:stretch>
              <a:fillRect/>
            </a:stretch>
          </p:blipFill>
          <p:spPr bwMode="auto">
            <a:xfrm>
              <a:off x="6456363" y="2924176"/>
              <a:ext cx="3948112" cy="285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7" name="Text Box 31"/>
            <p:cNvSpPr txBox="1">
              <a:spLocks noChangeArrowheads="1"/>
            </p:cNvSpPr>
            <p:nvPr/>
          </p:nvSpPr>
          <p:spPr bwMode="auto">
            <a:xfrm>
              <a:off x="3001964" y="5801401"/>
              <a:ext cx="2159000" cy="371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50000"/>
                </a:spcBef>
              </a:pPr>
              <a:r>
                <a:rPr lang="en-CA" altLang="en-US" sz="1600" b="1">
                  <a:solidFill>
                    <a:srgbClr val="0033CC"/>
                  </a:solidFill>
                  <a:latin typeface="Arial" panose="020B0604020202020204" pitchFamily="34" charset="0"/>
                </a:rPr>
                <a:t>Numbers </a:t>
              </a:r>
              <a:r>
                <a:rPr lang="en-CA" altLang="en-US" sz="1600" b="1" i="1">
                  <a:solidFill>
                    <a:srgbClr val="0033CC"/>
                  </a:solidFill>
                  <a:latin typeface="Arial" panose="020B0604020202020204" pitchFamily="34" charset="0"/>
                </a:rPr>
                <a:t>N</a:t>
              </a:r>
            </a:p>
          </p:txBody>
        </p:sp>
        <p:sp>
          <p:nvSpPr>
            <p:cNvPr id="32778" name="Text Box 32"/>
            <p:cNvSpPr txBox="1">
              <a:spLocks noChangeArrowheads="1"/>
            </p:cNvSpPr>
            <p:nvPr/>
          </p:nvSpPr>
          <p:spPr bwMode="auto">
            <a:xfrm rot="16200000">
              <a:off x="528959" y="3994549"/>
              <a:ext cx="23316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50000"/>
                </a:spcBef>
              </a:pPr>
              <a:r>
                <a:rPr lang="en-CA" altLang="en-US" sz="1600" b="1" dirty="0">
                  <a:solidFill>
                    <a:srgbClr val="0033CC"/>
                  </a:solidFill>
                  <a:latin typeface="Arial" panose="020B0604020202020204" pitchFamily="34" charset="0"/>
                </a:rPr>
                <a:t>Juvenile mortality </a:t>
              </a:r>
              <a:r>
                <a:rPr lang="en-CA" altLang="en-US" sz="1600" b="1" i="1" dirty="0">
                  <a:solidFill>
                    <a:srgbClr val="0033CC"/>
                  </a:solidFill>
                  <a:latin typeface="Arial" panose="020B0604020202020204" pitchFamily="34" charset="0"/>
                </a:rPr>
                <a:t>M</a:t>
              </a:r>
              <a:endParaRPr lang="en-CA" altLang="en-US" sz="1600" b="1" dirty="0">
                <a:solidFill>
                  <a:srgbClr val="0033CC"/>
                </a:solidFill>
                <a:latin typeface="Arial" panose="020B0604020202020204" pitchFamily="34" charset="0"/>
              </a:endParaRPr>
            </a:p>
          </p:txBody>
        </p:sp>
        <p:sp>
          <p:nvSpPr>
            <p:cNvPr id="32780" name="AutoShape 34"/>
            <p:cNvSpPr>
              <a:spLocks noChangeArrowheads="1"/>
            </p:cNvSpPr>
            <p:nvPr/>
          </p:nvSpPr>
          <p:spPr bwMode="auto">
            <a:xfrm>
              <a:off x="4925183" y="4359276"/>
              <a:ext cx="1081088" cy="144463"/>
            </a:xfrm>
            <a:prstGeom prst="rightArrow">
              <a:avLst>
                <a:gd name="adj1" fmla="val 50000"/>
                <a:gd name="adj2" fmla="val 187087"/>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algn="ctr" eaLnBrk="1" hangingPunct="1"/>
              <a:endParaRPr lang="en-CA" altLang="en-US"/>
            </a:p>
          </p:txBody>
        </p:sp>
        <p:sp>
          <p:nvSpPr>
            <p:cNvPr id="32781" name="Text Box 35"/>
            <p:cNvSpPr txBox="1">
              <a:spLocks noChangeArrowheads="1"/>
            </p:cNvSpPr>
            <p:nvPr/>
          </p:nvSpPr>
          <p:spPr bwMode="auto">
            <a:xfrm>
              <a:off x="7678738" y="5799138"/>
              <a:ext cx="2017712" cy="371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50000"/>
                </a:spcBef>
              </a:pPr>
              <a:r>
                <a:rPr lang="en-CA" altLang="en-US" sz="1600" b="1">
                  <a:solidFill>
                    <a:srgbClr val="0033CC"/>
                  </a:solidFill>
                  <a:latin typeface="Arial" panose="020B0604020202020204" pitchFamily="34" charset="0"/>
                </a:rPr>
                <a:t>Numbers </a:t>
              </a:r>
              <a:r>
                <a:rPr lang="en-CA" altLang="en-US" sz="1600" b="1" i="1">
                  <a:solidFill>
                    <a:srgbClr val="0033CC"/>
                  </a:solidFill>
                  <a:latin typeface="Arial" panose="020B0604020202020204" pitchFamily="34" charset="0"/>
                </a:rPr>
                <a:t>N</a:t>
              </a:r>
            </a:p>
          </p:txBody>
        </p:sp>
        <p:sp>
          <p:nvSpPr>
            <p:cNvPr id="32782" name="Text Box 36"/>
            <p:cNvSpPr txBox="1">
              <a:spLocks noChangeArrowheads="1"/>
            </p:cNvSpPr>
            <p:nvPr/>
          </p:nvSpPr>
          <p:spPr bwMode="auto">
            <a:xfrm rot="16200000">
              <a:off x="4519614" y="3779058"/>
              <a:ext cx="3087687" cy="371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50000"/>
                </a:spcBef>
              </a:pPr>
              <a:r>
                <a:rPr lang="en-CA" altLang="en-US" sz="1600" b="1" dirty="0">
                  <a:solidFill>
                    <a:srgbClr val="0033CC"/>
                  </a:solidFill>
                  <a:latin typeface="Arial" panose="020B0604020202020204" pitchFamily="34" charset="0"/>
                </a:rPr>
                <a:t>Number of recruits N </a:t>
              </a:r>
              <a:r>
                <a:rPr lang="en-CA" altLang="en-US" sz="1600" b="1" baseline="-25000" dirty="0">
                  <a:solidFill>
                    <a:srgbClr val="0033CC"/>
                  </a:solidFill>
                  <a:latin typeface="Arial" panose="020B0604020202020204" pitchFamily="34" charset="0"/>
                </a:rPr>
                <a:t>t+1</a:t>
              </a:r>
              <a:endParaRPr lang="en-CA" altLang="en-US" sz="1600" b="1" i="1" baseline="-25000" dirty="0">
                <a:solidFill>
                  <a:srgbClr val="0033CC"/>
                </a:solidFill>
                <a:latin typeface="Arial" panose="020B0604020202020204" pitchFamily="34" charset="0"/>
              </a:endParaRPr>
            </a:p>
          </p:txBody>
        </p:sp>
        <p:sp>
          <p:nvSpPr>
            <p:cNvPr id="32784" name="Text Box 38"/>
            <p:cNvSpPr txBox="1">
              <a:spLocks noChangeArrowheads="1"/>
            </p:cNvSpPr>
            <p:nvPr/>
          </p:nvSpPr>
          <p:spPr bwMode="auto">
            <a:xfrm>
              <a:off x="2351089" y="5373689"/>
              <a:ext cx="3889375" cy="68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50000"/>
                </a:spcBef>
              </a:pPr>
              <a:endParaRPr lang="en-CA" altLang="en-US" sz="1800" b="1" i="1" baseline="-25000">
                <a:solidFill>
                  <a:schemeClr val="accent2"/>
                </a:solidFill>
              </a:endParaRPr>
            </a:p>
            <a:p>
              <a:pPr eaLnBrk="1" hangingPunct="1">
                <a:spcBef>
                  <a:spcPct val="50000"/>
                </a:spcBef>
              </a:pPr>
              <a:endParaRPr lang="en-CA" altLang="en-US" sz="1800" b="1">
                <a:solidFill>
                  <a:schemeClr val="accent2"/>
                </a:solidFill>
              </a:endParaRPr>
            </a:p>
          </p:txBody>
        </p:sp>
        <p:sp>
          <p:nvSpPr>
            <p:cNvPr id="32786" name="Text Box 41"/>
            <p:cNvSpPr txBox="1">
              <a:spLocks noChangeArrowheads="1"/>
            </p:cNvSpPr>
            <p:nvPr/>
          </p:nvSpPr>
          <p:spPr bwMode="auto">
            <a:xfrm rot="19428731">
              <a:off x="2730501" y="3919538"/>
              <a:ext cx="18716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50000"/>
                </a:spcBef>
              </a:pPr>
              <a:r>
                <a:rPr lang="en-US" altLang="en-US" sz="1800" b="1" dirty="0">
                  <a:latin typeface="Arial" panose="020B0604020202020204" pitchFamily="34" charset="0"/>
                </a:rPr>
                <a:t>Slope = </a:t>
              </a:r>
              <a:r>
                <a:rPr lang="en-US" altLang="en-US" sz="1800" b="1" i="1" dirty="0">
                  <a:latin typeface="Arial" panose="020B0604020202020204" pitchFamily="34" charset="0"/>
                </a:rPr>
                <a:t>M</a:t>
              </a:r>
              <a:r>
                <a:rPr lang="en-US" altLang="en-US" sz="1800" b="1" i="1" baseline="-25000" dirty="0">
                  <a:latin typeface="Arial" panose="020B0604020202020204" pitchFamily="34" charset="0"/>
                </a:rPr>
                <a:t>1</a:t>
              </a:r>
              <a:endParaRPr lang="en-US" altLang="en-US" sz="1800" b="1" baseline="-25000" dirty="0">
                <a:latin typeface="Arial" panose="020B0604020202020204" pitchFamily="34" charset="0"/>
              </a:endParaRPr>
            </a:p>
          </p:txBody>
        </p:sp>
        <p:sp>
          <p:nvSpPr>
            <p:cNvPr id="32787" name="Rectangle 42"/>
            <p:cNvSpPr>
              <a:spLocks noChangeArrowheads="1"/>
            </p:cNvSpPr>
            <p:nvPr/>
          </p:nvSpPr>
          <p:spPr bwMode="auto">
            <a:xfrm>
              <a:off x="1847850" y="5143501"/>
              <a:ext cx="463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r>
                <a:rPr lang="en-US" altLang="en-US" sz="1800" b="1" i="1"/>
                <a:t>M</a:t>
              </a:r>
              <a:r>
                <a:rPr lang="en-US" altLang="en-US" sz="1800" b="1" i="1" baseline="-25000"/>
                <a:t>0</a:t>
              </a:r>
            </a:p>
          </p:txBody>
        </p:sp>
      </p:grpSp>
      <p:sp>
        <p:nvSpPr>
          <p:cNvPr id="32788" name="Rectangle 43"/>
          <p:cNvSpPr>
            <a:spLocks noChangeArrowheads="1"/>
          </p:cNvSpPr>
          <p:nvPr/>
        </p:nvSpPr>
        <p:spPr bwMode="auto">
          <a:xfrm>
            <a:off x="4103905" y="1435624"/>
            <a:ext cx="615538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r>
              <a:rPr lang="en-CA" altLang="en-US" sz="2800" b="1" i="1" dirty="0">
                <a:solidFill>
                  <a:srgbClr val="C00000"/>
                </a:solidFill>
              </a:rPr>
              <a:t>M</a:t>
            </a:r>
            <a:r>
              <a:rPr lang="en-CA" altLang="en-US" sz="2800" b="1" dirty="0">
                <a:solidFill>
                  <a:srgbClr val="C00000"/>
                </a:solidFill>
              </a:rPr>
              <a:t> = </a:t>
            </a:r>
            <a:r>
              <a:rPr lang="en-CA" altLang="en-US" sz="2800" b="1" i="1" dirty="0">
                <a:solidFill>
                  <a:srgbClr val="C00000"/>
                </a:solidFill>
              </a:rPr>
              <a:t>M</a:t>
            </a:r>
            <a:r>
              <a:rPr lang="en-CA" altLang="en-US" sz="2800" b="1" baseline="-25000" dirty="0">
                <a:solidFill>
                  <a:srgbClr val="C00000"/>
                </a:solidFill>
              </a:rPr>
              <a:t>0</a:t>
            </a:r>
            <a:r>
              <a:rPr lang="en-CA" altLang="en-US" sz="2800" b="1" dirty="0">
                <a:solidFill>
                  <a:srgbClr val="C00000"/>
                </a:solidFill>
              </a:rPr>
              <a:t> + </a:t>
            </a:r>
            <a:r>
              <a:rPr lang="en-CA" altLang="en-US" sz="2800" b="1" i="1" dirty="0">
                <a:solidFill>
                  <a:srgbClr val="C00000"/>
                </a:solidFill>
              </a:rPr>
              <a:t>M</a:t>
            </a:r>
            <a:r>
              <a:rPr lang="en-CA" altLang="en-US" sz="2800" b="1" baseline="-25000" dirty="0">
                <a:solidFill>
                  <a:srgbClr val="C00000"/>
                </a:solidFill>
              </a:rPr>
              <a:t>1</a:t>
            </a:r>
            <a:r>
              <a:rPr lang="en-CA" altLang="en-US" sz="2800" b="1" dirty="0">
                <a:solidFill>
                  <a:srgbClr val="C00000"/>
                </a:solidFill>
              </a:rPr>
              <a:t>N</a:t>
            </a:r>
          </a:p>
          <a:p>
            <a:pPr eaLnBrk="1" hangingPunct="1"/>
            <a:r>
              <a:rPr lang="en-CA" altLang="en-US" sz="2800" b="1" dirty="0" err="1">
                <a:solidFill>
                  <a:srgbClr val="C00000"/>
                </a:solidFill>
              </a:rPr>
              <a:t>d</a:t>
            </a:r>
            <a:r>
              <a:rPr lang="en-CA" altLang="en-US" sz="2800" b="1" i="1" dirty="0" err="1">
                <a:solidFill>
                  <a:srgbClr val="C00000"/>
                </a:solidFill>
              </a:rPr>
              <a:t>N</a:t>
            </a:r>
            <a:r>
              <a:rPr lang="en-CA" altLang="en-US" sz="2800" b="1" dirty="0">
                <a:solidFill>
                  <a:srgbClr val="C00000"/>
                </a:solidFill>
              </a:rPr>
              <a:t>/</a:t>
            </a:r>
            <a:r>
              <a:rPr lang="en-CA" altLang="en-US" sz="2800" b="1" dirty="0" err="1">
                <a:solidFill>
                  <a:srgbClr val="C00000"/>
                </a:solidFill>
              </a:rPr>
              <a:t>d</a:t>
            </a:r>
            <a:r>
              <a:rPr lang="en-CA" altLang="en-US" sz="2800" b="1" i="1" dirty="0" err="1">
                <a:solidFill>
                  <a:srgbClr val="C00000"/>
                </a:solidFill>
              </a:rPr>
              <a:t>t</a:t>
            </a:r>
            <a:r>
              <a:rPr lang="en-CA" altLang="en-US" sz="2800" b="1" dirty="0">
                <a:solidFill>
                  <a:srgbClr val="C00000"/>
                </a:solidFill>
              </a:rPr>
              <a:t> = -</a:t>
            </a:r>
            <a:r>
              <a:rPr lang="en-CA" altLang="en-US" sz="2800" b="1" i="1" dirty="0" err="1">
                <a:solidFill>
                  <a:srgbClr val="C00000"/>
                </a:solidFill>
              </a:rPr>
              <a:t>MN</a:t>
            </a:r>
            <a:r>
              <a:rPr lang="en-CA" altLang="en-US" sz="2800" b="1" i="1" baseline="-25000" dirty="0" err="1">
                <a:solidFill>
                  <a:srgbClr val="C00000"/>
                </a:solidFill>
              </a:rPr>
              <a:t>t</a:t>
            </a:r>
            <a:r>
              <a:rPr lang="en-CA" altLang="en-US" sz="2800" b="1" i="1" dirty="0">
                <a:solidFill>
                  <a:srgbClr val="C00000"/>
                </a:solidFill>
              </a:rPr>
              <a:t> = -(M</a:t>
            </a:r>
            <a:r>
              <a:rPr lang="en-CA" altLang="en-US" sz="2800" b="1" baseline="-25000" dirty="0">
                <a:solidFill>
                  <a:srgbClr val="C00000"/>
                </a:solidFill>
              </a:rPr>
              <a:t>0</a:t>
            </a:r>
            <a:r>
              <a:rPr lang="en-CA" altLang="en-US" sz="2800" b="1" dirty="0">
                <a:solidFill>
                  <a:srgbClr val="C00000"/>
                </a:solidFill>
              </a:rPr>
              <a:t> + </a:t>
            </a:r>
            <a:r>
              <a:rPr lang="en-CA" altLang="en-US" sz="2800" b="1" i="1" dirty="0">
                <a:solidFill>
                  <a:srgbClr val="C00000"/>
                </a:solidFill>
              </a:rPr>
              <a:t>M</a:t>
            </a:r>
            <a:r>
              <a:rPr lang="en-CA" altLang="en-US" sz="2800" b="1" baseline="-25000" dirty="0">
                <a:solidFill>
                  <a:srgbClr val="C00000"/>
                </a:solidFill>
              </a:rPr>
              <a:t>1</a:t>
            </a:r>
            <a:r>
              <a:rPr lang="en-CA" altLang="en-US" sz="2800" b="1" i="1" dirty="0">
                <a:solidFill>
                  <a:srgbClr val="C00000"/>
                </a:solidFill>
              </a:rPr>
              <a:t>N</a:t>
            </a:r>
            <a:r>
              <a:rPr lang="en-CA" altLang="en-US" sz="2800" b="1" i="1" baseline="-25000" dirty="0">
                <a:solidFill>
                  <a:srgbClr val="C00000"/>
                </a:solidFill>
              </a:rPr>
              <a:t>t</a:t>
            </a:r>
            <a:r>
              <a:rPr lang="en-CA" altLang="en-US" sz="2800" b="1" dirty="0">
                <a:solidFill>
                  <a:srgbClr val="C00000"/>
                </a:solidFill>
              </a:rPr>
              <a:t>)</a:t>
            </a:r>
            <a:r>
              <a:rPr lang="en-CA" altLang="en-US" sz="2800" b="1" i="1" dirty="0" err="1">
                <a:solidFill>
                  <a:srgbClr val="C00000"/>
                </a:solidFill>
              </a:rPr>
              <a:t>N</a:t>
            </a:r>
            <a:r>
              <a:rPr lang="en-CA" altLang="en-US" sz="2800" b="1" i="1" baseline="-25000" dirty="0" err="1">
                <a:solidFill>
                  <a:srgbClr val="C00000"/>
                </a:solidFill>
              </a:rPr>
              <a:t>t</a:t>
            </a:r>
            <a:endParaRPr lang="en-CA" altLang="en-US" sz="2800" b="1" i="1" baseline="-25000" dirty="0">
              <a:solidFill>
                <a:srgbClr val="C00000"/>
              </a:solidFill>
            </a:endParaRPr>
          </a:p>
        </p:txBody>
      </p:sp>
      <p:sp>
        <p:nvSpPr>
          <p:cNvPr id="25" name="Rectangle 24"/>
          <p:cNvSpPr/>
          <p:nvPr/>
        </p:nvSpPr>
        <p:spPr>
          <a:xfrm>
            <a:off x="4395784" y="2580302"/>
            <a:ext cx="5179246" cy="30501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9287740" y="1919101"/>
            <a:ext cx="2760519" cy="1200329"/>
          </a:xfrm>
          <a:prstGeom prst="rect">
            <a:avLst/>
          </a:prstGeom>
          <a:noFill/>
        </p:spPr>
        <p:txBody>
          <a:bodyPr wrap="square" rtlCol="0">
            <a:spAutoFit/>
          </a:bodyPr>
          <a:lstStyle/>
          <a:p>
            <a:r>
              <a:rPr lang="en-US" dirty="0">
                <a:solidFill>
                  <a:schemeClr val="tx2"/>
                </a:solidFill>
              </a:rPr>
              <a:t>Integrate this to find </a:t>
            </a:r>
            <a:r>
              <a:rPr lang="en-US" i="1" dirty="0">
                <a:solidFill>
                  <a:schemeClr val="tx2"/>
                </a:solidFill>
              </a:rPr>
              <a:t>N</a:t>
            </a:r>
            <a:r>
              <a:rPr lang="en-US" baseline="-25000" dirty="0">
                <a:solidFill>
                  <a:schemeClr val="tx2"/>
                </a:solidFill>
              </a:rPr>
              <a:t>t+1</a:t>
            </a:r>
          </a:p>
          <a:p>
            <a:r>
              <a:rPr lang="en-US" dirty="0">
                <a:solidFill>
                  <a:schemeClr val="tx2"/>
                </a:solidFill>
              </a:rPr>
              <a:t>The resulting equation is of the form of the </a:t>
            </a:r>
            <a:r>
              <a:rPr lang="en-US" dirty="0" err="1">
                <a:solidFill>
                  <a:schemeClr val="tx2"/>
                </a:solidFill>
              </a:rPr>
              <a:t>Beverton</a:t>
            </a:r>
            <a:r>
              <a:rPr lang="en-US" dirty="0">
                <a:solidFill>
                  <a:schemeClr val="tx2"/>
                </a:solidFill>
              </a:rPr>
              <a:t>-Holt SRR*</a:t>
            </a:r>
          </a:p>
        </p:txBody>
      </p:sp>
      <p:sp>
        <p:nvSpPr>
          <p:cNvPr id="5" name="Slide Number Placeholder 4"/>
          <p:cNvSpPr>
            <a:spLocks noGrp="1"/>
          </p:cNvSpPr>
          <p:nvPr>
            <p:ph type="sldNum" sz="quarter" idx="12"/>
          </p:nvPr>
        </p:nvSpPr>
        <p:spPr/>
        <p:txBody>
          <a:bodyPr/>
          <a:lstStyle/>
          <a:p>
            <a:fld id="{EEDFA2F9-C25F-4A63-B46B-7B5C200A39D1}" type="slidenum">
              <a:rPr lang="en-CA" smtClean="0"/>
              <a:t>50</a:t>
            </a:fld>
            <a:endParaRPr lang="en-CA"/>
          </a:p>
        </p:txBody>
      </p:sp>
      <p:sp>
        <p:nvSpPr>
          <p:cNvPr id="6" name="TextBox 5"/>
          <p:cNvSpPr txBox="1"/>
          <p:nvPr/>
        </p:nvSpPr>
        <p:spPr>
          <a:xfrm>
            <a:off x="9292880" y="3466938"/>
            <a:ext cx="2667866" cy="1754326"/>
          </a:xfrm>
          <a:prstGeom prst="rect">
            <a:avLst/>
          </a:prstGeom>
          <a:noFill/>
        </p:spPr>
        <p:txBody>
          <a:bodyPr wrap="square" rtlCol="0">
            <a:spAutoFit/>
          </a:bodyPr>
          <a:lstStyle/>
          <a:p>
            <a:r>
              <a:rPr lang="en-US" dirty="0">
                <a:solidFill>
                  <a:schemeClr val="tx2"/>
                </a:solidFill>
              </a:rPr>
              <a:t>A fundamental assumption of the SRR is that all density-dependent processes are complete before the fish recruit to the fishery </a:t>
            </a:r>
          </a:p>
        </p:txBody>
      </p:sp>
    </p:spTree>
    <p:extLst>
      <p:ext uri="{BB962C8B-B14F-4D97-AF65-F5344CB8AC3E}">
        <p14:creationId xmlns:p14="http://schemas.microsoft.com/office/powerpoint/2010/main" val="4257154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xit"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4" grpId="0"/>
      <p:bldP spid="6"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819" name="Group 68"/>
          <p:cNvGrpSpPr>
            <a:grpSpLocks/>
          </p:cNvGrpSpPr>
          <p:nvPr/>
        </p:nvGrpSpPr>
        <p:grpSpPr bwMode="auto">
          <a:xfrm>
            <a:off x="1792363" y="1914524"/>
            <a:ext cx="9961563" cy="4859338"/>
            <a:chOff x="513" y="1200"/>
            <a:chExt cx="6275" cy="3061"/>
          </a:xfrm>
        </p:grpSpPr>
        <p:grpSp>
          <p:nvGrpSpPr>
            <p:cNvPr id="34827" name="Group 67"/>
            <p:cNvGrpSpPr>
              <a:grpSpLocks/>
            </p:cNvGrpSpPr>
            <p:nvPr/>
          </p:nvGrpSpPr>
          <p:grpSpPr bwMode="auto">
            <a:xfrm>
              <a:off x="513" y="1200"/>
              <a:ext cx="6275" cy="3061"/>
              <a:chOff x="513" y="1200"/>
              <a:chExt cx="6275" cy="3061"/>
            </a:xfrm>
          </p:grpSpPr>
          <p:grpSp>
            <p:nvGrpSpPr>
              <p:cNvPr id="34829" name="Group 65"/>
              <p:cNvGrpSpPr>
                <a:grpSpLocks/>
              </p:cNvGrpSpPr>
              <p:nvPr/>
            </p:nvGrpSpPr>
            <p:grpSpPr bwMode="auto">
              <a:xfrm>
                <a:off x="513" y="1200"/>
                <a:ext cx="6275" cy="3061"/>
                <a:chOff x="513" y="1245"/>
                <a:chExt cx="6275" cy="3061"/>
              </a:xfrm>
            </p:grpSpPr>
            <p:grpSp>
              <p:nvGrpSpPr>
                <p:cNvPr id="34835" name="Group 63"/>
                <p:cNvGrpSpPr>
                  <a:grpSpLocks/>
                </p:cNvGrpSpPr>
                <p:nvPr/>
              </p:nvGrpSpPr>
              <p:grpSpPr bwMode="auto">
                <a:xfrm>
                  <a:off x="513" y="1245"/>
                  <a:ext cx="6275" cy="3061"/>
                  <a:chOff x="513" y="1359"/>
                  <a:chExt cx="6275" cy="3061"/>
                </a:xfrm>
              </p:grpSpPr>
              <p:pic>
                <p:nvPicPr>
                  <p:cNvPr id="34837" name="Picture 40"/>
                  <p:cNvPicPr>
                    <a:picLocks noChangeAspect="1" noChangeArrowheads="1"/>
                  </p:cNvPicPr>
                  <p:nvPr/>
                </p:nvPicPr>
                <p:blipFill>
                  <a:blip r:embed="rId3">
                    <a:extLst>
                      <a:ext uri="{28A0092B-C50C-407E-A947-70E740481C1C}">
                        <a14:useLocalDpi xmlns:a14="http://schemas.microsoft.com/office/drawing/2010/main" val="0"/>
                      </a:ext>
                    </a:extLst>
                  </a:blip>
                  <a:srcRect l="5870" b="5344"/>
                  <a:stretch>
                    <a:fillRect/>
                  </a:stretch>
                </p:blipFill>
                <p:spPr bwMode="auto">
                  <a:xfrm>
                    <a:off x="513" y="1359"/>
                    <a:ext cx="4581" cy="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38" name="Text Box 44"/>
                  <p:cNvSpPr txBox="1">
                    <a:spLocks noChangeArrowheads="1"/>
                  </p:cNvSpPr>
                  <p:nvPr/>
                </p:nvSpPr>
                <p:spPr bwMode="auto">
                  <a:xfrm>
                    <a:off x="1632" y="1732"/>
                    <a:ext cx="5156" cy="252"/>
                  </a:xfrm>
                  <a:prstGeom prst="rect">
                    <a:avLst/>
                  </a:prstGeom>
                  <a:noFill/>
                  <a:ln>
                    <a:noFill/>
                  </a:ln>
                  <a:effectLst/>
                  <a:extLst>
                    <a:ext uri="{909E8E84-426E-40DD-AFC4-6F175D3DCCD1}">
                      <a14:hiddenFill xmlns:a14="http://schemas.microsoft.com/office/drawing/2010/main">
                        <a:solidFill>
                          <a:srgbClr val="0099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666699"/>
                          </a:outerShdw>
                        </a:effectLst>
                      </a14:hiddenEffects>
                    </a:ext>
                  </a:extLst>
                </p:spPr>
                <p:txBody>
                  <a:bodyPr wrap="square">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r>
                      <a:rPr lang="el-GR" altLang="en-US" sz="2000" i="1" dirty="0">
                        <a:solidFill>
                          <a:srgbClr val="C00000"/>
                        </a:solidFill>
                      </a:rPr>
                      <a:t>α</a:t>
                    </a:r>
                    <a:r>
                      <a:rPr lang="en-US" altLang="en-US" sz="2000" i="1" dirty="0">
                        <a:solidFill>
                          <a:srgbClr val="C00000"/>
                        </a:solidFill>
                      </a:rPr>
                      <a:t> </a:t>
                    </a:r>
                    <a:r>
                      <a:rPr lang="en-US" altLang="en-US" sz="2000" dirty="0">
                        <a:solidFill>
                          <a:srgbClr val="C00000"/>
                        </a:solidFill>
                      </a:rPr>
                      <a:t>is the maximum juvenile survival rate (max Recruits per Egg)</a:t>
                    </a:r>
                    <a:endParaRPr lang="en-US" altLang="en-US" sz="3600" dirty="0">
                      <a:solidFill>
                        <a:srgbClr val="C00000"/>
                      </a:solidFill>
                      <a:latin typeface="Arial" panose="020B0604020202020204" pitchFamily="34" charset="0"/>
                    </a:endParaRPr>
                  </a:p>
                </p:txBody>
              </p:sp>
              <p:sp>
                <p:nvSpPr>
                  <p:cNvPr id="34840" name="Text Box 46"/>
                  <p:cNvSpPr txBox="1">
                    <a:spLocks noChangeArrowheads="1"/>
                  </p:cNvSpPr>
                  <p:nvPr/>
                </p:nvSpPr>
                <p:spPr bwMode="auto">
                  <a:xfrm>
                    <a:off x="4848" y="4194"/>
                    <a:ext cx="506"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r>
                      <a:rPr lang="en-CA" altLang="en-US" sz="1800" i="1">
                        <a:solidFill>
                          <a:srgbClr val="000000"/>
                        </a:solidFill>
                        <a:latin typeface="Arial" panose="020B0604020202020204" pitchFamily="34" charset="0"/>
                      </a:rPr>
                      <a:t>E</a:t>
                    </a:r>
                    <a:r>
                      <a:rPr lang="en-CA" altLang="en-US" sz="1800" i="1" baseline="-25000">
                        <a:solidFill>
                          <a:srgbClr val="000000"/>
                        </a:solidFill>
                        <a:latin typeface="Arial" panose="020B0604020202020204" pitchFamily="34" charset="0"/>
                      </a:rPr>
                      <a:t>0</a:t>
                    </a:r>
                    <a:endParaRPr lang="en-US" altLang="en-US" sz="2800">
                      <a:latin typeface="Arial" panose="020B0604020202020204" pitchFamily="34" charset="0"/>
                    </a:endParaRPr>
                  </a:p>
                </p:txBody>
              </p:sp>
              <p:sp>
                <p:nvSpPr>
                  <p:cNvPr id="34841" name="Text Box 47"/>
                  <p:cNvSpPr txBox="1">
                    <a:spLocks noChangeArrowheads="1"/>
                  </p:cNvSpPr>
                  <p:nvPr/>
                </p:nvSpPr>
                <p:spPr bwMode="auto">
                  <a:xfrm>
                    <a:off x="907" y="2047"/>
                    <a:ext cx="48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r>
                      <a:rPr lang="en-CA" altLang="en-US" sz="1800" i="1" dirty="0">
                        <a:solidFill>
                          <a:srgbClr val="000000"/>
                        </a:solidFill>
                        <a:latin typeface="Arial" panose="020B0604020202020204" pitchFamily="34" charset="0"/>
                      </a:rPr>
                      <a:t>R</a:t>
                    </a:r>
                    <a:r>
                      <a:rPr lang="en-CA" altLang="en-US" sz="1800" i="1" baseline="-25000" dirty="0">
                        <a:solidFill>
                          <a:srgbClr val="000000"/>
                        </a:solidFill>
                        <a:latin typeface="Arial" panose="020B0604020202020204" pitchFamily="34" charset="0"/>
                      </a:rPr>
                      <a:t>0</a:t>
                    </a:r>
                    <a:endParaRPr lang="en-US" altLang="en-US" sz="2800" dirty="0">
                      <a:latin typeface="Arial" panose="020B0604020202020204" pitchFamily="34" charset="0"/>
                    </a:endParaRPr>
                  </a:p>
                </p:txBody>
              </p:sp>
              <p:sp>
                <p:nvSpPr>
                  <p:cNvPr id="34842" name="Line 48"/>
                  <p:cNvSpPr>
                    <a:spLocks noChangeShapeType="1"/>
                  </p:cNvSpPr>
                  <p:nvPr/>
                </p:nvSpPr>
                <p:spPr bwMode="auto">
                  <a:xfrm flipH="1">
                    <a:off x="4900" y="3831"/>
                    <a:ext cx="2" cy="31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3" name="Line 49"/>
                  <p:cNvSpPr>
                    <a:spLocks noChangeShapeType="1"/>
                  </p:cNvSpPr>
                  <p:nvPr/>
                </p:nvSpPr>
                <p:spPr bwMode="auto">
                  <a:xfrm flipH="1">
                    <a:off x="861" y="2274"/>
                    <a:ext cx="40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34" name="Rectangle 60"/>
                <p:cNvSpPr>
                  <a:spLocks noChangeArrowheads="1"/>
                </p:cNvSpPr>
                <p:nvPr/>
              </p:nvSpPr>
              <p:spPr bwMode="auto">
                <a:xfrm>
                  <a:off x="2676" y="1434"/>
                  <a:ext cx="91" cy="13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algn="ctr" eaLnBrk="1" hangingPunct="1"/>
                  <a:endParaRPr lang="en-US" altLang="en-US"/>
                </a:p>
              </p:txBody>
            </p:sp>
          </p:grpSp>
          <p:sp>
            <p:nvSpPr>
              <p:cNvPr id="34831" name="Line 41"/>
              <p:cNvSpPr>
                <a:spLocks noChangeShapeType="1"/>
              </p:cNvSpPr>
              <p:nvPr/>
            </p:nvSpPr>
            <p:spPr bwMode="auto">
              <a:xfrm flipV="1">
                <a:off x="887" y="1389"/>
                <a:ext cx="849" cy="2442"/>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28" name="Rectangle 50"/>
            <p:cNvSpPr>
              <a:spLocks noChangeArrowheads="1"/>
            </p:cNvSpPr>
            <p:nvPr/>
          </p:nvSpPr>
          <p:spPr bwMode="auto">
            <a:xfrm>
              <a:off x="4490" y="2568"/>
              <a:ext cx="91" cy="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endParaRPr lang="en-US" altLang="en-US"/>
            </a:p>
          </p:txBody>
        </p:sp>
      </p:grpSp>
      <p:sp>
        <p:nvSpPr>
          <p:cNvPr id="34821" name="Rectangle 43"/>
          <p:cNvSpPr>
            <a:spLocks noChangeArrowheads="1"/>
          </p:cNvSpPr>
          <p:nvPr/>
        </p:nvSpPr>
        <p:spPr bwMode="auto">
          <a:xfrm>
            <a:off x="9228138" y="3105151"/>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endParaRPr lang="en-US" altLang="en-US"/>
          </a:p>
        </p:txBody>
      </p:sp>
      <p:graphicFrame>
        <p:nvGraphicFramePr>
          <p:cNvPr id="34822" name="Object 53"/>
          <p:cNvGraphicFramePr>
            <a:graphicFrameLocks noGrp="1" noChangeAspect="1"/>
          </p:cNvGraphicFramePr>
          <p:nvPr>
            <p:ph idx="1"/>
            <p:extLst>
              <p:ext uri="{D42A27DB-BD31-4B8C-83A1-F6EECF244321}">
                <p14:modId xmlns:p14="http://schemas.microsoft.com/office/powerpoint/2010/main" val="4209000711"/>
              </p:ext>
            </p:extLst>
          </p:nvPr>
        </p:nvGraphicFramePr>
        <p:xfrm>
          <a:off x="370252" y="1033291"/>
          <a:ext cx="1974561" cy="1093482"/>
        </p:xfrm>
        <a:graphic>
          <a:graphicData uri="http://schemas.openxmlformats.org/presentationml/2006/ole">
            <mc:AlternateContent xmlns:mc="http://schemas.openxmlformats.org/markup-compatibility/2006">
              <mc:Choice xmlns:v="urn:schemas-microsoft-com:vml" Requires="v">
                <p:oleObj name="Equation" r:id="rId4" imgW="825500" imgH="457200" progId="Equation.DSMT4">
                  <p:embed/>
                </p:oleObj>
              </mc:Choice>
              <mc:Fallback>
                <p:oleObj name="Equation" r:id="rId4" imgW="825500" imgH="457200" progId="Equation.DSMT4">
                  <p:embed/>
                  <p:pic>
                    <p:nvPicPr>
                      <p:cNvPr id="34822" name="Object 5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252" y="1033291"/>
                        <a:ext cx="1974561" cy="1093482"/>
                      </a:xfrm>
                      <a:prstGeom prst="rect">
                        <a:avLst/>
                      </a:prstGeom>
                      <a:noFill/>
                      <a:ln>
                        <a:noFill/>
                      </a:ln>
                      <a:effectLst/>
                    </p:spPr>
                  </p:pic>
                </p:oleObj>
              </mc:Fallback>
            </mc:AlternateContent>
          </a:graphicData>
        </a:graphic>
      </p:graphicFrame>
      <p:sp>
        <p:nvSpPr>
          <p:cNvPr id="34823" name="Rectangle 55"/>
          <p:cNvSpPr>
            <a:spLocks noGrp="1" noChangeArrowheads="1"/>
          </p:cNvSpPr>
          <p:nvPr>
            <p:ph type="title"/>
          </p:nvPr>
        </p:nvSpPr>
        <p:spPr>
          <a:xfrm>
            <a:off x="371475" y="120001"/>
            <a:ext cx="11280198" cy="1125538"/>
          </a:xfrm>
        </p:spPr>
        <p:txBody>
          <a:bodyPr/>
          <a:lstStyle/>
          <a:p>
            <a:pPr eaLnBrk="1" hangingPunct="1"/>
            <a:r>
              <a:rPr lang="en-CA" altLang="en-US" dirty="0"/>
              <a:t>Recruitment compensation (</a:t>
            </a:r>
            <a:r>
              <a:rPr lang="en-CA" altLang="en-US" dirty="0" err="1"/>
              <a:t>Beverton</a:t>
            </a:r>
            <a:r>
              <a:rPr lang="en-CA" altLang="en-US" dirty="0"/>
              <a:t>-Holt SRR)</a:t>
            </a:r>
            <a:endParaRPr lang="en-US" altLang="en-US" dirty="0"/>
          </a:p>
        </p:txBody>
      </p:sp>
      <p:sp>
        <p:nvSpPr>
          <p:cNvPr id="34825" name="Text Box 70"/>
          <p:cNvSpPr txBox="1">
            <a:spLocks noChangeArrowheads="1"/>
          </p:cNvSpPr>
          <p:nvPr/>
        </p:nvSpPr>
        <p:spPr bwMode="auto">
          <a:xfrm rot="16200000">
            <a:off x="761283" y="3461470"/>
            <a:ext cx="2590800"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50000"/>
              </a:spcBef>
            </a:pPr>
            <a:r>
              <a:rPr lang="en-US" altLang="en-US" sz="2400" b="1" dirty="0">
                <a:latin typeface="Arial" panose="020B0604020202020204" pitchFamily="34" charset="0"/>
              </a:rPr>
              <a:t>Recruits (</a:t>
            </a:r>
            <a:r>
              <a:rPr lang="en-US" altLang="en-US" sz="2400" b="1" i="1" dirty="0">
                <a:latin typeface="Arial" panose="020B0604020202020204" pitchFamily="34" charset="0"/>
              </a:rPr>
              <a:t>R</a:t>
            </a:r>
            <a:r>
              <a:rPr lang="en-US" altLang="en-US" sz="2400" b="1" dirty="0">
                <a:latin typeface="Arial" panose="020B0604020202020204" pitchFamily="34" charset="0"/>
              </a:rPr>
              <a:t>)</a:t>
            </a:r>
          </a:p>
        </p:txBody>
      </p:sp>
      <p:sp>
        <p:nvSpPr>
          <p:cNvPr id="34826" name="Text Box 71"/>
          <p:cNvSpPr txBox="1">
            <a:spLocks noChangeArrowheads="1"/>
          </p:cNvSpPr>
          <p:nvPr/>
        </p:nvSpPr>
        <p:spPr bwMode="auto">
          <a:xfrm>
            <a:off x="4037089" y="6312045"/>
            <a:ext cx="4319587"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algn="ctr" eaLnBrk="1" hangingPunct="1">
              <a:spcBef>
                <a:spcPct val="50000"/>
              </a:spcBef>
            </a:pPr>
            <a:r>
              <a:rPr lang="en-US" altLang="en-US" sz="2400" b="1">
                <a:latin typeface="Arial" panose="020B0604020202020204" pitchFamily="34" charset="0"/>
              </a:rPr>
              <a:t>Eggs (</a:t>
            </a:r>
            <a:r>
              <a:rPr lang="en-US" altLang="en-US" sz="2400" b="1" i="1">
                <a:latin typeface="Arial" panose="020B0604020202020204" pitchFamily="34" charset="0"/>
              </a:rPr>
              <a:t>E</a:t>
            </a:r>
            <a:r>
              <a:rPr lang="en-US" altLang="en-US" sz="2400" b="1">
                <a:latin typeface="Arial" panose="020B0604020202020204" pitchFamily="34" charset="0"/>
              </a:rPr>
              <a:t>)</a:t>
            </a:r>
          </a:p>
        </p:txBody>
      </p:sp>
      <p:sp>
        <p:nvSpPr>
          <p:cNvPr id="3" name="Rectangle 2"/>
          <p:cNvSpPr/>
          <p:nvPr/>
        </p:nvSpPr>
        <p:spPr>
          <a:xfrm>
            <a:off x="3568776" y="4330769"/>
            <a:ext cx="4099064" cy="707886"/>
          </a:xfrm>
          <a:prstGeom prst="rect">
            <a:avLst/>
          </a:prstGeom>
        </p:spPr>
        <p:txBody>
          <a:bodyPr wrap="square">
            <a:spAutoFit/>
          </a:bodyPr>
          <a:lstStyle/>
          <a:p>
            <a:r>
              <a:rPr lang="el-GR" sz="2000" i="1" dirty="0">
                <a:solidFill>
                  <a:srgbClr val="C00000"/>
                </a:solidFill>
                <a:latin typeface="Times New Roman" panose="02020603050405020304" pitchFamily="18" charset="0"/>
                <a:cs typeface="Times New Roman" panose="02020603050405020304" pitchFamily="18" charset="0"/>
              </a:rPr>
              <a:t>β</a:t>
            </a:r>
            <a:r>
              <a:rPr lang="en-US" sz="2000" i="1" dirty="0">
                <a:solidFill>
                  <a:srgbClr val="C0000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is a “scaling” parameter representing density-dependent effects</a:t>
            </a:r>
            <a:endParaRPr lang="en-US" sz="2000" dirty="0"/>
          </a:p>
        </p:txBody>
      </p:sp>
      <p:sp>
        <p:nvSpPr>
          <p:cNvPr id="32" name="TextBox 31"/>
          <p:cNvSpPr txBox="1"/>
          <p:nvPr/>
        </p:nvSpPr>
        <p:spPr>
          <a:xfrm>
            <a:off x="9105976" y="3612285"/>
            <a:ext cx="2811677" cy="1754326"/>
          </a:xfrm>
          <a:prstGeom prst="rect">
            <a:avLst/>
          </a:prstGeom>
          <a:noFill/>
          <a:ln>
            <a:solidFill>
              <a:schemeClr val="tx2"/>
            </a:solidFill>
          </a:ln>
        </p:spPr>
        <p:txBody>
          <a:bodyPr wrap="square" rtlCol="0">
            <a:spAutoFit/>
          </a:bodyPr>
          <a:lstStyle/>
          <a:p>
            <a:r>
              <a:rPr lang="en-US" altLang="en-US" dirty="0">
                <a:solidFill>
                  <a:schemeClr val="tx2"/>
                </a:solidFill>
              </a:rPr>
              <a:t>The values of </a:t>
            </a:r>
            <a:r>
              <a:rPr lang="el-GR" altLang="en-US" i="1" dirty="0">
                <a:solidFill>
                  <a:schemeClr val="tx2"/>
                </a:solidFill>
              </a:rPr>
              <a:t>α</a:t>
            </a:r>
            <a:r>
              <a:rPr lang="en-US" altLang="en-US" i="1" dirty="0">
                <a:solidFill>
                  <a:schemeClr val="tx2"/>
                </a:solidFill>
              </a:rPr>
              <a:t> </a:t>
            </a:r>
            <a:r>
              <a:rPr lang="en-US" altLang="en-US" dirty="0">
                <a:solidFill>
                  <a:schemeClr val="tx2"/>
                </a:solidFill>
              </a:rPr>
              <a:t>and </a:t>
            </a:r>
            <a:r>
              <a:rPr lang="el-GR" i="1" dirty="0">
                <a:solidFill>
                  <a:schemeClr val="tx2"/>
                </a:solidFill>
                <a:latin typeface="Times New Roman" panose="02020603050405020304" pitchFamily="18" charset="0"/>
                <a:cs typeface="Times New Roman" panose="02020603050405020304" pitchFamily="18" charset="0"/>
              </a:rPr>
              <a:t>β</a:t>
            </a:r>
            <a:r>
              <a:rPr lang="en-US" altLang="en-US" dirty="0">
                <a:solidFill>
                  <a:schemeClr val="tx2"/>
                </a:solidFill>
              </a:rPr>
              <a:t>  are unit-dependent. Commonly in models for </a:t>
            </a:r>
            <a:r>
              <a:rPr lang="en-US" altLang="en-US" dirty="0" err="1">
                <a:solidFill>
                  <a:schemeClr val="tx2"/>
                </a:solidFill>
              </a:rPr>
              <a:t>iteroparous</a:t>
            </a:r>
            <a:r>
              <a:rPr lang="en-US" altLang="en-US" dirty="0">
                <a:solidFill>
                  <a:schemeClr val="tx2"/>
                </a:solidFill>
              </a:rPr>
              <a:t> species, we express recruitment productivity as </a:t>
            </a:r>
            <a:r>
              <a:rPr lang="en-US" altLang="en-US" dirty="0" err="1">
                <a:solidFill>
                  <a:schemeClr val="tx2"/>
                </a:solidFill>
              </a:rPr>
              <a:t>unitless</a:t>
            </a:r>
            <a:r>
              <a:rPr lang="en-US" altLang="en-US" dirty="0">
                <a:solidFill>
                  <a:schemeClr val="tx2"/>
                </a:solidFill>
              </a:rPr>
              <a:t> ratio.  </a:t>
            </a:r>
            <a:endParaRPr lang="en-US" dirty="0">
              <a:solidFill>
                <a:schemeClr val="tx2"/>
              </a:solidFill>
            </a:endParaRPr>
          </a:p>
        </p:txBody>
      </p:sp>
      <p:sp>
        <p:nvSpPr>
          <p:cNvPr id="2" name="Slide Number Placeholder 1"/>
          <p:cNvSpPr>
            <a:spLocks noGrp="1"/>
          </p:cNvSpPr>
          <p:nvPr>
            <p:ph type="sldNum" sz="quarter" idx="12"/>
          </p:nvPr>
        </p:nvSpPr>
        <p:spPr/>
        <p:txBody>
          <a:bodyPr/>
          <a:lstStyle/>
          <a:p>
            <a:fld id="{EEDFA2F9-C25F-4A63-B46B-7B5C200A39D1}" type="slidenum">
              <a:rPr lang="en-CA" smtClean="0"/>
              <a:t>51</a:t>
            </a:fld>
            <a:endParaRPr lang="en-CA"/>
          </a:p>
        </p:txBody>
      </p:sp>
    </p:spTree>
    <p:extLst>
      <p:ext uri="{BB962C8B-B14F-4D97-AF65-F5344CB8AC3E}">
        <p14:creationId xmlns:p14="http://schemas.microsoft.com/office/powerpoint/2010/main" val="409491822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3" name="Rectangle 55"/>
          <p:cNvSpPr>
            <a:spLocks noGrp="1" noChangeArrowheads="1"/>
          </p:cNvSpPr>
          <p:nvPr>
            <p:ph type="title"/>
          </p:nvPr>
        </p:nvSpPr>
        <p:spPr>
          <a:xfrm>
            <a:off x="371475" y="120001"/>
            <a:ext cx="11280198" cy="1125538"/>
          </a:xfrm>
        </p:spPr>
        <p:txBody>
          <a:bodyPr/>
          <a:lstStyle/>
          <a:p>
            <a:pPr eaLnBrk="1" hangingPunct="1"/>
            <a:r>
              <a:rPr lang="en-CA" altLang="en-US" dirty="0"/>
              <a:t>Recruitment compensation (</a:t>
            </a:r>
            <a:r>
              <a:rPr lang="en-CA" altLang="en-US" dirty="0" err="1"/>
              <a:t>Beverton</a:t>
            </a:r>
            <a:r>
              <a:rPr lang="en-CA" altLang="en-US" dirty="0"/>
              <a:t>-Holt SRR)</a:t>
            </a:r>
            <a:endParaRPr lang="en-US" altLang="en-US" dirty="0"/>
          </a:p>
        </p:txBody>
      </p:sp>
      <p:grpSp>
        <p:nvGrpSpPr>
          <p:cNvPr id="4" name="Group 3"/>
          <p:cNvGrpSpPr/>
          <p:nvPr/>
        </p:nvGrpSpPr>
        <p:grpSpPr>
          <a:xfrm>
            <a:off x="1925678" y="1675188"/>
            <a:ext cx="8351070" cy="4127608"/>
            <a:chOff x="1758999" y="1914524"/>
            <a:chExt cx="10017613" cy="4951315"/>
          </a:xfrm>
        </p:grpSpPr>
        <p:grpSp>
          <p:nvGrpSpPr>
            <p:cNvPr id="34819" name="Group 68"/>
            <p:cNvGrpSpPr>
              <a:grpSpLocks/>
            </p:cNvGrpSpPr>
            <p:nvPr/>
          </p:nvGrpSpPr>
          <p:grpSpPr bwMode="auto">
            <a:xfrm>
              <a:off x="1792363" y="1914524"/>
              <a:ext cx="7697788" cy="4859338"/>
              <a:chOff x="513" y="1200"/>
              <a:chExt cx="4849" cy="3061"/>
            </a:xfrm>
          </p:grpSpPr>
          <p:grpSp>
            <p:nvGrpSpPr>
              <p:cNvPr id="34827" name="Group 67"/>
              <p:cNvGrpSpPr>
                <a:grpSpLocks/>
              </p:cNvGrpSpPr>
              <p:nvPr/>
            </p:nvGrpSpPr>
            <p:grpSpPr bwMode="auto">
              <a:xfrm>
                <a:off x="513" y="1200"/>
                <a:ext cx="4849" cy="3061"/>
                <a:chOff x="513" y="1200"/>
                <a:chExt cx="4849" cy="3061"/>
              </a:xfrm>
            </p:grpSpPr>
            <p:grpSp>
              <p:nvGrpSpPr>
                <p:cNvPr id="34829" name="Group 65"/>
                <p:cNvGrpSpPr>
                  <a:grpSpLocks/>
                </p:cNvGrpSpPr>
                <p:nvPr/>
              </p:nvGrpSpPr>
              <p:grpSpPr bwMode="auto">
                <a:xfrm>
                  <a:off x="513" y="1200"/>
                  <a:ext cx="4849" cy="3061"/>
                  <a:chOff x="513" y="1245"/>
                  <a:chExt cx="4849" cy="3061"/>
                </a:xfrm>
              </p:grpSpPr>
              <p:grpSp>
                <p:nvGrpSpPr>
                  <p:cNvPr id="34835" name="Group 63"/>
                  <p:cNvGrpSpPr>
                    <a:grpSpLocks/>
                  </p:cNvGrpSpPr>
                  <p:nvPr/>
                </p:nvGrpSpPr>
                <p:grpSpPr bwMode="auto">
                  <a:xfrm>
                    <a:off x="513" y="1245"/>
                    <a:ext cx="4849" cy="3061"/>
                    <a:chOff x="513" y="1359"/>
                    <a:chExt cx="4849" cy="3061"/>
                  </a:xfrm>
                </p:grpSpPr>
                <p:pic>
                  <p:nvPicPr>
                    <p:cNvPr id="34837" name="Picture 40"/>
                    <p:cNvPicPr>
                      <a:picLocks noChangeAspect="1" noChangeArrowheads="1"/>
                    </p:cNvPicPr>
                    <p:nvPr/>
                  </p:nvPicPr>
                  <p:blipFill>
                    <a:blip r:embed="rId3">
                      <a:extLst>
                        <a:ext uri="{28A0092B-C50C-407E-A947-70E740481C1C}">
                          <a14:useLocalDpi xmlns:a14="http://schemas.microsoft.com/office/drawing/2010/main" val="0"/>
                        </a:ext>
                      </a:extLst>
                    </a:blip>
                    <a:srcRect l="5870" b="5344"/>
                    <a:stretch>
                      <a:fillRect/>
                    </a:stretch>
                  </p:blipFill>
                  <p:spPr bwMode="auto">
                    <a:xfrm>
                      <a:off x="513" y="1359"/>
                      <a:ext cx="4581" cy="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40" name="Text Box 46"/>
                    <p:cNvSpPr txBox="1">
                      <a:spLocks noChangeArrowheads="1"/>
                    </p:cNvSpPr>
                    <p:nvPr/>
                  </p:nvSpPr>
                  <p:spPr bwMode="auto">
                    <a:xfrm>
                      <a:off x="4856" y="4217"/>
                      <a:ext cx="506"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r>
                        <a:rPr lang="en-CA" altLang="en-US" sz="1800" i="1" dirty="0">
                          <a:solidFill>
                            <a:srgbClr val="000000"/>
                          </a:solidFill>
                          <a:latin typeface="Arial" panose="020B0604020202020204" pitchFamily="34" charset="0"/>
                        </a:rPr>
                        <a:t>E</a:t>
                      </a:r>
                      <a:r>
                        <a:rPr lang="en-CA" altLang="en-US" sz="1800" i="1" baseline="-25000" dirty="0">
                          <a:solidFill>
                            <a:srgbClr val="000000"/>
                          </a:solidFill>
                          <a:latin typeface="Arial" panose="020B0604020202020204" pitchFamily="34" charset="0"/>
                        </a:rPr>
                        <a:t>0</a:t>
                      </a:r>
                      <a:endParaRPr lang="en-US" altLang="en-US" sz="2800" dirty="0">
                        <a:latin typeface="Arial" panose="020B0604020202020204" pitchFamily="34" charset="0"/>
                      </a:endParaRPr>
                    </a:p>
                  </p:txBody>
                </p:sp>
                <p:sp>
                  <p:nvSpPr>
                    <p:cNvPr id="34841" name="Text Box 47"/>
                    <p:cNvSpPr txBox="1">
                      <a:spLocks noChangeArrowheads="1"/>
                    </p:cNvSpPr>
                    <p:nvPr/>
                  </p:nvSpPr>
                  <p:spPr bwMode="auto">
                    <a:xfrm>
                      <a:off x="907" y="2002"/>
                      <a:ext cx="48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r>
                        <a:rPr lang="en-CA" altLang="en-US" sz="1800" i="1" dirty="0">
                          <a:solidFill>
                            <a:srgbClr val="000000"/>
                          </a:solidFill>
                          <a:latin typeface="Arial" panose="020B0604020202020204" pitchFamily="34" charset="0"/>
                        </a:rPr>
                        <a:t>R</a:t>
                      </a:r>
                      <a:r>
                        <a:rPr lang="en-CA" altLang="en-US" sz="1800" i="1" baseline="-25000" dirty="0">
                          <a:solidFill>
                            <a:srgbClr val="000000"/>
                          </a:solidFill>
                          <a:latin typeface="Arial" panose="020B0604020202020204" pitchFamily="34" charset="0"/>
                        </a:rPr>
                        <a:t>0</a:t>
                      </a:r>
                      <a:endParaRPr lang="en-US" altLang="en-US" sz="2800" dirty="0">
                        <a:latin typeface="Arial" panose="020B0604020202020204" pitchFamily="34" charset="0"/>
                      </a:endParaRPr>
                    </a:p>
                  </p:txBody>
                </p:sp>
                <p:sp>
                  <p:nvSpPr>
                    <p:cNvPr id="34842" name="Line 48"/>
                    <p:cNvSpPr>
                      <a:spLocks noChangeShapeType="1"/>
                    </p:cNvSpPr>
                    <p:nvPr/>
                  </p:nvSpPr>
                  <p:spPr bwMode="auto">
                    <a:xfrm flipH="1">
                      <a:off x="4900" y="3904"/>
                      <a:ext cx="2" cy="31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3" name="Line 49"/>
                    <p:cNvSpPr>
                      <a:spLocks noChangeShapeType="1"/>
                    </p:cNvSpPr>
                    <p:nvPr/>
                  </p:nvSpPr>
                  <p:spPr bwMode="auto">
                    <a:xfrm flipH="1">
                      <a:off x="861" y="2229"/>
                      <a:ext cx="40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34" name="Rectangle 60"/>
                  <p:cNvSpPr>
                    <a:spLocks noChangeArrowheads="1"/>
                  </p:cNvSpPr>
                  <p:nvPr/>
                </p:nvSpPr>
                <p:spPr bwMode="auto">
                  <a:xfrm>
                    <a:off x="2676" y="1434"/>
                    <a:ext cx="91" cy="13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algn="ctr" eaLnBrk="1" hangingPunct="1"/>
                    <a:endParaRPr lang="en-US" altLang="en-US"/>
                  </a:p>
                </p:txBody>
              </p:sp>
            </p:grpSp>
            <p:sp>
              <p:nvSpPr>
                <p:cNvPr id="34831" name="Line 41"/>
                <p:cNvSpPr>
                  <a:spLocks noChangeShapeType="1"/>
                </p:cNvSpPr>
                <p:nvPr/>
              </p:nvSpPr>
              <p:spPr bwMode="auto">
                <a:xfrm flipV="1">
                  <a:off x="887" y="1389"/>
                  <a:ext cx="849" cy="2442"/>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28" name="Rectangle 50"/>
              <p:cNvSpPr>
                <a:spLocks noChangeArrowheads="1"/>
              </p:cNvSpPr>
              <p:nvPr/>
            </p:nvSpPr>
            <p:spPr bwMode="auto">
              <a:xfrm>
                <a:off x="4490" y="2568"/>
                <a:ext cx="91" cy="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endParaRPr lang="en-US" altLang="en-US"/>
              </a:p>
            </p:txBody>
          </p:sp>
        </p:grpSp>
        <p:sp>
          <p:nvSpPr>
            <p:cNvPr id="34821" name="Rectangle 43"/>
            <p:cNvSpPr>
              <a:spLocks noChangeArrowheads="1"/>
            </p:cNvSpPr>
            <p:nvPr/>
          </p:nvSpPr>
          <p:spPr bwMode="auto">
            <a:xfrm>
              <a:off x="9228138" y="3105151"/>
              <a:ext cx="215900" cy="14446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endParaRPr lang="en-US" altLang="en-US"/>
            </a:p>
          </p:txBody>
        </p:sp>
        <p:sp>
          <p:nvSpPr>
            <p:cNvPr id="34825" name="Text Box 70"/>
            <p:cNvSpPr txBox="1">
              <a:spLocks noChangeArrowheads="1"/>
            </p:cNvSpPr>
            <p:nvPr/>
          </p:nvSpPr>
          <p:spPr bwMode="auto">
            <a:xfrm rot="16200000">
              <a:off x="740497" y="3415406"/>
              <a:ext cx="2590800" cy="55379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50000"/>
                </a:spcBef>
              </a:pPr>
              <a:r>
                <a:rPr lang="en-US" altLang="en-US" sz="2400" b="1" dirty="0">
                  <a:latin typeface="Arial" panose="020B0604020202020204" pitchFamily="34" charset="0"/>
                </a:rPr>
                <a:t>Recruits (</a:t>
              </a:r>
              <a:r>
                <a:rPr lang="en-US" altLang="en-US" sz="2400" b="1" i="1" dirty="0">
                  <a:latin typeface="Arial" panose="020B0604020202020204" pitchFamily="34" charset="0"/>
                </a:rPr>
                <a:t>R</a:t>
              </a:r>
              <a:r>
                <a:rPr lang="en-US" altLang="en-US" sz="2400" b="1" dirty="0">
                  <a:latin typeface="Arial" panose="020B0604020202020204" pitchFamily="34" charset="0"/>
                </a:rPr>
                <a:t>)</a:t>
              </a:r>
            </a:p>
          </p:txBody>
        </p:sp>
        <p:sp>
          <p:nvSpPr>
            <p:cNvPr id="34826" name="Text Box 71"/>
            <p:cNvSpPr txBox="1">
              <a:spLocks noChangeArrowheads="1"/>
            </p:cNvSpPr>
            <p:nvPr/>
          </p:nvSpPr>
          <p:spPr bwMode="auto">
            <a:xfrm>
              <a:off x="4016303" y="6312044"/>
              <a:ext cx="4319587" cy="55379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algn="ctr" eaLnBrk="1" hangingPunct="1">
                <a:spcBef>
                  <a:spcPct val="50000"/>
                </a:spcBef>
              </a:pPr>
              <a:r>
                <a:rPr lang="en-US" altLang="en-US" sz="2400" b="1">
                  <a:latin typeface="Arial" panose="020B0604020202020204" pitchFamily="34" charset="0"/>
                </a:rPr>
                <a:t>Eggs (</a:t>
              </a:r>
              <a:r>
                <a:rPr lang="en-US" altLang="en-US" sz="2400" b="1" i="1">
                  <a:latin typeface="Arial" panose="020B0604020202020204" pitchFamily="34" charset="0"/>
                </a:rPr>
                <a:t>E</a:t>
              </a:r>
              <a:r>
                <a:rPr lang="en-US" altLang="en-US" sz="2400" b="1">
                  <a:latin typeface="Arial" panose="020B0604020202020204" pitchFamily="34" charset="0"/>
                </a:rPr>
                <a:t>)</a:t>
              </a:r>
            </a:p>
          </p:txBody>
        </p:sp>
        <p:sp>
          <p:nvSpPr>
            <p:cNvPr id="31" name="Line 41"/>
            <p:cNvSpPr>
              <a:spLocks noChangeShapeType="1"/>
            </p:cNvSpPr>
            <p:nvPr/>
          </p:nvSpPr>
          <p:spPr bwMode="auto">
            <a:xfrm flipV="1">
              <a:off x="2375691" y="3232149"/>
              <a:ext cx="6373453" cy="2938463"/>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2" name="Text Box 44"/>
            <p:cNvSpPr txBox="1">
              <a:spLocks noChangeArrowheads="1"/>
            </p:cNvSpPr>
            <p:nvPr/>
          </p:nvSpPr>
          <p:spPr bwMode="auto">
            <a:xfrm>
              <a:off x="3471764" y="2581264"/>
              <a:ext cx="7481667" cy="479956"/>
            </a:xfrm>
            <a:prstGeom prst="rect">
              <a:avLst/>
            </a:prstGeom>
            <a:noFill/>
            <a:ln>
              <a:noFill/>
            </a:ln>
            <a:effectLst/>
            <a:extLst>
              <a:ext uri="{909E8E84-426E-40DD-AFC4-6F175D3DCCD1}">
                <a14:hiddenFill xmlns:a14="http://schemas.microsoft.com/office/drawing/2010/main">
                  <a:solidFill>
                    <a:srgbClr val="0099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666699"/>
                    </a:outerShdw>
                  </a:effectLst>
                </a14:hiddenEffects>
              </a:ext>
            </a:extLst>
          </p:spPr>
          <p:txBody>
            <a:bodyPr wrap="square">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r>
                <a:rPr lang="en-CA" altLang="en-US" sz="2000" dirty="0">
                  <a:solidFill>
                    <a:srgbClr val="C00000"/>
                  </a:solidFill>
                  <a:latin typeface="+mn-lt"/>
                </a:rPr>
                <a:t>(</a:t>
              </a:r>
              <a:r>
                <a:rPr lang="en-CA" altLang="en-US" sz="2000" dirty="0" err="1">
                  <a:solidFill>
                    <a:srgbClr val="C00000"/>
                  </a:solidFill>
                  <a:latin typeface="+mn-lt"/>
                </a:rPr>
                <a:t>i</a:t>
              </a:r>
              <a:r>
                <a:rPr lang="en-CA" altLang="en-US" sz="2000" dirty="0">
                  <a:solidFill>
                    <a:srgbClr val="C00000"/>
                  </a:solidFill>
                  <a:latin typeface="+mn-lt"/>
                </a:rPr>
                <a:t>) Slope = </a:t>
              </a:r>
              <a:r>
                <a:rPr lang="el-GR" altLang="en-US" sz="2000" i="1" dirty="0">
                  <a:solidFill>
                    <a:srgbClr val="C00000"/>
                  </a:solidFill>
                  <a:latin typeface="+mn-lt"/>
                </a:rPr>
                <a:t>α</a:t>
              </a:r>
              <a:r>
                <a:rPr lang="en-US" altLang="en-US" sz="2000" i="1" dirty="0">
                  <a:solidFill>
                    <a:srgbClr val="C00000"/>
                  </a:solidFill>
                  <a:latin typeface="+mn-lt"/>
                </a:rPr>
                <a:t> = </a:t>
              </a:r>
              <a:r>
                <a:rPr lang="en-US" altLang="en-US" sz="2000" dirty="0">
                  <a:solidFill>
                    <a:srgbClr val="C00000"/>
                  </a:solidFill>
                  <a:latin typeface="+mn-lt"/>
                </a:rPr>
                <a:t>maximum survival rate</a:t>
              </a:r>
              <a:endParaRPr lang="en-US" altLang="en-US" sz="3600" dirty="0">
                <a:solidFill>
                  <a:srgbClr val="C00000"/>
                </a:solidFill>
                <a:latin typeface="+mn-lt"/>
              </a:endParaRPr>
            </a:p>
          </p:txBody>
        </p:sp>
        <mc:AlternateContent xmlns:mc="http://schemas.openxmlformats.org/markup-compatibility/2006" xmlns:a14="http://schemas.microsoft.com/office/drawing/2010/main">
          <mc:Choice Requires="a14">
            <p:sp>
              <p:nvSpPr>
                <p:cNvPr id="23" name="Text Box 45"/>
                <p:cNvSpPr txBox="1">
                  <a:spLocks noChangeArrowheads="1"/>
                </p:cNvSpPr>
                <p:nvPr/>
              </p:nvSpPr>
              <p:spPr bwMode="auto">
                <a:xfrm>
                  <a:off x="6909123" y="4139092"/>
                  <a:ext cx="4867489" cy="633096"/>
                </a:xfrm>
                <a:prstGeom prst="rect">
                  <a:avLst/>
                </a:prstGeom>
                <a:solidFill>
                  <a:schemeClr val="bg1"/>
                </a:solidFill>
                <a:ln>
                  <a:noFill/>
                </a:ln>
                <a:effectLst/>
              </p:spPr>
              <p:txBody>
                <a:bodyPr wrap="square">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r>
                    <a:rPr lang="en-CA" altLang="en-US" sz="2000" dirty="0">
                      <a:solidFill>
                        <a:srgbClr val="C00000"/>
                      </a:solidFill>
                      <a:latin typeface="+mn-lt"/>
                    </a:rPr>
                    <a:t>(ii) Slope = </a:t>
                  </a:r>
                  <a14:m>
                    <m:oMath xmlns:m="http://schemas.openxmlformats.org/officeDocument/2006/math">
                      <m:f>
                        <m:fPr>
                          <m:ctrlPr>
                            <a:rPr lang="en-CA" altLang="en-US" sz="2000" i="1" dirty="0">
                              <a:solidFill>
                                <a:srgbClr val="C00000"/>
                              </a:solidFill>
                              <a:latin typeface="Cambria Math" panose="02040503050406030204" pitchFamily="18" charset="0"/>
                            </a:rPr>
                          </m:ctrlPr>
                        </m:fPr>
                        <m:num>
                          <m:r>
                            <a:rPr lang="en-CA" altLang="en-US" sz="2000" i="1" dirty="0">
                              <a:solidFill>
                                <a:srgbClr val="C00000"/>
                              </a:solidFill>
                              <a:latin typeface="Cambria Math" panose="02040503050406030204" pitchFamily="18" charset="0"/>
                            </a:rPr>
                            <m:t>𝑅</m:t>
                          </m:r>
                          <m:r>
                            <a:rPr lang="en-CA" altLang="en-US" sz="2000" i="1" baseline="-25000" dirty="0">
                              <a:solidFill>
                                <a:srgbClr val="C00000"/>
                              </a:solidFill>
                              <a:latin typeface="Cambria Math" panose="02040503050406030204" pitchFamily="18" charset="0"/>
                            </a:rPr>
                            <m:t>0</m:t>
                          </m:r>
                        </m:num>
                        <m:den>
                          <m:r>
                            <a:rPr lang="en-CA" altLang="en-US" sz="2000" i="1" dirty="0">
                              <a:solidFill>
                                <a:srgbClr val="C00000"/>
                              </a:solidFill>
                              <a:latin typeface="Cambria Math" panose="02040503050406030204" pitchFamily="18" charset="0"/>
                            </a:rPr>
                            <m:t>𝐸</m:t>
                          </m:r>
                          <m:r>
                            <a:rPr lang="en-CA" altLang="en-US" sz="2000" i="1" baseline="-25000" dirty="0">
                              <a:solidFill>
                                <a:srgbClr val="C00000"/>
                              </a:solidFill>
                              <a:latin typeface="Cambria Math" panose="02040503050406030204" pitchFamily="18" charset="0"/>
                            </a:rPr>
                            <m:t>0</m:t>
                          </m:r>
                        </m:den>
                      </m:f>
                    </m:oMath>
                  </a14:m>
                  <a:r>
                    <a:rPr lang="en-CA" altLang="en-US" sz="2000" dirty="0">
                      <a:solidFill>
                        <a:srgbClr val="C00000"/>
                      </a:solidFill>
                      <a:latin typeface="+mn-lt"/>
                    </a:rPr>
                    <a:t> = unfished survival rate  </a:t>
                  </a:r>
                  <a:endParaRPr lang="en-US" altLang="en-US" sz="3600" dirty="0">
                    <a:solidFill>
                      <a:srgbClr val="C00000"/>
                    </a:solidFill>
                    <a:latin typeface="+mn-lt"/>
                  </a:endParaRPr>
                </a:p>
              </p:txBody>
            </p:sp>
          </mc:Choice>
          <mc:Fallback xmlns="">
            <p:sp>
              <p:nvSpPr>
                <p:cNvPr id="23" name="Text Box 45"/>
                <p:cNvSpPr txBox="1">
                  <a:spLocks noRot="1" noChangeAspect="1" noMove="1" noResize="1" noEditPoints="1" noAdjustHandles="1" noChangeArrowheads="1" noChangeShapeType="1" noTextEdit="1"/>
                </p:cNvSpPr>
                <p:nvPr/>
              </p:nvSpPr>
              <p:spPr bwMode="auto">
                <a:xfrm>
                  <a:off x="6909123" y="4139092"/>
                  <a:ext cx="4867489" cy="633096"/>
                </a:xfrm>
                <a:prstGeom prst="rect">
                  <a:avLst/>
                </a:prstGeom>
                <a:blipFill>
                  <a:blip r:embed="rId4"/>
                  <a:stretch>
                    <a:fillRect l="-1502" r="-2402" b="-9195"/>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5" name="Text Box 56"/>
              <p:cNvSpPr txBox="1">
                <a:spLocks noChangeArrowheads="1"/>
              </p:cNvSpPr>
              <p:nvPr/>
            </p:nvSpPr>
            <p:spPr bwMode="auto">
              <a:xfrm>
                <a:off x="1004890" y="987366"/>
                <a:ext cx="7863099" cy="93448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a:spcBef>
                    <a:spcPct val="50000"/>
                  </a:spcBef>
                </a:pPr>
                <a:r>
                  <a:rPr lang="en-US" altLang="en-US" sz="2800" b="1" dirty="0">
                    <a:latin typeface="+mn-lt"/>
                  </a:rPr>
                  <a:t>Compensation ratio (CR)</a:t>
                </a:r>
                <a:r>
                  <a:rPr lang="en-US" altLang="en-US" sz="2800" dirty="0">
                    <a:latin typeface="+mn-lt"/>
                  </a:rPr>
                  <a:t> = </a:t>
                </a:r>
                <a14:m>
                  <m:oMath xmlns:m="http://schemas.openxmlformats.org/officeDocument/2006/math">
                    <m:f>
                      <m:fPr>
                        <m:ctrlPr>
                          <a:rPr lang="en-US" altLang="en-US" sz="2800" b="1" i="0" smtClean="0">
                            <a:latin typeface="Cambria Math" panose="02040503050406030204" pitchFamily="18" charset="0"/>
                          </a:rPr>
                        </m:ctrlPr>
                      </m:fPr>
                      <m:num>
                        <m:r>
                          <m:rPr>
                            <m:nor/>
                          </m:rPr>
                          <a:rPr lang="en-US" altLang="en-US" sz="2800" b="1" i="0" smtClean="0">
                            <a:latin typeface="Cambria Math" panose="02040503050406030204" pitchFamily="18" charset="0"/>
                          </a:rPr>
                          <m:t>(i)</m:t>
                        </m:r>
                      </m:num>
                      <m:den>
                        <m:r>
                          <m:rPr>
                            <m:nor/>
                          </m:rPr>
                          <a:rPr lang="en-US" altLang="en-US" sz="2800" b="1" i="0" smtClean="0">
                            <a:latin typeface="Cambria Math" panose="02040503050406030204" pitchFamily="18" charset="0"/>
                          </a:rPr>
                          <m:t>(ii)</m:t>
                        </m:r>
                      </m:den>
                    </m:f>
                  </m:oMath>
                </a14:m>
                <a:r>
                  <a:rPr lang="en-US" altLang="en-US" sz="2400" b="1" dirty="0">
                    <a:latin typeface="+mn-lt"/>
                  </a:rPr>
                  <a:t>  </a:t>
                </a:r>
                <a:r>
                  <a:rPr lang="en-US" altLang="en-US" sz="2000" b="1" dirty="0">
                    <a:latin typeface="+mn-lt"/>
                  </a:rPr>
                  <a:t>=  </a:t>
                </a:r>
                <a14:m>
                  <m:oMath xmlns:m="http://schemas.openxmlformats.org/officeDocument/2006/math">
                    <m:f>
                      <m:fPr>
                        <m:ctrlPr>
                          <a:rPr lang="el-GR" altLang="en-US" sz="2800" i="1" dirty="0">
                            <a:latin typeface="Cambria Math" panose="02040503050406030204" pitchFamily="18" charset="0"/>
                          </a:rPr>
                        </m:ctrlPr>
                      </m:fPr>
                      <m:num>
                        <m:r>
                          <a:rPr lang="el-GR" altLang="en-US" sz="2800" i="1" dirty="0">
                            <a:latin typeface="Cambria Math" panose="02040503050406030204" pitchFamily="18" charset="0"/>
                          </a:rPr>
                          <m:t>𝛼</m:t>
                        </m:r>
                      </m:num>
                      <m:den>
                        <m:f>
                          <m:fPr>
                            <m:ctrlPr>
                              <a:rPr lang="el-GR" altLang="en-US" sz="2800" i="1" dirty="0" smtClean="0">
                                <a:latin typeface="Cambria Math" panose="02040503050406030204" pitchFamily="18" charset="0"/>
                              </a:rPr>
                            </m:ctrlPr>
                          </m:fPr>
                          <m:num>
                            <m:sSub>
                              <m:sSubPr>
                                <m:ctrlPr>
                                  <a:rPr lang="en-US" altLang="en-US" sz="2800" b="0" i="1" dirty="0" smtClean="0">
                                    <a:latin typeface="Cambria Math" panose="02040503050406030204" pitchFamily="18" charset="0"/>
                                  </a:rPr>
                                </m:ctrlPr>
                              </m:sSubPr>
                              <m:e>
                                <m:r>
                                  <a:rPr lang="en-US" altLang="en-US" sz="2800" b="0" i="1" dirty="0" smtClean="0">
                                    <a:latin typeface="Cambria Math" panose="02040503050406030204" pitchFamily="18" charset="0"/>
                                  </a:rPr>
                                  <m:t>𝑅</m:t>
                                </m:r>
                              </m:e>
                              <m:sub>
                                <m:r>
                                  <a:rPr lang="en-US" altLang="en-US" sz="2800" b="0" i="1" dirty="0" smtClean="0">
                                    <a:latin typeface="Cambria Math" panose="02040503050406030204" pitchFamily="18" charset="0"/>
                                  </a:rPr>
                                  <m:t>0</m:t>
                                </m:r>
                              </m:sub>
                            </m:sSub>
                          </m:num>
                          <m:den>
                            <m:sSub>
                              <m:sSubPr>
                                <m:ctrlPr>
                                  <a:rPr lang="en-US" altLang="en-US" sz="2800" b="0" i="1" dirty="0" smtClean="0">
                                    <a:latin typeface="Cambria Math" panose="02040503050406030204" pitchFamily="18" charset="0"/>
                                  </a:rPr>
                                </m:ctrlPr>
                              </m:sSubPr>
                              <m:e>
                                <m:r>
                                  <a:rPr lang="en-US" altLang="en-US" sz="2800" b="0" i="1" dirty="0" smtClean="0">
                                    <a:latin typeface="Cambria Math" panose="02040503050406030204" pitchFamily="18" charset="0"/>
                                  </a:rPr>
                                  <m:t>𝐸</m:t>
                                </m:r>
                              </m:e>
                              <m:sub>
                                <m:r>
                                  <a:rPr lang="en-US" altLang="en-US" sz="2800" b="0" i="1" dirty="0" smtClean="0">
                                    <a:latin typeface="Cambria Math" panose="02040503050406030204" pitchFamily="18" charset="0"/>
                                  </a:rPr>
                                  <m:t>0</m:t>
                                </m:r>
                              </m:sub>
                            </m:sSub>
                          </m:den>
                        </m:f>
                      </m:den>
                    </m:f>
                    <m:r>
                      <a:rPr lang="en-US" altLang="en-US" sz="2800" i="1" baseline="-25000" dirty="0">
                        <a:latin typeface="Cambria Math" panose="02040503050406030204" pitchFamily="18" charset="0"/>
                      </a:rPr>
                      <m:t> </m:t>
                    </m:r>
                  </m:oMath>
                </a14:m>
                <a:r>
                  <a:rPr lang="en-US" altLang="en-US" sz="2800" dirty="0">
                    <a:latin typeface="+mn-lt"/>
                  </a:rPr>
                  <a:t>  = </a:t>
                </a:r>
                <a14:m>
                  <m:oMath xmlns:m="http://schemas.openxmlformats.org/officeDocument/2006/math">
                    <m:r>
                      <a:rPr lang="en-US" altLang="en-US" sz="2800" i="1">
                        <a:latin typeface="Cambria Math" panose="02040503050406030204" pitchFamily="18" charset="0"/>
                        <a:ea typeface="Cambria Math" panose="02040503050406030204" pitchFamily="18" charset="0"/>
                      </a:rPr>
                      <m:t>𝛼</m:t>
                    </m:r>
                    <m:f>
                      <m:fPr>
                        <m:ctrlPr>
                          <a:rPr lang="en-US" altLang="en-US" sz="2800" i="1" smtClean="0">
                            <a:latin typeface="Cambria Math" panose="02040503050406030204" pitchFamily="18" charset="0"/>
                            <a:ea typeface="Cambria Math" panose="02040503050406030204" pitchFamily="18" charset="0"/>
                          </a:rPr>
                        </m:ctrlPr>
                      </m:fPr>
                      <m:num>
                        <m:sSub>
                          <m:sSubPr>
                            <m:ctrlPr>
                              <a:rPr lang="en-US" altLang="en-US" sz="2800" b="0" i="1" smtClean="0">
                                <a:latin typeface="Cambria Math" panose="02040503050406030204" pitchFamily="18" charset="0"/>
                                <a:ea typeface="Cambria Math" panose="02040503050406030204" pitchFamily="18" charset="0"/>
                              </a:rPr>
                            </m:ctrlPr>
                          </m:sSubPr>
                          <m:e>
                            <m:r>
                              <a:rPr lang="en-US" altLang="en-US" sz="2800" b="0" i="1" smtClean="0">
                                <a:latin typeface="Cambria Math" panose="02040503050406030204" pitchFamily="18" charset="0"/>
                                <a:ea typeface="Cambria Math" panose="02040503050406030204" pitchFamily="18" charset="0"/>
                              </a:rPr>
                              <m:t>𝐸</m:t>
                            </m:r>
                          </m:e>
                          <m:sub>
                            <m:r>
                              <a:rPr lang="en-US" altLang="en-US" sz="2800" b="0" i="1" smtClean="0">
                                <a:latin typeface="Cambria Math" panose="02040503050406030204" pitchFamily="18" charset="0"/>
                                <a:ea typeface="Cambria Math" panose="02040503050406030204" pitchFamily="18" charset="0"/>
                              </a:rPr>
                              <m:t>0</m:t>
                            </m:r>
                          </m:sub>
                        </m:sSub>
                      </m:num>
                      <m:den>
                        <m:sSub>
                          <m:sSubPr>
                            <m:ctrlPr>
                              <a:rPr lang="en-US" altLang="en-US" sz="2800" b="0" i="1" smtClean="0">
                                <a:latin typeface="Cambria Math" panose="02040503050406030204" pitchFamily="18" charset="0"/>
                                <a:ea typeface="Cambria Math" panose="02040503050406030204" pitchFamily="18" charset="0"/>
                              </a:rPr>
                            </m:ctrlPr>
                          </m:sSubPr>
                          <m:e>
                            <m:r>
                              <a:rPr lang="en-US" altLang="en-US" sz="2800" b="0" i="1" smtClean="0">
                                <a:latin typeface="Cambria Math" panose="02040503050406030204" pitchFamily="18" charset="0"/>
                                <a:ea typeface="Cambria Math" panose="02040503050406030204" pitchFamily="18" charset="0"/>
                              </a:rPr>
                              <m:t>𝑅</m:t>
                            </m:r>
                          </m:e>
                          <m:sub>
                            <m:r>
                              <a:rPr lang="en-US" altLang="en-US" sz="2800" b="0" i="1" smtClean="0">
                                <a:latin typeface="Cambria Math" panose="02040503050406030204" pitchFamily="18" charset="0"/>
                                <a:ea typeface="Cambria Math" panose="02040503050406030204" pitchFamily="18" charset="0"/>
                              </a:rPr>
                              <m:t>0</m:t>
                            </m:r>
                          </m:sub>
                        </m:sSub>
                      </m:den>
                    </m:f>
                  </m:oMath>
                </a14:m>
                <a:r>
                  <a:rPr lang="en-US" altLang="en-US" sz="2800" dirty="0">
                    <a:latin typeface="+mn-lt"/>
                  </a:rPr>
                  <a:t> =  </a:t>
                </a:r>
                <a14:m>
                  <m:oMath xmlns:m="http://schemas.openxmlformats.org/officeDocument/2006/math">
                    <m:r>
                      <a:rPr lang="en-US" altLang="en-US" sz="2800" i="1" smtClean="0">
                        <a:latin typeface="Cambria Math" panose="02040503050406030204" pitchFamily="18" charset="0"/>
                        <a:ea typeface="Cambria Math" panose="02040503050406030204" pitchFamily="18" charset="0"/>
                      </a:rPr>
                      <m:t>𝛼</m:t>
                    </m:r>
                    <m:sSub>
                      <m:sSubPr>
                        <m:ctrlPr>
                          <a:rPr lang="en-US" altLang="en-US" sz="2800" i="1" smtClean="0">
                            <a:latin typeface="Cambria Math" panose="02040503050406030204" pitchFamily="18" charset="0"/>
                            <a:ea typeface="Cambria Math" panose="02040503050406030204" pitchFamily="18" charset="0"/>
                          </a:rPr>
                        </m:ctrlPr>
                      </m:sSubPr>
                      <m:e>
                        <m:r>
                          <a:rPr lang="en-US" altLang="en-US" sz="2800" i="1" smtClean="0">
                            <a:latin typeface="Cambria Math" panose="02040503050406030204" pitchFamily="18" charset="0"/>
                            <a:ea typeface="Cambria Math" panose="02040503050406030204" pitchFamily="18" charset="0"/>
                          </a:rPr>
                          <m:t>𝜑</m:t>
                        </m:r>
                      </m:e>
                      <m:sub>
                        <m:sSub>
                          <m:sSubPr>
                            <m:ctrlPr>
                              <a:rPr lang="en-US" altLang="en-US" sz="2800" i="1">
                                <a:latin typeface="Cambria Math" panose="02040503050406030204" pitchFamily="18" charset="0"/>
                                <a:ea typeface="Cambria Math" panose="02040503050406030204" pitchFamily="18" charset="0"/>
                              </a:rPr>
                            </m:ctrlPr>
                          </m:sSubPr>
                          <m:e>
                            <m:r>
                              <a:rPr lang="en-US" altLang="en-US" sz="2800" i="1">
                                <a:latin typeface="Cambria Math" panose="02040503050406030204" pitchFamily="18" charset="0"/>
                                <a:ea typeface="Cambria Math" panose="02040503050406030204" pitchFamily="18" charset="0"/>
                              </a:rPr>
                              <m:t>𝐸</m:t>
                            </m:r>
                          </m:e>
                          <m:sub>
                            <m:r>
                              <a:rPr lang="en-US" altLang="en-US" sz="2800" i="1">
                                <a:latin typeface="Cambria Math" panose="02040503050406030204" pitchFamily="18" charset="0"/>
                                <a:ea typeface="Cambria Math" panose="02040503050406030204" pitchFamily="18" charset="0"/>
                              </a:rPr>
                              <m:t>0</m:t>
                            </m:r>
                          </m:sub>
                        </m:sSub>
                      </m:sub>
                    </m:sSub>
                  </m:oMath>
                </a14:m>
                <a:r>
                  <a:rPr lang="en-US" altLang="en-US" sz="2400" b="1" dirty="0">
                    <a:latin typeface="+mn-lt"/>
                  </a:rPr>
                  <a:t>   </a:t>
                </a:r>
              </a:p>
            </p:txBody>
          </p:sp>
        </mc:Choice>
        <mc:Fallback xmlns="">
          <p:sp>
            <p:nvSpPr>
              <p:cNvPr id="25" name="Text Box 56"/>
              <p:cNvSpPr txBox="1">
                <a:spLocks noRot="1" noChangeAspect="1" noMove="1" noResize="1" noEditPoints="1" noAdjustHandles="1" noChangeArrowheads="1" noChangeShapeType="1" noTextEdit="1"/>
              </p:cNvSpPr>
              <p:nvPr/>
            </p:nvSpPr>
            <p:spPr bwMode="auto">
              <a:xfrm>
                <a:off x="1004890" y="987366"/>
                <a:ext cx="7863099" cy="934487"/>
              </a:xfrm>
              <a:prstGeom prst="rect">
                <a:avLst/>
              </a:prstGeom>
              <a:blipFill>
                <a:blip r:embed="rId5"/>
                <a:stretch>
                  <a:fillRect l="-162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27" name="Text Box 33"/>
          <p:cNvSpPr txBox="1">
            <a:spLocks noChangeArrowheads="1"/>
          </p:cNvSpPr>
          <p:nvPr/>
        </p:nvSpPr>
        <p:spPr bwMode="auto">
          <a:xfrm>
            <a:off x="102446" y="5845772"/>
            <a:ext cx="11380494" cy="954107"/>
          </a:xfrm>
          <a:prstGeom prst="rect">
            <a:avLst/>
          </a:prstGeom>
          <a:solidFill>
            <a:schemeClr val="accent1">
              <a:alpha val="25000"/>
            </a:schemeClr>
          </a:solidFill>
          <a:ln>
            <a:solidFill>
              <a:schemeClr val="accent1">
                <a:lumMod val="50000"/>
              </a:schemeClr>
            </a:solidFill>
          </a:ln>
        </p:spPr>
        <p:txBody>
          <a:bodyPr wrap="square" rtlCol="0">
            <a:spAutoFit/>
          </a:bodyPr>
          <a:lstStyle>
            <a:defPPr>
              <a:defRPr lang="en-US"/>
            </a:defPPr>
            <a:lvl1pPr marL="357188" indent="-357188">
              <a:defRPr>
                <a:solidFill>
                  <a:schemeClr val="tx2"/>
                </a:solidFill>
              </a:defRPr>
            </a:lvl1pPr>
          </a:lstStyle>
          <a:p>
            <a:r>
              <a:rPr lang="en-US" altLang="en-US" sz="1400" dirty="0"/>
              <a:t>Goodyear, C.P. 1977. Assessing the impact of power plant mortality on the compensatory reserve of fish populations. In: Proceedings of the Conference on Assessing the Effects of Power Plant Induced Mortality on Fish Populations, Gatlinburg, Tennessee. </a:t>
            </a:r>
            <a:r>
              <a:rPr lang="en-US" altLang="en-US" sz="1400" dirty="0" err="1"/>
              <a:t>Pergamon</a:t>
            </a:r>
            <a:r>
              <a:rPr lang="en-US" altLang="en-US" sz="1400" dirty="0"/>
              <a:t> Press, New York. pp. 186–195.</a:t>
            </a:r>
          </a:p>
          <a:p>
            <a:r>
              <a:rPr lang="en-GB" altLang="en-US" sz="1400" dirty="0"/>
              <a:t>Myers, R. A., Bowen, K.G. and Barrowman, N.J. 1999. Maximum reproductive rate of fish at low population sizes. Canadian Journal of Fisheries and Aquatic Sciences 56, 2404-2419.</a:t>
            </a:r>
            <a:r>
              <a:rPr lang="en-AU" altLang="en-US" sz="1400" dirty="0"/>
              <a:t> </a:t>
            </a:r>
          </a:p>
        </p:txBody>
      </p:sp>
      <p:sp>
        <p:nvSpPr>
          <p:cNvPr id="32" name="TextBox 31"/>
          <p:cNvSpPr txBox="1"/>
          <p:nvPr/>
        </p:nvSpPr>
        <p:spPr>
          <a:xfrm>
            <a:off x="8892318" y="1089631"/>
            <a:ext cx="3030682" cy="2031325"/>
          </a:xfrm>
          <a:prstGeom prst="rect">
            <a:avLst/>
          </a:prstGeom>
          <a:noFill/>
          <a:ln>
            <a:solidFill>
              <a:schemeClr val="tx2"/>
            </a:solidFill>
          </a:ln>
        </p:spPr>
        <p:txBody>
          <a:bodyPr wrap="square" rtlCol="0">
            <a:spAutoFit/>
          </a:bodyPr>
          <a:lstStyle/>
          <a:p>
            <a:r>
              <a:rPr lang="el-GR" altLang="en-US" i="1" dirty="0">
                <a:solidFill>
                  <a:schemeClr val="tx2"/>
                </a:solidFill>
              </a:rPr>
              <a:t>φ</a:t>
            </a:r>
            <a:r>
              <a:rPr lang="en-US" altLang="en-US" i="1" baseline="-25000" dirty="0">
                <a:solidFill>
                  <a:schemeClr val="tx2"/>
                </a:solidFill>
              </a:rPr>
              <a:t>E</a:t>
            </a:r>
            <a:r>
              <a:rPr lang="en-US" altLang="en-US" baseline="-25000" dirty="0">
                <a:solidFill>
                  <a:schemeClr val="tx2"/>
                </a:solidFill>
              </a:rPr>
              <a:t>0</a:t>
            </a:r>
            <a:r>
              <a:rPr lang="en-US" altLang="en-US" b="1" dirty="0">
                <a:solidFill>
                  <a:schemeClr val="tx2"/>
                </a:solidFill>
              </a:rPr>
              <a:t> </a:t>
            </a:r>
            <a:r>
              <a:rPr lang="en-US" dirty="0">
                <a:solidFill>
                  <a:schemeClr val="tx2"/>
                </a:solidFill>
              </a:rPr>
              <a:t> is a symbol for equilibrium unfished Eggs per Recruit (or SSB per recruit)</a:t>
            </a:r>
          </a:p>
          <a:p>
            <a:endParaRPr lang="en-US" dirty="0">
              <a:solidFill>
                <a:schemeClr val="tx2"/>
              </a:solidFill>
            </a:endParaRPr>
          </a:p>
          <a:p>
            <a:r>
              <a:rPr lang="en-US" dirty="0">
                <a:solidFill>
                  <a:schemeClr val="tx2"/>
                </a:solidFill>
              </a:rPr>
              <a:t>We’ll see later that </a:t>
            </a:r>
            <a:r>
              <a:rPr lang="el-GR" altLang="en-US" i="1" dirty="0">
                <a:solidFill>
                  <a:schemeClr val="tx2"/>
                </a:solidFill>
              </a:rPr>
              <a:t>φ</a:t>
            </a:r>
            <a:r>
              <a:rPr lang="en-US" altLang="en-US" i="1" baseline="-25000" dirty="0">
                <a:solidFill>
                  <a:schemeClr val="tx2"/>
                </a:solidFill>
              </a:rPr>
              <a:t>E</a:t>
            </a:r>
            <a:r>
              <a:rPr lang="en-US" altLang="en-US" baseline="-25000" dirty="0">
                <a:solidFill>
                  <a:schemeClr val="tx2"/>
                </a:solidFill>
              </a:rPr>
              <a:t>0</a:t>
            </a:r>
            <a:r>
              <a:rPr lang="en-US" altLang="en-US" b="1" dirty="0">
                <a:solidFill>
                  <a:schemeClr val="tx2"/>
                </a:solidFill>
              </a:rPr>
              <a:t> </a:t>
            </a:r>
            <a:r>
              <a:rPr lang="en-US" dirty="0">
                <a:solidFill>
                  <a:schemeClr val="tx2"/>
                </a:solidFill>
              </a:rPr>
              <a:t> is a function of the stock’s growth, maturity and natural mortality</a:t>
            </a:r>
          </a:p>
        </p:txBody>
      </p:sp>
      <p:sp>
        <p:nvSpPr>
          <p:cNvPr id="2" name="Slide Number Placeholder 1"/>
          <p:cNvSpPr>
            <a:spLocks noGrp="1"/>
          </p:cNvSpPr>
          <p:nvPr>
            <p:ph type="sldNum" sz="quarter" idx="12"/>
          </p:nvPr>
        </p:nvSpPr>
        <p:spPr/>
        <p:txBody>
          <a:bodyPr/>
          <a:lstStyle/>
          <a:p>
            <a:fld id="{EEDFA2F9-C25F-4A63-B46B-7B5C200A39D1}" type="slidenum">
              <a:rPr lang="en-CA" smtClean="0"/>
              <a:t>52</a:t>
            </a:fld>
            <a:endParaRPr lang="en-CA"/>
          </a:p>
        </p:txBody>
      </p:sp>
    </p:spTree>
    <p:extLst>
      <p:ext uri="{BB962C8B-B14F-4D97-AF65-F5344CB8AC3E}">
        <p14:creationId xmlns:p14="http://schemas.microsoft.com/office/powerpoint/2010/main" val="20701946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3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3" name="Rectangle 55"/>
          <p:cNvSpPr>
            <a:spLocks noGrp="1" noChangeArrowheads="1"/>
          </p:cNvSpPr>
          <p:nvPr>
            <p:ph type="title"/>
          </p:nvPr>
        </p:nvSpPr>
        <p:spPr>
          <a:xfrm>
            <a:off x="371475" y="120001"/>
            <a:ext cx="11280198" cy="1125538"/>
          </a:xfrm>
        </p:spPr>
        <p:txBody>
          <a:bodyPr/>
          <a:lstStyle/>
          <a:p>
            <a:pPr eaLnBrk="1" hangingPunct="1"/>
            <a:r>
              <a:rPr lang="en-CA" altLang="en-US" dirty="0"/>
              <a:t>Recruitment compensation (</a:t>
            </a:r>
            <a:r>
              <a:rPr lang="en-CA" altLang="en-US" dirty="0" err="1"/>
              <a:t>Beverton</a:t>
            </a:r>
            <a:r>
              <a:rPr lang="en-CA" altLang="en-US" dirty="0"/>
              <a:t>-Holt SRR)</a:t>
            </a:r>
            <a:endParaRPr lang="en-US" altLang="en-US" dirty="0"/>
          </a:p>
        </p:txBody>
      </p:sp>
      <p:grpSp>
        <p:nvGrpSpPr>
          <p:cNvPr id="34829" name="Group 65"/>
          <p:cNvGrpSpPr>
            <a:grpSpLocks/>
          </p:cNvGrpSpPr>
          <p:nvPr/>
        </p:nvGrpSpPr>
        <p:grpSpPr bwMode="auto">
          <a:xfrm>
            <a:off x="1962671" y="1687643"/>
            <a:ext cx="6403940" cy="4050932"/>
            <a:chOff x="513" y="1245"/>
            <a:chExt cx="4839" cy="3061"/>
          </a:xfrm>
        </p:grpSpPr>
        <p:grpSp>
          <p:nvGrpSpPr>
            <p:cNvPr id="34835" name="Group 63"/>
            <p:cNvGrpSpPr>
              <a:grpSpLocks/>
            </p:cNvGrpSpPr>
            <p:nvPr/>
          </p:nvGrpSpPr>
          <p:grpSpPr bwMode="auto">
            <a:xfrm>
              <a:off x="513" y="1245"/>
              <a:ext cx="4839" cy="3061"/>
              <a:chOff x="513" y="1359"/>
              <a:chExt cx="4839" cy="3061"/>
            </a:xfrm>
          </p:grpSpPr>
          <p:pic>
            <p:nvPicPr>
              <p:cNvPr id="34837" name="Picture 40"/>
              <p:cNvPicPr>
                <a:picLocks noChangeAspect="1" noChangeArrowheads="1"/>
              </p:cNvPicPr>
              <p:nvPr/>
            </p:nvPicPr>
            <p:blipFill>
              <a:blip r:embed="rId3">
                <a:extLst>
                  <a:ext uri="{28A0092B-C50C-407E-A947-70E740481C1C}">
                    <a14:useLocalDpi xmlns:a14="http://schemas.microsoft.com/office/drawing/2010/main" val="0"/>
                  </a:ext>
                </a:extLst>
              </a:blip>
              <a:srcRect l="5870" b="5344"/>
              <a:stretch>
                <a:fillRect/>
              </a:stretch>
            </p:blipFill>
            <p:spPr bwMode="auto">
              <a:xfrm>
                <a:off x="513" y="1359"/>
                <a:ext cx="4581" cy="30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40" name="Text Box 46"/>
              <p:cNvSpPr txBox="1">
                <a:spLocks noChangeArrowheads="1"/>
              </p:cNvSpPr>
              <p:nvPr/>
            </p:nvSpPr>
            <p:spPr bwMode="auto">
              <a:xfrm>
                <a:off x="4846" y="4211"/>
                <a:ext cx="506"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r>
                  <a:rPr lang="en-CA" altLang="en-US" sz="1800" i="1" dirty="0">
                    <a:solidFill>
                      <a:srgbClr val="000000"/>
                    </a:solidFill>
                    <a:latin typeface="Arial" panose="020B0604020202020204" pitchFamily="34" charset="0"/>
                  </a:rPr>
                  <a:t>E</a:t>
                </a:r>
                <a:r>
                  <a:rPr lang="en-CA" altLang="en-US" sz="1800" i="1" baseline="-25000" dirty="0">
                    <a:solidFill>
                      <a:srgbClr val="000000"/>
                    </a:solidFill>
                    <a:latin typeface="Arial" panose="020B0604020202020204" pitchFamily="34" charset="0"/>
                  </a:rPr>
                  <a:t>0</a:t>
                </a:r>
                <a:endParaRPr lang="en-US" altLang="en-US" sz="2800" dirty="0">
                  <a:latin typeface="Arial" panose="020B0604020202020204" pitchFamily="34" charset="0"/>
                </a:endParaRPr>
              </a:p>
            </p:txBody>
          </p:sp>
          <p:sp>
            <p:nvSpPr>
              <p:cNvPr id="34841" name="Text Box 47"/>
              <p:cNvSpPr txBox="1">
                <a:spLocks noChangeArrowheads="1"/>
              </p:cNvSpPr>
              <p:nvPr/>
            </p:nvSpPr>
            <p:spPr bwMode="auto">
              <a:xfrm>
                <a:off x="901" y="1993"/>
                <a:ext cx="48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r>
                  <a:rPr lang="en-CA" altLang="en-US" sz="1800" i="1" dirty="0">
                    <a:solidFill>
                      <a:srgbClr val="000000"/>
                    </a:solidFill>
                    <a:latin typeface="Arial" panose="020B0604020202020204" pitchFamily="34" charset="0"/>
                  </a:rPr>
                  <a:t>R</a:t>
                </a:r>
                <a:r>
                  <a:rPr lang="en-CA" altLang="en-US" sz="1800" i="1" baseline="-25000" dirty="0">
                    <a:solidFill>
                      <a:srgbClr val="000000"/>
                    </a:solidFill>
                    <a:latin typeface="Arial" panose="020B0604020202020204" pitchFamily="34" charset="0"/>
                  </a:rPr>
                  <a:t>0</a:t>
                </a:r>
                <a:endParaRPr lang="en-US" altLang="en-US" sz="2800" dirty="0">
                  <a:latin typeface="Arial" panose="020B0604020202020204" pitchFamily="34" charset="0"/>
                </a:endParaRPr>
              </a:p>
            </p:txBody>
          </p:sp>
          <p:sp>
            <p:nvSpPr>
              <p:cNvPr id="34842" name="Line 48"/>
              <p:cNvSpPr>
                <a:spLocks noChangeShapeType="1"/>
              </p:cNvSpPr>
              <p:nvPr/>
            </p:nvSpPr>
            <p:spPr bwMode="auto">
              <a:xfrm flipH="1">
                <a:off x="4890" y="3893"/>
                <a:ext cx="2" cy="31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3" name="Line 49"/>
              <p:cNvSpPr>
                <a:spLocks noChangeShapeType="1"/>
              </p:cNvSpPr>
              <p:nvPr/>
            </p:nvSpPr>
            <p:spPr bwMode="auto">
              <a:xfrm flipH="1">
                <a:off x="861" y="2219"/>
                <a:ext cx="409"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834" name="Rectangle 60"/>
            <p:cNvSpPr>
              <a:spLocks noChangeArrowheads="1"/>
            </p:cNvSpPr>
            <p:nvPr/>
          </p:nvSpPr>
          <p:spPr bwMode="auto">
            <a:xfrm>
              <a:off x="2676" y="1434"/>
              <a:ext cx="91" cy="136"/>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algn="ctr" eaLnBrk="1" hangingPunct="1"/>
              <a:endParaRPr lang="en-US" altLang="en-US"/>
            </a:p>
          </p:txBody>
        </p:sp>
      </p:grpSp>
      <p:sp>
        <p:nvSpPr>
          <p:cNvPr id="34831" name="Line 41"/>
          <p:cNvSpPr>
            <a:spLocks noChangeShapeType="1"/>
          </p:cNvSpPr>
          <p:nvPr/>
        </p:nvSpPr>
        <p:spPr bwMode="auto">
          <a:xfrm flipV="1">
            <a:off x="2457623" y="1937766"/>
            <a:ext cx="1123568" cy="3231746"/>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828" name="Rectangle 50"/>
          <p:cNvSpPr>
            <a:spLocks noChangeArrowheads="1"/>
          </p:cNvSpPr>
          <p:nvPr/>
        </p:nvSpPr>
        <p:spPr bwMode="auto">
          <a:xfrm>
            <a:off x="7225839" y="3498056"/>
            <a:ext cx="120430" cy="1204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endParaRPr lang="en-US" altLang="en-US"/>
          </a:p>
        </p:txBody>
      </p:sp>
      <p:sp>
        <p:nvSpPr>
          <p:cNvPr id="34821" name="Rectangle 43"/>
          <p:cNvSpPr>
            <a:spLocks noChangeArrowheads="1"/>
          </p:cNvSpPr>
          <p:nvPr/>
        </p:nvSpPr>
        <p:spPr bwMode="auto">
          <a:xfrm>
            <a:off x="8152240" y="2667741"/>
            <a:ext cx="179983" cy="12043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endParaRPr lang="en-US" altLang="en-US"/>
          </a:p>
        </p:txBody>
      </p:sp>
      <p:sp>
        <p:nvSpPr>
          <p:cNvPr id="34825" name="Text Box 70"/>
          <p:cNvSpPr txBox="1">
            <a:spLocks noChangeArrowheads="1"/>
          </p:cNvSpPr>
          <p:nvPr/>
        </p:nvSpPr>
        <p:spPr bwMode="auto">
          <a:xfrm rot="16200000">
            <a:off x="1076615" y="2926381"/>
            <a:ext cx="2159791"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spcBef>
                <a:spcPct val="50000"/>
              </a:spcBef>
            </a:pPr>
            <a:r>
              <a:rPr lang="en-US" altLang="en-US" sz="2400" b="1" dirty="0">
                <a:latin typeface="Arial" panose="020B0604020202020204" pitchFamily="34" charset="0"/>
              </a:rPr>
              <a:t>Recruits (</a:t>
            </a:r>
            <a:r>
              <a:rPr lang="en-US" altLang="en-US" sz="2400" b="1" i="1" dirty="0">
                <a:latin typeface="Arial" panose="020B0604020202020204" pitchFamily="34" charset="0"/>
              </a:rPr>
              <a:t>R</a:t>
            </a:r>
            <a:r>
              <a:rPr lang="en-US" altLang="en-US" sz="2400" b="1" dirty="0">
                <a:latin typeface="Arial" panose="020B0604020202020204" pitchFamily="34" charset="0"/>
              </a:rPr>
              <a:t>)</a:t>
            </a:r>
          </a:p>
        </p:txBody>
      </p:sp>
      <p:sp>
        <p:nvSpPr>
          <p:cNvPr id="34826" name="Text Box 71"/>
          <p:cNvSpPr txBox="1">
            <a:spLocks noChangeArrowheads="1"/>
          </p:cNvSpPr>
          <p:nvPr/>
        </p:nvSpPr>
        <p:spPr bwMode="auto">
          <a:xfrm>
            <a:off x="3807453" y="5341131"/>
            <a:ext cx="3600975" cy="46166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algn="ctr" eaLnBrk="1" hangingPunct="1">
              <a:spcBef>
                <a:spcPct val="50000"/>
              </a:spcBef>
            </a:pPr>
            <a:r>
              <a:rPr lang="en-US" altLang="en-US" sz="2400" b="1">
                <a:latin typeface="Arial" panose="020B0604020202020204" pitchFamily="34" charset="0"/>
              </a:rPr>
              <a:t>Eggs (</a:t>
            </a:r>
            <a:r>
              <a:rPr lang="en-US" altLang="en-US" sz="2400" b="1" i="1">
                <a:latin typeface="Arial" panose="020B0604020202020204" pitchFamily="34" charset="0"/>
              </a:rPr>
              <a:t>E</a:t>
            </a:r>
            <a:r>
              <a:rPr lang="en-US" altLang="en-US" sz="2400" b="1">
                <a:latin typeface="Arial" panose="020B0604020202020204" pitchFamily="34" charset="0"/>
              </a:rPr>
              <a:t>)</a:t>
            </a:r>
          </a:p>
        </p:txBody>
      </p:sp>
      <p:sp>
        <p:nvSpPr>
          <p:cNvPr id="31" name="Line 41"/>
          <p:cNvSpPr>
            <a:spLocks noChangeShapeType="1"/>
          </p:cNvSpPr>
          <p:nvPr/>
        </p:nvSpPr>
        <p:spPr bwMode="auto">
          <a:xfrm flipV="1">
            <a:off x="2439776" y="2773611"/>
            <a:ext cx="5313157" cy="2449616"/>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5" name="Text Box 56"/>
          <p:cNvSpPr txBox="1">
            <a:spLocks noChangeArrowheads="1"/>
          </p:cNvSpPr>
          <p:nvPr/>
        </p:nvSpPr>
        <p:spPr bwMode="auto">
          <a:xfrm>
            <a:off x="882017" y="961618"/>
            <a:ext cx="1031938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a:spcBef>
                <a:spcPct val="50000"/>
              </a:spcBef>
            </a:pPr>
            <a:r>
              <a:rPr lang="en-US" altLang="en-US" sz="2400" b="1" dirty="0"/>
              <a:t>Steepness (</a:t>
            </a:r>
            <a:r>
              <a:rPr lang="en-US" altLang="en-US" sz="2400" b="1" i="1" dirty="0"/>
              <a:t>h</a:t>
            </a:r>
            <a:r>
              <a:rPr lang="en-US" altLang="en-US" sz="2400" b="1" dirty="0"/>
              <a:t>) </a:t>
            </a:r>
            <a:r>
              <a:rPr lang="en-US" altLang="en-US" sz="2400" dirty="0"/>
              <a:t>is the ratio of the Recruitment when Spawning Biomass is 20% </a:t>
            </a:r>
            <a:r>
              <a:rPr lang="en-US" altLang="en-US" sz="2400" i="1" dirty="0"/>
              <a:t>E</a:t>
            </a:r>
            <a:r>
              <a:rPr lang="en-US" altLang="en-US" sz="2400" baseline="-25000" dirty="0"/>
              <a:t>0</a:t>
            </a:r>
            <a:r>
              <a:rPr lang="en-US" altLang="en-US" sz="2400" dirty="0"/>
              <a:t> to </a:t>
            </a:r>
            <a:r>
              <a:rPr lang="en-US" altLang="en-US" sz="2400" i="1" dirty="0"/>
              <a:t>R</a:t>
            </a:r>
            <a:r>
              <a:rPr lang="en-US" altLang="en-US" sz="2400" baseline="-25000" dirty="0"/>
              <a:t>0</a:t>
            </a:r>
            <a:r>
              <a:rPr lang="en-US" altLang="en-US" sz="2400" dirty="0"/>
              <a:t>.</a:t>
            </a:r>
            <a:endParaRPr lang="en-US" altLang="en-US" sz="2400" strike="sngStrike" dirty="0"/>
          </a:p>
        </p:txBody>
      </p:sp>
      <p:sp>
        <p:nvSpPr>
          <p:cNvPr id="27" name="Text Box 33"/>
          <p:cNvSpPr txBox="1">
            <a:spLocks noChangeArrowheads="1"/>
          </p:cNvSpPr>
          <p:nvPr/>
        </p:nvSpPr>
        <p:spPr bwMode="auto">
          <a:xfrm>
            <a:off x="172995" y="6408623"/>
            <a:ext cx="11028405" cy="307777"/>
          </a:xfrm>
          <a:prstGeom prst="rect">
            <a:avLst/>
          </a:prstGeom>
          <a:solidFill>
            <a:schemeClr val="accent1">
              <a:alpha val="25000"/>
            </a:schemeClr>
          </a:solidFill>
          <a:ln>
            <a:solidFill>
              <a:schemeClr val="accent1">
                <a:lumMod val="50000"/>
              </a:schemeClr>
            </a:solidFill>
          </a:ln>
        </p:spPr>
        <p:txBody>
          <a:bodyPr wrap="square" rtlCol="0">
            <a:spAutoFit/>
          </a:bodyPr>
          <a:lstStyle>
            <a:defPPr>
              <a:defRPr lang="en-US"/>
            </a:defPPr>
            <a:lvl1pPr marL="357188" indent="-357188">
              <a:defRPr>
                <a:solidFill>
                  <a:schemeClr val="tx2"/>
                </a:solidFill>
              </a:defRPr>
            </a:lvl1pPr>
          </a:lstStyle>
          <a:p>
            <a:r>
              <a:rPr lang="en-US" altLang="en-US" sz="1400"/>
              <a:t>Mace P.M. and Doonan, I.J. 1988. A generalized bioeconomic simulation model for fish population dynamics. N.Z. Fish. Assess. Res. Doc. 88/4.</a:t>
            </a:r>
            <a:endParaRPr lang="en-AU" altLang="en-US" sz="1400" dirty="0"/>
          </a:p>
        </p:txBody>
      </p:sp>
      <p:sp>
        <p:nvSpPr>
          <p:cNvPr id="24" name="Text Box 46"/>
          <p:cNvSpPr txBox="1">
            <a:spLocks noChangeArrowheads="1"/>
          </p:cNvSpPr>
          <p:nvPr/>
        </p:nvSpPr>
        <p:spPr bwMode="auto">
          <a:xfrm>
            <a:off x="3348935" y="5461490"/>
            <a:ext cx="669641" cy="191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pPr eaLnBrk="1" hangingPunct="1"/>
            <a:r>
              <a:rPr lang="en-CA" altLang="en-US" sz="1800" i="1" dirty="0">
                <a:solidFill>
                  <a:srgbClr val="000000"/>
                </a:solidFill>
                <a:latin typeface="Arial" panose="020B0604020202020204" pitchFamily="34" charset="0"/>
              </a:rPr>
              <a:t>0.2 E</a:t>
            </a:r>
            <a:r>
              <a:rPr lang="en-CA" altLang="en-US" sz="1800" i="1" baseline="-25000" dirty="0">
                <a:solidFill>
                  <a:srgbClr val="000000"/>
                </a:solidFill>
                <a:latin typeface="Arial" panose="020B0604020202020204" pitchFamily="34" charset="0"/>
              </a:rPr>
              <a:t>0</a:t>
            </a:r>
            <a:endParaRPr lang="en-US" altLang="en-US" sz="2800" dirty="0">
              <a:latin typeface="Arial" panose="020B0604020202020204" pitchFamily="34" charset="0"/>
            </a:endParaRPr>
          </a:p>
        </p:txBody>
      </p:sp>
      <p:sp>
        <p:nvSpPr>
          <p:cNvPr id="26" name="Line 48"/>
          <p:cNvSpPr>
            <a:spLocks noChangeShapeType="1"/>
          </p:cNvSpPr>
          <p:nvPr/>
        </p:nvSpPr>
        <p:spPr bwMode="auto">
          <a:xfrm flipH="1">
            <a:off x="3492373" y="5052434"/>
            <a:ext cx="2647" cy="42084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41"/>
          <p:cNvSpPr>
            <a:spLocks noChangeShapeType="1"/>
          </p:cNvSpPr>
          <p:nvPr/>
        </p:nvSpPr>
        <p:spPr bwMode="auto">
          <a:xfrm flipV="1">
            <a:off x="2439776" y="2820476"/>
            <a:ext cx="5408824" cy="15837"/>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41"/>
          <p:cNvSpPr>
            <a:spLocks noChangeShapeType="1"/>
          </p:cNvSpPr>
          <p:nvPr/>
        </p:nvSpPr>
        <p:spPr bwMode="auto">
          <a:xfrm flipV="1">
            <a:off x="2412724" y="3523980"/>
            <a:ext cx="1093504" cy="11613"/>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 name="TextBox 1"/>
          <p:cNvSpPr txBox="1"/>
          <p:nvPr/>
        </p:nvSpPr>
        <p:spPr>
          <a:xfrm>
            <a:off x="9164782" y="2781953"/>
            <a:ext cx="2410691" cy="1754326"/>
          </a:xfrm>
          <a:prstGeom prst="rect">
            <a:avLst/>
          </a:prstGeom>
          <a:noFill/>
          <a:ln>
            <a:solidFill>
              <a:schemeClr val="tx2"/>
            </a:solidFill>
          </a:ln>
        </p:spPr>
        <p:txBody>
          <a:bodyPr wrap="square" rtlCol="0">
            <a:spAutoFit/>
          </a:bodyPr>
          <a:lstStyle/>
          <a:p>
            <a:r>
              <a:rPr lang="en-US" dirty="0">
                <a:solidFill>
                  <a:schemeClr val="tx2"/>
                </a:solidFill>
              </a:rPr>
              <a:t>In all these models and in fisheries stock assessment in general, we assume spawning biomass is a proxy for number of eggs</a:t>
            </a:r>
          </a:p>
        </p:txBody>
      </p:sp>
      <p:sp>
        <p:nvSpPr>
          <p:cNvPr id="28" name="Text Box 47">
            <a:extLst>
              <a:ext uri="{FF2B5EF4-FFF2-40B4-BE49-F238E27FC236}">
                <a16:creationId xmlns:a16="http://schemas.microsoft.com/office/drawing/2014/main" id="{00CCA459-43CC-494A-8583-18B183C23132}"/>
              </a:ext>
            </a:extLst>
          </p:cNvPr>
          <p:cNvSpPr txBox="1">
            <a:spLocks noChangeArrowheads="1"/>
          </p:cNvSpPr>
          <p:nvPr/>
        </p:nvSpPr>
        <p:spPr bwMode="auto">
          <a:xfrm>
            <a:off x="2476151" y="3245307"/>
            <a:ext cx="1331302" cy="34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sz="1400">
                <a:solidFill>
                  <a:schemeClr val="tx1"/>
                </a:solidFill>
                <a:latin typeface="Times New Roman" panose="02020603050405020304" pitchFamily="18" charset="0"/>
              </a:defRPr>
            </a:lvl1pPr>
            <a:lvl2pPr marL="742950" indent="-285750">
              <a:defRPr sz="1400">
                <a:solidFill>
                  <a:schemeClr val="tx1"/>
                </a:solidFill>
                <a:latin typeface="Times New Roman" panose="02020603050405020304" pitchFamily="18" charset="0"/>
              </a:defRPr>
            </a:lvl2pPr>
            <a:lvl3pPr marL="1143000" indent="-228600">
              <a:defRPr sz="1400">
                <a:solidFill>
                  <a:schemeClr val="tx1"/>
                </a:solidFill>
                <a:latin typeface="Times New Roman" panose="02020603050405020304" pitchFamily="18" charset="0"/>
              </a:defRPr>
            </a:lvl3pPr>
            <a:lvl4pPr marL="1600200" indent="-228600">
              <a:defRPr sz="1400">
                <a:solidFill>
                  <a:schemeClr val="tx1"/>
                </a:solidFill>
                <a:latin typeface="Times New Roman" panose="02020603050405020304" pitchFamily="18" charset="0"/>
              </a:defRPr>
            </a:lvl4pPr>
            <a:lvl5pPr marL="2057400" indent="-228600">
              <a:defRPr sz="1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defRPr>
            </a:lvl9pPr>
          </a:lstStyle>
          <a:p>
            <a:r>
              <a:rPr lang="en-CA" altLang="en-US" sz="1800" i="1" dirty="0">
                <a:solidFill>
                  <a:srgbClr val="7030A0"/>
                </a:solidFill>
                <a:latin typeface="Arial" panose="020B0604020202020204" pitchFamily="34" charset="0"/>
              </a:rPr>
              <a:t>R at 0.2 E</a:t>
            </a:r>
            <a:r>
              <a:rPr lang="en-CA" altLang="en-US" sz="1800" i="1" baseline="-25000" dirty="0">
                <a:solidFill>
                  <a:srgbClr val="7030A0"/>
                </a:solidFill>
                <a:latin typeface="Arial" panose="020B0604020202020204" pitchFamily="34" charset="0"/>
              </a:rPr>
              <a:t>0</a:t>
            </a:r>
            <a:endParaRPr lang="en-US" altLang="en-US" sz="2800" dirty="0">
              <a:solidFill>
                <a:srgbClr val="7030A0"/>
              </a:solidFill>
              <a:latin typeface="Arial" panose="020B0604020202020204" pitchFamily="34" charset="0"/>
            </a:endParaRPr>
          </a:p>
          <a:p>
            <a:pPr eaLnBrk="1" hangingPunct="1"/>
            <a:r>
              <a:rPr lang="en-CA" altLang="en-US" sz="1800" i="1" dirty="0">
                <a:solidFill>
                  <a:srgbClr val="7030A0"/>
                </a:solidFill>
                <a:latin typeface="Arial" panose="020B0604020202020204" pitchFamily="34" charset="0"/>
              </a:rPr>
              <a:t> </a:t>
            </a:r>
            <a:endParaRPr lang="en-US" altLang="en-US" sz="2800" dirty="0">
              <a:solidFill>
                <a:srgbClr val="7030A0"/>
              </a:solidFill>
              <a:latin typeface="Arial" panose="020B0604020202020204" pitchFamily="34"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CB2DB8C1-D686-4D46-8221-7513F59497A4}"/>
                  </a:ext>
                </a:extLst>
              </p:cNvPr>
              <p:cNvSpPr txBox="1"/>
              <p:nvPr/>
            </p:nvSpPr>
            <p:spPr>
              <a:xfrm>
                <a:off x="7900481" y="1842890"/>
                <a:ext cx="2410691" cy="634789"/>
              </a:xfrm>
              <a:prstGeom prst="rect">
                <a:avLst/>
              </a:prstGeom>
              <a:noFill/>
              <a:ln>
                <a:noFill/>
              </a:ln>
            </p:spPr>
            <p:txBody>
              <a:bodyPr wrap="square" rtlCol="0">
                <a:spAutoFit/>
              </a:bodyPr>
              <a:lstStyle/>
              <a:p>
                <a:pPr/>
                <a14:m>
                  <m:oMathPara xmlns:m="http://schemas.openxmlformats.org/officeDocument/2006/math">
                    <m:oMath>
                      <m:r>
                        <a:rPr lang="en-US" b="1" i="1" dirty="0" smtClean="0">
                          <a:solidFill>
                            <a:srgbClr val="7030A0"/>
                          </a:solidFill>
                          <a:latin typeface="Cambria Math" panose="02040503050406030204" pitchFamily="18" charset="0"/>
                        </a:rPr>
                        <m:t>𝒉</m:t>
                      </m:r>
                      <m:r>
                        <a:rPr lang="en-US" b="1" i="0" dirty="0" smtClean="0">
                          <a:solidFill>
                            <a:srgbClr val="7030A0"/>
                          </a:solidFill>
                          <a:latin typeface="Cambria Math" panose="02040503050406030204" pitchFamily="18" charset="0"/>
                        </a:rPr>
                        <m:t>= </m:t>
                      </m:r>
                      <m:f>
                        <m:fPr>
                          <m:ctrlPr>
                            <a:rPr lang="en-CA" altLang="en-US" b="1" i="1" dirty="0">
                              <a:solidFill>
                                <a:srgbClr val="7030A0"/>
                              </a:solidFill>
                              <a:latin typeface="Arial" panose="020B0604020202020204" pitchFamily="34" charset="0"/>
                            </a:rPr>
                          </m:ctrlPr>
                        </m:fPr>
                        <m:num>
                          <m:r>
                            <m:rPr>
                              <m:nor/>
                            </m:rPr>
                            <a:rPr lang="en-CA" altLang="en-US" b="1" i="1" dirty="0">
                              <a:solidFill>
                                <a:srgbClr val="7030A0"/>
                              </a:solidFill>
                              <a:latin typeface="Arial" panose="020B0604020202020204" pitchFamily="34" charset="0"/>
                            </a:rPr>
                            <m:t>R at 0.2 E</m:t>
                          </m:r>
                          <m:r>
                            <m:rPr>
                              <m:nor/>
                            </m:rPr>
                            <a:rPr lang="en-CA" altLang="en-US" b="1" i="1" baseline="-25000" dirty="0">
                              <a:solidFill>
                                <a:srgbClr val="7030A0"/>
                              </a:solidFill>
                              <a:latin typeface="Arial" panose="020B0604020202020204" pitchFamily="34" charset="0"/>
                            </a:rPr>
                            <m:t>0</m:t>
                          </m:r>
                          <m:r>
                            <m:rPr>
                              <m:nor/>
                            </m:rPr>
                            <a:rPr lang="en-US" altLang="en-US" sz="2800" b="1" i="0" dirty="0">
                              <a:solidFill>
                                <a:srgbClr val="7030A0"/>
                              </a:solidFill>
                              <a:latin typeface="Arial" panose="020B0604020202020204" pitchFamily="34" charset="0"/>
                            </a:rPr>
                            <m:t> </m:t>
                          </m:r>
                        </m:num>
                        <m:den>
                          <m:r>
                            <m:rPr>
                              <m:nor/>
                            </m:rPr>
                            <a:rPr lang="en-CA" altLang="en-US" b="1" i="1" dirty="0">
                              <a:solidFill>
                                <a:srgbClr val="7030A0"/>
                              </a:solidFill>
                              <a:latin typeface="Arial" panose="020B0604020202020204" pitchFamily="34" charset="0"/>
                            </a:rPr>
                            <m:t>R</m:t>
                          </m:r>
                          <m:r>
                            <m:rPr>
                              <m:nor/>
                            </m:rPr>
                            <a:rPr lang="en-CA" altLang="en-US" b="1" i="1" baseline="-25000" dirty="0">
                              <a:solidFill>
                                <a:srgbClr val="7030A0"/>
                              </a:solidFill>
                              <a:latin typeface="Arial" panose="020B0604020202020204" pitchFamily="34" charset="0"/>
                            </a:rPr>
                            <m:t>0</m:t>
                          </m:r>
                          <m:r>
                            <m:rPr>
                              <m:nor/>
                            </m:rPr>
                            <a:rPr lang="en-US" altLang="en-US" sz="2800" b="1" i="0" dirty="0">
                              <a:solidFill>
                                <a:srgbClr val="7030A0"/>
                              </a:solidFill>
                              <a:latin typeface="Arial" panose="020B0604020202020204" pitchFamily="34" charset="0"/>
                            </a:rPr>
                            <m:t> </m:t>
                          </m:r>
                        </m:den>
                      </m:f>
                    </m:oMath>
                  </m:oMathPara>
                </a14:m>
                <a:endParaRPr lang="en-US" b="1" dirty="0">
                  <a:solidFill>
                    <a:schemeClr val="tx2"/>
                  </a:solidFill>
                </a:endParaRPr>
              </a:p>
            </p:txBody>
          </p:sp>
        </mc:Choice>
        <mc:Fallback xmlns="">
          <p:sp>
            <p:nvSpPr>
              <p:cNvPr id="29" name="TextBox 28">
                <a:extLst>
                  <a:ext uri="{FF2B5EF4-FFF2-40B4-BE49-F238E27FC236}">
                    <a16:creationId xmlns:a16="http://schemas.microsoft.com/office/drawing/2014/main" id="{CB2DB8C1-D686-4D46-8221-7513F59497A4}"/>
                  </a:ext>
                </a:extLst>
              </p:cNvPr>
              <p:cNvSpPr txBox="1">
                <a:spLocks noRot="1" noChangeAspect="1" noMove="1" noResize="1" noEditPoints="1" noAdjustHandles="1" noChangeArrowheads="1" noChangeShapeType="1" noTextEdit="1"/>
              </p:cNvSpPr>
              <p:nvPr/>
            </p:nvSpPr>
            <p:spPr>
              <a:xfrm>
                <a:off x="7900481" y="1842890"/>
                <a:ext cx="2410691" cy="634789"/>
              </a:xfrm>
              <a:prstGeom prst="rect">
                <a:avLst/>
              </a:prstGeom>
              <a:blipFill>
                <a:blip r:embed="rId4"/>
                <a:stretch>
                  <a:fillRect/>
                </a:stretch>
              </a:blipFill>
              <a:ln>
                <a:noFill/>
              </a:ln>
            </p:spPr>
            <p:txBody>
              <a:bodyPr/>
              <a:lstStyle/>
              <a:p>
                <a:r>
                  <a:rPr lang="en-US">
                    <a:noFill/>
                  </a:rPr>
                  <a:t> </a:t>
                </a:r>
              </a:p>
            </p:txBody>
          </p:sp>
        </mc:Fallback>
      </mc:AlternateContent>
      <p:sp>
        <p:nvSpPr>
          <p:cNvPr id="3" name="Slide Number Placeholder 2"/>
          <p:cNvSpPr>
            <a:spLocks noGrp="1"/>
          </p:cNvSpPr>
          <p:nvPr>
            <p:ph type="sldNum" sz="quarter" idx="12"/>
          </p:nvPr>
        </p:nvSpPr>
        <p:spPr/>
        <p:txBody>
          <a:bodyPr/>
          <a:lstStyle/>
          <a:p>
            <a:fld id="{EEDFA2F9-C25F-4A63-B46B-7B5C200A39D1}" type="slidenum">
              <a:rPr lang="en-CA" smtClean="0"/>
              <a:t>53</a:t>
            </a:fld>
            <a:endParaRPr lang="en-CA"/>
          </a:p>
        </p:txBody>
      </p:sp>
    </p:spTree>
    <p:extLst>
      <p:ext uri="{BB962C8B-B14F-4D97-AF65-F5344CB8AC3E}">
        <p14:creationId xmlns:p14="http://schemas.microsoft.com/office/powerpoint/2010/main" val="10226131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34831"/>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31" grpId="0" animBg="1"/>
      <p:bldP spid="31" grpId="0" animBg="1"/>
      <p:bldP spid="25" grpId="0"/>
      <p:bldP spid="42" grpId="0" animBg="1"/>
      <p:bldP spid="43" grpId="0" animBg="1"/>
      <p:bldP spid="28" grpId="0"/>
      <p:bldP spid="2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26960" y="1754188"/>
                <a:ext cx="10515600" cy="4351338"/>
              </a:xfrm>
            </p:spPr>
            <p:txBody>
              <a:bodyPr>
                <a:normAutofit/>
              </a:bodyPr>
              <a:lstStyle/>
              <a:p>
                <a14:m>
                  <m:oMath xmlns:m="http://schemas.openxmlformats.org/officeDocument/2006/math">
                    <m:r>
                      <a:rPr lang="en-US" sz="2800" b="0" i="1" smtClean="0">
                        <a:latin typeface="Cambria Math" panose="02040503050406030204" pitchFamily="18" charset="0"/>
                      </a:rPr>
                      <m:t>ℎ</m:t>
                    </m:r>
                  </m:oMath>
                </a14:m>
                <a:r>
                  <a:rPr lang="en-US" dirty="0"/>
                  <a:t> is a measure of the resilience of recruitment to decreases in SSB from </a:t>
                </a:r>
                <a14:m>
                  <m:oMath xmlns:m="http://schemas.openxmlformats.org/officeDocument/2006/math">
                    <m:r>
                      <m:rPr>
                        <m:sty m:val="p"/>
                      </m:rPr>
                      <a:rPr lang="en-US" i="0" dirty="0">
                        <a:latin typeface="Cambria Math" panose="02040503050406030204" pitchFamily="18" charset="0"/>
                      </a:rPr>
                      <m:t>SSB</m:t>
                    </m:r>
                    <m:r>
                      <a:rPr lang="en-US" i="1" baseline="-25000" dirty="0">
                        <a:latin typeface="Cambria Math" panose="02040503050406030204" pitchFamily="18" charset="0"/>
                      </a:rPr>
                      <m:t>0 </m:t>
                    </m:r>
                  </m:oMath>
                </a14:m>
                <a:endParaRPr lang="en-US" i="1" baseline="-25000" dirty="0">
                  <a:latin typeface="Cambria Math" panose="02040503050406030204" pitchFamily="18" charset="0"/>
                </a:endParaRPr>
              </a:p>
              <a:p>
                <a:r>
                  <a:rPr lang="en-US" dirty="0"/>
                  <a:t>Ranges from 0.2 to 1</a:t>
                </a:r>
              </a:p>
              <a:p>
                <a:pPr lvl="1"/>
                <a14:m>
                  <m:oMath xmlns:m="http://schemas.openxmlformats.org/officeDocument/2006/math">
                    <m:r>
                      <a:rPr lang="en-US" b="0" i="1" smtClean="0">
                        <a:latin typeface="Cambria Math" panose="02040503050406030204" pitchFamily="18" charset="0"/>
                      </a:rPr>
                      <m:t>ℎ</m:t>
                    </m:r>
                  </m:oMath>
                </a14:m>
                <a:r>
                  <a:rPr lang="en-US" dirty="0"/>
                  <a:t>     1 (constant recruitment)</a:t>
                </a:r>
              </a:p>
              <a:p>
                <a:pPr lvl="1"/>
                <a14:m>
                  <m:oMath xmlns:m="http://schemas.openxmlformats.org/officeDocument/2006/math">
                    <m:r>
                      <a:rPr lang="en-US" b="0" i="1" smtClean="0">
                        <a:latin typeface="Cambria Math" panose="02040503050406030204" pitchFamily="18" charset="0"/>
                      </a:rPr>
                      <m:t>ℎ</m:t>
                    </m:r>
                  </m:oMath>
                </a14:m>
                <a:r>
                  <a:rPr lang="en-US" dirty="0"/>
                  <a:t> = 0.2 (linear increase in recruits)</a:t>
                </a:r>
              </a:p>
              <a:p>
                <a:r>
                  <a:rPr lang="en-US" dirty="0"/>
                  <a:t>Higher </a:t>
                </a:r>
                <a14:m>
                  <m:oMath xmlns:m="http://schemas.openxmlformats.org/officeDocument/2006/math">
                    <m:r>
                      <a:rPr lang="en-US" i="1">
                        <a:latin typeface="Cambria Math" panose="02040503050406030204" pitchFamily="18" charset="0"/>
                      </a:rPr>
                      <m:t>ℎ</m:t>
                    </m:r>
                  </m:oMath>
                </a14:m>
                <a:r>
                  <a:rPr lang="en-US" i="1" dirty="0"/>
                  <a:t> </a:t>
                </a:r>
                <a:r>
                  <a:rPr lang="en-US" dirty="0"/>
                  <a:t>means more </a:t>
                </a:r>
                <a:br>
                  <a:rPr lang="en-US" dirty="0"/>
                </a:br>
                <a:r>
                  <a:rPr lang="en-US" dirty="0"/>
                  <a:t>recruits at 20% </a:t>
                </a:r>
                <a14:m>
                  <m:oMath xmlns:m="http://schemas.openxmlformats.org/officeDocument/2006/math">
                    <m:r>
                      <m:rPr>
                        <m:sty m:val="p"/>
                      </m:rPr>
                      <a:rPr lang="en-US" dirty="0">
                        <a:latin typeface="Cambria Math" panose="02040503050406030204" pitchFamily="18" charset="0"/>
                      </a:rPr>
                      <m:t>SSB</m:t>
                    </m:r>
                    <m:r>
                      <a:rPr lang="en-US" i="1" baseline="-25000" dirty="0">
                        <a:latin typeface="Cambria Math" panose="02040503050406030204" pitchFamily="18" charset="0"/>
                      </a:rPr>
                      <m:t>0</m:t>
                    </m:r>
                  </m:oMath>
                </a14:m>
                <a:r>
                  <a:rPr lang="en-US" dirty="0"/>
                  <a:t>, means a</a:t>
                </a:r>
                <a:br>
                  <a:rPr lang="en-US" dirty="0"/>
                </a:br>
                <a:r>
                  <a:rPr lang="en-US" dirty="0"/>
                  <a:t>more productive population</a:t>
                </a: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26960" y="1754188"/>
                <a:ext cx="10515600" cy="4351338"/>
              </a:xfrm>
              <a:blipFill>
                <a:blip r:embed="rId2"/>
                <a:stretch>
                  <a:fillRect l="-1043" t="-2381"/>
                </a:stretch>
              </a:blipFill>
            </p:spPr>
            <p:txBody>
              <a:bodyPr/>
              <a:lstStyle/>
              <a:p>
                <a:r>
                  <a:rPr lang="en-US">
                    <a:noFill/>
                  </a:rPr>
                  <a:t> </a:t>
                </a:r>
              </a:p>
            </p:txBody>
          </p:sp>
        </mc:Fallback>
      </mc:AlternateContent>
      <p:sp>
        <p:nvSpPr>
          <p:cNvPr id="2" name="Title 1"/>
          <p:cNvSpPr>
            <a:spLocks noGrp="1"/>
          </p:cNvSpPr>
          <p:nvPr>
            <p:ph type="title"/>
          </p:nvPr>
        </p:nvSpPr>
        <p:spPr/>
        <p:txBody>
          <a:bodyPr>
            <a:normAutofit/>
          </a:bodyPr>
          <a:lstStyle/>
          <a:p>
            <a:r>
              <a:rPr lang="en-CA" dirty="0"/>
              <a:t>Steepness (</a:t>
            </a:r>
            <a:r>
              <a:rPr lang="en-CA" i="1" dirty="0"/>
              <a:t>h</a:t>
            </a:r>
            <a:r>
              <a:rPr lang="en-CA" dirty="0"/>
              <a:t>) is a measure of productivity</a:t>
            </a:r>
            <a:endParaRPr lang="en-CA" dirty="0">
              <a:solidFill>
                <a:srgbClr val="FF0000"/>
              </a:solidFill>
            </a:endParaRPr>
          </a:p>
        </p:txBody>
      </p:sp>
      <p:pic>
        <p:nvPicPr>
          <p:cNvPr id="8" name="Picture 7">
            <a:extLst>
              <a:ext uri="{FF2B5EF4-FFF2-40B4-BE49-F238E27FC236}">
                <a16:creationId xmlns:a16="http://schemas.microsoft.com/office/drawing/2014/main" id="{AE3C51A4-7F8B-4C1F-AC41-BB48EDBCA1D4}"/>
              </a:ext>
            </a:extLst>
          </p:cNvPr>
          <p:cNvPicPr>
            <a:picLocks noChangeAspect="1"/>
          </p:cNvPicPr>
          <p:nvPr/>
        </p:nvPicPr>
        <p:blipFill>
          <a:blip r:embed="rId3"/>
          <a:stretch>
            <a:fillRect/>
          </a:stretch>
        </p:blipFill>
        <p:spPr>
          <a:xfrm>
            <a:off x="5876925" y="2809875"/>
            <a:ext cx="6315075" cy="4048125"/>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BC8C9B6-78CB-4D9B-8F2E-53187BD2C5E1}"/>
                  </a:ext>
                </a:extLst>
              </p:cNvPr>
              <p:cNvSpPr txBox="1"/>
              <p:nvPr/>
            </p:nvSpPr>
            <p:spPr>
              <a:xfrm>
                <a:off x="7892143" y="2224127"/>
                <a:ext cx="4299857" cy="369332"/>
              </a:xfrm>
              <a:prstGeom prst="rect">
                <a:avLst/>
              </a:prstGeom>
              <a:noFill/>
            </p:spPr>
            <p:txBody>
              <a:bodyPr wrap="square" rtlCol="0">
                <a:spAutoFit/>
              </a:bodyPr>
              <a:lstStyle/>
              <a:p>
                <a14:m>
                  <m:oMath xmlns:m="http://schemas.openxmlformats.org/officeDocument/2006/math">
                    <m:r>
                      <a:rPr lang="en-US" i="1" dirty="0" smtClean="0">
                        <a:solidFill>
                          <a:srgbClr val="0000FF"/>
                        </a:solidFill>
                        <a:latin typeface="Cambria Math" panose="02040503050406030204" pitchFamily="18" charset="0"/>
                      </a:rPr>
                      <m:t>ℎ</m:t>
                    </m:r>
                  </m:oMath>
                </a14:m>
                <a:r>
                  <a:rPr lang="en-US" dirty="0">
                    <a:solidFill>
                      <a:srgbClr val="0000FF"/>
                    </a:solidFill>
                  </a:rPr>
                  <a:t> = relative recruitment at relative SSB = 0.2</a:t>
                </a:r>
              </a:p>
            </p:txBody>
          </p:sp>
        </mc:Choice>
        <mc:Fallback xmlns="">
          <p:sp>
            <p:nvSpPr>
              <p:cNvPr id="4" name="TextBox 3">
                <a:extLst>
                  <a:ext uri="{FF2B5EF4-FFF2-40B4-BE49-F238E27FC236}">
                    <a16:creationId xmlns:a16="http://schemas.microsoft.com/office/drawing/2014/main" id="{8BC8C9B6-78CB-4D9B-8F2E-53187BD2C5E1}"/>
                  </a:ext>
                </a:extLst>
              </p:cNvPr>
              <p:cNvSpPr txBox="1">
                <a:spLocks noRot="1" noChangeAspect="1" noMove="1" noResize="1" noEditPoints="1" noAdjustHandles="1" noChangeArrowheads="1" noChangeShapeType="1" noTextEdit="1"/>
              </p:cNvSpPr>
              <p:nvPr/>
            </p:nvSpPr>
            <p:spPr>
              <a:xfrm>
                <a:off x="7892143" y="2224127"/>
                <a:ext cx="4299857" cy="369332"/>
              </a:xfrm>
              <a:prstGeom prst="rect">
                <a:avLst/>
              </a:prstGeom>
              <a:blipFill>
                <a:blip r:embed="rId4"/>
                <a:stretch>
                  <a:fillRect t="-10000" r="-426" b="-26667"/>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BFD740D9-7B18-4510-A118-FB65C824A0FD}"/>
              </a:ext>
            </a:extLst>
          </p:cNvPr>
          <p:cNvCxnSpPr>
            <a:cxnSpLocks/>
            <a:stCxn id="4" idx="1"/>
          </p:cNvCxnSpPr>
          <p:nvPr/>
        </p:nvCxnSpPr>
        <p:spPr>
          <a:xfrm flipH="1">
            <a:off x="7336971" y="2408793"/>
            <a:ext cx="555172" cy="401082"/>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828800" y="3290455"/>
            <a:ext cx="277091" cy="6927"/>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EEDFA2F9-C25F-4A63-B46B-7B5C200A39D1}" type="slidenum">
              <a:rPr lang="en-CA" smtClean="0"/>
              <a:t>54</a:t>
            </a:fld>
            <a:endParaRPr lang="en-CA"/>
          </a:p>
        </p:txBody>
      </p:sp>
    </p:spTree>
    <p:extLst>
      <p:ext uri="{BB962C8B-B14F-4D97-AF65-F5344CB8AC3E}">
        <p14:creationId xmlns:p14="http://schemas.microsoft.com/office/powerpoint/2010/main" val="40017919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393977" y="-81459"/>
                <a:ext cx="10979727" cy="1325563"/>
              </a:xfrm>
            </p:spPr>
            <p:txBody>
              <a:bodyPr>
                <a:normAutofit/>
              </a:bodyPr>
              <a:lstStyle/>
              <a:p>
                <a:r>
                  <a:rPr lang="en-US" sz="3600" dirty="0"/>
                  <a:t>CR, Steepness (</a:t>
                </a:r>
                <a14:m>
                  <m:oMath xmlns:m="http://schemas.openxmlformats.org/officeDocument/2006/math">
                    <m:r>
                      <a:rPr lang="en-US" sz="3600" i="1" dirty="0" smtClean="0">
                        <a:latin typeface="Cambria Math" panose="02040503050406030204" pitchFamily="18" charset="0"/>
                      </a:rPr>
                      <m:t>ℎ</m:t>
                    </m:r>
                  </m:oMath>
                </a14:m>
                <a:r>
                  <a:rPr lang="en-US" sz="3600" dirty="0"/>
                  <a:t>), </a:t>
                </a:r>
                <a14:m>
                  <m:oMath xmlns:m="http://schemas.openxmlformats.org/officeDocument/2006/math">
                    <m:r>
                      <a:rPr lang="en-US" sz="3600" i="1" dirty="0" smtClean="0">
                        <a:latin typeface="Cambria Math" panose="02040503050406030204" pitchFamily="18" charset="0"/>
                      </a:rPr>
                      <m:t>𝑅</m:t>
                    </m:r>
                    <m:r>
                      <a:rPr lang="en-US" sz="3600" i="1" baseline="-25000" dirty="0" smtClean="0">
                        <a:latin typeface="Cambria Math" panose="02040503050406030204" pitchFamily="18" charset="0"/>
                      </a:rPr>
                      <m:t>0</m:t>
                    </m:r>
                  </m:oMath>
                </a14:m>
                <a:r>
                  <a:rPr lang="en-US" sz="3600" dirty="0"/>
                  <a:t>, </a:t>
                </a:r>
                <a:r>
                  <a:rPr lang="el-GR" sz="3600" i="1" dirty="0">
                    <a:latin typeface="Cambria Math" panose="02040503050406030204" pitchFamily="18" charset="0"/>
                    <a:ea typeface="Cambria Math" panose="02040503050406030204" pitchFamily="18" charset="0"/>
                  </a:rPr>
                  <a:t>α</a:t>
                </a:r>
                <a:r>
                  <a:rPr lang="en-US" sz="3600" dirty="0"/>
                  <a:t> and </a:t>
                </a:r>
                <a:r>
                  <a:rPr lang="el-GR" sz="3600" i="1" dirty="0">
                    <a:latin typeface="Cambria Math" panose="02040503050406030204" pitchFamily="18" charset="0"/>
                    <a:ea typeface="Cambria Math" panose="02040503050406030204" pitchFamily="18" charset="0"/>
                  </a:rPr>
                  <a:t>β</a:t>
                </a:r>
                <a:r>
                  <a:rPr lang="en-US" sz="3600" dirty="0"/>
                  <a:t> are all analytically related</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393977" y="-81459"/>
                <a:ext cx="10979727" cy="1325563"/>
              </a:xfrm>
              <a:blipFill>
                <a:blip r:embed="rId2"/>
                <a:stretch>
                  <a:fillRect l="-1721"/>
                </a:stretch>
              </a:blipFill>
            </p:spPr>
            <p:txBody>
              <a:bodyPr/>
              <a:lstStyle/>
              <a:p>
                <a:r>
                  <a:rPr lang="en-US">
                    <a:noFill/>
                  </a:rPr>
                  <a:t> </a:t>
                </a:r>
              </a:p>
            </p:txBody>
          </p:sp>
        </mc:Fallback>
      </mc:AlternateContent>
      <p:sp>
        <p:nvSpPr>
          <p:cNvPr id="10" name="Rectangle 9"/>
          <p:cNvSpPr/>
          <p:nvPr/>
        </p:nvSpPr>
        <p:spPr>
          <a:xfrm>
            <a:off x="2103134" y="815659"/>
            <a:ext cx="1960793" cy="461665"/>
          </a:xfrm>
          <a:prstGeom prst="rect">
            <a:avLst/>
          </a:prstGeom>
        </p:spPr>
        <p:txBody>
          <a:bodyPr wrap="none">
            <a:spAutoFit/>
          </a:bodyPr>
          <a:lstStyle/>
          <a:p>
            <a:r>
              <a:rPr lang="en-US" altLang="en-US" sz="2400" dirty="0" err="1">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Beverton</a:t>
            </a:r>
            <a:r>
              <a:rPr lang="en-US" altLang="en-US" sz="2400"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-Holt</a:t>
            </a:r>
            <a:endParaRPr lang="en-US" sz="2400" dirty="0">
              <a:solidFill>
                <a:srgbClr val="FF0000"/>
              </a:solidFill>
            </a:endParaRPr>
          </a:p>
        </p:txBody>
      </p:sp>
      <p:sp>
        <p:nvSpPr>
          <p:cNvPr id="11" name="Rectangle 10"/>
          <p:cNvSpPr/>
          <p:nvPr/>
        </p:nvSpPr>
        <p:spPr>
          <a:xfrm>
            <a:off x="8156998" y="696651"/>
            <a:ext cx="1106393" cy="584775"/>
          </a:xfrm>
          <a:prstGeom prst="rect">
            <a:avLst/>
          </a:prstGeom>
        </p:spPr>
        <p:txBody>
          <a:bodyPr wrap="none">
            <a:spAutoFit/>
          </a:bodyPr>
          <a:lstStyle/>
          <a:p>
            <a:r>
              <a:rPr lang="en-US" altLang="en-US" sz="2400"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Ricker</a:t>
            </a:r>
            <a:r>
              <a:rPr lang="en-US" altLang="en-US" sz="3200"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rPr>
              <a:t> </a:t>
            </a:r>
            <a:endParaRPr lang="en-US" sz="3600" dirty="0">
              <a:solidFill>
                <a:srgbClr val="FF0000"/>
              </a:solidFill>
              <a:latin typeface="Times New Roman" panose="02020603050405020304" pitchFamily="18" charset="0"/>
              <a:ea typeface="Cambria Math" panose="02040503050406030204" pitchFamily="18" charset="0"/>
              <a:cs typeface="Times New Roman" panose="02020603050405020304" pitchFamily="18" charset="0"/>
            </a:endParaRPr>
          </a:p>
        </p:txBody>
      </p:sp>
      <p:sp>
        <p:nvSpPr>
          <p:cNvPr id="13" name="Text Box 33"/>
          <p:cNvSpPr txBox="1">
            <a:spLocks noChangeArrowheads="1"/>
          </p:cNvSpPr>
          <p:nvPr/>
        </p:nvSpPr>
        <p:spPr bwMode="auto">
          <a:xfrm>
            <a:off x="63526" y="6105942"/>
            <a:ext cx="12019005" cy="646331"/>
          </a:xfrm>
          <a:prstGeom prst="rect">
            <a:avLst/>
          </a:prstGeom>
          <a:solidFill>
            <a:schemeClr val="accent1">
              <a:alpha val="25000"/>
            </a:schemeClr>
          </a:solidFill>
          <a:ln>
            <a:solidFill>
              <a:schemeClr val="accent1">
                <a:lumMod val="50000"/>
              </a:schemeClr>
            </a:solidFill>
          </a:ln>
        </p:spPr>
        <p:txBody>
          <a:bodyPr wrap="square" rtlCol="0">
            <a:spAutoFit/>
          </a:bodyPr>
          <a:lstStyle>
            <a:defPPr>
              <a:defRPr lang="en-US"/>
            </a:defPPr>
            <a:lvl1pPr marL="357188" indent="-357188">
              <a:defRPr>
                <a:solidFill>
                  <a:schemeClr val="tx2"/>
                </a:solidFill>
              </a:defRPr>
            </a:lvl1pPr>
          </a:lstStyle>
          <a:p>
            <a:r>
              <a:rPr lang="en-US" sz="1200" dirty="0"/>
              <a:t>Forrest, R. E., McAllister, M. K., Dorn, M. W., Martell, S. J. D., &amp; Stanley, R. D. (2010). Hierarchical Bayesian estimation of recruitment parameters and reference points for Pacific rockfishes (Sebastes spp.) under alternative assumptions about the stock–recruit function. Can. J. Fish. </a:t>
            </a:r>
            <a:r>
              <a:rPr lang="en-US" sz="1200" dirty="0" err="1"/>
              <a:t>Aquat</a:t>
            </a:r>
            <a:r>
              <a:rPr lang="en-US" sz="1200" dirty="0"/>
              <a:t>. Sci., </a:t>
            </a:r>
            <a:r>
              <a:rPr lang="en-US" sz="1200" i="1" dirty="0"/>
              <a:t>67</a:t>
            </a:r>
            <a:r>
              <a:rPr lang="en-US" sz="1200" dirty="0"/>
              <a:t>(10), 1611–1634. </a:t>
            </a:r>
            <a:r>
              <a:rPr lang="en-US" sz="1200" dirty="0">
                <a:hlinkClick r:id="rId3"/>
              </a:rPr>
              <a:t>https://doi.org/10.1139/F10-077</a:t>
            </a:r>
            <a:endParaRPr lang="en-US" sz="1200" dirty="0"/>
          </a:p>
          <a:p>
            <a:r>
              <a:rPr lang="en-US" sz="1200" dirty="0"/>
              <a:t>Miller, T. J., &amp; Brooks, E. N. (2021). Steepness is a slippery slope. Fish and Fisheries, 22(3), 634–645. </a:t>
            </a:r>
            <a:r>
              <a:rPr lang="en-US" sz="1200" dirty="0">
                <a:hlinkClick r:id="rId4"/>
              </a:rPr>
              <a:t>https://doi.org/10.1111/faf.12534</a:t>
            </a:r>
            <a:endParaRPr lang="en-US" sz="1200" dirty="0"/>
          </a:p>
        </p:txBody>
      </p:sp>
      <mc:AlternateContent xmlns:mc="http://schemas.openxmlformats.org/markup-compatibility/2006" xmlns:a14="http://schemas.microsoft.com/office/drawing/2010/main">
        <mc:Choice Requires="a14">
          <p:sp>
            <p:nvSpPr>
              <p:cNvPr id="3" name="TextBox 2"/>
              <p:cNvSpPr txBox="1"/>
              <p:nvPr/>
            </p:nvSpPr>
            <p:spPr>
              <a:xfrm>
                <a:off x="2260793" y="4333482"/>
                <a:ext cx="1640706" cy="607089"/>
              </a:xfrm>
              <a:prstGeom prst="rect">
                <a:avLst/>
              </a:prstGeom>
              <a:noFill/>
            </p:spPr>
            <p:txBody>
              <a:bodyPr wrap="none" lIns="0" tIns="0" rIns="0" bIns="0"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ℎ</m:t>
                          </m:r>
                        </m:num>
                        <m:den>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ℎ</m:t>
                          </m:r>
                          <m:r>
                            <a:rPr lang="en-US" b="0" i="1" smtClean="0">
                              <a:latin typeface="Cambria Math" panose="02040503050406030204" pitchFamily="18" charset="0"/>
                              <a:ea typeface="Cambria Math" panose="02040503050406030204" pitchFamily="18" charset="0"/>
                            </a:rPr>
                            <m:t>)</m:t>
                          </m:r>
                        </m:den>
                      </m:f>
                    </m:oMath>
                  </m:oMathPara>
                </a14:m>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2260793" y="4333482"/>
                <a:ext cx="1640706" cy="607089"/>
              </a:xfrm>
              <a:prstGeom prst="rect">
                <a:avLst/>
              </a:prstGeom>
              <a:blipFill>
                <a:blip r:embed="rId6"/>
                <a:stretch>
                  <a:fillRect b="-10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282851" y="3588545"/>
                <a:ext cx="1214243" cy="525913"/>
              </a:xfrm>
              <a:prstGeom prst="rect">
                <a:avLst/>
              </a:prstGeom>
              <a:noFill/>
            </p:spPr>
            <p:txBody>
              <a:bodyPr wrap="none" lIns="0" tIns="0" rIns="0" bIns="0" rtlCol="0">
                <a:spAutoFit/>
              </a:bodyPr>
              <a:lstStyle/>
              <a:p>
                <a:pPr/>
                <a14:m>
                  <m:oMathPara xmlns:m="http://schemas.openxmlformats.org/officeDocument/2006/math">
                    <m:oMath>
                      <m:r>
                        <m:rPr>
                          <m:nor/>
                        </m:rPr>
                        <a:rPr lang="en-US" b="0" i="0" dirty="0" smtClean="0">
                          <a:latin typeface="Cambria Math" panose="02040503050406030204" pitchFamily="18" charset="0"/>
                          <a:ea typeface="Cambria Math" panose="02040503050406030204" pitchFamily="18" charset="0"/>
                        </a:rPr>
                        <m:t>CR</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r>
                            <a:rPr lang="en-US" b="0" i="1" smtClean="0">
                              <a:latin typeface="Cambria Math" panose="02040503050406030204" pitchFamily="18" charset="0"/>
                              <a:ea typeface="Cambria Math" panose="02040503050406030204" pitchFamily="18" charset="0"/>
                            </a:rPr>
                            <m:t>ℎ</m:t>
                          </m:r>
                        </m:num>
                        <m:den>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ℎ</m:t>
                          </m:r>
                        </m:den>
                      </m:f>
                    </m:oMath>
                  </m:oMathPara>
                </a14:m>
                <a:endParaRPr lang="en-US" dirty="0"/>
              </a:p>
            </p:txBody>
          </p:sp>
        </mc:Choice>
        <mc:Fallback xmlns="">
          <p:sp>
            <p:nvSpPr>
              <p:cNvPr id="15" name="TextBox 14"/>
              <p:cNvSpPr txBox="1">
                <a:spLocks noRot="1" noChangeAspect="1" noMove="1" noResize="1" noEditPoints="1" noAdjustHandles="1" noChangeArrowheads="1" noChangeShapeType="1" noTextEdit="1"/>
              </p:cNvSpPr>
              <p:nvPr/>
            </p:nvSpPr>
            <p:spPr>
              <a:xfrm>
                <a:off x="2282851" y="3588545"/>
                <a:ext cx="1214243" cy="525913"/>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260793" y="5076149"/>
                <a:ext cx="1893147" cy="607154"/>
              </a:xfrm>
              <a:prstGeom prst="rect">
                <a:avLst/>
              </a:prstGeom>
              <a:noFill/>
            </p:spPr>
            <p:txBody>
              <a:bodyPr wrap="none" lIns="0" tIns="0" rIns="0" bIns="0" rtlCol="0">
                <a:spAutoFit/>
              </a:bodyPr>
              <a:lstStyle/>
              <a:p>
                <a:pPr/>
                <a14:m>
                  <m:oMathPara xmlns:m="http://schemas.openxmlformats.org/officeDocument/2006/math">
                    <m:oMath>
                      <m:r>
                        <a:rPr lang="en-US" i="1" dirty="0"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5</m:t>
                          </m:r>
                          <m:r>
                            <a:rPr lang="en-US" b="0" i="1" smtClean="0">
                              <a:latin typeface="Cambria Math" panose="02040503050406030204" pitchFamily="18" charset="0"/>
                              <a:ea typeface="Cambria Math" panose="02040503050406030204" pitchFamily="18" charset="0"/>
                            </a:rPr>
                            <m:t>ℎ</m:t>
                          </m:r>
                          <m:r>
                            <a:rPr lang="en-US" b="0" i="1" smtClean="0">
                              <a:latin typeface="Cambria Math" panose="02040503050406030204" pitchFamily="18" charset="0"/>
                              <a:ea typeface="Cambria Math" panose="02040503050406030204" pitchFamily="18" charset="0"/>
                            </a:rPr>
                            <m:t>−1</m:t>
                          </m:r>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b="0" i="1" smtClean="0">
                                  <a:latin typeface="Cambria Math" panose="02040503050406030204" pitchFamily="18" charset="0"/>
                                  <a:ea typeface="Cambria Math" panose="02040503050406030204" pitchFamily="18" charset="0"/>
                                </a:rPr>
                                <m:t>0</m:t>
                              </m:r>
                            </m:sub>
                          </m:sSub>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ℎ</m:t>
                          </m:r>
                          <m:r>
                            <a:rPr lang="en-US" b="0" i="1" smtClean="0">
                              <a:latin typeface="Cambria Math" panose="02040503050406030204" pitchFamily="18" charset="0"/>
                              <a:ea typeface="Cambria Math" panose="02040503050406030204" pitchFamily="18" charset="0"/>
                            </a:rPr>
                            <m:t>)</m:t>
                          </m:r>
                        </m:den>
                      </m:f>
                    </m:oMath>
                  </m:oMathPara>
                </a14:m>
                <a:endParaRPr lang="en-US" dirty="0"/>
              </a:p>
            </p:txBody>
          </p:sp>
        </mc:Choice>
        <mc:Fallback xmlns="">
          <p:sp>
            <p:nvSpPr>
              <p:cNvPr id="16" name="TextBox 15"/>
              <p:cNvSpPr txBox="1">
                <a:spLocks noRot="1" noChangeAspect="1" noMove="1" noResize="1" noEditPoints="1" noAdjustHandles="1" noChangeArrowheads="1" noChangeShapeType="1" noTextEdit="1"/>
              </p:cNvSpPr>
              <p:nvPr/>
            </p:nvSpPr>
            <p:spPr>
              <a:xfrm>
                <a:off x="2260793" y="5076149"/>
                <a:ext cx="1893147" cy="60715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8102880" y="3679168"/>
                <a:ext cx="1356846" cy="287323"/>
              </a:xfrm>
              <a:prstGeom prst="rect">
                <a:avLst/>
              </a:prstGeom>
              <a:noFill/>
            </p:spPr>
            <p:txBody>
              <a:bodyPr wrap="none" lIns="0" tIns="0" rIns="0" bIns="0" rtlCol="0">
                <a:spAutoFit/>
              </a:bodyPr>
              <a:lstStyle/>
              <a:p>
                <a14:m>
                  <m:oMath xmlns:m="http://schemas.openxmlformats.org/officeDocument/2006/math">
                    <m:r>
                      <m:rPr>
                        <m:nor/>
                      </m:rPr>
                      <a:rPr lang="en-US" b="0" i="0" dirty="0" smtClean="0">
                        <a:latin typeface="Cambria Math" panose="02040503050406030204" pitchFamily="18" charset="0"/>
                        <a:ea typeface="Cambria Math" panose="02040503050406030204" pitchFamily="18" charset="0"/>
                      </a:rPr>
                      <m:t>CR</m:t>
                    </m:r>
                    <m:r>
                      <a:rPr lang="en-US" b="0" i="1" smtClean="0">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5</m:t>
                        </m:r>
                        <m:r>
                          <a:rPr lang="en-US" i="1">
                            <a:latin typeface="Cambria Math" panose="02040503050406030204" pitchFamily="18" charset="0"/>
                            <a:ea typeface="Cambria Math" panose="02040503050406030204" pitchFamily="18" charset="0"/>
                          </a:rPr>
                          <m:t>ℎ</m:t>
                        </m:r>
                        <m:r>
                          <a:rPr lang="en-US" b="0" i="1" smtClean="0">
                            <a:latin typeface="Cambria Math" panose="02040503050406030204" pitchFamily="18" charset="0"/>
                            <a:ea typeface="Cambria Math" panose="02040503050406030204" pitchFamily="18" charset="0"/>
                          </a:rPr>
                          <m:t>)</m:t>
                        </m:r>
                        <m:r>
                          <m:rPr>
                            <m:nor/>
                          </m:rPr>
                          <a:rPr lang="en-US" i="0" dirty="0"/>
                          <m:t> </m:t>
                        </m:r>
                      </m:e>
                      <m:sup>
                        <m:r>
                          <a:rPr lang="en-US" b="0" i="1" smtClean="0">
                            <a:latin typeface="Cambria Math" panose="02040503050406030204" pitchFamily="18" charset="0"/>
                            <a:ea typeface="Cambria Math" panose="02040503050406030204" pitchFamily="18" charset="0"/>
                          </a:rPr>
                          <m:t>5/4</m:t>
                        </m:r>
                      </m:sup>
                    </m:sSup>
                  </m:oMath>
                </a14:m>
                <a:endParaRPr lang="en-US" dirty="0"/>
              </a:p>
            </p:txBody>
          </p:sp>
        </mc:Choice>
        <mc:Fallback xmlns="">
          <p:sp>
            <p:nvSpPr>
              <p:cNvPr id="17" name="TextBox 16"/>
              <p:cNvSpPr txBox="1">
                <a:spLocks noRot="1" noChangeAspect="1" noMove="1" noResize="1" noEditPoints="1" noAdjustHandles="1" noChangeArrowheads="1" noChangeShapeType="1" noTextEdit="1"/>
              </p:cNvSpPr>
              <p:nvPr/>
            </p:nvSpPr>
            <p:spPr>
              <a:xfrm>
                <a:off x="8102880" y="3679168"/>
                <a:ext cx="1356846" cy="287323"/>
              </a:xfrm>
              <a:prstGeom prst="rect">
                <a:avLst/>
              </a:prstGeom>
              <a:blipFill>
                <a:blip r:embed="rId9"/>
                <a:stretch>
                  <a:fillRect l="-5830" t="-8511" r="-3587" b="-340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7459456" y="4201367"/>
                <a:ext cx="2447356" cy="648126"/>
              </a:xfrm>
              <a:prstGeom prst="rect">
                <a:avLst/>
              </a:prstGeom>
              <a:noFill/>
            </p:spPr>
            <p:txBody>
              <a:bodyPr wrap="square" lIns="0" tIns="0" rIns="0" bIns="0" rtlCol="0">
                <a:spAutoFit/>
              </a:bodyPr>
              <a:lstStyle/>
              <a:p>
                <a:pPr/>
                <a14:m>
                  <m:oMathPara xmlns:m="http://schemas.openxmlformats.org/officeDocument/2006/math">
                    <m:oMath>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5</m:t>
                              </m:r>
                              <m:r>
                                <a:rPr lang="en-US" i="1">
                                  <a:latin typeface="Cambria Math" panose="02040503050406030204" pitchFamily="18" charset="0"/>
                                  <a:ea typeface="Cambria Math" panose="02040503050406030204" pitchFamily="18" charset="0"/>
                                </a:rPr>
                                <m:t>ℎ</m:t>
                              </m:r>
                              <m:r>
                                <m:rPr>
                                  <m:nor/>
                                </m:rPr>
                                <a:rPr lang="en-US" b="0" i="0" dirty="0" smtClean="0"/>
                                <m:t>)</m:t>
                              </m:r>
                            </m:e>
                            <m:sup>
                              <m:r>
                                <a:rPr lang="en-US" i="1">
                                  <a:latin typeface="Cambria Math" panose="02040503050406030204" pitchFamily="18" charset="0"/>
                                  <a:ea typeface="Cambria Math" panose="02040503050406030204" pitchFamily="18" charset="0"/>
                                </a:rPr>
                                <m:t>5/4</m:t>
                              </m:r>
                            </m:sup>
                          </m:sSup>
                        </m:num>
                        <m:den>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den>
                      </m:f>
                    </m:oMath>
                  </m:oMathPara>
                </a14:m>
                <a:endParaRPr lang="en-US" dirty="0"/>
              </a:p>
            </p:txBody>
          </p:sp>
        </mc:Choice>
        <mc:Fallback xmlns="">
          <p:sp>
            <p:nvSpPr>
              <p:cNvPr id="18" name="TextBox 17"/>
              <p:cNvSpPr txBox="1">
                <a:spLocks noRot="1" noChangeAspect="1" noMove="1" noResize="1" noEditPoints="1" noAdjustHandles="1" noChangeArrowheads="1" noChangeShapeType="1" noTextEdit="1"/>
              </p:cNvSpPr>
              <p:nvPr/>
            </p:nvSpPr>
            <p:spPr>
              <a:xfrm>
                <a:off x="7459456" y="4201367"/>
                <a:ext cx="2447356" cy="648126"/>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7624679" y="5035177"/>
                <a:ext cx="2447356" cy="648126"/>
              </a:xfrm>
              <a:prstGeom prst="rect">
                <a:avLst/>
              </a:prstGeom>
              <a:noFill/>
            </p:spPr>
            <p:txBody>
              <a:bodyPr wrap="square" lIns="0" tIns="0" rIns="0" bIns="0" rtlCol="0">
                <a:spAutoFit/>
              </a:bodyPr>
              <a:lstStyle/>
              <a:p>
                <a:pPr/>
                <a14:m>
                  <m:oMathPara xmlns:m="http://schemas.openxmlformats.org/officeDocument/2006/math">
                    <m:oMath>
                      <m:r>
                        <a:rPr lang="en-US" b="0" i="1" smtClean="0">
                          <a:latin typeface="Cambria Math" panose="02040503050406030204" pitchFamily="18" charset="0"/>
                          <a:ea typeface="Cambria Math" panose="02040503050406030204" pitchFamily="18" charset="0"/>
                        </a:rPr>
                        <m:t>𝛽</m:t>
                      </m:r>
                      <m:r>
                        <a:rPr lang="en-US" b="0" i="1" smtClean="0">
                          <a:latin typeface="Cambria Math" panose="02040503050406030204" pitchFamily="18" charset="0"/>
                          <a:ea typeface="Cambria Math" panose="02040503050406030204" pitchFamily="18" charset="0"/>
                        </a:rPr>
                        <m:t>=</m:t>
                      </m:r>
                      <m:f>
                        <m:fPr>
                          <m:ctrlPr>
                            <a:rPr lang="en-US">
                              <a:latin typeface="Cambria Math" panose="02040503050406030204" pitchFamily="18" charset="0"/>
                              <a:ea typeface="Cambria Math" panose="02040503050406030204" pitchFamily="18" charset="0"/>
                            </a:rPr>
                          </m:ctrlPr>
                        </m:fPr>
                        <m:num>
                          <m:r>
                            <m:rPr>
                              <m:sty m:val="p"/>
                            </m:rPr>
                            <a:rPr lang="en-US">
                              <a:latin typeface="Cambria Math" panose="02040503050406030204" pitchFamily="18" charset="0"/>
                              <a:ea typeface="Cambria Math" panose="02040503050406030204" pitchFamily="18" charset="0"/>
                            </a:rPr>
                            <m:t>ln</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(5</m:t>
                              </m:r>
                              <m:r>
                                <a:rPr lang="en-US" i="1">
                                  <a:latin typeface="Cambria Math" panose="02040503050406030204" pitchFamily="18" charset="0"/>
                                  <a:ea typeface="Cambria Math" panose="02040503050406030204" pitchFamily="18" charset="0"/>
                                </a:rPr>
                                <m:t>ℎ</m:t>
                              </m:r>
                              <m:r>
                                <m:rPr>
                                  <m:nor/>
                                </m:rPr>
                                <a:rPr lang="en-US" i="0" dirty="0"/>
                                <m:t>)</m:t>
                              </m:r>
                            </m:e>
                            <m:sup>
                              <m:r>
                                <a:rPr lang="en-US" i="1">
                                  <a:latin typeface="Cambria Math" panose="02040503050406030204" pitchFamily="18" charset="0"/>
                                  <a:ea typeface="Cambria Math" panose="02040503050406030204" pitchFamily="18" charset="0"/>
                                </a:rPr>
                                <m:t>5/4</m:t>
                              </m:r>
                            </m:sup>
                          </m:sSup>
                          <m:r>
                            <a:rPr lang="en-US" i="1">
                              <a:latin typeface="Cambria Math" panose="02040503050406030204" pitchFamily="18" charset="0"/>
                              <a:ea typeface="Cambria Math" panose="02040503050406030204" pitchFamily="18" charset="0"/>
                            </a:rPr>
                            <m:t>)</m:t>
                          </m:r>
                          <m:r>
                            <m:rPr>
                              <m:nor/>
                            </m:rPr>
                            <a:rPr lang="en-US" i="0" dirty="0"/>
                            <m:t> </m:t>
                          </m:r>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0</m:t>
                              </m:r>
                            </m:sub>
                          </m:sSub>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den>
                      </m:f>
                    </m:oMath>
                  </m:oMathPara>
                </a14:m>
                <a:endParaRPr lang="en-US" dirty="0"/>
              </a:p>
            </p:txBody>
          </p:sp>
        </mc:Choice>
        <mc:Fallback xmlns="">
          <p:sp>
            <p:nvSpPr>
              <p:cNvPr id="19" name="TextBox 18"/>
              <p:cNvSpPr txBox="1">
                <a:spLocks noRot="1" noChangeAspect="1" noMove="1" noResize="1" noEditPoints="1" noAdjustHandles="1" noChangeArrowheads="1" noChangeShapeType="1" noTextEdit="1"/>
              </p:cNvSpPr>
              <p:nvPr/>
            </p:nvSpPr>
            <p:spPr>
              <a:xfrm>
                <a:off x="7624679" y="5035177"/>
                <a:ext cx="2447356" cy="648126"/>
              </a:xfrm>
              <a:prstGeom prst="rect">
                <a:avLst/>
              </a:prstGeom>
              <a:blipFill>
                <a:blip r:embed="rId11"/>
                <a:stretch>
                  <a:fillRect b="-9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97885" y="1970408"/>
                <a:ext cx="1470339" cy="612540"/>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𝑅</m:t>
                      </m:r>
                      <m:r>
                        <a:rPr lang="en-US" b="0" i="1" smtClean="0">
                          <a:latin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𝛼</m:t>
                          </m:r>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𝛽</m:t>
                          </m:r>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den>
                      </m:f>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497885" y="1970408"/>
                <a:ext cx="1470339" cy="61254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6707499" y="2018349"/>
                <a:ext cx="1449499" cy="619721"/>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𝑅</m:t>
                      </m:r>
                      <m:r>
                        <a:rPr lang="en-US" b="0" i="1" smtClean="0">
                          <a:latin typeface="Cambria Math" panose="02040503050406030204" pitchFamily="18" charset="0"/>
                        </a:rPr>
                        <m:t>= </m:t>
                      </m:r>
                      <m:f>
                        <m:fPr>
                          <m:ctrlPr>
                            <a:rPr lang="en-US" b="0" i="0" smtClean="0">
                              <a:latin typeface="Cambria Math" panose="02040503050406030204" pitchFamily="18" charset="0"/>
                              <a:ea typeface="Cambria Math" panose="02040503050406030204" pitchFamily="18" charset="0"/>
                            </a:rPr>
                          </m:ctrlPr>
                        </m:fPr>
                        <m:num>
                          <m:r>
                            <m:rPr>
                              <m:sty m:val="p"/>
                            </m:rPr>
                            <a:rPr lang="en-US" b="0" i="0" smtClean="0">
                              <a:latin typeface="Cambria Math" panose="02040503050406030204" pitchFamily="18" charset="0"/>
                              <a:ea typeface="Cambria Math" panose="02040503050406030204" pitchFamily="18" charset="0"/>
                            </a:rPr>
                            <m:t>ln</m:t>
                          </m:r>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𝛼</m:t>
                          </m:r>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r>
                            <a:rPr lang="en-US" b="0" i="1" smtClean="0">
                              <a:latin typeface="Cambria Math" panose="02040503050406030204" pitchFamily="18" charset="0"/>
                              <a:ea typeface="Cambria Math" panose="02040503050406030204" pitchFamily="18" charset="0"/>
                            </a:rPr>
                            <m:t>)</m:t>
                          </m:r>
                        </m:num>
                        <m:den>
                          <m:r>
                            <a:rPr lang="en-US" b="0" i="1" smtClean="0">
                              <a:latin typeface="Cambria Math" panose="02040503050406030204" pitchFamily="18" charset="0"/>
                              <a:ea typeface="Cambria Math" panose="02040503050406030204" pitchFamily="18" charset="0"/>
                            </a:rPr>
                            <m:t>𝛽</m:t>
                          </m:r>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den>
                      </m:f>
                    </m:oMath>
                  </m:oMathPara>
                </a14:m>
                <a:endParaRPr lang="en-US" dirty="0"/>
              </a:p>
            </p:txBody>
          </p:sp>
        </mc:Choice>
        <mc:Fallback xmlns="">
          <p:sp>
            <p:nvSpPr>
              <p:cNvPr id="21" name="TextBox 20"/>
              <p:cNvSpPr txBox="1">
                <a:spLocks noRot="1" noChangeAspect="1" noMove="1" noResize="1" noEditPoints="1" noAdjustHandles="1" noChangeArrowheads="1" noChangeShapeType="1" noTextEdit="1"/>
              </p:cNvSpPr>
              <p:nvPr/>
            </p:nvSpPr>
            <p:spPr>
              <a:xfrm>
                <a:off x="6707499" y="2018349"/>
                <a:ext cx="1449499" cy="619721"/>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2579582" y="1970408"/>
                <a:ext cx="3190361" cy="60708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𝑅</m:t>
                      </m:r>
                      <m:r>
                        <a:rPr lang="en-US" b="0" i="1" smtClean="0">
                          <a:latin typeface="Cambria Math" panose="02040503050406030204" pitchFamily="18" charset="0"/>
                        </a:rPr>
                        <m:t>= </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4</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0</m:t>
                              </m:r>
                            </m:sub>
                          </m:sSub>
                          <m:r>
                            <a:rPr lang="en-US" b="0" i="1" smtClean="0">
                              <a:latin typeface="Cambria Math" panose="02040503050406030204" pitchFamily="18" charset="0"/>
                            </a:rPr>
                            <m:t>ℎ𝐵</m:t>
                          </m:r>
                        </m:num>
                        <m:den>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ℎ</m:t>
                              </m:r>
                            </m:e>
                          </m:d>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0</m:t>
                              </m:r>
                            </m:sub>
                          </m:sSub>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r>
                            <a:rPr lang="en-US" b="0" i="1" smtClean="0">
                              <a:latin typeface="Cambria Math" panose="02040503050406030204" pitchFamily="18" charset="0"/>
                              <a:ea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5</m:t>
                              </m:r>
                              <m:r>
                                <a:rPr lang="en-US" b="0" i="1" smtClean="0">
                                  <a:latin typeface="Cambria Math" panose="02040503050406030204" pitchFamily="18" charset="0"/>
                                  <a:ea typeface="Cambria Math" panose="02040503050406030204" pitchFamily="18" charset="0"/>
                                </a:rPr>
                                <m:t>ℎ</m:t>
                              </m:r>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𝐵</m:t>
                          </m:r>
                        </m:den>
                      </m:f>
                    </m:oMath>
                  </m:oMathPara>
                </a14:m>
                <a:endParaRPr lang="en-US" dirty="0"/>
              </a:p>
            </p:txBody>
          </p:sp>
        </mc:Choice>
        <mc:Fallback xmlns="">
          <p:sp>
            <p:nvSpPr>
              <p:cNvPr id="22" name="TextBox 21"/>
              <p:cNvSpPr txBox="1">
                <a:spLocks noRot="1" noChangeAspect="1" noMove="1" noResize="1" noEditPoints="1" noAdjustHandles="1" noChangeArrowheads="1" noChangeShapeType="1" noTextEdit="1"/>
              </p:cNvSpPr>
              <p:nvPr/>
            </p:nvSpPr>
            <p:spPr>
              <a:xfrm>
                <a:off x="2579582" y="1970408"/>
                <a:ext cx="3190361" cy="607089"/>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8683134" y="1904836"/>
                <a:ext cx="2544864" cy="727763"/>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𝑅</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𝐵</m:t>
                          </m:r>
                        </m:num>
                        <m:den>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den>
                      </m:f>
                      <m:sSup>
                        <m:sSupPr>
                          <m:ctrlPr>
                            <a:rPr lang="en-US" i="1">
                              <a:latin typeface="Cambria Math" panose="02040503050406030204" pitchFamily="18" charset="0"/>
                            </a:rPr>
                          </m:ctrlPr>
                        </m:sSupPr>
                        <m:e>
                          <m:r>
                            <a:rPr lang="en-US" i="1">
                              <a:latin typeface="Cambria Math" panose="02040503050406030204" pitchFamily="18" charset="0"/>
                            </a:rPr>
                            <m:t>(5</m:t>
                          </m:r>
                          <m:r>
                            <a:rPr lang="en-US" i="1">
                              <a:latin typeface="Cambria Math" panose="02040503050406030204" pitchFamily="18" charset="0"/>
                            </a:rPr>
                            <m:t>ℎ</m:t>
                          </m:r>
                          <m:r>
                            <a:rPr lang="en-US" i="1">
                              <a:latin typeface="Cambria Math" panose="02040503050406030204" pitchFamily="18" charset="0"/>
                            </a:rPr>
                            <m:t>)</m:t>
                          </m:r>
                        </m:e>
                        <m:sup>
                          <m:f>
                            <m:fPr>
                              <m:ctrlPr>
                                <a:rPr lang="en-US" b="0"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4</m:t>
                              </m:r>
                            </m:den>
                          </m:f>
                          <m:d>
                            <m:dPr>
                              <m:ctrlPr>
                                <a:rPr lang="en-US" b="0" i="1" smtClean="0">
                                  <a:latin typeface="Cambria Math" panose="02040503050406030204" pitchFamily="18" charset="0"/>
                                </a:rPr>
                              </m:ctrlPr>
                            </m:dPr>
                            <m:e>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𝐵</m:t>
                                  </m:r>
                                </m:num>
                                <m:den>
                                  <m:sSub>
                                    <m:sSubPr>
                                      <m:ctrlPr>
                                        <a:rPr lang="en-US" i="1">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0</m:t>
                                          </m:r>
                                        </m:sub>
                                      </m:sSub>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den>
                              </m:f>
                            </m:e>
                          </m:d>
                        </m:sup>
                      </m:sSup>
                    </m:oMath>
                  </m:oMathPara>
                </a14:m>
                <a:endParaRPr lang="en-US" dirty="0"/>
              </a:p>
            </p:txBody>
          </p:sp>
        </mc:Choice>
        <mc:Fallback xmlns="">
          <p:sp>
            <p:nvSpPr>
              <p:cNvPr id="23" name="TextBox 22"/>
              <p:cNvSpPr txBox="1">
                <a:spLocks noRot="1" noChangeAspect="1" noMove="1" noResize="1" noEditPoints="1" noAdjustHandles="1" noChangeArrowheads="1" noChangeShapeType="1" noTextEdit="1"/>
              </p:cNvSpPr>
              <p:nvPr/>
            </p:nvSpPr>
            <p:spPr>
              <a:xfrm>
                <a:off x="8683134" y="1904836"/>
                <a:ext cx="2544864" cy="727763"/>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2252104" y="2801236"/>
                <a:ext cx="1233799" cy="525016"/>
              </a:xfrm>
              <a:prstGeom prst="rect">
                <a:avLst/>
              </a:prstGeom>
              <a:noFill/>
            </p:spPr>
            <p:txBody>
              <a:bodyPr wrap="none" lIns="0" tIns="0" rIns="0" bIns="0" rtlCol="0">
                <a:spAutoFit/>
              </a:bodyPr>
              <a:lstStyle/>
              <a:p>
                <a:pPr/>
                <a14:m>
                  <m:oMathPara xmlns:m="http://schemas.openxmlformats.org/officeDocument/2006/math">
                    <m:oMath>
                      <m:r>
                        <a:rPr lang="en-US" i="1" smtClean="0">
                          <a:latin typeface="Cambria Math" panose="02040503050406030204" pitchFamily="18" charset="0"/>
                          <a:ea typeface="Cambria Math" panose="02040503050406030204" pitchFamily="18" charset="0"/>
                        </a:rPr>
                        <m:t>ℎ</m:t>
                      </m:r>
                      <m:r>
                        <a:rPr lang="en-US" b="0" i="1" smtClean="0">
                          <a:latin typeface="Cambria Math" panose="02040503050406030204" pitchFamily="18" charset="0"/>
                          <a:ea typeface="Cambria Math" panose="02040503050406030204" pitchFamily="18" charset="0"/>
                        </a:rPr>
                        <m:t>= </m:t>
                      </m:r>
                      <m:f>
                        <m:fPr>
                          <m:ctrlPr>
                            <a:rPr lang="en-US" i="0">
                              <a:latin typeface="Cambria Math" panose="02040503050406030204" pitchFamily="18" charset="0"/>
                              <a:ea typeface="Cambria Math" panose="02040503050406030204" pitchFamily="18" charset="0"/>
                            </a:rPr>
                          </m:ctrlPr>
                        </m:fPr>
                        <m:num>
                          <m:r>
                            <m:rPr>
                              <m:nor/>
                            </m:rPr>
                            <a:rPr lang="en-US" i="0">
                              <a:latin typeface="Cambria Math" panose="02040503050406030204" pitchFamily="18" charset="0"/>
                              <a:ea typeface="Cambria Math" panose="02040503050406030204" pitchFamily="18" charset="0"/>
                            </a:rPr>
                            <m:t>CR</m:t>
                          </m:r>
                        </m:num>
                        <m:den>
                          <m:r>
                            <a:rPr lang="en-US" b="0" i="1" smtClean="0">
                              <a:latin typeface="Cambria Math" panose="02040503050406030204" pitchFamily="18" charset="0"/>
                              <a:ea typeface="Cambria Math" panose="02040503050406030204" pitchFamily="18" charset="0"/>
                            </a:rPr>
                            <m:t>4+</m:t>
                          </m:r>
                          <m:r>
                            <m:rPr>
                              <m:nor/>
                            </m:rPr>
                            <a:rPr lang="en-US" i="0">
                              <a:latin typeface="Cambria Math" panose="02040503050406030204" pitchFamily="18" charset="0"/>
                              <a:ea typeface="Cambria Math" panose="02040503050406030204" pitchFamily="18" charset="0"/>
                            </a:rPr>
                            <m:t>CR</m:t>
                          </m:r>
                        </m:den>
                      </m:f>
                    </m:oMath>
                  </m:oMathPara>
                </a14:m>
                <a:endParaRPr lang="en-US" dirty="0"/>
              </a:p>
            </p:txBody>
          </p:sp>
        </mc:Choice>
        <mc:Fallback xmlns="">
          <p:sp>
            <p:nvSpPr>
              <p:cNvPr id="24" name="TextBox 23"/>
              <p:cNvSpPr txBox="1">
                <a:spLocks noRot="1" noChangeAspect="1" noMove="1" noResize="1" noEditPoints="1" noAdjustHandles="1" noChangeArrowheads="1" noChangeShapeType="1" noTextEdit="1"/>
              </p:cNvSpPr>
              <p:nvPr/>
            </p:nvSpPr>
            <p:spPr>
              <a:xfrm>
                <a:off x="2252104" y="2801236"/>
                <a:ext cx="1233799" cy="525016"/>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8129938" y="2855526"/>
                <a:ext cx="889411" cy="541495"/>
              </a:xfrm>
              <a:prstGeom prst="rect">
                <a:avLst/>
              </a:prstGeom>
              <a:noFill/>
            </p:spPr>
            <p:txBody>
              <a:bodyPr wrap="none" lIns="0" tIns="0" rIns="0" bIns="0" rtlCol="0">
                <a:spAutoFit/>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ℎ</m:t>
                    </m:r>
                    <m:r>
                      <a:rPr lang="en-US" b="0" i="1" smtClean="0">
                        <a:latin typeface="Cambria Math" panose="02040503050406030204" pitchFamily="18" charset="0"/>
                        <a:ea typeface="Cambria Math" panose="02040503050406030204" pitchFamily="18" charset="0"/>
                      </a:rPr>
                      <m:t>=</m:t>
                    </m:r>
                  </m:oMath>
                </a14:m>
                <a:r>
                  <a:rPr lang="en-US" dirty="0">
                    <a:ea typeface="Cambria Math" panose="02040503050406030204" pitchFamily="18" charset="0"/>
                  </a:rPr>
                  <a:t> </a:t>
                </a: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sSup>
                          <m:sSupPr>
                            <m:ctrlPr>
                              <a:rPr lang="en-US" i="0">
                                <a:latin typeface="Cambria Math" panose="02040503050406030204" pitchFamily="18" charset="0"/>
                                <a:ea typeface="Cambria Math" panose="02040503050406030204" pitchFamily="18" charset="0"/>
                              </a:rPr>
                            </m:ctrlPr>
                          </m:sSupPr>
                          <m:e>
                            <m:r>
                              <m:rPr>
                                <m:nor/>
                              </m:rPr>
                              <a:rPr lang="en-US" i="0">
                                <a:latin typeface="Cambria Math" panose="02040503050406030204" pitchFamily="18" charset="0"/>
                                <a:ea typeface="Cambria Math" panose="02040503050406030204" pitchFamily="18" charset="0"/>
                              </a:rPr>
                              <m:t>CR</m:t>
                            </m:r>
                            <m:r>
                              <m:rPr>
                                <m:nor/>
                              </m:rPr>
                              <a:rPr lang="en-US" i="0" dirty="0"/>
                              <m:t> </m:t>
                            </m:r>
                          </m:e>
                          <m:sup>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4</m:t>
                                </m:r>
                              </m:num>
                              <m:den>
                                <m:r>
                                  <a:rPr lang="en-US" b="0" i="1" dirty="0" smtClean="0">
                                    <a:latin typeface="Cambria Math" panose="02040503050406030204" pitchFamily="18" charset="0"/>
                                  </a:rPr>
                                  <m:t>5</m:t>
                                </m:r>
                              </m:den>
                            </m:f>
                          </m:sup>
                        </m:sSup>
                        <m:r>
                          <m:rPr>
                            <m:nor/>
                          </m:rPr>
                          <a:rPr lang="en-US" i="0" dirty="0"/>
                          <m:t> </m:t>
                        </m:r>
                      </m:num>
                      <m:den>
                        <m:r>
                          <a:rPr lang="en-US" b="0" i="1" smtClean="0">
                            <a:latin typeface="Cambria Math" panose="02040503050406030204" pitchFamily="18" charset="0"/>
                            <a:ea typeface="Cambria Math" panose="02040503050406030204" pitchFamily="18" charset="0"/>
                          </a:rPr>
                          <m:t>5</m:t>
                        </m:r>
                      </m:den>
                    </m:f>
                  </m:oMath>
                </a14:m>
                <a:endParaRPr lang="en-US" dirty="0"/>
              </a:p>
            </p:txBody>
          </p:sp>
        </mc:Choice>
        <mc:Fallback xmlns="">
          <p:sp>
            <p:nvSpPr>
              <p:cNvPr id="25" name="TextBox 24"/>
              <p:cNvSpPr txBox="1">
                <a:spLocks noRot="1" noChangeAspect="1" noMove="1" noResize="1" noEditPoints="1" noAdjustHandles="1" noChangeArrowheads="1" noChangeShapeType="1" noTextEdit="1"/>
              </p:cNvSpPr>
              <p:nvPr/>
            </p:nvSpPr>
            <p:spPr>
              <a:xfrm>
                <a:off x="8129938" y="2855526"/>
                <a:ext cx="889411" cy="54149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2252104" y="1454263"/>
                <a:ext cx="1204240" cy="302327"/>
              </a:xfrm>
              <a:prstGeom prst="rect">
                <a:avLst/>
              </a:prstGeom>
              <a:noFill/>
            </p:spPr>
            <p:txBody>
              <a:bodyPr wrap="none" lIns="0" tIns="0" rIns="0" bIns="0" rtlCol="0">
                <a:spAutoFit/>
              </a:bodyPr>
              <a:lstStyle/>
              <a:p>
                <a:pPr/>
                <a14:m>
                  <m:oMathPara xmlns:m="http://schemas.openxmlformats.org/officeDocument/2006/math">
                    <m:oMath>
                      <m:r>
                        <m:rPr>
                          <m:nor/>
                        </m:rPr>
                        <a:rPr lang="en-US" i="0">
                          <a:latin typeface="Cambria Math" panose="02040503050406030204" pitchFamily="18" charset="0"/>
                          <a:ea typeface="Cambria Math" panose="02040503050406030204" pitchFamily="18" charset="0"/>
                        </a:rPr>
                        <m:t>CR</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oMath>
                  </m:oMathPara>
                </a14:m>
                <a:endParaRPr lang="en-US" dirty="0"/>
              </a:p>
            </p:txBody>
          </p:sp>
        </mc:Choice>
        <mc:Fallback xmlns="">
          <p:sp>
            <p:nvSpPr>
              <p:cNvPr id="26" name="TextBox 25"/>
              <p:cNvSpPr txBox="1">
                <a:spLocks noRot="1" noChangeAspect="1" noMove="1" noResize="1" noEditPoints="1" noAdjustHandles="1" noChangeArrowheads="1" noChangeShapeType="1" noTextEdit="1"/>
              </p:cNvSpPr>
              <p:nvPr/>
            </p:nvSpPr>
            <p:spPr>
              <a:xfrm>
                <a:off x="2252104" y="1454263"/>
                <a:ext cx="1204240" cy="302327"/>
              </a:xfrm>
              <a:prstGeom prst="rect">
                <a:avLst/>
              </a:prstGeom>
              <a:blipFill>
                <a:blip r:embed="rId18"/>
                <a:stretch>
                  <a:fillRect l="-3030" b="-183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8108074" y="1378147"/>
                <a:ext cx="1204240" cy="302327"/>
              </a:xfrm>
              <a:prstGeom prst="rect">
                <a:avLst/>
              </a:prstGeom>
              <a:noFill/>
            </p:spPr>
            <p:txBody>
              <a:bodyPr wrap="none" lIns="0" tIns="0" rIns="0" bIns="0" rtlCol="0">
                <a:spAutoFit/>
              </a:bodyPr>
              <a:lstStyle/>
              <a:p>
                <a:pPr/>
                <a14:m>
                  <m:oMathPara xmlns:m="http://schemas.openxmlformats.org/officeDocument/2006/math">
                    <m:oMath>
                      <m:r>
                        <m:rPr>
                          <m:nor/>
                        </m:rPr>
                        <a:rPr lang="en-US" i="0">
                          <a:latin typeface="Cambria Math" panose="02040503050406030204" pitchFamily="18" charset="0"/>
                          <a:ea typeface="Cambria Math" panose="02040503050406030204" pitchFamily="18" charset="0"/>
                        </a:rPr>
                        <m:t>CR</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sSub>
                        <m:sSubPr>
                          <m:ctrlPr>
                            <a:rPr lang="el-GR" i="1">
                              <a:latin typeface="Cambria Math" panose="02040503050406030204" pitchFamily="18" charset="0"/>
                              <a:ea typeface="Cambria Math" panose="02040503050406030204" pitchFamily="18" charset="0"/>
                            </a:rPr>
                          </m:ctrlPr>
                        </m:sSubPr>
                        <m:e>
                          <m:r>
                            <m:rPr>
                              <m:sty m:val="p"/>
                            </m:rPr>
                            <a:rPr lang="el-GR" i="1">
                              <a:latin typeface="Cambria Math" panose="02040503050406030204" pitchFamily="18" charset="0"/>
                              <a:ea typeface="Cambria Math" panose="02040503050406030204" pitchFamily="18" charset="0"/>
                            </a:rPr>
                            <m:t>φ</m:t>
                          </m:r>
                        </m:e>
                        <m:sub>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𝐸</m:t>
                              </m:r>
                            </m:e>
                            <m:sub>
                              <m:r>
                                <a:rPr lang="en-US" i="1">
                                  <a:latin typeface="Cambria Math" panose="02040503050406030204" pitchFamily="18" charset="0"/>
                                  <a:ea typeface="Cambria Math" panose="02040503050406030204" pitchFamily="18" charset="0"/>
                                </a:rPr>
                                <m:t>0</m:t>
                              </m:r>
                            </m:sub>
                          </m:sSub>
                        </m:sub>
                      </m:sSub>
                    </m:oMath>
                  </m:oMathPara>
                </a14:m>
                <a:endParaRPr lang="en-US" dirty="0"/>
              </a:p>
            </p:txBody>
          </p:sp>
        </mc:Choice>
        <mc:Fallback xmlns="">
          <p:sp>
            <p:nvSpPr>
              <p:cNvPr id="27" name="TextBox 26"/>
              <p:cNvSpPr txBox="1">
                <a:spLocks noRot="1" noChangeAspect="1" noMove="1" noResize="1" noEditPoints="1" noAdjustHandles="1" noChangeArrowheads="1" noChangeShapeType="1" noTextEdit="1"/>
              </p:cNvSpPr>
              <p:nvPr/>
            </p:nvSpPr>
            <p:spPr>
              <a:xfrm>
                <a:off x="8108074" y="1378147"/>
                <a:ext cx="1204240" cy="302327"/>
              </a:xfrm>
              <a:prstGeom prst="rect">
                <a:avLst/>
              </a:prstGeom>
              <a:blipFill>
                <a:blip r:embed="rId19"/>
                <a:stretch>
                  <a:fillRect l="-3030" b="-16000"/>
                </a:stretch>
              </a:blipFill>
            </p:spPr>
            <p:txBody>
              <a:bodyPr/>
              <a:lstStyle/>
              <a:p>
                <a:r>
                  <a:rPr lang="en-US">
                    <a:noFill/>
                  </a:rPr>
                  <a:t> </a:t>
                </a:r>
              </a:p>
            </p:txBody>
          </p:sp>
        </mc:Fallback>
      </mc:AlternateContent>
      <p:cxnSp>
        <p:nvCxnSpPr>
          <p:cNvPr id="29" name="Straight Connector 28"/>
          <p:cNvCxnSpPr/>
          <p:nvPr/>
        </p:nvCxnSpPr>
        <p:spPr>
          <a:xfrm>
            <a:off x="6073029" y="1146178"/>
            <a:ext cx="0" cy="450128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38689" y="3627594"/>
            <a:ext cx="2157255" cy="584775"/>
          </a:xfrm>
          <a:prstGeom prst="rect">
            <a:avLst/>
          </a:prstGeom>
          <a:noFill/>
          <a:ln>
            <a:solidFill>
              <a:schemeClr val="tx2">
                <a:lumMod val="50000"/>
              </a:schemeClr>
            </a:solidFill>
          </a:ln>
        </p:spPr>
        <p:txBody>
          <a:bodyPr wrap="square" rtlCol="0">
            <a:spAutoFit/>
          </a:bodyPr>
          <a:lstStyle/>
          <a:p>
            <a:r>
              <a:rPr lang="en-US" sz="1600" dirty="0">
                <a:solidFill>
                  <a:schemeClr val="tx2">
                    <a:lumMod val="75000"/>
                  </a:schemeClr>
                </a:solidFill>
              </a:rPr>
              <a:t>Setting </a:t>
            </a:r>
            <a:r>
              <a:rPr lang="en-US" sz="1600" i="1" dirty="0">
                <a:solidFill>
                  <a:schemeClr val="tx2">
                    <a:lumMod val="75000"/>
                  </a:schemeClr>
                </a:solidFill>
              </a:rPr>
              <a:t>h </a:t>
            </a:r>
            <a:r>
              <a:rPr lang="en-US" sz="1600" dirty="0">
                <a:solidFill>
                  <a:schemeClr val="tx2">
                    <a:lumMod val="75000"/>
                  </a:schemeClr>
                </a:solidFill>
              </a:rPr>
              <a:t>to 1 implies infinite compensation!</a:t>
            </a:r>
          </a:p>
        </p:txBody>
      </p:sp>
      <p:sp>
        <p:nvSpPr>
          <p:cNvPr id="31" name="TextBox 30"/>
          <p:cNvSpPr txBox="1"/>
          <p:nvPr/>
        </p:nvSpPr>
        <p:spPr>
          <a:xfrm>
            <a:off x="9560048" y="3482836"/>
            <a:ext cx="2388728" cy="584775"/>
          </a:xfrm>
          <a:prstGeom prst="rect">
            <a:avLst/>
          </a:prstGeom>
          <a:noFill/>
          <a:ln>
            <a:solidFill>
              <a:schemeClr val="tx2">
                <a:lumMod val="50000"/>
              </a:schemeClr>
            </a:solidFill>
          </a:ln>
        </p:spPr>
        <p:txBody>
          <a:bodyPr wrap="square" rtlCol="0">
            <a:spAutoFit/>
          </a:bodyPr>
          <a:lstStyle/>
          <a:p>
            <a:r>
              <a:rPr lang="en-US" sz="1600" i="1" dirty="0">
                <a:solidFill>
                  <a:schemeClr val="tx2">
                    <a:lumMod val="75000"/>
                  </a:schemeClr>
                </a:solidFill>
              </a:rPr>
              <a:t>h </a:t>
            </a:r>
            <a:r>
              <a:rPr lang="en-US" sz="1600" dirty="0">
                <a:solidFill>
                  <a:schemeClr val="tx2">
                    <a:lumMod val="75000"/>
                  </a:schemeClr>
                </a:solidFill>
              </a:rPr>
              <a:t>can take values &gt; 1 in Ricker formulation</a:t>
            </a:r>
          </a:p>
        </p:txBody>
      </p:sp>
      <p:sp>
        <p:nvSpPr>
          <p:cNvPr id="4" name="Slide Number Placeholder 3"/>
          <p:cNvSpPr>
            <a:spLocks noGrp="1"/>
          </p:cNvSpPr>
          <p:nvPr>
            <p:ph type="sldNum" sz="quarter" idx="12"/>
          </p:nvPr>
        </p:nvSpPr>
        <p:spPr/>
        <p:txBody>
          <a:bodyPr/>
          <a:lstStyle/>
          <a:p>
            <a:fld id="{EEDFA2F9-C25F-4A63-B46B-7B5C200A39D1}" type="slidenum">
              <a:rPr lang="en-CA" smtClean="0"/>
              <a:t>55</a:t>
            </a:fld>
            <a:endParaRPr lang="en-CA"/>
          </a:p>
        </p:txBody>
      </p:sp>
    </p:spTree>
    <p:extLst>
      <p:ext uri="{BB962C8B-B14F-4D97-AF65-F5344CB8AC3E}">
        <p14:creationId xmlns:p14="http://schemas.microsoft.com/office/powerpoint/2010/main" val="13820733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2003" y="984106"/>
            <a:ext cx="11294919" cy="2815647"/>
          </a:xfrm>
        </p:spPr>
        <p:txBody>
          <a:bodyPr>
            <a:normAutofit fontScale="92500" lnSpcReduction="20000"/>
          </a:bodyPr>
          <a:lstStyle/>
          <a:p>
            <a:r>
              <a:rPr lang="en-US" dirty="0"/>
              <a:t>This means stock assessment models can be parameterized with just two of these parameters (CR or steepness and </a:t>
            </a:r>
            <a:r>
              <a:rPr lang="en-US" i="1" dirty="0"/>
              <a:t>R</a:t>
            </a:r>
            <a:r>
              <a:rPr lang="en-US" baseline="-25000" dirty="0"/>
              <a:t>0</a:t>
            </a:r>
            <a:r>
              <a:rPr lang="en-US" dirty="0"/>
              <a:t>; or </a:t>
            </a:r>
            <a:r>
              <a:rPr lang="el-GR" i="1" dirty="0">
                <a:latin typeface="Cambria Math" panose="02040503050406030204" pitchFamily="18" charset="0"/>
                <a:ea typeface="Cambria Math" panose="02040503050406030204" pitchFamily="18" charset="0"/>
              </a:rPr>
              <a:t>α</a:t>
            </a:r>
            <a:r>
              <a:rPr lang="en-US" dirty="0"/>
              <a:t> and </a:t>
            </a:r>
            <a:r>
              <a:rPr lang="el-GR" i="1" dirty="0">
                <a:latin typeface="Cambria Math" panose="02040503050406030204" pitchFamily="18" charset="0"/>
                <a:ea typeface="Cambria Math" panose="02040503050406030204" pitchFamily="18" charset="0"/>
              </a:rPr>
              <a:t>β</a:t>
            </a:r>
            <a:r>
              <a:rPr lang="en-US" dirty="0"/>
              <a:t> ) and the others can be derived</a:t>
            </a:r>
          </a:p>
          <a:p>
            <a:r>
              <a:rPr lang="en-US" dirty="0"/>
              <a:t>These parameters are fundamental determinants of reference points</a:t>
            </a:r>
          </a:p>
          <a:p>
            <a:r>
              <a:rPr lang="en-US" dirty="0"/>
              <a:t>Most common to use steepness and </a:t>
            </a:r>
            <a:r>
              <a:rPr lang="en-US" i="1" dirty="0"/>
              <a:t>R</a:t>
            </a:r>
            <a:r>
              <a:rPr lang="en-US" baseline="-25000" dirty="0"/>
              <a:t>0</a:t>
            </a:r>
            <a:r>
              <a:rPr lang="en-US" dirty="0"/>
              <a:t> then derive </a:t>
            </a:r>
            <a:r>
              <a:rPr lang="en-US" i="1" dirty="0"/>
              <a:t>B</a:t>
            </a:r>
            <a:r>
              <a:rPr lang="en-US" baseline="-25000" dirty="0"/>
              <a:t>0</a:t>
            </a:r>
            <a:r>
              <a:rPr lang="en-US" dirty="0"/>
              <a:t>, </a:t>
            </a:r>
            <a:r>
              <a:rPr lang="el-GR" i="1" dirty="0">
                <a:latin typeface="Cambria Math" panose="02040503050406030204" pitchFamily="18" charset="0"/>
                <a:ea typeface="Cambria Math" panose="02040503050406030204" pitchFamily="18" charset="0"/>
              </a:rPr>
              <a:t>α</a:t>
            </a:r>
            <a:r>
              <a:rPr lang="en-US" dirty="0"/>
              <a:t> and </a:t>
            </a:r>
            <a:r>
              <a:rPr lang="el-GR" i="1" dirty="0">
                <a:latin typeface="Cambria Math" panose="02040503050406030204" pitchFamily="18" charset="0"/>
                <a:ea typeface="Cambria Math" panose="02040503050406030204" pitchFamily="18" charset="0"/>
              </a:rPr>
              <a:t>β</a:t>
            </a:r>
            <a:r>
              <a:rPr lang="en-US" dirty="0"/>
              <a:t> </a:t>
            </a:r>
          </a:p>
          <a:p>
            <a:r>
              <a:rPr lang="en-US" dirty="0"/>
              <a:t>Easier to set up priors for </a:t>
            </a:r>
            <a:r>
              <a:rPr lang="en-US" dirty="0" err="1"/>
              <a:t>unitless</a:t>
            </a:r>
            <a:r>
              <a:rPr lang="en-US" dirty="0"/>
              <a:t> steepness (</a:t>
            </a:r>
            <a:r>
              <a:rPr lang="el-GR" i="1" dirty="0">
                <a:latin typeface="Cambria Math" panose="02040503050406030204" pitchFamily="18" charset="0"/>
                <a:ea typeface="Cambria Math" panose="02040503050406030204" pitchFamily="18" charset="0"/>
              </a:rPr>
              <a:t>α</a:t>
            </a:r>
            <a:r>
              <a:rPr lang="en-US" dirty="0"/>
              <a:t> and </a:t>
            </a:r>
            <a:r>
              <a:rPr lang="el-GR" i="1" dirty="0">
                <a:latin typeface="Cambria Math" panose="02040503050406030204" pitchFamily="18" charset="0"/>
                <a:ea typeface="Cambria Math" panose="02040503050406030204" pitchFamily="18" charset="0"/>
              </a:rPr>
              <a:t>β</a:t>
            </a:r>
            <a:r>
              <a:rPr lang="en-US" i="1" dirty="0">
                <a:latin typeface="Cambria Math" panose="02040503050406030204" pitchFamily="18" charset="0"/>
                <a:ea typeface="Cambria Math" panose="02040503050406030204" pitchFamily="18" charset="0"/>
              </a:rPr>
              <a:t> </a:t>
            </a:r>
            <a:r>
              <a:rPr lang="en-US" dirty="0"/>
              <a:t>are unit dependent) </a:t>
            </a:r>
          </a:p>
          <a:p>
            <a:r>
              <a:rPr lang="en-US" dirty="0"/>
              <a:t>But beware, data are seldom informative enough to estimate steepness</a:t>
            </a:r>
          </a:p>
        </p:txBody>
      </p:sp>
      <mc:AlternateContent xmlns:mc="http://schemas.openxmlformats.org/markup-compatibility/2006" xmlns:a14="http://schemas.microsoft.com/office/drawing/2010/main">
        <mc:Choice Requires="a14">
          <p:sp>
            <p:nvSpPr>
              <p:cNvPr id="5" name="Title 1"/>
              <p:cNvSpPr>
                <a:spLocks noGrp="1"/>
              </p:cNvSpPr>
              <p:nvPr>
                <p:ph type="title"/>
              </p:nvPr>
            </p:nvSpPr>
            <p:spPr>
              <a:xfrm>
                <a:off x="394854" y="-92075"/>
                <a:ext cx="11049000" cy="1325563"/>
              </a:xfrm>
            </p:spPr>
            <p:txBody>
              <a:bodyPr>
                <a:normAutofit/>
              </a:bodyPr>
              <a:lstStyle/>
              <a:p>
                <a:r>
                  <a:rPr lang="en-US" sz="3600" dirty="0"/>
                  <a:t>CR, Steepness (</a:t>
                </a:r>
                <a14:m>
                  <m:oMath xmlns:m="http://schemas.openxmlformats.org/officeDocument/2006/math">
                    <m:r>
                      <a:rPr lang="en-US" sz="3600" i="1" dirty="0" smtClean="0">
                        <a:latin typeface="Cambria Math" panose="02040503050406030204" pitchFamily="18" charset="0"/>
                      </a:rPr>
                      <m:t>ℎ</m:t>
                    </m:r>
                  </m:oMath>
                </a14:m>
                <a:r>
                  <a:rPr lang="en-US" sz="3600" dirty="0"/>
                  <a:t>), </a:t>
                </a:r>
                <a14:m>
                  <m:oMath xmlns:m="http://schemas.openxmlformats.org/officeDocument/2006/math">
                    <m:r>
                      <a:rPr lang="en-US" sz="3600" i="1" dirty="0" smtClean="0">
                        <a:latin typeface="Cambria Math" panose="02040503050406030204" pitchFamily="18" charset="0"/>
                      </a:rPr>
                      <m:t>𝑅</m:t>
                    </m:r>
                    <m:r>
                      <a:rPr lang="en-US" sz="3600" i="1" baseline="-25000" dirty="0" smtClean="0">
                        <a:latin typeface="Cambria Math" panose="02040503050406030204" pitchFamily="18" charset="0"/>
                      </a:rPr>
                      <m:t>0</m:t>
                    </m:r>
                  </m:oMath>
                </a14:m>
                <a:r>
                  <a:rPr lang="en-US" sz="3600" dirty="0"/>
                  <a:t>, </a:t>
                </a:r>
                <a:r>
                  <a:rPr lang="el-GR" sz="3600" i="1" dirty="0">
                    <a:latin typeface="Cambria Math" panose="02040503050406030204" pitchFamily="18" charset="0"/>
                    <a:ea typeface="Cambria Math" panose="02040503050406030204" pitchFamily="18" charset="0"/>
                  </a:rPr>
                  <a:t>α</a:t>
                </a:r>
                <a:r>
                  <a:rPr lang="en-US" sz="3600" dirty="0"/>
                  <a:t> and </a:t>
                </a:r>
                <a:r>
                  <a:rPr lang="el-GR" sz="3600" i="1" dirty="0">
                    <a:latin typeface="Cambria Math" panose="02040503050406030204" pitchFamily="18" charset="0"/>
                    <a:ea typeface="Cambria Math" panose="02040503050406030204" pitchFamily="18" charset="0"/>
                  </a:rPr>
                  <a:t>β</a:t>
                </a:r>
                <a:r>
                  <a:rPr lang="en-US" sz="3600" dirty="0"/>
                  <a:t> are all analytically related</a:t>
                </a:r>
              </a:p>
            </p:txBody>
          </p:sp>
        </mc:Choice>
        <mc:Fallback xmlns="">
          <p:sp>
            <p:nvSpPr>
              <p:cNvPr id="5" name="Title 1"/>
              <p:cNvSpPr>
                <a:spLocks noGrp="1" noRot="1" noChangeAspect="1" noMove="1" noResize="1" noEditPoints="1" noAdjustHandles="1" noChangeArrowheads="1" noChangeShapeType="1" noTextEdit="1"/>
              </p:cNvSpPr>
              <p:nvPr>
                <p:ph type="title"/>
              </p:nvPr>
            </p:nvSpPr>
            <p:spPr>
              <a:xfrm>
                <a:off x="394854" y="-92075"/>
                <a:ext cx="11049000" cy="1325563"/>
              </a:xfrm>
              <a:blipFill>
                <a:blip r:embed="rId2"/>
                <a:stretch>
                  <a:fillRect l="-1711"/>
                </a:stretch>
              </a:blipFill>
            </p:spPr>
            <p:txBody>
              <a:bodyPr/>
              <a:lstStyle/>
              <a:p>
                <a:r>
                  <a:rPr lang="en-US">
                    <a:noFill/>
                  </a:rPr>
                  <a:t> </a:t>
                </a:r>
              </a:p>
            </p:txBody>
          </p:sp>
        </mc:Fallback>
      </mc:AlternateContent>
      <p:sp>
        <p:nvSpPr>
          <p:cNvPr id="6" name="Rectangle 5"/>
          <p:cNvSpPr/>
          <p:nvPr/>
        </p:nvSpPr>
        <p:spPr>
          <a:xfrm>
            <a:off x="76200" y="5768508"/>
            <a:ext cx="12046527" cy="1015663"/>
          </a:xfrm>
          <a:prstGeom prst="rect">
            <a:avLst/>
          </a:prstGeom>
          <a:solidFill>
            <a:schemeClr val="accent1">
              <a:alpha val="25000"/>
            </a:schemeClr>
          </a:solidFill>
          <a:ln>
            <a:solidFill>
              <a:schemeClr val="accent1">
                <a:lumMod val="50000"/>
              </a:schemeClr>
            </a:solidFill>
          </a:ln>
        </p:spPr>
        <p:txBody>
          <a:bodyPr wrap="square" rtlCol="0">
            <a:spAutoFit/>
          </a:bodyPr>
          <a:lstStyle/>
          <a:p>
            <a:pPr marL="357188" indent="-357188"/>
            <a:r>
              <a:rPr lang="en-US" sz="1200" dirty="0">
                <a:solidFill>
                  <a:schemeClr val="tx2"/>
                </a:solidFill>
              </a:rPr>
              <a:t>Forrest, R. E., Martell, S. J. D., Melnychuk, M. C., &amp; Walters, C. J. (2008). An age-structured model with leading management parameters, incorporating age-specific selectivity and maturity. Can. J. Fish. </a:t>
            </a:r>
            <a:r>
              <a:rPr lang="en-US" sz="1200" dirty="0" err="1">
                <a:solidFill>
                  <a:schemeClr val="tx2"/>
                </a:solidFill>
              </a:rPr>
              <a:t>Aquat</a:t>
            </a:r>
            <a:r>
              <a:rPr lang="en-US" sz="1200" dirty="0">
                <a:solidFill>
                  <a:schemeClr val="tx2"/>
                </a:solidFill>
              </a:rPr>
              <a:t>. Sci. 65(2), 286–296. </a:t>
            </a:r>
            <a:r>
              <a:rPr lang="en-US" sz="1200" dirty="0">
                <a:solidFill>
                  <a:schemeClr val="tx2"/>
                </a:solidFill>
                <a:hlinkClick r:id="rId3"/>
              </a:rPr>
              <a:t>https://doi.org/10.1139/f07-156</a:t>
            </a:r>
            <a:endParaRPr lang="en-US" sz="1200" dirty="0">
              <a:solidFill>
                <a:schemeClr val="tx2"/>
              </a:solidFill>
            </a:endParaRPr>
          </a:p>
          <a:p>
            <a:pPr marL="357188" indent="-357188"/>
            <a:r>
              <a:rPr lang="en-US" sz="1200" dirty="0">
                <a:solidFill>
                  <a:schemeClr val="tx2"/>
                </a:solidFill>
              </a:rPr>
              <a:t>Martell, S. J. D., Pine, W. E., &amp; Walters, C. J. (2008). Parameterizing age-structured models from a fisheries management perspective. Can. J. Fish. </a:t>
            </a:r>
            <a:r>
              <a:rPr lang="en-US" sz="1200" dirty="0" err="1">
                <a:solidFill>
                  <a:schemeClr val="tx2"/>
                </a:solidFill>
              </a:rPr>
              <a:t>Aquat</a:t>
            </a:r>
            <a:r>
              <a:rPr lang="en-US" sz="1200" dirty="0">
                <a:solidFill>
                  <a:schemeClr val="tx2"/>
                </a:solidFill>
              </a:rPr>
              <a:t>. Sci.  65(8), 1586–1600. </a:t>
            </a:r>
            <a:r>
              <a:rPr lang="en-US" sz="1200" dirty="0">
                <a:solidFill>
                  <a:schemeClr val="tx2"/>
                </a:solidFill>
                <a:hlinkClick r:id="rId4"/>
              </a:rPr>
              <a:t>https://doi.org/10.1139/F08-055</a:t>
            </a:r>
            <a:endParaRPr lang="en-US" sz="1200" dirty="0">
              <a:solidFill>
                <a:schemeClr val="tx2"/>
              </a:solidFill>
            </a:endParaRPr>
          </a:p>
          <a:p>
            <a:pPr marL="357188" indent="-357188"/>
            <a:r>
              <a:rPr lang="en-US" sz="1200" dirty="0" err="1">
                <a:solidFill>
                  <a:schemeClr val="tx2"/>
                </a:solidFill>
              </a:rPr>
              <a:t>Schnute</a:t>
            </a:r>
            <a:r>
              <a:rPr lang="en-US" sz="1200" dirty="0">
                <a:solidFill>
                  <a:schemeClr val="tx2"/>
                </a:solidFill>
              </a:rPr>
              <a:t>, J. T., &amp; Kronlund, A. R. (1996). A management oriented approach to stock recruitment analysis. Can. J. Fish. </a:t>
            </a:r>
            <a:r>
              <a:rPr lang="en-US" sz="1200" dirty="0" err="1">
                <a:solidFill>
                  <a:schemeClr val="tx2"/>
                </a:solidFill>
              </a:rPr>
              <a:t>Aquat</a:t>
            </a:r>
            <a:r>
              <a:rPr lang="en-US" sz="1200" dirty="0">
                <a:solidFill>
                  <a:schemeClr val="tx2"/>
                </a:solidFill>
              </a:rPr>
              <a:t>. Sci. 53(6), 1281–1293. </a:t>
            </a:r>
            <a:r>
              <a:rPr lang="en-US" sz="1200" dirty="0">
                <a:solidFill>
                  <a:schemeClr val="tx2"/>
                </a:solidFill>
                <a:hlinkClick r:id="rId5"/>
              </a:rPr>
              <a:t>https://doi.org/10.1139/f96-069</a:t>
            </a:r>
            <a:endParaRPr lang="en-US" sz="1200" dirty="0">
              <a:solidFill>
                <a:schemeClr val="tx2"/>
              </a:solidFill>
            </a:endParaRPr>
          </a:p>
        </p:txBody>
      </p:sp>
      <p:sp>
        <p:nvSpPr>
          <p:cNvPr id="7" name="TextBox 6"/>
          <p:cNvSpPr txBox="1"/>
          <p:nvPr/>
        </p:nvSpPr>
        <p:spPr>
          <a:xfrm>
            <a:off x="1385454" y="4440381"/>
            <a:ext cx="9067800" cy="1015663"/>
          </a:xfrm>
          <a:prstGeom prst="rect">
            <a:avLst/>
          </a:prstGeom>
          <a:noFill/>
          <a:ln>
            <a:solidFill>
              <a:schemeClr val="tx2">
                <a:lumMod val="50000"/>
              </a:schemeClr>
            </a:solidFill>
          </a:ln>
        </p:spPr>
        <p:txBody>
          <a:bodyPr wrap="square" rtlCol="0">
            <a:spAutoFit/>
          </a:bodyPr>
          <a:lstStyle/>
          <a:p>
            <a:r>
              <a:rPr lang="en-US" sz="2000" dirty="0">
                <a:solidFill>
                  <a:schemeClr val="tx2">
                    <a:lumMod val="50000"/>
                  </a:schemeClr>
                </a:solidFill>
              </a:rPr>
              <a:t>Some authors have suggested estimating </a:t>
            </a:r>
            <a:r>
              <a:rPr lang="en-US" sz="2000" i="1" dirty="0">
                <a:solidFill>
                  <a:schemeClr val="tx2">
                    <a:lumMod val="50000"/>
                  </a:schemeClr>
                </a:solidFill>
              </a:rPr>
              <a:t>F</a:t>
            </a:r>
            <a:r>
              <a:rPr lang="en-US" sz="2000" baseline="-25000" dirty="0">
                <a:solidFill>
                  <a:schemeClr val="tx2">
                    <a:lumMod val="50000"/>
                  </a:schemeClr>
                </a:solidFill>
              </a:rPr>
              <a:t>MSY</a:t>
            </a:r>
            <a:r>
              <a:rPr lang="en-US" sz="2000" dirty="0">
                <a:solidFill>
                  <a:schemeClr val="tx2">
                    <a:lumMod val="50000"/>
                  </a:schemeClr>
                </a:solidFill>
              </a:rPr>
              <a:t> and MSY then deriving recruitment parameters from these. Priors for management parameters may be more intuitive (refs below)</a:t>
            </a:r>
          </a:p>
        </p:txBody>
      </p:sp>
      <p:sp>
        <p:nvSpPr>
          <p:cNvPr id="2" name="Slide Number Placeholder 1"/>
          <p:cNvSpPr>
            <a:spLocks noGrp="1"/>
          </p:cNvSpPr>
          <p:nvPr>
            <p:ph type="sldNum" sz="quarter" idx="12"/>
          </p:nvPr>
        </p:nvSpPr>
        <p:spPr/>
        <p:txBody>
          <a:bodyPr/>
          <a:lstStyle/>
          <a:p>
            <a:fld id="{EEDFA2F9-C25F-4A63-B46B-7B5C200A39D1}" type="slidenum">
              <a:rPr lang="en-CA" smtClean="0"/>
              <a:t>56</a:t>
            </a:fld>
            <a:endParaRPr lang="en-CA"/>
          </a:p>
        </p:txBody>
      </p:sp>
    </p:spTree>
    <p:extLst>
      <p:ext uri="{BB962C8B-B14F-4D97-AF65-F5344CB8AC3E}">
        <p14:creationId xmlns:p14="http://schemas.microsoft.com/office/powerpoint/2010/main" val="2653776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700434"/>
            <a:ext cx="10515600" cy="1325563"/>
          </a:xfrm>
        </p:spPr>
        <p:txBody>
          <a:bodyPr>
            <a:noAutofit/>
          </a:bodyPr>
          <a:lstStyle/>
          <a:p>
            <a:pPr algn="ctr"/>
            <a:r>
              <a:rPr lang="en-US" sz="5400" dirty="0">
                <a:solidFill>
                  <a:schemeClr val="bg1"/>
                </a:solidFill>
                <a:latin typeface="+mn-lt"/>
              </a:rPr>
              <a:t>6. Reference Points in Age-structured Models</a:t>
            </a:r>
          </a:p>
        </p:txBody>
      </p:sp>
      <p:sp>
        <p:nvSpPr>
          <p:cNvPr id="3" name="Slide Number Placeholder 2"/>
          <p:cNvSpPr>
            <a:spLocks noGrp="1"/>
          </p:cNvSpPr>
          <p:nvPr>
            <p:ph type="sldNum" sz="quarter" idx="12"/>
          </p:nvPr>
        </p:nvSpPr>
        <p:spPr/>
        <p:txBody>
          <a:bodyPr/>
          <a:lstStyle/>
          <a:p>
            <a:fld id="{EEDFA2F9-C25F-4A63-B46B-7B5C200A39D1}" type="slidenum">
              <a:rPr lang="en-CA" smtClean="0"/>
              <a:t>57</a:t>
            </a:fld>
            <a:endParaRPr lang="en-CA"/>
          </a:p>
        </p:txBody>
      </p:sp>
    </p:spTree>
    <p:extLst>
      <p:ext uri="{BB962C8B-B14F-4D97-AF65-F5344CB8AC3E}">
        <p14:creationId xmlns:p14="http://schemas.microsoft.com/office/powerpoint/2010/main" val="23881041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Limit Reference Points</a:t>
            </a:r>
            <a:endParaRPr lang="en-CA" dirty="0"/>
          </a:p>
        </p:txBody>
      </p:sp>
      <p:pic>
        <p:nvPicPr>
          <p:cNvPr id="4" name="Picture 3"/>
          <p:cNvPicPr>
            <a:picLocks noChangeAspect="1"/>
          </p:cNvPicPr>
          <p:nvPr/>
        </p:nvPicPr>
        <p:blipFill>
          <a:blip r:embed="rId2">
            <a:clrChange>
              <a:clrFrom>
                <a:srgbClr val="FFFFFF"/>
              </a:clrFrom>
              <a:clrTo>
                <a:srgbClr val="FFFFFF">
                  <a:alpha val="0"/>
                </a:srgbClr>
              </a:clrTo>
            </a:clrChange>
          </a:blip>
          <a:stretch>
            <a:fillRect/>
          </a:stretch>
        </p:blipFill>
        <p:spPr>
          <a:xfrm>
            <a:off x="838200" y="1413164"/>
            <a:ext cx="7894739" cy="5347452"/>
          </a:xfrm>
          <a:prstGeom prst="rect">
            <a:avLst/>
          </a:prstGeom>
        </p:spPr>
      </p:pic>
      <mc:AlternateContent xmlns:mc="http://schemas.openxmlformats.org/markup-compatibility/2006" xmlns:a14="http://schemas.microsoft.com/office/drawing/2010/main">
        <mc:Choice Requires="a14">
          <p:sp>
            <p:nvSpPr>
              <p:cNvPr id="3" name="TextBox 2"/>
              <p:cNvSpPr txBox="1"/>
              <p:nvPr/>
            </p:nvSpPr>
            <p:spPr>
              <a:xfrm>
                <a:off x="8589087" y="2508269"/>
                <a:ext cx="3602913" cy="513282"/>
              </a:xfrm>
              <a:prstGeom prst="rect">
                <a:avLst/>
              </a:prstGeom>
              <a:noFill/>
            </p:spPr>
            <p:txBody>
              <a:bodyPr wrap="square" rtlCol="0">
                <a:spAutoFit/>
              </a:bodyPr>
              <a:lstStyle/>
              <a:p>
                <a:pPr algn="ctr"/>
                <a14:m>
                  <m:oMathPara xmlns:m="http://schemas.openxmlformats.org/officeDocument/2006/math">
                    <m:oMath>
                      <m:r>
                        <m:rPr>
                          <m:nor/>
                        </m:rPr>
                        <a:rPr lang="en-US" sz="2800" i="0" dirty="0" smtClean="0">
                          <a:solidFill>
                            <a:schemeClr val="accent5"/>
                          </a:solidFill>
                        </a:rPr>
                        <m:t>% of</m:t>
                      </m:r>
                      <m:r>
                        <a:rPr lang="en-US" sz="2800" b="0" i="1" dirty="0" smtClean="0">
                          <a:solidFill>
                            <a:schemeClr val="accent5"/>
                          </a:solidFill>
                          <a:latin typeface="Cambria Math" panose="02040503050406030204" pitchFamily="18" charset="0"/>
                        </a:rPr>
                        <m:t> </m:t>
                      </m:r>
                      <m:r>
                        <a:rPr lang="en-US" sz="2800" i="1" dirty="0" smtClean="0">
                          <a:solidFill>
                            <a:schemeClr val="accent5"/>
                          </a:solidFill>
                          <a:latin typeface="Cambria Math" panose="02040503050406030204" pitchFamily="18" charset="0"/>
                        </a:rPr>
                        <m:t>𝐵</m:t>
                      </m:r>
                      <m:r>
                        <m:rPr>
                          <m:sty m:val="p"/>
                        </m:rPr>
                        <a:rPr lang="en-US" sz="2800" i="0" baseline="-25000" dirty="0">
                          <a:solidFill>
                            <a:schemeClr val="accent5"/>
                          </a:solidFill>
                          <a:latin typeface="Cambria Math" panose="02040503050406030204" pitchFamily="18" charset="0"/>
                        </a:rPr>
                        <m:t>MSY</m:t>
                      </m:r>
                    </m:oMath>
                  </m:oMathPara>
                </a14:m>
                <a:endParaRPr lang="en-CA" sz="2800" baseline="-25000" dirty="0">
                  <a:solidFill>
                    <a:schemeClr val="accent5"/>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8589087" y="2508269"/>
                <a:ext cx="3602913" cy="51328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9014671" y="5080679"/>
                <a:ext cx="2895597" cy="1384995"/>
              </a:xfrm>
              <a:prstGeom prst="rect">
                <a:avLst/>
              </a:prstGeom>
              <a:noFill/>
            </p:spPr>
            <p:txBody>
              <a:bodyPr wrap="square" rtlCol="0">
                <a:spAutoFit/>
              </a:bodyPr>
              <a:lstStyle/>
              <a:p>
                <a:pPr algn="ctr"/>
                <a:r>
                  <a:rPr lang="en-US" sz="2800" dirty="0">
                    <a:solidFill>
                      <a:schemeClr val="accent5"/>
                    </a:solidFill>
                  </a:rPr>
                  <a:t>% of Equilibrium </a:t>
                </a:r>
                <a14:m>
                  <m:oMath xmlns:m="http://schemas.openxmlformats.org/officeDocument/2006/math">
                    <m:r>
                      <a:rPr lang="en-US" sz="2800" i="1" dirty="0" smtClean="0">
                        <a:solidFill>
                          <a:schemeClr val="accent5"/>
                        </a:solidFill>
                        <a:latin typeface="Cambria Math" panose="02040503050406030204" pitchFamily="18" charset="0"/>
                      </a:rPr>
                      <m:t>𝐵</m:t>
                    </m:r>
                  </m:oMath>
                </a14:m>
                <a:r>
                  <a:rPr lang="en-US" sz="2800" dirty="0">
                    <a:solidFill>
                      <a:schemeClr val="accent5"/>
                    </a:solidFill>
                  </a:rPr>
                  <a:t> at </a:t>
                </a:r>
                <a14:m>
                  <m:oMath xmlns:m="http://schemas.openxmlformats.org/officeDocument/2006/math">
                    <m:r>
                      <a:rPr lang="en-US" sz="2800" i="1" dirty="0" smtClean="0">
                        <a:solidFill>
                          <a:schemeClr val="accent5"/>
                        </a:solidFill>
                        <a:latin typeface="Cambria Math" panose="02040503050406030204" pitchFamily="18" charset="0"/>
                      </a:rPr>
                      <m:t>𝐹</m:t>
                    </m:r>
                    <m:r>
                      <m:rPr>
                        <m:sty m:val="p"/>
                      </m:rPr>
                      <a:rPr lang="en-US" sz="2800" i="0" baseline="-25000" dirty="0">
                        <a:solidFill>
                          <a:schemeClr val="accent5"/>
                        </a:solidFill>
                        <a:latin typeface="Cambria Math" panose="02040503050406030204" pitchFamily="18" charset="0"/>
                      </a:rPr>
                      <m:t>X</m:t>
                    </m:r>
                    <m:r>
                      <a:rPr lang="en-US" sz="2800" i="0" baseline="-25000" dirty="0">
                        <a:solidFill>
                          <a:schemeClr val="accent5"/>
                        </a:solidFill>
                        <a:latin typeface="Cambria Math" panose="02040503050406030204" pitchFamily="18" charset="0"/>
                      </a:rPr>
                      <m:t>%</m:t>
                    </m:r>
                    <m:r>
                      <m:rPr>
                        <m:sty m:val="p"/>
                      </m:rPr>
                      <a:rPr lang="en-US" sz="2800" i="0" baseline="-25000" dirty="0">
                        <a:solidFill>
                          <a:schemeClr val="accent5"/>
                        </a:solidFill>
                        <a:latin typeface="Cambria Math" panose="02040503050406030204" pitchFamily="18" charset="0"/>
                      </a:rPr>
                      <m:t>SPR</m:t>
                    </m:r>
                    <m:r>
                      <a:rPr lang="en-US" sz="2800" i="0" baseline="-25000" dirty="0">
                        <a:solidFill>
                          <a:schemeClr val="accent5"/>
                        </a:solidFill>
                        <a:latin typeface="Cambria Math" panose="02040503050406030204" pitchFamily="18" charset="0"/>
                      </a:rPr>
                      <m:t> </m:t>
                    </m:r>
                  </m:oMath>
                </a14:m>
                <a:r>
                  <a:rPr lang="en-US" sz="2800" dirty="0">
                    <a:solidFill>
                      <a:schemeClr val="accent5"/>
                    </a:solidFill>
                  </a:rPr>
                  <a:t>as a </a:t>
                </a:r>
              </a:p>
              <a:p>
                <a:pPr algn="ctr"/>
                <a:r>
                  <a:rPr lang="en-US" sz="2800" u="sng" dirty="0">
                    <a:solidFill>
                      <a:schemeClr val="accent5"/>
                    </a:solidFill>
                  </a:rPr>
                  <a:t>proxy</a:t>
                </a:r>
                <a:r>
                  <a:rPr lang="en-US" sz="2800" dirty="0">
                    <a:solidFill>
                      <a:schemeClr val="accent5"/>
                    </a:solidFill>
                  </a:rPr>
                  <a:t> for </a:t>
                </a:r>
                <a14:m>
                  <m:oMath xmlns:m="http://schemas.openxmlformats.org/officeDocument/2006/math">
                    <m:r>
                      <a:rPr lang="en-US" sz="2800" i="1" dirty="0">
                        <a:solidFill>
                          <a:schemeClr val="accent5"/>
                        </a:solidFill>
                        <a:latin typeface="Cambria Math" panose="02040503050406030204" pitchFamily="18" charset="0"/>
                      </a:rPr>
                      <m:t>𝐵</m:t>
                    </m:r>
                    <m:r>
                      <a:rPr lang="en-US" sz="2800" i="1" baseline="-25000" dirty="0">
                        <a:solidFill>
                          <a:schemeClr val="accent5"/>
                        </a:solidFill>
                        <a:latin typeface="Cambria Math" panose="02040503050406030204" pitchFamily="18" charset="0"/>
                      </a:rPr>
                      <m:t>𝑀𝑆𝑌</m:t>
                    </m:r>
                  </m:oMath>
                </a14:m>
                <a:endParaRPr lang="en-CA" sz="2800" baseline="-25000" dirty="0">
                  <a:solidFill>
                    <a:schemeClr val="accent5"/>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9014671" y="5080679"/>
                <a:ext cx="2895597" cy="1384995"/>
              </a:xfrm>
              <a:prstGeom prst="rect">
                <a:avLst/>
              </a:prstGeom>
              <a:blipFill>
                <a:blip r:embed="rId4"/>
                <a:stretch>
                  <a:fillRect l="-4000" t="-3947" b="-114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589088" y="3806061"/>
                <a:ext cx="3602912" cy="1097736"/>
              </a:xfrm>
              <a:prstGeom prst="rect">
                <a:avLst/>
              </a:prstGeom>
              <a:noFill/>
            </p:spPr>
            <p:txBody>
              <a:bodyPr wrap="square" rtlCol="0">
                <a:spAutoFit/>
              </a:bodyPr>
              <a:lstStyle/>
              <a:p>
                <a:pPr algn="ctr"/>
                <a:r>
                  <a:rPr lang="en-US" sz="2800" dirty="0">
                    <a:solidFill>
                      <a:schemeClr val="accent5"/>
                    </a:solidFill>
                  </a:rPr>
                  <a:t>% of </a:t>
                </a:r>
                <a14:m>
                  <m:oMath xmlns:m="http://schemas.openxmlformats.org/officeDocument/2006/math">
                    <m:r>
                      <a:rPr lang="en-US" sz="2800" i="1" dirty="0" smtClean="0">
                        <a:solidFill>
                          <a:schemeClr val="accent5"/>
                        </a:solidFill>
                        <a:latin typeface="Cambria Math" panose="02040503050406030204" pitchFamily="18" charset="0"/>
                      </a:rPr>
                      <m:t>𝐵</m:t>
                    </m:r>
                    <m:r>
                      <a:rPr lang="en-US" sz="2800" i="1" baseline="-25000" dirty="0">
                        <a:solidFill>
                          <a:schemeClr val="accent5"/>
                        </a:solidFill>
                        <a:latin typeface="Cambria Math" panose="02040503050406030204" pitchFamily="18" charset="0"/>
                      </a:rPr>
                      <m:t>0</m:t>
                    </m:r>
                  </m:oMath>
                </a14:m>
                <a:r>
                  <a:rPr lang="en-US" sz="2800" baseline="-25000" dirty="0">
                    <a:solidFill>
                      <a:schemeClr val="accent5"/>
                    </a:solidFill>
                  </a:rPr>
                  <a:t> </a:t>
                </a:r>
                <a:endParaRPr lang="en-CA" sz="2800" i="1" baseline="-25000" dirty="0">
                  <a:solidFill>
                    <a:schemeClr val="accent5"/>
                  </a:solidFill>
                </a:endParaRPr>
              </a:p>
              <a:p>
                <a:pPr algn="ctr"/>
                <a:endParaRPr lang="en-CA" sz="2800" u="sng" baseline="-25000" dirty="0">
                  <a:solidFill>
                    <a:schemeClr val="accent5"/>
                  </a:solidFill>
                </a:endParaRPr>
              </a:p>
              <a:p>
                <a:endParaRPr lang="en-CA" sz="2800" baseline="-25000" dirty="0">
                  <a:solidFill>
                    <a:schemeClr val="accent5"/>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8589088" y="3806061"/>
                <a:ext cx="3602912" cy="1097736"/>
              </a:xfrm>
              <a:prstGeom prst="rect">
                <a:avLst/>
              </a:prstGeom>
              <a:blipFill>
                <a:blip r:embed="rId5"/>
                <a:stretch>
                  <a:fillRect t="-5000"/>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A4956D24-10EF-496E-ABD8-A7640B5095D3}"/>
              </a:ext>
            </a:extLst>
          </p:cNvPr>
          <p:cNvSpPr txBox="1"/>
          <p:nvPr/>
        </p:nvSpPr>
        <p:spPr>
          <a:xfrm>
            <a:off x="7155810" y="6642556"/>
            <a:ext cx="5036190" cy="215444"/>
          </a:xfrm>
          <a:prstGeom prst="rect">
            <a:avLst/>
          </a:prstGeom>
          <a:noFill/>
        </p:spPr>
        <p:txBody>
          <a:bodyPr wrap="square">
            <a:spAutoFit/>
          </a:bodyPr>
          <a:lstStyle/>
          <a:p>
            <a:r>
              <a:rPr lang="en-US" sz="800" b="0" i="0" u="none" strike="noStrike" baseline="0" dirty="0">
                <a:solidFill>
                  <a:srgbClr val="000000"/>
                </a:solidFill>
                <a:latin typeface="Calibri" panose="020F0502020204030204" pitchFamily="34" charset="0"/>
              </a:rPr>
              <a:t>1 Adapted from Pew Charitable Trusts (2016) Reference Points: Measuring Success in Fisheries Management. 8 pp. </a:t>
            </a:r>
            <a:endParaRPr lang="en-US" dirty="0"/>
          </a:p>
        </p:txBody>
      </p:sp>
      <p:sp>
        <p:nvSpPr>
          <p:cNvPr id="7" name="Slide Number Placeholder 6"/>
          <p:cNvSpPr>
            <a:spLocks noGrp="1"/>
          </p:cNvSpPr>
          <p:nvPr>
            <p:ph type="sldNum" sz="quarter" idx="12"/>
          </p:nvPr>
        </p:nvSpPr>
        <p:spPr/>
        <p:txBody>
          <a:bodyPr/>
          <a:lstStyle/>
          <a:p>
            <a:fld id="{EEDFA2F9-C25F-4A63-B46B-7B5C200A39D1}" type="slidenum">
              <a:rPr lang="en-CA" smtClean="0"/>
              <a:t>58</a:t>
            </a:fld>
            <a:endParaRPr lang="en-CA"/>
          </a:p>
        </p:txBody>
      </p:sp>
    </p:spTree>
    <p:extLst>
      <p:ext uri="{BB962C8B-B14F-4D97-AF65-F5344CB8AC3E}">
        <p14:creationId xmlns:p14="http://schemas.microsoft.com/office/powerpoint/2010/main" val="19647988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Equilibrium Reference Points</a:t>
            </a:r>
            <a:endParaRPr lang="en-CA"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will explore the calculations for age-structured models:</a:t>
                </a:r>
              </a:p>
              <a:p>
                <a:pPr marL="914400" lvl="1" indent="-457200">
                  <a:buFont typeface="Arial" panose="020B0604020202020204" pitchFamily="34" charset="0"/>
                  <a:buAutoNum type="arabicPeriod"/>
                </a:pPr>
                <a14:m>
                  <m:oMath xmlns:m="http://schemas.openxmlformats.org/officeDocument/2006/math">
                    <m:r>
                      <a:rPr lang="en-US" i="1" dirty="0">
                        <a:latin typeface="Cambria Math" panose="02040503050406030204" pitchFamily="18" charset="0"/>
                      </a:rPr>
                      <m:t>𝐵</m:t>
                    </m:r>
                    <m:r>
                      <a:rPr lang="en-US" i="1" baseline="-25000" dirty="0">
                        <a:latin typeface="Cambria Math" panose="02040503050406030204" pitchFamily="18" charset="0"/>
                      </a:rPr>
                      <m:t>0</m:t>
                    </m:r>
                  </m:oMath>
                </a14:m>
                <a:endParaRPr lang="en-US" baseline="-25000" dirty="0"/>
              </a:p>
              <a:p>
                <a:pPr marL="914400" lvl="1" indent="-457200">
                  <a:buFont typeface="Arial" panose="020B0604020202020204" pitchFamily="34" charset="0"/>
                  <a:buAutoNum type="arabicPeriod"/>
                </a:pPr>
                <a14:m>
                  <m:oMath xmlns:m="http://schemas.openxmlformats.org/officeDocument/2006/math">
                    <m:r>
                      <a:rPr lang="en-US" i="1" dirty="0">
                        <a:latin typeface="Cambria Math" panose="02040503050406030204" pitchFamily="18" charset="0"/>
                      </a:rPr>
                      <m:t>𝐹</m:t>
                    </m:r>
                    <m:r>
                      <m:rPr>
                        <m:sty m:val="p"/>
                      </m:rPr>
                      <a:rPr lang="en-US" i="0" baseline="-25000" dirty="0">
                        <a:latin typeface="Cambria Math" panose="02040503050406030204" pitchFamily="18" charset="0"/>
                      </a:rPr>
                      <m:t>MSY</m:t>
                    </m:r>
                    <m:r>
                      <m:rPr>
                        <m:nor/>
                      </m:rPr>
                      <a:rPr lang="en-US" i="0" dirty="0"/>
                      <m:t> </m:t>
                    </m:r>
                  </m:oMath>
                </a14:m>
                <a:r>
                  <a:rPr lang="en-US" dirty="0"/>
                  <a:t>and </a:t>
                </a:r>
                <a14:m>
                  <m:oMath xmlns:m="http://schemas.openxmlformats.org/officeDocument/2006/math">
                    <m:r>
                      <a:rPr lang="en-US" i="1" dirty="0">
                        <a:latin typeface="Cambria Math" panose="02040503050406030204" pitchFamily="18" charset="0"/>
                      </a:rPr>
                      <m:t>𝐵</m:t>
                    </m:r>
                    <m:r>
                      <m:rPr>
                        <m:sty m:val="p"/>
                      </m:rPr>
                      <a:rPr lang="en-US" baseline="-25000" dirty="0">
                        <a:latin typeface="Cambria Math" panose="02040503050406030204" pitchFamily="18" charset="0"/>
                      </a:rPr>
                      <m:t>MSY</m:t>
                    </m:r>
                  </m:oMath>
                </a14:m>
                <a:r>
                  <a:rPr lang="en-US" baseline="-25000" dirty="0"/>
                  <a:t> </a:t>
                </a:r>
                <a:endParaRPr lang="en-US" dirty="0"/>
              </a:p>
              <a:p>
                <a:pPr marL="914400" lvl="1" indent="-457200">
                  <a:buAutoNum type="arabicPeriod"/>
                </a:pPr>
                <a14:m>
                  <m:oMath xmlns:m="http://schemas.openxmlformats.org/officeDocument/2006/math">
                    <m:r>
                      <a:rPr lang="en-US" i="1" dirty="0" smtClean="0">
                        <a:latin typeface="Cambria Math" panose="02040503050406030204" pitchFamily="18" charset="0"/>
                      </a:rPr>
                      <m:t>𝐹</m:t>
                    </m:r>
                    <m:r>
                      <m:rPr>
                        <m:sty m:val="p"/>
                      </m:rPr>
                      <a:rPr lang="en-US" i="0" baseline="-25000" dirty="0" smtClean="0">
                        <a:latin typeface="Cambria Math" panose="02040503050406030204" pitchFamily="18" charset="0"/>
                      </a:rPr>
                      <m:t>X</m:t>
                    </m:r>
                    <m:r>
                      <a:rPr lang="en-US" i="0" baseline="-25000" dirty="0" smtClean="0">
                        <a:latin typeface="Cambria Math" panose="02040503050406030204" pitchFamily="18" charset="0"/>
                      </a:rPr>
                      <m:t>%</m:t>
                    </m:r>
                    <m:r>
                      <m:rPr>
                        <m:sty m:val="p"/>
                      </m:rPr>
                      <a:rPr lang="en-US" i="0" baseline="-25000" dirty="0" smtClean="0">
                        <a:latin typeface="Cambria Math" panose="02040503050406030204" pitchFamily="18" charset="0"/>
                      </a:rPr>
                      <m:t>SPR</m:t>
                    </m:r>
                  </m:oMath>
                </a14:m>
                <a:r>
                  <a:rPr lang="en-US" baseline="-25000" dirty="0"/>
                  <a:t> </a:t>
                </a:r>
                <a:r>
                  <a:rPr lang="en-US" dirty="0"/>
                  <a:t>and the equilibrium </a:t>
                </a:r>
                <a14:m>
                  <m:oMath xmlns:m="http://schemas.openxmlformats.org/officeDocument/2006/math">
                    <m:r>
                      <a:rPr lang="en-US" i="1" dirty="0">
                        <a:latin typeface="Cambria Math" panose="02040503050406030204" pitchFamily="18" charset="0"/>
                      </a:rPr>
                      <m:t>𝐵</m:t>
                    </m:r>
                  </m:oMath>
                </a14:m>
                <a:r>
                  <a:rPr lang="en-US" baseline="-25000" dirty="0"/>
                  <a:t> </a:t>
                </a:r>
                <a:r>
                  <a:rPr lang="en-US" dirty="0"/>
                  <a:t>from fishing at </a:t>
                </a:r>
                <a14:m>
                  <m:oMath xmlns:m="http://schemas.openxmlformats.org/officeDocument/2006/math">
                    <m:r>
                      <a:rPr lang="en-US" i="1" dirty="0">
                        <a:latin typeface="Cambria Math" panose="02040503050406030204" pitchFamily="18" charset="0"/>
                      </a:rPr>
                      <m:t>𝐹</m:t>
                    </m:r>
                    <m:r>
                      <m:rPr>
                        <m:sty m:val="p"/>
                      </m:rPr>
                      <a:rPr lang="en-US" baseline="-25000" dirty="0">
                        <a:latin typeface="Cambria Math" panose="02040503050406030204" pitchFamily="18" charset="0"/>
                      </a:rPr>
                      <m:t>X</m:t>
                    </m:r>
                    <m:r>
                      <a:rPr lang="en-US" baseline="-25000" dirty="0">
                        <a:latin typeface="Cambria Math" panose="02040503050406030204" pitchFamily="18" charset="0"/>
                      </a:rPr>
                      <m:t>%</m:t>
                    </m:r>
                    <m:r>
                      <m:rPr>
                        <m:sty m:val="p"/>
                      </m:rPr>
                      <a:rPr lang="en-US" baseline="-25000" dirty="0">
                        <a:latin typeface="Cambria Math" panose="02040503050406030204" pitchFamily="18" charset="0"/>
                      </a:rPr>
                      <m:t>SPR</m:t>
                    </m:r>
                  </m:oMath>
                </a14:m>
                <a:r>
                  <a:rPr lang="en-US" baseline="-25000" dirty="0"/>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59</a:t>
            </a:fld>
            <a:endParaRPr lang="en-CA"/>
          </a:p>
        </p:txBody>
      </p:sp>
    </p:spTree>
    <p:extLst>
      <p:ext uri="{BB962C8B-B14F-4D97-AF65-F5344CB8AC3E}">
        <p14:creationId xmlns:p14="http://schemas.microsoft.com/office/powerpoint/2010/main" val="22576920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700434"/>
            <a:ext cx="10515600" cy="1325563"/>
          </a:xfrm>
        </p:spPr>
        <p:txBody>
          <a:bodyPr>
            <a:normAutofit/>
          </a:bodyPr>
          <a:lstStyle/>
          <a:p>
            <a:pPr algn="ctr"/>
            <a:r>
              <a:rPr lang="en-US" sz="5400" dirty="0">
                <a:solidFill>
                  <a:schemeClr val="bg1"/>
                </a:solidFill>
                <a:latin typeface="+mn-lt"/>
              </a:rPr>
              <a:t>Per-recruit Calculations</a:t>
            </a:r>
          </a:p>
        </p:txBody>
      </p:sp>
      <p:sp>
        <p:nvSpPr>
          <p:cNvPr id="3" name="Slide Number Placeholder 2"/>
          <p:cNvSpPr>
            <a:spLocks noGrp="1"/>
          </p:cNvSpPr>
          <p:nvPr>
            <p:ph type="sldNum" sz="quarter" idx="12"/>
          </p:nvPr>
        </p:nvSpPr>
        <p:spPr/>
        <p:txBody>
          <a:bodyPr/>
          <a:lstStyle/>
          <a:p>
            <a:fld id="{EEDFA2F9-C25F-4A63-B46B-7B5C200A39D1}" type="slidenum">
              <a:rPr lang="en-CA" smtClean="0"/>
              <a:t>60</a:t>
            </a:fld>
            <a:endParaRPr lang="en-CA"/>
          </a:p>
        </p:txBody>
      </p:sp>
    </p:spTree>
    <p:extLst>
      <p:ext uri="{BB962C8B-B14F-4D97-AF65-F5344CB8AC3E}">
        <p14:creationId xmlns:p14="http://schemas.microsoft.com/office/powerpoint/2010/main" val="20310595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Per-recruit Calculations</a:t>
            </a:r>
          </a:p>
        </p:txBody>
      </p:sp>
      <p:sp>
        <p:nvSpPr>
          <p:cNvPr id="3" name="Content Placeholder 2"/>
          <p:cNvSpPr>
            <a:spLocks noGrp="1"/>
          </p:cNvSpPr>
          <p:nvPr>
            <p:ph idx="1"/>
          </p:nvPr>
        </p:nvSpPr>
        <p:spPr/>
        <p:txBody>
          <a:bodyPr/>
          <a:lstStyle/>
          <a:p>
            <a:r>
              <a:rPr lang="en-US" dirty="0"/>
              <a:t>“Per-recruit” functions are useful tools for calculating reference points in age-structured models.</a:t>
            </a:r>
          </a:p>
          <a:p>
            <a:r>
              <a:rPr lang="en-US" dirty="0"/>
              <a:t>In the next few slides will look at</a:t>
            </a:r>
          </a:p>
          <a:p>
            <a:pPr marL="514350" indent="-514350">
              <a:buAutoNum type="arabicPeriod"/>
            </a:pPr>
            <a:r>
              <a:rPr lang="en-US" dirty="0"/>
              <a:t>Mortality Rates</a:t>
            </a:r>
          </a:p>
          <a:p>
            <a:pPr marL="514350" indent="-514350">
              <a:buAutoNum type="arabicPeriod"/>
            </a:pPr>
            <a:r>
              <a:rPr lang="en-US" dirty="0"/>
              <a:t>Survivorship</a:t>
            </a:r>
          </a:p>
          <a:p>
            <a:pPr marL="514350" indent="-514350">
              <a:buAutoNum type="arabicPeriod"/>
            </a:pPr>
            <a:r>
              <a:rPr lang="en-US" dirty="0"/>
              <a:t>SSB-per-recruit (or Eggs-per-recruit)</a:t>
            </a:r>
          </a:p>
          <a:p>
            <a:pPr marL="514350" indent="-514350">
              <a:buAutoNum type="arabicPeriod"/>
            </a:pPr>
            <a:r>
              <a:rPr lang="en-US" dirty="0"/>
              <a:t>Yield-per-recruit (YPR)</a:t>
            </a:r>
          </a:p>
          <a:p>
            <a:endParaRPr lang="en-CA" dirty="0"/>
          </a:p>
          <a:p>
            <a:pPr lvl="1"/>
            <a:endParaRPr lang="en-CA" dirty="0"/>
          </a:p>
        </p:txBody>
      </p:sp>
      <p:sp>
        <p:nvSpPr>
          <p:cNvPr id="4" name="Slide Number Placeholder 3"/>
          <p:cNvSpPr>
            <a:spLocks noGrp="1"/>
          </p:cNvSpPr>
          <p:nvPr>
            <p:ph type="sldNum" sz="quarter" idx="12"/>
          </p:nvPr>
        </p:nvSpPr>
        <p:spPr/>
        <p:txBody>
          <a:bodyPr/>
          <a:lstStyle/>
          <a:p>
            <a:fld id="{EEDFA2F9-C25F-4A63-B46B-7B5C200A39D1}" type="slidenum">
              <a:rPr lang="en-CA" smtClean="0"/>
              <a:t>61</a:t>
            </a:fld>
            <a:endParaRPr lang="en-CA"/>
          </a:p>
        </p:txBody>
      </p:sp>
    </p:spTree>
    <p:extLst>
      <p:ext uri="{BB962C8B-B14F-4D97-AF65-F5344CB8AC3E}">
        <p14:creationId xmlns:p14="http://schemas.microsoft.com/office/powerpoint/2010/main" val="301406164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Calculations </a:t>
            </a:r>
            <a:r>
              <a:rPr lang="en-CA" sz="3600" b="1" dirty="0">
                <a:solidFill>
                  <a:schemeClr val="accent6"/>
                </a:solidFill>
              </a:rPr>
              <a:t>1. Mortality Rates</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D6F078F-2646-43EA-B061-F006E75ACD4B}"/>
                  </a:ext>
                </a:extLst>
              </p:cNvPr>
              <p:cNvSpPr txBox="1"/>
              <p:nvPr/>
            </p:nvSpPr>
            <p:spPr>
              <a:xfrm>
                <a:off x="3829664" y="3057171"/>
                <a:ext cx="1337187" cy="523220"/>
              </a:xfrm>
              <a:prstGeom prst="rect">
                <a:avLst/>
              </a:prstGeom>
              <a:solidFill>
                <a:schemeClr val="accent1">
                  <a:lumMod val="40000"/>
                  <a:lumOff val="60000"/>
                </a:schemeClr>
              </a:solidFill>
              <a:ln>
                <a:solidFill>
                  <a:schemeClr val="tx1"/>
                </a:solidFill>
              </a:ln>
            </p:spPr>
            <p:txBody>
              <a:bodyPr wrap="square" rtlCol="0">
                <a:spAutoFit/>
              </a:bodyPr>
              <a:lstStyle/>
              <a:p>
                <a:pPr/>
                <a14:m>
                  <m:oMathPara xmlns:m="http://schemas.openxmlformats.org/officeDocument/2006/math">
                    <m:oMath>
                      <m:r>
                        <a:rPr lang="en-US" sz="2800" b="0" i="1" smtClean="0">
                          <a:latin typeface="Cambria Math" panose="02040503050406030204" pitchFamily="18" charset="0"/>
                        </a:rPr>
                        <m:t>𝑀</m:t>
                      </m:r>
                    </m:oMath>
                  </m:oMathPara>
                </a14:m>
                <a:endParaRPr lang="en-US" sz="2800" dirty="0"/>
              </a:p>
            </p:txBody>
          </p:sp>
        </mc:Choice>
        <mc:Fallback xmlns="">
          <p:sp>
            <p:nvSpPr>
              <p:cNvPr id="6" name="TextBox 5">
                <a:extLst>
                  <a:ext uri="{FF2B5EF4-FFF2-40B4-BE49-F238E27FC236}">
                    <a16:creationId xmlns:a16="http://schemas.microsoft.com/office/drawing/2014/main" id="{AD6F078F-2646-43EA-B061-F006E75ACD4B}"/>
                  </a:ext>
                </a:extLst>
              </p:cNvPr>
              <p:cNvSpPr txBox="1">
                <a:spLocks noRot="1" noChangeAspect="1" noMove="1" noResize="1" noEditPoints="1" noAdjustHandles="1" noChangeArrowheads="1" noChangeShapeType="1" noTextEdit="1"/>
              </p:cNvSpPr>
              <p:nvPr/>
            </p:nvSpPr>
            <p:spPr>
              <a:xfrm>
                <a:off x="3829664" y="3057171"/>
                <a:ext cx="1337187" cy="523220"/>
              </a:xfrm>
              <a:prstGeom prst="rect">
                <a:avLst/>
              </a:prstGeom>
              <a:blipFill>
                <a:blip r:embed="rId2"/>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66B8FE1-7844-4757-90DA-E3A5CEF51622}"/>
                  </a:ext>
                </a:extLst>
              </p:cNvPr>
              <p:cNvSpPr txBox="1"/>
              <p:nvPr/>
            </p:nvSpPr>
            <p:spPr>
              <a:xfrm>
                <a:off x="7030063" y="3057171"/>
                <a:ext cx="1337187" cy="523220"/>
              </a:xfrm>
              <a:prstGeom prst="rect">
                <a:avLst/>
              </a:prstGeom>
              <a:solidFill>
                <a:schemeClr val="accent1">
                  <a:lumMod val="40000"/>
                  <a:lumOff val="60000"/>
                </a:schemeClr>
              </a:solidFill>
              <a:ln>
                <a:solidFill>
                  <a:schemeClr val="tx1"/>
                </a:solidFill>
              </a:ln>
            </p:spPr>
            <p:txBody>
              <a:bodyPr wrap="square" rtlCol="0">
                <a:spAutoFit/>
              </a:bodyPr>
              <a:lstStyle/>
              <a:p>
                <a:pPr/>
                <a14:m>
                  <m:oMathPara xmlns:m="http://schemas.openxmlformats.org/officeDocument/2006/math">
                    <m:oMath>
                      <m:r>
                        <a:rPr lang="en-US" sz="2800" b="0" i="1" smtClean="0">
                          <a:latin typeface="Cambria Math" panose="02040503050406030204" pitchFamily="18" charset="0"/>
                        </a:rPr>
                        <m:t>𝐹</m:t>
                      </m:r>
                    </m:oMath>
                  </m:oMathPara>
                </a14:m>
                <a:endParaRPr lang="en-US" sz="2800" dirty="0"/>
              </a:p>
            </p:txBody>
          </p:sp>
        </mc:Choice>
        <mc:Fallback xmlns="">
          <p:sp>
            <p:nvSpPr>
              <p:cNvPr id="11" name="TextBox 10">
                <a:extLst>
                  <a:ext uri="{FF2B5EF4-FFF2-40B4-BE49-F238E27FC236}">
                    <a16:creationId xmlns:a16="http://schemas.microsoft.com/office/drawing/2014/main" id="{B66B8FE1-7844-4757-90DA-E3A5CEF51622}"/>
                  </a:ext>
                </a:extLst>
              </p:cNvPr>
              <p:cNvSpPr txBox="1">
                <a:spLocks noRot="1" noChangeAspect="1" noMove="1" noResize="1" noEditPoints="1" noAdjustHandles="1" noChangeArrowheads="1" noChangeShapeType="1" noTextEdit="1"/>
              </p:cNvSpPr>
              <p:nvPr/>
            </p:nvSpPr>
            <p:spPr>
              <a:xfrm>
                <a:off x="7030063" y="3057171"/>
                <a:ext cx="1337187" cy="523220"/>
              </a:xfrm>
              <a:prstGeom prst="rect">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F0E5CEC-AB41-4BC0-8E52-91B0C900881E}"/>
                  </a:ext>
                </a:extLst>
              </p:cNvPr>
              <p:cNvSpPr txBox="1"/>
              <p:nvPr/>
            </p:nvSpPr>
            <p:spPr>
              <a:xfrm>
                <a:off x="9596686" y="2995614"/>
                <a:ext cx="2210247" cy="646331"/>
              </a:xfrm>
              <a:prstGeom prst="rect">
                <a:avLst/>
              </a:prstGeom>
              <a:noFill/>
            </p:spPr>
            <p:txBody>
              <a:bodyPr wrap="square" rtlCol="0">
                <a:spAutoFit/>
              </a:bodyPr>
              <a:lstStyle/>
              <a:p>
                <a:pPr/>
                <a14:m>
                  <m:oMathPara xmlns:m="http://schemas.openxmlformats.org/officeDocument/2006/math">
                    <m:oMath>
                      <m:r>
                        <a:rPr lang="en-US" i="1" dirty="0" smtClean="0">
                          <a:latin typeface="Cambria Math" panose="02040503050406030204" pitchFamily="18" charset="0"/>
                        </a:rPr>
                        <m:t>𝐹𝑖𝑠ℎ𝑖𝑛𝑔</m:t>
                      </m:r>
                      <m:r>
                        <a:rPr lang="en-US" i="1" dirty="0" smtClean="0">
                          <a:latin typeface="Cambria Math" panose="02040503050406030204" pitchFamily="18" charset="0"/>
                        </a:rPr>
                        <m:t> </m:t>
                      </m:r>
                      <m:r>
                        <a:rPr lang="en-US" i="1" dirty="0" smtClean="0">
                          <a:latin typeface="Cambria Math" panose="02040503050406030204" pitchFamily="18" charset="0"/>
                        </a:rPr>
                        <m:t>𝑀𝑜𝑟𝑡𝑎𝑙𝑖𝑡𝑦</m:t>
                      </m:r>
                      <m:r>
                        <a:rPr lang="en-US" b="0" i="1" dirty="0" smtClean="0">
                          <a:latin typeface="Cambria Math" panose="02040503050406030204" pitchFamily="18" charset="0"/>
                        </a:rPr>
                        <m:t>:</m:t>
                      </m:r>
                    </m:oMath>
                  </m:oMathPara>
                </a14:m>
                <a:endParaRPr lang="en-US" b="0" dirty="0"/>
              </a:p>
              <a:p>
                <a:r>
                  <a:rPr lang="en-US" dirty="0"/>
                  <a:t>removed from fishing</a:t>
                </a:r>
              </a:p>
            </p:txBody>
          </p:sp>
        </mc:Choice>
        <mc:Fallback xmlns="">
          <p:sp>
            <p:nvSpPr>
              <p:cNvPr id="12" name="TextBox 11">
                <a:extLst>
                  <a:ext uri="{FF2B5EF4-FFF2-40B4-BE49-F238E27FC236}">
                    <a16:creationId xmlns:a16="http://schemas.microsoft.com/office/drawing/2014/main" id="{FF0E5CEC-AB41-4BC0-8E52-91B0C900881E}"/>
                  </a:ext>
                </a:extLst>
              </p:cNvPr>
              <p:cNvSpPr txBox="1">
                <a:spLocks noRot="1" noChangeAspect="1" noMove="1" noResize="1" noEditPoints="1" noAdjustHandles="1" noChangeArrowheads="1" noChangeShapeType="1" noTextEdit="1"/>
              </p:cNvSpPr>
              <p:nvPr/>
            </p:nvSpPr>
            <p:spPr>
              <a:xfrm>
                <a:off x="9596686" y="2995614"/>
                <a:ext cx="2210247" cy="646331"/>
              </a:xfrm>
              <a:prstGeom prst="rect">
                <a:avLst/>
              </a:prstGeom>
              <a:blipFill>
                <a:blip r:embed="rId4"/>
                <a:stretch>
                  <a:fillRect l="-2204" r="-1653" b="-14151"/>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F368EFA5-4EBF-4BB2-B23D-4C5FB0E7DDA2}"/>
              </a:ext>
            </a:extLst>
          </p:cNvPr>
          <p:cNvCxnSpPr>
            <a:cxnSpLocks/>
            <a:stCxn id="12" idx="1"/>
            <a:endCxn id="11" idx="3"/>
          </p:cNvCxnSpPr>
          <p:nvPr/>
        </p:nvCxnSpPr>
        <p:spPr>
          <a:xfrm flipH="1">
            <a:off x="8367250" y="3318780"/>
            <a:ext cx="1229436"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E71146E-2E87-4003-B508-925530D7B9ED}"/>
                  </a:ext>
                </a:extLst>
              </p:cNvPr>
              <p:cNvSpPr txBox="1"/>
              <p:nvPr/>
            </p:nvSpPr>
            <p:spPr>
              <a:xfrm>
                <a:off x="463725" y="2718616"/>
                <a:ext cx="2579516" cy="1200329"/>
              </a:xfrm>
              <a:prstGeom prst="rect">
                <a:avLst/>
              </a:prstGeom>
              <a:noFill/>
            </p:spPr>
            <p:txBody>
              <a:bodyPr wrap="square" rtlCol="0">
                <a:spAutoFit/>
              </a:bodyPr>
              <a:lstStyle/>
              <a:p>
                <a:pPr algn="ctr"/>
                <a14:m>
                  <m:oMath xmlns:m="http://schemas.openxmlformats.org/officeDocument/2006/math">
                    <m:r>
                      <a:rPr lang="en-US" i="1" dirty="0" smtClean="0">
                        <a:latin typeface="Cambria Math" panose="02040503050406030204" pitchFamily="18" charset="0"/>
                      </a:rPr>
                      <m:t>𝑁𝑎𝑡𝑢𝑟𝑎𝑙</m:t>
                    </m:r>
                    <m:r>
                      <a:rPr lang="en-US" i="1" dirty="0" smtClean="0">
                        <a:latin typeface="Cambria Math" panose="02040503050406030204" pitchFamily="18" charset="0"/>
                      </a:rPr>
                      <m:t> </m:t>
                    </m:r>
                    <m:r>
                      <a:rPr lang="en-US" i="1" dirty="0" smtClean="0">
                        <a:latin typeface="Cambria Math" panose="02040503050406030204" pitchFamily="18" charset="0"/>
                      </a:rPr>
                      <m:t>𝑀𝑜𝑟𝑡𝑎𝑙𝑖𝑡𝑦</m:t>
                    </m:r>
                  </m:oMath>
                </a14:m>
                <a:r>
                  <a:rPr lang="en-US" dirty="0"/>
                  <a:t>: removed from natural sources (predation, disease, old age)</a:t>
                </a:r>
              </a:p>
            </p:txBody>
          </p:sp>
        </mc:Choice>
        <mc:Fallback xmlns="">
          <p:sp>
            <p:nvSpPr>
              <p:cNvPr id="14" name="TextBox 13">
                <a:extLst>
                  <a:ext uri="{FF2B5EF4-FFF2-40B4-BE49-F238E27FC236}">
                    <a16:creationId xmlns:a16="http://schemas.microsoft.com/office/drawing/2014/main" id="{5E71146E-2E87-4003-B508-925530D7B9ED}"/>
                  </a:ext>
                </a:extLst>
              </p:cNvPr>
              <p:cNvSpPr txBox="1">
                <a:spLocks noRot="1" noChangeAspect="1" noMove="1" noResize="1" noEditPoints="1" noAdjustHandles="1" noChangeArrowheads="1" noChangeShapeType="1" noTextEdit="1"/>
              </p:cNvSpPr>
              <p:nvPr/>
            </p:nvSpPr>
            <p:spPr>
              <a:xfrm>
                <a:off x="463725" y="2718616"/>
                <a:ext cx="2579516" cy="1200329"/>
              </a:xfrm>
              <a:prstGeom prst="rect">
                <a:avLst/>
              </a:prstGeom>
              <a:blipFill>
                <a:blip r:embed="rId5"/>
                <a:stretch>
                  <a:fillRect t="-3046" b="-7107"/>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26EE5043-5557-497B-A3D3-84C07C3D70B8}"/>
              </a:ext>
            </a:extLst>
          </p:cNvPr>
          <p:cNvCxnSpPr>
            <a:cxnSpLocks/>
            <a:stCxn id="14" idx="3"/>
            <a:endCxn id="6" idx="1"/>
          </p:cNvCxnSpPr>
          <p:nvPr/>
        </p:nvCxnSpPr>
        <p:spPr>
          <a:xfrm>
            <a:off x="3043241" y="3318781"/>
            <a:ext cx="78642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6F044CC-3233-4B6B-A6C6-020AEFFA49FE}"/>
                  </a:ext>
                </a:extLst>
              </p:cNvPr>
              <p:cNvSpPr txBox="1"/>
              <p:nvPr/>
            </p:nvSpPr>
            <p:spPr>
              <a:xfrm>
                <a:off x="4794453" y="4912489"/>
                <a:ext cx="2681750" cy="954107"/>
              </a:xfrm>
              <a:prstGeom prst="rect">
                <a:avLst/>
              </a:prstGeom>
              <a:solidFill>
                <a:schemeClr val="accent1">
                  <a:lumMod val="40000"/>
                  <a:lumOff val="60000"/>
                </a:schemeClr>
              </a:solidFill>
              <a:ln>
                <a:solidFill>
                  <a:schemeClr val="tx1"/>
                </a:solidFill>
              </a:ln>
            </p:spPr>
            <p:txBody>
              <a:bodyPr wrap="square" rtlCol="0">
                <a:spAutoFit/>
              </a:bodyPr>
              <a:lstStyle/>
              <a:p>
                <a:pPr algn="ctr"/>
                <a14:m>
                  <m:oMathPara xmlns:m="http://schemas.openxmlformats.org/officeDocument/2006/math">
                    <m:oMath>
                      <m:r>
                        <a:rPr lang="en-US" sz="2800" b="0" i="1" smtClean="0">
                          <a:latin typeface="Cambria Math" panose="02040503050406030204" pitchFamily="18" charset="0"/>
                        </a:rPr>
                        <m:t>𝑇𝑜𝑡𝑎𝑙</m:t>
                      </m:r>
                      <m:r>
                        <a:rPr lang="en-US" sz="2800" b="0" i="1" smtClean="0">
                          <a:latin typeface="Cambria Math" panose="02040503050406030204" pitchFamily="18" charset="0"/>
                        </a:rPr>
                        <m:t> </m:t>
                      </m:r>
                      <m:r>
                        <a:rPr lang="en-US" sz="2800" b="0" i="1" smtClean="0">
                          <a:latin typeface="Cambria Math" panose="02040503050406030204" pitchFamily="18" charset="0"/>
                        </a:rPr>
                        <m:t>𝑀𝑜𝑟𝑡𝑎𝑙𝑖𝑡𝑦</m:t>
                      </m:r>
                    </m:oMath>
                  </m:oMathPara>
                </a14:m>
                <a:endParaRPr lang="en-US" sz="2800" b="0" dirty="0"/>
              </a:p>
              <a:p>
                <a:pPr algn="ctr"/>
                <a14:m>
                  <m:oMath xmlns:m="http://schemas.openxmlformats.org/officeDocument/2006/math">
                    <m:r>
                      <a:rPr lang="en-US" sz="2800" i="1" dirty="0" smtClean="0">
                        <a:latin typeface="Cambria Math" panose="02040503050406030204" pitchFamily="18" charset="0"/>
                      </a:rPr>
                      <m:t>𝑍</m:t>
                    </m:r>
                  </m:oMath>
                </a14:m>
                <a:r>
                  <a:rPr lang="en-US" sz="2800" dirty="0"/>
                  <a:t> </a:t>
                </a:r>
                <a14:m>
                  <m:oMath xmlns:m="http://schemas.openxmlformats.org/officeDocument/2006/math">
                    <m:r>
                      <a:rPr lang="en-US" sz="2800" i="1" dirty="0" smtClean="0">
                        <a:latin typeface="Cambria Math" panose="02040503050406030204" pitchFamily="18" charset="0"/>
                      </a:rPr>
                      <m:t>= </m:t>
                    </m:r>
                    <m:r>
                      <a:rPr lang="en-US" sz="2800" i="1" dirty="0" smtClean="0">
                        <a:latin typeface="Cambria Math" panose="02040503050406030204" pitchFamily="18" charset="0"/>
                      </a:rPr>
                      <m:t>𝑀</m:t>
                    </m:r>
                    <m:r>
                      <a:rPr lang="en-US" sz="2800" i="1" dirty="0" smtClean="0">
                        <a:latin typeface="Cambria Math" panose="02040503050406030204" pitchFamily="18" charset="0"/>
                      </a:rPr>
                      <m:t> + </m:t>
                    </m:r>
                    <m:r>
                      <a:rPr lang="en-US" sz="2800" i="1" dirty="0" smtClean="0">
                        <a:latin typeface="Cambria Math" panose="02040503050406030204" pitchFamily="18" charset="0"/>
                      </a:rPr>
                      <m:t>𝐹</m:t>
                    </m:r>
                  </m:oMath>
                </a14:m>
                <a:endParaRPr lang="en-US" sz="2800" i="1" dirty="0"/>
              </a:p>
            </p:txBody>
          </p:sp>
        </mc:Choice>
        <mc:Fallback xmlns="">
          <p:sp>
            <p:nvSpPr>
              <p:cNvPr id="27" name="TextBox 26">
                <a:extLst>
                  <a:ext uri="{FF2B5EF4-FFF2-40B4-BE49-F238E27FC236}">
                    <a16:creationId xmlns:a16="http://schemas.microsoft.com/office/drawing/2014/main" id="{A6F044CC-3233-4B6B-A6C6-020AEFFA49FE}"/>
                  </a:ext>
                </a:extLst>
              </p:cNvPr>
              <p:cNvSpPr txBox="1">
                <a:spLocks noRot="1" noChangeAspect="1" noMove="1" noResize="1" noEditPoints="1" noAdjustHandles="1" noChangeArrowheads="1" noChangeShapeType="1" noTextEdit="1"/>
              </p:cNvSpPr>
              <p:nvPr/>
            </p:nvSpPr>
            <p:spPr>
              <a:xfrm>
                <a:off x="4794453" y="4912489"/>
                <a:ext cx="2681750" cy="954107"/>
              </a:xfrm>
              <a:prstGeom prst="rect">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Content Placeholder 2">
                <a:extLst>
                  <a:ext uri="{FF2B5EF4-FFF2-40B4-BE49-F238E27FC236}">
                    <a16:creationId xmlns:a16="http://schemas.microsoft.com/office/drawing/2014/main" id="{7F7CE83E-ED80-41AD-99EE-D3934DD3B36A}"/>
                  </a:ext>
                </a:extLst>
              </p:cNvPr>
              <p:cNvSpPr>
                <a:spLocks noGrp="1"/>
              </p:cNvSpPr>
              <p:nvPr>
                <p:ph idx="1"/>
              </p:nvPr>
            </p:nvSpPr>
            <p:spPr>
              <a:xfrm>
                <a:off x="838200" y="1825625"/>
                <a:ext cx="10515600" cy="646331"/>
              </a:xfrm>
            </p:spPr>
            <p:txBody>
              <a:bodyPr/>
              <a:lstStyle/>
              <a:p>
                <a:pPr marL="0" indent="0">
                  <a:buNone/>
                </a:pPr>
                <a14:m>
                  <m:oMath xmlns:m="http://schemas.openxmlformats.org/officeDocument/2006/math">
                    <m:r>
                      <a:rPr lang="en-US" i="1" dirty="0" smtClean="0">
                        <a:latin typeface="Cambria Math" panose="02040503050406030204" pitchFamily="18" charset="0"/>
                      </a:rPr>
                      <m:t>𝑀𝑜𝑟𝑡𝑎𝑙𝑖𝑡𝑦</m:t>
                    </m:r>
                  </m:oMath>
                </a14:m>
                <a:r>
                  <a:rPr lang="en-US" dirty="0"/>
                  <a:t>: how individuals are removed from the population </a:t>
                </a:r>
              </a:p>
              <a:p>
                <a:endParaRPr lang="en-CA" dirty="0"/>
              </a:p>
              <a:p>
                <a:pPr lvl="1"/>
                <a:endParaRPr lang="en-CA" dirty="0"/>
              </a:p>
            </p:txBody>
          </p:sp>
        </mc:Choice>
        <mc:Fallback xmlns="">
          <p:sp>
            <p:nvSpPr>
              <p:cNvPr id="42" name="Content Placeholder 2">
                <a:extLst>
                  <a:ext uri="{FF2B5EF4-FFF2-40B4-BE49-F238E27FC236}">
                    <a16:creationId xmlns:a16="http://schemas.microsoft.com/office/drawing/2014/main" id="{7F7CE83E-ED80-41AD-99EE-D3934DD3B36A}"/>
                  </a:ext>
                </a:extLst>
              </p:cNvPr>
              <p:cNvSpPr>
                <a:spLocks noGrp="1" noRot="1" noChangeAspect="1" noMove="1" noResize="1" noEditPoints="1" noAdjustHandles="1" noChangeArrowheads="1" noChangeShapeType="1" noTextEdit="1"/>
              </p:cNvSpPr>
              <p:nvPr>
                <p:ph idx="1"/>
              </p:nvPr>
            </p:nvSpPr>
            <p:spPr>
              <a:xfrm>
                <a:off x="838200" y="1825625"/>
                <a:ext cx="10515600" cy="646331"/>
              </a:xfrm>
              <a:blipFill>
                <a:blip r:embed="rId7"/>
                <a:stretch>
                  <a:fillRect t="-14953"/>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990966C2-DF29-43CD-89CC-33BC76E9B48E}"/>
              </a:ext>
            </a:extLst>
          </p:cNvPr>
          <p:cNvCxnSpPr>
            <a:stCxn id="6" idx="2"/>
            <a:endCxn id="27" idx="0"/>
          </p:cNvCxnSpPr>
          <p:nvPr/>
        </p:nvCxnSpPr>
        <p:spPr>
          <a:xfrm>
            <a:off x="4498258" y="3580391"/>
            <a:ext cx="1637070" cy="13320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0F4EAABD-DBC1-4A62-A9E0-BBFB8CF564A4}"/>
              </a:ext>
            </a:extLst>
          </p:cNvPr>
          <p:cNvCxnSpPr>
            <a:stCxn id="11" idx="2"/>
            <a:endCxn id="27" idx="0"/>
          </p:cNvCxnSpPr>
          <p:nvPr/>
        </p:nvCxnSpPr>
        <p:spPr>
          <a:xfrm flipH="1">
            <a:off x="6135328" y="3580391"/>
            <a:ext cx="1563329" cy="133209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fld id="{EEDFA2F9-C25F-4A63-B46B-7B5C200A39D1}" type="slidenum">
              <a:rPr lang="en-CA" smtClean="0"/>
              <a:t>62</a:t>
            </a:fld>
            <a:endParaRPr lang="en-CA"/>
          </a:p>
        </p:txBody>
      </p:sp>
    </p:spTree>
    <p:extLst>
      <p:ext uri="{BB962C8B-B14F-4D97-AF65-F5344CB8AC3E}">
        <p14:creationId xmlns:p14="http://schemas.microsoft.com/office/powerpoint/2010/main" val="32558094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Per-Recruit Reference Points </a:t>
            </a:r>
            <a:r>
              <a:rPr lang="en-CA" sz="3200" b="1" dirty="0">
                <a:solidFill>
                  <a:schemeClr val="accent6"/>
                </a:solidFill>
              </a:rPr>
              <a:t>1. Mortality Rates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Mortality rates can be instantaneous or finite (e.g., annual)</a:t>
                </a:r>
              </a:p>
              <a:p>
                <a:r>
                  <a:rPr lang="en-US" dirty="0"/>
                  <a:t>We generally work with instantaneous rates </a:t>
                </a:r>
              </a:p>
              <a:p>
                <a:r>
                  <a:rPr lang="en-US" dirty="0"/>
                  <a:t>Mortality is applied by decreasing the population by a constant proportion in each time period (t)</a:t>
                </a:r>
              </a:p>
              <a:p>
                <a:endParaRPr lang="en-US" dirty="0"/>
              </a:p>
              <a:p>
                <a:pPr marL="0" indent="0" algn="ctr">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𝑡</m:t>
                          </m:r>
                          <m:r>
                            <a:rPr lang="en-US" i="1">
                              <a:latin typeface="Cambria Math" panose="02040503050406030204" pitchFamily="18" charset="0"/>
                            </a:rPr>
                            <m:t>+1</m:t>
                          </m:r>
                        </m:sub>
                      </m:sSub>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𝑡</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𝑍</m:t>
                          </m:r>
                        </m:sup>
                      </m:sSup>
                    </m:oMath>
                  </m:oMathPara>
                </a14:m>
                <a:endParaRPr lang="en-US" dirty="0"/>
              </a:p>
              <a:p>
                <a:endParaRPr lang="en-US" dirty="0"/>
              </a:p>
              <a:p>
                <a:endParaRPr lang="en-US" dirty="0"/>
              </a:p>
              <a:p>
                <a:pPr marL="457200" lvl="1"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63</a:t>
            </a:fld>
            <a:endParaRPr lang="en-CA"/>
          </a:p>
        </p:txBody>
      </p:sp>
    </p:spTree>
    <p:extLst>
      <p:ext uri="{BB962C8B-B14F-4D97-AF65-F5344CB8AC3E}">
        <p14:creationId xmlns:p14="http://schemas.microsoft.com/office/powerpoint/2010/main" val="9649712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Calculations </a:t>
            </a:r>
            <a:r>
              <a:rPr lang="en-CA" sz="3600" b="1" dirty="0">
                <a:solidFill>
                  <a:schemeClr val="accent6"/>
                </a:solidFill>
              </a:rPr>
              <a:t>1. Mortality Rates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Example: start with 1000 recruits at age 0 and track this cohort over time with </a:t>
                </a:r>
                <a14:m>
                  <m:oMath xmlns:m="http://schemas.openxmlformats.org/officeDocument/2006/math">
                    <m:r>
                      <a:rPr lang="en-US" b="0" i="1" dirty="0" smtClean="0">
                        <a:latin typeface="Cambria Math" panose="02040503050406030204" pitchFamily="18" charset="0"/>
                      </a:rPr>
                      <m:t>𝑀</m:t>
                    </m:r>
                    <m:r>
                      <a:rPr lang="en-US" i="1" dirty="0" smtClean="0">
                        <a:latin typeface="Cambria Math" panose="02040503050406030204" pitchFamily="18" charset="0"/>
                      </a:rPr>
                      <m:t>=0.3</m:t>
                    </m:r>
                  </m:oMath>
                </a14:m>
                <a:r>
                  <a:rPr lang="en-US" dirty="0"/>
                  <a:t> and no </a:t>
                </a:r>
                <a14:m>
                  <m:oMath xmlns:m="http://schemas.openxmlformats.org/officeDocument/2006/math">
                    <m:r>
                      <a:rPr lang="en-US" i="1" dirty="0" smtClean="0">
                        <a:latin typeface="Cambria Math" panose="02040503050406030204" pitchFamily="18" charset="0"/>
                      </a:rPr>
                      <m:t>𝐹</m:t>
                    </m:r>
                  </m:oMath>
                </a14:m>
                <a:endParaRPr lang="en-US" dirty="0"/>
              </a:p>
              <a:p>
                <a:endParaRPr lang="en-US" dirty="0"/>
              </a:p>
              <a:p>
                <a:endParaRPr lang="en-US" dirty="0"/>
              </a:p>
              <a:p>
                <a:pPr marL="457200" lvl="1"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3087347" y="2733608"/>
            <a:ext cx="6017306" cy="3578292"/>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CEF1C73-CB15-4E08-AFCB-22DFDDE75260}"/>
                  </a:ext>
                </a:extLst>
              </p:cNvPr>
              <p:cNvSpPr txBox="1"/>
              <p:nvPr/>
            </p:nvSpPr>
            <p:spPr>
              <a:xfrm>
                <a:off x="3677265" y="3059668"/>
                <a:ext cx="6096000" cy="369332"/>
              </a:xfrm>
              <a:prstGeom prst="rect">
                <a:avLst/>
              </a:prstGeom>
              <a:noFill/>
            </p:spPr>
            <p:txBody>
              <a:bodyPr wrap="square">
                <a:spAutoFit/>
              </a:bodyPr>
              <a:lstStyle/>
              <a:p>
                <a:pPr marL="0" indent="0" algn="ctr">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𝑡</m:t>
                          </m:r>
                          <m:r>
                            <a:rPr lang="en-US" i="1">
                              <a:latin typeface="Cambria Math" panose="02040503050406030204" pitchFamily="18" charset="0"/>
                            </a:rPr>
                            <m:t>+1</m:t>
                          </m:r>
                        </m:sub>
                      </m:sSub>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i="1">
                              <a:latin typeface="Cambria Math" panose="02040503050406030204" pitchFamily="18" charset="0"/>
                            </a:rPr>
                            <m:t>𝑡</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𝑀</m:t>
                          </m:r>
                        </m:sup>
                      </m:sSup>
                    </m:oMath>
                  </m:oMathPara>
                </a14:m>
                <a:endParaRPr lang="en-US" dirty="0"/>
              </a:p>
            </p:txBody>
          </p:sp>
        </mc:Choice>
        <mc:Fallback xmlns="">
          <p:sp>
            <p:nvSpPr>
              <p:cNvPr id="6" name="TextBox 5">
                <a:extLst>
                  <a:ext uri="{FF2B5EF4-FFF2-40B4-BE49-F238E27FC236}">
                    <a16:creationId xmlns:a16="http://schemas.microsoft.com/office/drawing/2014/main" id="{BCEF1C73-CB15-4E08-AFCB-22DFDDE75260}"/>
                  </a:ext>
                </a:extLst>
              </p:cNvPr>
              <p:cNvSpPr txBox="1">
                <a:spLocks noRot="1" noChangeAspect="1" noMove="1" noResize="1" noEditPoints="1" noAdjustHandles="1" noChangeArrowheads="1" noChangeShapeType="1" noTextEdit="1"/>
              </p:cNvSpPr>
              <p:nvPr/>
            </p:nvSpPr>
            <p:spPr>
              <a:xfrm>
                <a:off x="3677265" y="3059668"/>
                <a:ext cx="6096000" cy="369332"/>
              </a:xfrm>
              <a:prstGeom prst="rect">
                <a:avLst/>
              </a:prstGeom>
              <a:blipFill>
                <a:blip r:embed="rId4"/>
                <a:stretch>
                  <a:fillRect/>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EEDFA2F9-C25F-4A63-B46B-7B5C200A39D1}" type="slidenum">
              <a:rPr lang="en-CA" smtClean="0"/>
              <a:t>64</a:t>
            </a:fld>
            <a:endParaRPr lang="en-CA"/>
          </a:p>
        </p:txBody>
      </p:sp>
    </p:spTree>
    <p:extLst>
      <p:ext uri="{BB962C8B-B14F-4D97-AF65-F5344CB8AC3E}">
        <p14:creationId xmlns:p14="http://schemas.microsoft.com/office/powerpoint/2010/main" val="310401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Calculations </a:t>
            </a:r>
            <a:r>
              <a:rPr lang="en-CA" sz="3600" b="1" dirty="0">
                <a:solidFill>
                  <a:schemeClr val="accent6"/>
                </a:solidFill>
              </a:rPr>
              <a:t>1. Mortality Rates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start with 1000 recruits at age 0 and track this cohort over time with </a:t>
                </a:r>
                <a14:m>
                  <m:oMath xmlns:m="http://schemas.openxmlformats.org/officeDocument/2006/math">
                    <m:r>
                      <a:rPr lang="en-US" b="0" i="1" dirty="0" smtClean="0">
                        <a:latin typeface="Cambria Math" panose="02040503050406030204" pitchFamily="18" charset="0"/>
                      </a:rPr>
                      <m:t>𝑀</m:t>
                    </m:r>
                    <m:r>
                      <a:rPr lang="en-US" i="1" dirty="0">
                        <a:latin typeface="Cambria Math" panose="02040503050406030204" pitchFamily="18" charset="0"/>
                      </a:rPr>
                      <m:t>=0.3</m:t>
                    </m:r>
                  </m:oMath>
                </a14:m>
                <a:r>
                  <a:rPr lang="en-US" dirty="0"/>
                  <a:t> and no </a:t>
                </a:r>
                <a14:m>
                  <m:oMath xmlns:m="http://schemas.openxmlformats.org/officeDocument/2006/math">
                    <m:r>
                      <a:rPr lang="en-US" i="1" dirty="0">
                        <a:latin typeface="Cambria Math" panose="02040503050406030204" pitchFamily="18" charset="0"/>
                      </a:rPr>
                      <m:t>𝐹</m:t>
                    </m:r>
                  </m:oMath>
                </a14:m>
                <a:endParaRPr lang="en-US" dirty="0"/>
              </a:p>
              <a:p>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𝑦𝑒𝑎𝑟</m:t>
                        </m:r>
                        <m:r>
                          <a:rPr lang="en-US" i="1">
                            <a:latin typeface="Cambria Math" panose="02040503050406030204" pitchFamily="18" charset="0"/>
                          </a:rPr>
                          <m:t>1</m:t>
                        </m:r>
                      </m:sub>
                    </m:sSub>
                    <m:r>
                      <a:rPr lang="en-US" b="0" i="1"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𝑁</m:t>
                        </m:r>
                      </m:e>
                      <m:sub>
                        <m:r>
                          <a:rPr lang="en-US" b="0" i="1" smtClean="0">
                            <a:latin typeface="Cambria Math" panose="02040503050406030204" pitchFamily="18" charset="0"/>
                          </a:rPr>
                          <m:t>𝑦𝑒𝑎𝑟</m:t>
                        </m:r>
                        <m:r>
                          <a:rPr lang="en-US" b="0" i="1" smtClean="0">
                            <a:latin typeface="Cambria Math" panose="02040503050406030204" pitchFamily="18" charset="0"/>
                          </a:rPr>
                          <m:t>0</m:t>
                        </m:r>
                      </m:sub>
                    </m:sSub>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0.3</m:t>
                        </m:r>
                      </m:sup>
                    </m:sSup>
                  </m:oMath>
                </a14:m>
                <a:r>
                  <a:rPr lang="en-US" dirty="0"/>
                  <a:t> </a:t>
                </a:r>
                <a14:m>
                  <m:oMath xmlns:m="http://schemas.openxmlformats.org/officeDocument/2006/math">
                    <m:r>
                      <a:rPr lang="en-US" i="1">
                        <a:latin typeface="Cambria Math" panose="02040503050406030204" pitchFamily="18" charset="0"/>
                      </a:rPr>
                      <m:t>=</m:t>
                    </m:r>
                    <m:r>
                      <a:rPr lang="en-US" b="0" i="1" smtClean="0">
                        <a:latin typeface="Cambria Math" panose="02040503050406030204" pitchFamily="18" charset="0"/>
                      </a:rPr>
                      <m:t>1000</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−0.3</m:t>
                        </m:r>
                      </m:sup>
                    </m:sSup>
                    <m:r>
                      <a:rPr lang="en-US" b="0" i="1" smtClean="0">
                        <a:latin typeface="Cambria Math" panose="02040503050406030204" pitchFamily="18" charset="0"/>
                      </a:rPr>
                      <m:t>=</m:t>
                    </m:r>
                  </m:oMath>
                </a14:m>
                <a:r>
                  <a:rPr lang="en-US" dirty="0"/>
                  <a:t> </a:t>
                </a:r>
                <a14:m>
                  <m:oMath xmlns:m="http://schemas.openxmlformats.org/officeDocument/2006/math">
                    <m:r>
                      <a:rPr lang="en-US" i="1" dirty="0" smtClean="0">
                        <a:latin typeface="Cambria Math" panose="02040503050406030204" pitchFamily="18" charset="0"/>
                      </a:rPr>
                      <m:t>741</m:t>
                    </m:r>
                  </m:oMath>
                </a14:m>
                <a:endParaRPr lang="en-US" dirty="0"/>
              </a:p>
              <a:p>
                <a:r>
                  <a:rPr lang="en-US" dirty="0"/>
                  <a:t>Annual removal rate </a:t>
                </a:r>
                <a14:m>
                  <m:oMath xmlns:m="http://schemas.openxmlformats.org/officeDocument/2006/math">
                    <m:r>
                      <a:rPr lang="en-US" i="1">
                        <a:latin typeface="Cambria Math" panose="02040503050406030204" pitchFamily="18" charset="0"/>
                      </a:rPr>
                      <m:t>=</m:t>
                    </m:r>
                  </m:oMath>
                </a14:m>
                <a:r>
                  <a:rPr lang="en-US" dirty="0"/>
                  <a:t> </a:t>
                </a:r>
                <a14:m>
                  <m:oMath xmlns:m="http://schemas.openxmlformats.org/officeDocument/2006/math">
                    <m:r>
                      <a:rPr lang="en-US" i="1">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74</m:t>
                        </m:r>
                        <m:r>
                          <a:rPr lang="en-US" b="0" i="1" smtClean="0">
                            <a:latin typeface="Cambria Math" panose="02040503050406030204" pitchFamily="18" charset="0"/>
                          </a:rPr>
                          <m:t>1</m:t>
                        </m:r>
                      </m:num>
                      <m:den>
                        <m:r>
                          <a:rPr lang="en-US" i="1">
                            <a:latin typeface="Cambria Math" panose="02040503050406030204" pitchFamily="18" charset="0"/>
                          </a:rPr>
                          <m:t>1000</m:t>
                        </m:r>
                      </m:den>
                    </m:f>
                    <m:r>
                      <a:rPr lang="en-US" i="1">
                        <a:latin typeface="Cambria Math" panose="02040503050406030204" pitchFamily="18" charset="0"/>
                      </a:rPr>
                      <m:t>=0.2</m:t>
                    </m:r>
                    <m:r>
                      <a:rPr lang="en-US" b="0" i="1" smtClean="0">
                        <a:latin typeface="Cambria Math" panose="02040503050406030204" pitchFamily="18" charset="0"/>
                      </a:rPr>
                      <m:t>59</m:t>
                    </m:r>
                  </m:oMath>
                </a14:m>
                <a:endParaRPr lang="en-US" dirty="0"/>
              </a:p>
              <a:p>
                <a:r>
                  <a:rPr lang="en-US" dirty="0"/>
                  <a:t>25.9% of population removed each year</a:t>
                </a:r>
              </a:p>
              <a:p>
                <a:endParaRPr lang="en-US" dirty="0"/>
              </a:p>
              <a:p>
                <a:r>
                  <a:rPr lang="en-US" dirty="0"/>
                  <a:t>In general:</a:t>
                </a:r>
              </a:p>
              <a:p>
                <a:pPr marL="0" indent="0">
                  <a:buNone/>
                </a:pPr>
                <a:r>
                  <a:rPr lang="en-US" dirty="0"/>
                  <a:t>Annual natural mortality rate </a:t>
                </a:r>
                <a14:m>
                  <m:oMath xmlns:m="http://schemas.openxmlformats.org/officeDocument/2006/math">
                    <m:r>
                      <a:rPr lang="en-US" i="1">
                        <a:latin typeface="Cambria Math" panose="02040503050406030204" pitchFamily="18" charset="0"/>
                      </a:rPr>
                      <m:t>=</m:t>
                    </m:r>
                    <m:r>
                      <a:rPr lang="en-US" b="0" i="0" smtClean="0">
                        <a:latin typeface="Cambria Math" panose="02040503050406030204" pitchFamily="18" charset="0"/>
                      </a:rPr>
                      <m:t> </m:t>
                    </m:r>
                    <m:r>
                      <a:rPr lang="en-US" i="1">
                        <a:latin typeface="Cambria Math" panose="02040503050406030204" pitchFamily="18" charset="0"/>
                      </a:rPr>
                      <m:t>1</m:t>
                    </m:r>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𝑀</m:t>
                        </m:r>
                      </m:sup>
                    </m:sSup>
                  </m:oMath>
                </a14:m>
                <a:endParaRPr lang="en-US" dirty="0"/>
              </a:p>
              <a:p>
                <a:pPr marL="457200" lvl="1"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6936794" y="3732904"/>
            <a:ext cx="5255205" cy="3125096"/>
          </a:xfrm>
          <a:prstGeom prst="rect">
            <a:avLst/>
          </a:prstGeom>
        </p:spPr>
      </p:pic>
      <p:sp>
        <p:nvSpPr>
          <p:cNvPr id="5" name="Slide Number Placeholder 4"/>
          <p:cNvSpPr>
            <a:spLocks noGrp="1"/>
          </p:cNvSpPr>
          <p:nvPr>
            <p:ph type="sldNum" sz="quarter" idx="12"/>
          </p:nvPr>
        </p:nvSpPr>
        <p:spPr/>
        <p:txBody>
          <a:bodyPr/>
          <a:lstStyle/>
          <a:p>
            <a:fld id="{EEDFA2F9-C25F-4A63-B46B-7B5C200A39D1}" type="slidenum">
              <a:rPr lang="en-CA" smtClean="0"/>
              <a:t>65</a:t>
            </a:fld>
            <a:endParaRPr lang="en-CA"/>
          </a:p>
        </p:txBody>
      </p:sp>
    </p:spTree>
    <p:extLst>
      <p:ext uri="{BB962C8B-B14F-4D97-AF65-F5344CB8AC3E}">
        <p14:creationId xmlns:p14="http://schemas.microsoft.com/office/powerpoint/2010/main" val="185958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Calculations </a:t>
            </a:r>
            <a:r>
              <a:rPr lang="en-CA" sz="3600" b="1" dirty="0">
                <a:solidFill>
                  <a:schemeClr val="accent6"/>
                </a:solidFill>
              </a:rPr>
              <a:t>1. Mortality Rates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Harvest rate (or exploitation rate </a:t>
                </a:r>
                <a14:m>
                  <m:oMath xmlns:m="http://schemas.openxmlformats.org/officeDocument/2006/math">
                    <m:r>
                      <a:rPr lang="en-US" b="0" i="1" smtClean="0">
                        <a:latin typeface="Cambria Math" panose="02040503050406030204" pitchFamily="18" charset="0"/>
                      </a:rPr>
                      <m:t>𝑢</m:t>
                    </m:r>
                  </m:oMath>
                </a14:m>
                <a:r>
                  <a:rPr lang="en-US" dirty="0"/>
                  <a:t>) is the annual proportional change in numbers of fish for a given instantaneous fishing mortality rate (</a:t>
                </a:r>
                <a14:m>
                  <m:oMath xmlns:m="http://schemas.openxmlformats.org/officeDocument/2006/math">
                    <m:r>
                      <a:rPr lang="en-US" i="1" dirty="0" smtClean="0">
                        <a:latin typeface="Cambria Math" panose="02040503050406030204" pitchFamily="18" charset="0"/>
                      </a:rPr>
                      <m:t>𝐹</m:t>
                    </m:r>
                  </m:oMath>
                </a14:m>
                <a:r>
                  <a:rPr lang="en-US" dirty="0"/>
                  <a:t>)</a:t>
                </a:r>
              </a:p>
              <a:p>
                <a:r>
                  <a:rPr lang="en-US" altLang="en-US" dirty="0"/>
                  <a:t>Sometimes expressed as a percentage (%)</a:t>
                </a:r>
              </a:p>
              <a:p>
                <a:endParaRPr lang="en-US" dirty="0"/>
              </a:p>
              <a:p>
                <a:pPr marL="457200" lvl="1"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15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1709304393"/>
                  </p:ext>
                </p:extLst>
              </p:nvPr>
            </p:nvGraphicFramePr>
            <p:xfrm>
              <a:off x="2078182" y="3646712"/>
              <a:ext cx="2722879" cy="1854200"/>
            </p:xfrm>
            <a:graphic>
              <a:graphicData uri="http://schemas.openxmlformats.org/drawingml/2006/table">
                <a:tbl>
                  <a:tblPr firstRow="1" bandRow="1">
                    <a:tableStyleId>{5C22544A-7EE6-4342-B048-85BDC9FD1C3A}</a:tableStyleId>
                  </a:tblPr>
                  <a:tblGrid>
                    <a:gridCol w="539571">
                      <a:extLst>
                        <a:ext uri="{9D8B030D-6E8A-4147-A177-3AD203B41FA5}">
                          <a16:colId xmlns:a16="http://schemas.microsoft.com/office/drawing/2014/main" val="3610776569"/>
                        </a:ext>
                      </a:extLst>
                    </a:gridCol>
                    <a:gridCol w="2183308">
                      <a:extLst>
                        <a:ext uri="{9D8B030D-6E8A-4147-A177-3AD203B41FA5}">
                          <a16:colId xmlns:a16="http://schemas.microsoft.com/office/drawing/2014/main" val="239986479"/>
                        </a:ext>
                      </a:extLst>
                    </a:gridCol>
                  </a:tblGrid>
                  <a:tr h="370840">
                    <a:tc>
                      <a:txBody>
                        <a:bodyPr/>
                        <a:lstStyle/>
                        <a:p>
                          <a:pPr algn="ctr"/>
                          <a14:m>
                            <m:oMathPara xmlns:m="http://schemas.openxmlformats.org/officeDocument/2006/math">
                              <m:oMath>
                                <m:r>
                                  <a:rPr lang="en-US" b="0" i="1" smtClean="0">
                                    <a:latin typeface="Cambria Math" panose="02040503050406030204" pitchFamily="18" charset="0"/>
                                  </a:rPr>
                                  <m:t>𝐹</m:t>
                                </m:r>
                              </m:oMath>
                            </m:oMathPara>
                          </a14:m>
                          <a:endParaRPr lang="en-CA" i="1" dirty="0"/>
                        </a:p>
                      </a:txBody>
                      <a:tcPr/>
                    </a:tc>
                    <a:tc>
                      <a:txBody>
                        <a:bodyPr/>
                        <a:lstStyle/>
                        <a:p>
                          <a:pPr algn="ctr"/>
                          <a14:m>
                            <m:oMathPara xmlns:m="http://schemas.openxmlformats.org/officeDocument/2006/math">
                              <m:oMath>
                                <m:r>
                                  <a:rPr lang="en-US" b="0" i="1" smtClean="0">
                                    <a:latin typeface="Cambria Math" panose="02040503050406030204" pitchFamily="18" charset="0"/>
                                  </a:rPr>
                                  <m:t>𝑢</m:t>
                                </m:r>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𝐹</m:t>
                                    </m:r>
                                  </m:sup>
                                </m:sSup>
                              </m:oMath>
                            </m:oMathPara>
                          </a14:m>
                          <a:endParaRPr lang="en-CA" i="1" baseline="30000" dirty="0"/>
                        </a:p>
                      </a:txBody>
                      <a:tcPr/>
                    </a:tc>
                    <a:extLst>
                      <a:ext uri="{0D108BD9-81ED-4DB2-BD59-A6C34878D82A}">
                        <a16:rowId xmlns:a16="http://schemas.microsoft.com/office/drawing/2014/main" val="1846281853"/>
                      </a:ext>
                    </a:extLst>
                  </a:tr>
                  <a:tr h="370840">
                    <a:tc>
                      <a:txBody>
                        <a:bodyPr/>
                        <a:lstStyle/>
                        <a:p>
                          <a:pPr algn="ctr"/>
                          <a:r>
                            <a:rPr lang="en-US" dirty="0"/>
                            <a:t>0.1</a:t>
                          </a:r>
                          <a:endParaRPr lang="en-CA" dirty="0"/>
                        </a:p>
                      </a:txBody>
                      <a:tcPr/>
                    </a:tc>
                    <a:tc>
                      <a:txBody>
                        <a:bodyPr/>
                        <a:lstStyle/>
                        <a:p>
                          <a:pPr algn="ctr"/>
                          <a:r>
                            <a:rPr lang="en-US" dirty="0"/>
                            <a:t>0.095 or 9.5%</a:t>
                          </a:r>
                          <a:endParaRPr lang="en-CA" dirty="0"/>
                        </a:p>
                      </a:txBody>
                      <a:tcPr/>
                    </a:tc>
                    <a:extLst>
                      <a:ext uri="{0D108BD9-81ED-4DB2-BD59-A6C34878D82A}">
                        <a16:rowId xmlns:a16="http://schemas.microsoft.com/office/drawing/2014/main" val="578992388"/>
                      </a:ext>
                    </a:extLst>
                  </a:tr>
                  <a:tr h="370840">
                    <a:tc>
                      <a:txBody>
                        <a:bodyPr/>
                        <a:lstStyle/>
                        <a:p>
                          <a:pPr algn="ctr"/>
                          <a:r>
                            <a:rPr lang="en-US" dirty="0"/>
                            <a:t>0.3</a:t>
                          </a:r>
                          <a:endParaRPr lang="en-CA" dirty="0"/>
                        </a:p>
                      </a:txBody>
                      <a:tcPr/>
                    </a:tc>
                    <a:tc>
                      <a:txBody>
                        <a:bodyPr/>
                        <a:lstStyle/>
                        <a:p>
                          <a:pPr algn="ctr"/>
                          <a:r>
                            <a:rPr lang="en-US" dirty="0"/>
                            <a:t>0.259 or 25.9%</a:t>
                          </a:r>
                          <a:endParaRPr lang="en-CA" dirty="0"/>
                        </a:p>
                      </a:txBody>
                      <a:tcPr/>
                    </a:tc>
                    <a:extLst>
                      <a:ext uri="{0D108BD9-81ED-4DB2-BD59-A6C34878D82A}">
                        <a16:rowId xmlns:a16="http://schemas.microsoft.com/office/drawing/2014/main" val="13937568"/>
                      </a:ext>
                    </a:extLst>
                  </a:tr>
                  <a:tr h="370840">
                    <a:tc>
                      <a:txBody>
                        <a:bodyPr/>
                        <a:lstStyle/>
                        <a:p>
                          <a:pPr algn="ctr"/>
                          <a:r>
                            <a:rPr lang="en-US" dirty="0"/>
                            <a:t>0.5</a:t>
                          </a:r>
                          <a:endParaRPr lang="en-CA" dirty="0"/>
                        </a:p>
                      </a:txBody>
                      <a:tcPr/>
                    </a:tc>
                    <a:tc>
                      <a:txBody>
                        <a:bodyPr/>
                        <a:lstStyle/>
                        <a:p>
                          <a:pPr algn="ctr"/>
                          <a:r>
                            <a:rPr lang="en-US" dirty="0"/>
                            <a:t>0.393 or</a:t>
                          </a:r>
                          <a:r>
                            <a:rPr lang="en-US" baseline="0" dirty="0"/>
                            <a:t> 39.9%</a:t>
                          </a:r>
                          <a:endParaRPr lang="en-CA" dirty="0"/>
                        </a:p>
                      </a:txBody>
                      <a:tcPr/>
                    </a:tc>
                    <a:extLst>
                      <a:ext uri="{0D108BD9-81ED-4DB2-BD59-A6C34878D82A}">
                        <a16:rowId xmlns:a16="http://schemas.microsoft.com/office/drawing/2014/main" val="1372787945"/>
                      </a:ext>
                    </a:extLst>
                  </a:tr>
                  <a:tr h="370840">
                    <a:tc>
                      <a:txBody>
                        <a:bodyPr/>
                        <a:lstStyle/>
                        <a:p>
                          <a:pPr algn="ctr"/>
                          <a:r>
                            <a:rPr lang="en-US" dirty="0"/>
                            <a:t>0.7</a:t>
                          </a:r>
                          <a:endParaRPr lang="en-CA" dirty="0"/>
                        </a:p>
                      </a:txBody>
                      <a:tcPr/>
                    </a:tc>
                    <a:tc>
                      <a:txBody>
                        <a:bodyPr/>
                        <a:lstStyle/>
                        <a:p>
                          <a:pPr algn="ctr"/>
                          <a:r>
                            <a:rPr lang="en-US" dirty="0"/>
                            <a:t>0.503 or 50.3%</a:t>
                          </a:r>
                          <a:endParaRPr lang="en-CA" dirty="0"/>
                        </a:p>
                      </a:txBody>
                      <a:tcPr/>
                    </a:tc>
                    <a:extLst>
                      <a:ext uri="{0D108BD9-81ED-4DB2-BD59-A6C34878D82A}">
                        <a16:rowId xmlns:a16="http://schemas.microsoft.com/office/drawing/2014/main" val="683204680"/>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1709304393"/>
                  </p:ext>
                </p:extLst>
              </p:nvPr>
            </p:nvGraphicFramePr>
            <p:xfrm>
              <a:off x="2078182" y="3646712"/>
              <a:ext cx="2722879" cy="1854200"/>
            </p:xfrm>
            <a:graphic>
              <a:graphicData uri="http://schemas.openxmlformats.org/drawingml/2006/table">
                <a:tbl>
                  <a:tblPr firstRow="1" bandRow="1">
                    <a:tableStyleId>{5C22544A-7EE6-4342-B048-85BDC9FD1C3A}</a:tableStyleId>
                  </a:tblPr>
                  <a:tblGrid>
                    <a:gridCol w="539571">
                      <a:extLst>
                        <a:ext uri="{9D8B030D-6E8A-4147-A177-3AD203B41FA5}">
                          <a16:colId xmlns:a16="http://schemas.microsoft.com/office/drawing/2014/main" val="3610776569"/>
                        </a:ext>
                      </a:extLst>
                    </a:gridCol>
                    <a:gridCol w="2183308">
                      <a:extLst>
                        <a:ext uri="{9D8B030D-6E8A-4147-A177-3AD203B41FA5}">
                          <a16:colId xmlns:a16="http://schemas.microsoft.com/office/drawing/2014/main" val="239986479"/>
                        </a:ext>
                      </a:extLst>
                    </a:gridCol>
                  </a:tblGrid>
                  <a:tr h="370840">
                    <a:tc>
                      <a:txBody>
                        <a:bodyPr/>
                        <a:lstStyle/>
                        <a:p>
                          <a:endParaRPr lang="en-US"/>
                        </a:p>
                      </a:txBody>
                      <a:tcPr>
                        <a:blipFill>
                          <a:blip r:embed="rId3"/>
                          <a:stretch>
                            <a:fillRect l="-1124" t="-1639" r="-407865" b="-424590"/>
                          </a:stretch>
                        </a:blipFill>
                      </a:tcPr>
                    </a:tc>
                    <a:tc>
                      <a:txBody>
                        <a:bodyPr/>
                        <a:lstStyle/>
                        <a:p>
                          <a:endParaRPr lang="en-US"/>
                        </a:p>
                      </a:txBody>
                      <a:tcPr>
                        <a:blipFill>
                          <a:blip r:embed="rId3"/>
                          <a:stretch>
                            <a:fillRect l="-25070" t="-1639" r="-1114" b="-424590"/>
                          </a:stretch>
                        </a:blipFill>
                      </a:tcPr>
                    </a:tc>
                    <a:extLst>
                      <a:ext uri="{0D108BD9-81ED-4DB2-BD59-A6C34878D82A}">
                        <a16:rowId xmlns:a16="http://schemas.microsoft.com/office/drawing/2014/main" val="1846281853"/>
                      </a:ext>
                    </a:extLst>
                  </a:tr>
                  <a:tr h="370840">
                    <a:tc>
                      <a:txBody>
                        <a:bodyPr/>
                        <a:lstStyle/>
                        <a:p>
                          <a:pPr algn="ctr"/>
                          <a:r>
                            <a:rPr lang="en-US" dirty="0"/>
                            <a:t>0.1</a:t>
                          </a:r>
                          <a:endParaRPr lang="en-CA" dirty="0"/>
                        </a:p>
                      </a:txBody>
                      <a:tcPr/>
                    </a:tc>
                    <a:tc>
                      <a:txBody>
                        <a:bodyPr/>
                        <a:lstStyle/>
                        <a:p>
                          <a:pPr algn="ctr"/>
                          <a:r>
                            <a:rPr lang="en-US" dirty="0"/>
                            <a:t>0.095 or 9.5%</a:t>
                          </a:r>
                          <a:endParaRPr lang="en-CA" dirty="0"/>
                        </a:p>
                      </a:txBody>
                      <a:tcPr/>
                    </a:tc>
                    <a:extLst>
                      <a:ext uri="{0D108BD9-81ED-4DB2-BD59-A6C34878D82A}">
                        <a16:rowId xmlns:a16="http://schemas.microsoft.com/office/drawing/2014/main" val="578992388"/>
                      </a:ext>
                    </a:extLst>
                  </a:tr>
                  <a:tr h="370840">
                    <a:tc>
                      <a:txBody>
                        <a:bodyPr/>
                        <a:lstStyle/>
                        <a:p>
                          <a:pPr algn="ctr"/>
                          <a:r>
                            <a:rPr lang="en-US" dirty="0"/>
                            <a:t>0.3</a:t>
                          </a:r>
                          <a:endParaRPr lang="en-CA" dirty="0"/>
                        </a:p>
                      </a:txBody>
                      <a:tcPr/>
                    </a:tc>
                    <a:tc>
                      <a:txBody>
                        <a:bodyPr/>
                        <a:lstStyle/>
                        <a:p>
                          <a:pPr algn="ctr"/>
                          <a:r>
                            <a:rPr lang="en-US" dirty="0"/>
                            <a:t>0.259 or 25.9%</a:t>
                          </a:r>
                          <a:endParaRPr lang="en-CA" dirty="0"/>
                        </a:p>
                      </a:txBody>
                      <a:tcPr/>
                    </a:tc>
                    <a:extLst>
                      <a:ext uri="{0D108BD9-81ED-4DB2-BD59-A6C34878D82A}">
                        <a16:rowId xmlns:a16="http://schemas.microsoft.com/office/drawing/2014/main" val="13937568"/>
                      </a:ext>
                    </a:extLst>
                  </a:tr>
                  <a:tr h="370840">
                    <a:tc>
                      <a:txBody>
                        <a:bodyPr/>
                        <a:lstStyle/>
                        <a:p>
                          <a:pPr algn="ctr"/>
                          <a:r>
                            <a:rPr lang="en-US" dirty="0"/>
                            <a:t>0.5</a:t>
                          </a:r>
                          <a:endParaRPr lang="en-CA" dirty="0"/>
                        </a:p>
                      </a:txBody>
                      <a:tcPr/>
                    </a:tc>
                    <a:tc>
                      <a:txBody>
                        <a:bodyPr/>
                        <a:lstStyle/>
                        <a:p>
                          <a:pPr algn="ctr"/>
                          <a:r>
                            <a:rPr lang="en-US" dirty="0"/>
                            <a:t>0.393 or</a:t>
                          </a:r>
                          <a:r>
                            <a:rPr lang="en-US" baseline="0" dirty="0"/>
                            <a:t> 39.9%</a:t>
                          </a:r>
                          <a:endParaRPr lang="en-CA" dirty="0"/>
                        </a:p>
                      </a:txBody>
                      <a:tcPr/>
                    </a:tc>
                    <a:extLst>
                      <a:ext uri="{0D108BD9-81ED-4DB2-BD59-A6C34878D82A}">
                        <a16:rowId xmlns:a16="http://schemas.microsoft.com/office/drawing/2014/main" val="1372787945"/>
                      </a:ext>
                    </a:extLst>
                  </a:tr>
                  <a:tr h="370840">
                    <a:tc>
                      <a:txBody>
                        <a:bodyPr/>
                        <a:lstStyle/>
                        <a:p>
                          <a:pPr algn="ctr"/>
                          <a:r>
                            <a:rPr lang="en-US" dirty="0"/>
                            <a:t>0.7</a:t>
                          </a:r>
                          <a:endParaRPr lang="en-CA" dirty="0"/>
                        </a:p>
                      </a:txBody>
                      <a:tcPr/>
                    </a:tc>
                    <a:tc>
                      <a:txBody>
                        <a:bodyPr/>
                        <a:lstStyle/>
                        <a:p>
                          <a:pPr algn="ctr"/>
                          <a:r>
                            <a:rPr lang="en-US" dirty="0"/>
                            <a:t>0.503 or 50.3%</a:t>
                          </a:r>
                          <a:endParaRPr lang="en-CA" dirty="0"/>
                        </a:p>
                      </a:txBody>
                      <a:tcPr/>
                    </a:tc>
                    <a:extLst>
                      <a:ext uri="{0D108BD9-81ED-4DB2-BD59-A6C34878D82A}">
                        <a16:rowId xmlns:a16="http://schemas.microsoft.com/office/drawing/2014/main" val="683204680"/>
                      </a:ext>
                    </a:extLst>
                  </a:tr>
                </a:tbl>
              </a:graphicData>
            </a:graphic>
          </p:graphicFrame>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66</a:t>
            </a:fld>
            <a:endParaRPr lang="en-CA"/>
          </a:p>
        </p:txBody>
      </p:sp>
    </p:spTree>
    <p:extLst>
      <p:ext uri="{BB962C8B-B14F-4D97-AF65-F5344CB8AC3E}">
        <p14:creationId xmlns:p14="http://schemas.microsoft.com/office/powerpoint/2010/main" val="412192028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200" dirty="0"/>
              <a:t>Per-Recruit Calculations </a:t>
            </a:r>
            <a:r>
              <a:rPr lang="en-CA" sz="3200" b="1" dirty="0">
                <a:solidFill>
                  <a:schemeClr val="accent6"/>
                </a:solidFill>
              </a:rPr>
              <a:t>1. Mortality Rates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Add </a:t>
                </a:r>
                <a14:m>
                  <m:oMath xmlns:m="http://schemas.openxmlformats.org/officeDocument/2006/math">
                    <m:r>
                      <a:rPr lang="en-US" i="1" dirty="0" smtClean="0">
                        <a:latin typeface="Cambria Math" panose="02040503050406030204" pitchFamily="18" charset="0"/>
                      </a:rPr>
                      <m:t>𝑀</m:t>
                    </m:r>
                    <m:r>
                      <a:rPr lang="en-US" i="1" dirty="0" smtClean="0">
                        <a:latin typeface="Cambria Math" panose="02040503050406030204" pitchFamily="18" charset="0"/>
                      </a:rPr>
                      <m:t>=0.25 </m:t>
                    </m:r>
                  </m:oMath>
                </a14:m>
                <a:r>
                  <a:rPr lang="en-US" dirty="0"/>
                  <a:t>and calculate total removal rate (</a:t>
                </a:r>
                <a14:m>
                  <m:oMath xmlns:m="http://schemas.openxmlformats.org/officeDocument/2006/math">
                    <m:r>
                      <m:rPr>
                        <m:sty m:val="p"/>
                      </m:rPr>
                      <a:rPr lang="en-US" b="0" i="0" smtClean="0">
                        <a:latin typeface="Cambria Math" panose="02040503050406030204" pitchFamily="18" charset="0"/>
                      </a:rPr>
                      <m:t>Z</m:t>
                    </m:r>
                    <m:r>
                      <a:rPr lang="en-US" b="0" i="0" smtClean="0">
                        <a:latin typeface="Cambria Math" panose="02040503050406030204" pitchFamily="18" charset="0"/>
                      </a:rPr>
                      <m:t>=</m:t>
                    </m:r>
                    <m:r>
                      <a:rPr lang="en-US" i="1">
                        <a:latin typeface="Cambria Math" panose="02040503050406030204" pitchFamily="18" charset="0"/>
                      </a:rPr>
                      <m:t>𝑀</m:t>
                    </m:r>
                    <m:r>
                      <a:rPr lang="en-US" b="0" i="1" smtClean="0">
                        <a:latin typeface="Cambria Math" panose="02040503050406030204" pitchFamily="18" charset="0"/>
                      </a:rPr>
                      <m:t>+</m:t>
                    </m:r>
                    <m:r>
                      <a:rPr lang="en-US" b="0" i="1" smtClean="0">
                        <a:latin typeface="Cambria Math" panose="02040503050406030204" pitchFamily="18" charset="0"/>
                      </a:rPr>
                      <m:t>𝐹</m:t>
                    </m:r>
                  </m:oMath>
                </a14:m>
                <a:r>
                  <a:rPr lang="en-CA"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pic>
        <p:nvPicPr>
          <p:cNvPr id="4" name="Picture 3"/>
          <p:cNvPicPr>
            <a:picLocks noChangeAspect="1"/>
          </p:cNvPicPr>
          <p:nvPr/>
        </p:nvPicPr>
        <p:blipFill>
          <a:blip r:embed="rId3"/>
          <a:stretch>
            <a:fillRect/>
          </a:stretch>
        </p:blipFill>
        <p:spPr>
          <a:xfrm>
            <a:off x="6523398" y="2684349"/>
            <a:ext cx="5537915" cy="3293214"/>
          </a:xfrm>
          <a:prstGeom prst="rect">
            <a:avLst/>
          </a:prstGeom>
        </p:spPr>
      </p:pic>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90889464"/>
                  </p:ext>
                </p:extLst>
              </p:nvPr>
            </p:nvGraphicFramePr>
            <p:xfrm>
              <a:off x="239915" y="3370078"/>
              <a:ext cx="5942771" cy="2123440"/>
            </p:xfrm>
            <a:graphic>
              <a:graphicData uri="http://schemas.openxmlformats.org/drawingml/2006/table">
                <a:tbl>
                  <a:tblPr firstRow="1" bandRow="1">
                    <a:tableStyleId>{5C22544A-7EE6-4342-B048-85BDC9FD1C3A}</a:tableStyleId>
                  </a:tblPr>
                  <a:tblGrid>
                    <a:gridCol w="493683">
                      <a:extLst>
                        <a:ext uri="{9D8B030D-6E8A-4147-A177-3AD203B41FA5}">
                          <a16:colId xmlns:a16="http://schemas.microsoft.com/office/drawing/2014/main" val="3610776569"/>
                        </a:ext>
                      </a:extLst>
                    </a:gridCol>
                    <a:gridCol w="1594199">
                      <a:extLst>
                        <a:ext uri="{9D8B030D-6E8A-4147-A177-3AD203B41FA5}">
                          <a16:colId xmlns:a16="http://schemas.microsoft.com/office/drawing/2014/main" val="239986479"/>
                        </a:ext>
                      </a:extLst>
                    </a:gridCol>
                    <a:gridCol w="602428">
                      <a:extLst>
                        <a:ext uri="{9D8B030D-6E8A-4147-A177-3AD203B41FA5}">
                          <a16:colId xmlns:a16="http://schemas.microsoft.com/office/drawing/2014/main" val="1970750827"/>
                        </a:ext>
                      </a:extLst>
                    </a:gridCol>
                    <a:gridCol w="1356549">
                      <a:extLst>
                        <a:ext uri="{9D8B030D-6E8A-4147-A177-3AD203B41FA5}">
                          <a16:colId xmlns:a16="http://schemas.microsoft.com/office/drawing/2014/main" val="3723881842"/>
                        </a:ext>
                      </a:extLst>
                    </a:gridCol>
                    <a:gridCol w="1895912">
                      <a:extLst>
                        <a:ext uri="{9D8B030D-6E8A-4147-A177-3AD203B41FA5}">
                          <a16:colId xmlns:a16="http://schemas.microsoft.com/office/drawing/2014/main" val="3737340937"/>
                        </a:ext>
                      </a:extLst>
                    </a:gridCol>
                  </a:tblGrid>
                  <a:tr h="370840">
                    <a:tc>
                      <a:txBody>
                        <a:bodyPr/>
                        <a:lstStyle/>
                        <a:p>
                          <a:pPr algn="ctr"/>
                          <a14:m>
                            <m:oMathPara xmlns:m="http://schemas.openxmlformats.org/officeDocument/2006/math">
                              <m:oMath>
                                <m:r>
                                  <a:rPr lang="en-US" b="0" i="1" smtClean="0">
                                    <a:latin typeface="Cambria Math" panose="02040503050406030204" pitchFamily="18" charset="0"/>
                                  </a:rPr>
                                  <m:t>𝐹</m:t>
                                </m:r>
                              </m:oMath>
                            </m:oMathPara>
                          </a14:m>
                          <a:endParaRPr lang="en-CA" i="1" dirty="0"/>
                        </a:p>
                      </a:txBody>
                      <a:tcPr/>
                    </a:tc>
                    <a:tc>
                      <a:txBody>
                        <a:bodyPr/>
                        <a:lstStyle/>
                        <a:p>
                          <a:pPr algn="ctr"/>
                          <a:r>
                            <a:rPr lang="en-US" b="0" i="0" dirty="0">
                              <a:latin typeface="+mn-lt"/>
                            </a:rPr>
                            <a:t>Harvest rate</a:t>
                          </a:r>
                        </a:p>
                        <a:p>
                          <a:pPr algn="ctr"/>
                          <a14:m>
                            <m:oMathPara xmlns:m="http://schemas.openxmlformats.org/officeDocument/2006/math">
                              <m:oMath>
                                <m:r>
                                  <a:rPr lang="en-US" b="0" i="1" smtClean="0">
                                    <a:latin typeface="Cambria Math" panose="02040503050406030204" pitchFamily="18" charset="0"/>
                                  </a:rPr>
                                  <m:t>𝑢</m:t>
                                </m:r>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𝐹</m:t>
                                    </m:r>
                                  </m:sup>
                                </m:sSup>
                              </m:oMath>
                            </m:oMathPara>
                          </a14:m>
                          <a:endParaRPr lang="en-CA" baseline="30000" dirty="0"/>
                        </a:p>
                      </a:txBody>
                      <a:tcPr/>
                    </a:tc>
                    <a:tc>
                      <a:txBody>
                        <a:bodyPr/>
                        <a:lstStyle/>
                        <a:p>
                          <a:pPr algn="ctr"/>
                          <a14:m>
                            <m:oMathPara xmlns:m="http://schemas.openxmlformats.org/officeDocument/2006/math">
                              <m:oMath>
                                <m:r>
                                  <a:rPr lang="en-US" b="0" i="1" smtClean="0">
                                    <a:latin typeface="Cambria Math" panose="02040503050406030204" pitchFamily="18" charset="0"/>
                                  </a:rPr>
                                  <m:t>𝑀</m:t>
                                </m:r>
                              </m:oMath>
                            </m:oMathPara>
                          </a14:m>
                          <a:endParaRPr lang="en-CA" i="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b="0" i="1" smtClean="0">
                                    <a:latin typeface="Cambria Math" panose="02040503050406030204" pitchFamily="18" charset="0"/>
                                  </a:rPr>
                                  <m:t>𝑍</m:t>
                                </m:r>
                                <m:r>
                                  <a:rPr lang="en-US" b="0" i="1" smtClean="0">
                                    <a:latin typeface="Cambria Math" panose="02040503050406030204" pitchFamily="18" charset="0"/>
                                  </a:rPr>
                                  <m:t>=</m:t>
                                </m:r>
                                <m:r>
                                  <a:rPr lang="en-US" b="0" i="1" smtClean="0">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𝑀</m:t>
                                </m:r>
                              </m:oMath>
                            </m:oMathPara>
                          </a14:m>
                          <a:endParaRPr lang="en-CA" i="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0" dirty="0"/>
                            <a:t>Total removal rate </a:t>
                          </a:r>
                          <a:r>
                            <a:rPr lang="en-US" b="0" baseline="0" dirty="0"/>
                            <a:t> </a:t>
                          </a:r>
                          <a14:m>
                            <m:oMath xmlns:m="http://schemas.openxmlformats.org/officeDocument/2006/math">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𝑍</m:t>
                                  </m:r>
                                </m:sup>
                              </m:sSup>
                            </m:oMath>
                          </a14:m>
                          <a:endParaRPr lang="en-CA" dirty="0"/>
                        </a:p>
                      </a:txBody>
                      <a:tcPr/>
                    </a:tc>
                    <a:extLst>
                      <a:ext uri="{0D108BD9-81ED-4DB2-BD59-A6C34878D82A}">
                        <a16:rowId xmlns:a16="http://schemas.microsoft.com/office/drawing/2014/main" val="1846281853"/>
                      </a:ext>
                    </a:extLst>
                  </a:tr>
                  <a:tr h="370840">
                    <a:tc>
                      <a:txBody>
                        <a:bodyPr/>
                        <a:lstStyle/>
                        <a:p>
                          <a:pPr algn="ctr"/>
                          <a:r>
                            <a:rPr lang="en-US" dirty="0"/>
                            <a:t>0.1</a:t>
                          </a:r>
                          <a:endParaRPr lang="en-CA" dirty="0"/>
                        </a:p>
                      </a:txBody>
                      <a:tcPr/>
                    </a:tc>
                    <a:tc>
                      <a:txBody>
                        <a:bodyPr/>
                        <a:lstStyle/>
                        <a:p>
                          <a:pPr algn="ctr"/>
                          <a:r>
                            <a:rPr lang="en-US" dirty="0"/>
                            <a:t>0.095</a:t>
                          </a:r>
                          <a:endParaRPr lang="en-CA" dirty="0"/>
                        </a:p>
                      </a:txBody>
                      <a:tcPr/>
                    </a:tc>
                    <a:tc>
                      <a:txBody>
                        <a:bodyPr/>
                        <a:lstStyle/>
                        <a:p>
                          <a:pPr algn="ctr"/>
                          <a:r>
                            <a:rPr lang="en-US" dirty="0"/>
                            <a:t>0.25</a:t>
                          </a:r>
                          <a:endParaRPr lang="en-CA" dirty="0"/>
                        </a:p>
                      </a:txBody>
                      <a:tcPr/>
                    </a:tc>
                    <a:tc>
                      <a:txBody>
                        <a:bodyPr/>
                        <a:lstStyle/>
                        <a:p>
                          <a:pPr algn="ctr"/>
                          <a:r>
                            <a:rPr lang="en-US" dirty="0"/>
                            <a:t>0.35</a:t>
                          </a:r>
                          <a:endParaRPr lang="en-CA" dirty="0"/>
                        </a:p>
                      </a:txBody>
                      <a:tcPr/>
                    </a:tc>
                    <a:tc>
                      <a:txBody>
                        <a:bodyPr/>
                        <a:lstStyle/>
                        <a:p>
                          <a:pPr algn="ctr"/>
                          <a:r>
                            <a:rPr lang="en-US" dirty="0"/>
                            <a:t>0.295</a:t>
                          </a:r>
                          <a:endParaRPr lang="en-CA" dirty="0"/>
                        </a:p>
                      </a:txBody>
                      <a:tcPr/>
                    </a:tc>
                    <a:extLst>
                      <a:ext uri="{0D108BD9-81ED-4DB2-BD59-A6C34878D82A}">
                        <a16:rowId xmlns:a16="http://schemas.microsoft.com/office/drawing/2014/main" val="578992388"/>
                      </a:ext>
                    </a:extLst>
                  </a:tr>
                  <a:tr h="370840">
                    <a:tc>
                      <a:txBody>
                        <a:bodyPr/>
                        <a:lstStyle/>
                        <a:p>
                          <a:pPr algn="ctr"/>
                          <a:r>
                            <a:rPr lang="en-US" dirty="0"/>
                            <a:t>0.3</a:t>
                          </a:r>
                          <a:endParaRPr lang="en-CA" dirty="0"/>
                        </a:p>
                      </a:txBody>
                      <a:tcPr/>
                    </a:tc>
                    <a:tc>
                      <a:txBody>
                        <a:bodyPr/>
                        <a:lstStyle/>
                        <a:p>
                          <a:pPr algn="ctr"/>
                          <a:r>
                            <a:rPr lang="en-US" dirty="0"/>
                            <a:t>0.259</a:t>
                          </a:r>
                          <a:endParaRPr lang="en-CA" dirty="0"/>
                        </a:p>
                      </a:txBody>
                      <a:tcPr/>
                    </a:tc>
                    <a:tc>
                      <a:txBody>
                        <a:bodyPr/>
                        <a:lstStyle/>
                        <a:p>
                          <a:pPr algn="ctr"/>
                          <a:r>
                            <a:rPr lang="en-US" dirty="0"/>
                            <a:t>0.25</a:t>
                          </a:r>
                          <a:endParaRPr lang="en-CA" dirty="0"/>
                        </a:p>
                      </a:txBody>
                      <a:tcPr/>
                    </a:tc>
                    <a:tc>
                      <a:txBody>
                        <a:bodyPr/>
                        <a:lstStyle/>
                        <a:p>
                          <a:pPr algn="ctr"/>
                          <a:r>
                            <a:rPr lang="en-US" dirty="0"/>
                            <a:t>0.55</a:t>
                          </a:r>
                          <a:endParaRPr lang="en-CA" dirty="0"/>
                        </a:p>
                      </a:txBody>
                      <a:tcPr/>
                    </a:tc>
                    <a:tc>
                      <a:txBody>
                        <a:bodyPr/>
                        <a:lstStyle/>
                        <a:p>
                          <a:pPr algn="ctr"/>
                          <a:r>
                            <a:rPr lang="en-US" dirty="0"/>
                            <a:t>0.423</a:t>
                          </a:r>
                          <a:endParaRPr lang="en-CA" dirty="0"/>
                        </a:p>
                      </a:txBody>
                      <a:tcPr/>
                    </a:tc>
                    <a:extLst>
                      <a:ext uri="{0D108BD9-81ED-4DB2-BD59-A6C34878D82A}">
                        <a16:rowId xmlns:a16="http://schemas.microsoft.com/office/drawing/2014/main" val="13937568"/>
                      </a:ext>
                    </a:extLst>
                  </a:tr>
                  <a:tr h="370840">
                    <a:tc>
                      <a:txBody>
                        <a:bodyPr/>
                        <a:lstStyle/>
                        <a:p>
                          <a:pPr algn="ctr"/>
                          <a:r>
                            <a:rPr lang="en-US" dirty="0"/>
                            <a:t>0.5</a:t>
                          </a:r>
                          <a:endParaRPr lang="en-CA" dirty="0"/>
                        </a:p>
                      </a:txBody>
                      <a:tcPr/>
                    </a:tc>
                    <a:tc>
                      <a:txBody>
                        <a:bodyPr/>
                        <a:lstStyle/>
                        <a:p>
                          <a:pPr algn="ctr"/>
                          <a:r>
                            <a:rPr lang="en-US" dirty="0"/>
                            <a:t>0.393</a:t>
                          </a:r>
                          <a:endParaRPr lang="en-CA" dirty="0"/>
                        </a:p>
                      </a:txBody>
                      <a:tcPr/>
                    </a:tc>
                    <a:tc>
                      <a:txBody>
                        <a:bodyPr/>
                        <a:lstStyle/>
                        <a:p>
                          <a:pPr algn="ctr"/>
                          <a:r>
                            <a:rPr lang="en-US" dirty="0"/>
                            <a:t>0.25</a:t>
                          </a:r>
                          <a:endParaRPr lang="en-CA" dirty="0"/>
                        </a:p>
                      </a:txBody>
                      <a:tcPr/>
                    </a:tc>
                    <a:tc>
                      <a:txBody>
                        <a:bodyPr/>
                        <a:lstStyle/>
                        <a:p>
                          <a:pPr algn="ctr"/>
                          <a:r>
                            <a:rPr lang="en-US" dirty="0"/>
                            <a:t>0.75</a:t>
                          </a:r>
                          <a:endParaRPr lang="en-CA" dirty="0"/>
                        </a:p>
                      </a:txBody>
                      <a:tcPr/>
                    </a:tc>
                    <a:tc>
                      <a:txBody>
                        <a:bodyPr/>
                        <a:lstStyle/>
                        <a:p>
                          <a:pPr algn="ctr"/>
                          <a:r>
                            <a:rPr lang="en-US" dirty="0"/>
                            <a:t>0.528</a:t>
                          </a:r>
                          <a:endParaRPr lang="en-CA" dirty="0"/>
                        </a:p>
                      </a:txBody>
                      <a:tcPr/>
                    </a:tc>
                    <a:extLst>
                      <a:ext uri="{0D108BD9-81ED-4DB2-BD59-A6C34878D82A}">
                        <a16:rowId xmlns:a16="http://schemas.microsoft.com/office/drawing/2014/main" val="1372787945"/>
                      </a:ext>
                    </a:extLst>
                  </a:tr>
                  <a:tr h="370840">
                    <a:tc>
                      <a:txBody>
                        <a:bodyPr/>
                        <a:lstStyle/>
                        <a:p>
                          <a:pPr algn="ctr"/>
                          <a:r>
                            <a:rPr lang="en-US" dirty="0"/>
                            <a:t>0.7</a:t>
                          </a:r>
                          <a:endParaRPr lang="en-CA" dirty="0"/>
                        </a:p>
                      </a:txBody>
                      <a:tcPr/>
                    </a:tc>
                    <a:tc>
                      <a:txBody>
                        <a:bodyPr/>
                        <a:lstStyle/>
                        <a:p>
                          <a:pPr algn="ctr"/>
                          <a:r>
                            <a:rPr lang="en-US" dirty="0"/>
                            <a:t>0.503</a:t>
                          </a:r>
                          <a:endParaRPr lang="en-CA" dirty="0"/>
                        </a:p>
                      </a:txBody>
                      <a:tcPr/>
                    </a:tc>
                    <a:tc>
                      <a:txBody>
                        <a:bodyPr/>
                        <a:lstStyle/>
                        <a:p>
                          <a:pPr algn="ctr"/>
                          <a:r>
                            <a:rPr lang="en-US" dirty="0"/>
                            <a:t>0.25</a:t>
                          </a:r>
                          <a:endParaRPr lang="en-CA" dirty="0"/>
                        </a:p>
                      </a:txBody>
                      <a:tcPr/>
                    </a:tc>
                    <a:tc>
                      <a:txBody>
                        <a:bodyPr/>
                        <a:lstStyle/>
                        <a:p>
                          <a:pPr algn="ctr"/>
                          <a:r>
                            <a:rPr lang="en-US" dirty="0"/>
                            <a:t>0.95</a:t>
                          </a:r>
                          <a:endParaRPr lang="en-CA" dirty="0"/>
                        </a:p>
                      </a:txBody>
                      <a:tcPr/>
                    </a:tc>
                    <a:tc>
                      <a:txBody>
                        <a:bodyPr/>
                        <a:lstStyle/>
                        <a:p>
                          <a:pPr algn="ctr"/>
                          <a:r>
                            <a:rPr lang="en-US" dirty="0"/>
                            <a:t>0.613</a:t>
                          </a:r>
                          <a:endParaRPr lang="en-CA" dirty="0"/>
                        </a:p>
                      </a:txBody>
                      <a:tcPr/>
                    </a:tc>
                    <a:extLst>
                      <a:ext uri="{0D108BD9-81ED-4DB2-BD59-A6C34878D82A}">
                        <a16:rowId xmlns:a16="http://schemas.microsoft.com/office/drawing/2014/main" val="683204680"/>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90889464"/>
                  </p:ext>
                </p:extLst>
              </p:nvPr>
            </p:nvGraphicFramePr>
            <p:xfrm>
              <a:off x="239915" y="3370078"/>
              <a:ext cx="5942771" cy="2123440"/>
            </p:xfrm>
            <a:graphic>
              <a:graphicData uri="http://schemas.openxmlformats.org/drawingml/2006/table">
                <a:tbl>
                  <a:tblPr firstRow="1" bandRow="1">
                    <a:tableStyleId>{5C22544A-7EE6-4342-B048-85BDC9FD1C3A}</a:tableStyleId>
                  </a:tblPr>
                  <a:tblGrid>
                    <a:gridCol w="493683">
                      <a:extLst>
                        <a:ext uri="{9D8B030D-6E8A-4147-A177-3AD203B41FA5}">
                          <a16:colId xmlns:a16="http://schemas.microsoft.com/office/drawing/2014/main" val="3610776569"/>
                        </a:ext>
                      </a:extLst>
                    </a:gridCol>
                    <a:gridCol w="1594199">
                      <a:extLst>
                        <a:ext uri="{9D8B030D-6E8A-4147-A177-3AD203B41FA5}">
                          <a16:colId xmlns:a16="http://schemas.microsoft.com/office/drawing/2014/main" val="239986479"/>
                        </a:ext>
                      </a:extLst>
                    </a:gridCol>
                    <a:gridCol w="602428">
                      <a:extLst>
                        <a:ext uri="{9D8B030D-6E8A-4147-A177-3AD203B41FA5}">
                          <a16:colId xmlns:a16="http://schemas.microsoft.com/office/drawing/2014/main" val="1970750827"/>
                        </a:ext>
                      </a:extLst>
                    </a:gridCol>
                    <a:gridCol w="1356549">
                      <a:extLst>
                        <a:ext uri="{9D8B030D-6E8A-4147-A177-3AD203B41FA5}">
                          <a16:colId xmlns:a16="http://schemas.microsoft.com/office/drawing/2014/main" val="3723881842"/>
                        </a:ext>
                      </a:extLst>
                    </a:gridCol>
                    <a:gridCol w="1895912">
                      <a:extLst>
                        <a:ext uri="{9D8B030D-6E8A-4147-A177-3AD203B41FA5}">
                          <a16:colId xmlns:a16="http://schemas.microsoft.com/office/drawing/2014/main" val="3737340937"/>
                        </a:ext>
                      </a:extLst>
                    </a:gridCol>
                  </a:tblGrid>
                  <a:tr h="640080">
                    <a:tc>
                      <a:txBody>
                        <a:bodyPr/>
                        <a:lstStyle/>
                        <a:p>
                          <a:endParaRPr lang="en-US"/>
                        </a:p>
                      </a:txBody>
                      <a:tcPr>
                        <a:blipFill>
                          <a:blip r:embed="rId4"/>
                          <a:stretch>
                            <a:fillRect l="-1235" t="-4717" r="-1109877" b="-243396"/>
                          </a:stretch>
                        </a:blipFill>
                      </a:tcPr>
                    </a:tc>
                    <a:tc>
                      <a:txBody>
                        <a:bodyPr/>
                        <a:lstStyle/>
                        <a:p>
                          <a:endParaRPr lang="en-US"/>
                        </a:p>
                      </a:txBody>
                      <a:tcPr>
                        <a:blipFill>
                          <a:blip r:embed="rId4"/>
                          <a:stretch>
                            <a:fillRect l="-31298" t="-4717" r="-243130" b="-243396"/>
                          </a:stretch>
                        </a:blipFill>
                      </a:tcPr>
                    </a:tc>
                    <a:tc>
                      <a:txBody>
                        <a:bodyPr/>
                        <a:lstStyle/>
                        <a:p>
                          <a:endParaRPr lang="en-US"/>
                        </a:p>
                      </a:txBody>
                      <a:tcPr>
                        <a:blipFill>
                          <a:blip r:embed="rId4"/>
                          <a:stretch>
                            <a:fillRect l="-347475" t="-4717" r="-543434" b="-243396"/>
                          </a:stretch>
                        </a:blipFill>
                      </a:tcPr>
                    </a:tc>
                    <a:tc>
                      <a:txBody>
                        <a:bodyPr/>
                        <a:lstStyle/>
                        <a:p>
                          <a:endParaRPr lang="en-US"/>
                        </a:p>
                      </a:txBody>
                      <a:tcPr>
                        <a:blipFill>
                          <a:blip r:embed="rId4"/>
                          <a:stretch>
                            <a:fillRect l="-198655" t="-4717" r="-141256" b="-243396"/>
                          </a:stretch>
                        </a:blipFill>
                      </a:tcPr>
                    </a:tc>
                    <a:tc>
                      <a:txBody>
                        <a:bodyPr/>
                        <a:lstStyle/>
                        <a:p>
                          <a:endParaRPr lang="en-US"/>
                        </a:p>
                      </a:txBody>
                      <a:tcPr>
                        <a:blipFill>
                          <a:blip r:embed="rId4"/>
                          <a:stretch>
                            <a:fillRect l="-214148" t="-4717" r="-1286" b="-243396"/>
                          </a:stretch>
                        </a:blipFill>
                      </a:tcPr>
                    </a:tc>
                    <a:extLst>
                      <a:ext uri="{0D108BD9-81ED-4DB2-BD59-A6C34878D82A}">
                        <a16:rowId xmlns:a16="http://schemas.microsoft.com/office/drawing/2014/main" val="1846281853"/>
                      </a:ext>
                    </a:extLst>
                  </a:tr>
                  <a:tr h="370840">
                    <a:tc>
                      <a:txBody>
                        <a:bodyPr/>
                        <a:lstStyle/>
                        <a:p>
                          <a:pPr algn="ctr"/>
                          <a:r>
                            <a:rPr lang="en-US" dirty="0"/>
                            <a:t>0.1</a:t>
                          </a:r>
                          <a:endParaRPr lang="en-CA" dirty="0"/>
                        </a:p>
                      </a:txBody>
                      <a:tcPr/>
                    </a:tc>
                    <a:tc>
                      <a:txBody>
                        <a:bodyPr/>
                        <a:lstStyle/>
                        <a:p>
                          <a:pPr algn="ctr"/>
                          <a:r>
                            <a:rPr lang="en-US" dirty="0"/>
                            <a:t>0.095</a:t>
                          </a:r>
                          <a:endParaRPr lang="en-CA" dirty="0"/>
                        </a:p>
                      </a:txBody>
                      <a:tcPr/>
                    </a:tc>
                    <a:tc>
                      <a:txBody>
                        <a:bodyPr/>
                        <a:lstStyle/>
                        <a:p>
                          <a:pPr algn="ctr"/>
                          <a:r>
                            <a:rPr lang="en-US" dirty="0"/>
                            <a:t>0.25</a:t>
                          </a:r>
                          <a:endParaRPr lang="en-CA" dirty="0"/>
                        </a:p>
                      </a:txBody>
                      <a:tcPr/>
                    </a:tc>
                    <a:tc>
                      <a:txBody>
                        <a:bodyPr/>
                        <a:lstStyle/>
                        <a:p>
                          <a:pPr algn="ctr"/>
                          <a:r>
                            <a:rPr lang="en-US" dirty="0"/>
                            <a:t>0.35</a:t>
                          </a:r>
                          <a:endParaRPr lang="en-CA" dirty="0"/>
                        </a:p>
                      </a:txBody>
                      <a:tcPr/>
                    </a:tc>
                    <a:tc>
                      <a:txBody>
                        <a:bodyPr/>
                        <a:lstStyle/>
                        <a:p>
                          <a:pPr algn="ctr"/>
                          <a:r>
                            <a:rPr lang="en-US" dirty="0"/>
                            <a:t>0.295</a:t>
                          </a:r>
                          <a:endParaRPr lang="en-CA" dirty="0"/>
                        </a:p>
                      </a:txBody>
                      <a:tcPr/>
                    </a:tc>
                    <a:extLst>
                      <a:ext uri="{0D108BD9-81ED-4DB2-BD59-A6C34878D82A}">
                        <a16:rowId xmlns:a16="http://schemas.microsoft.com/office/drawing/2014/main" val="578992388"/>
                      </a:ext>
                    </a:extLst>
                  </a:tr>
                  <a:tr h="370840">
                    <a:tc>
                      <a:txBody>
                        <a:bodyPr/>
                        <a:lstStyle/>
                        <a:p>
                          <a:pPr algn="ctr"/>
                          <a:r>
                            <a:rPr lang="en-US" dirty="0"/>
                            <a:t>0.3</a:t>
                          </a:r>
                          <a:endParaRPr lang="en-CA" dirty="0"/>
                        </a:p>
                      </a:txBody>
                      <a:tcPr/>
                    </a:tc>
                    <a:tc>
                      <a:txBody>
                        <a:bodyPr/>
                        <a:lstStyle/>
                        <a:p>
                          <a:pPr algn="ctr"/>
                          <a:r>
                            <a:rPr lang="en-US" dirty="0"/>
                            <a:t>0.259</a:t>
                          </a:r>
                          <a:endParaRPr lang="en-CA" dirty="0"/>
                        </a:p>
                      </a:txBody>
                      <a:tcPr/>
                    </a:tc>
                    <a:tc>
                      <a:txBody>
                        <a:bodyPr/>
                        <a:lstStyle/>
                        <a:p>
                          <a:pPr algn="ctr"/>
                          <a:r>
                            <a:rPr lang="en-US" dirty="0"/>
                            <a:t>0.25</a:t>
                          </a:r>
                          <a:endParaRPr lang="en-CA" dirty="0"/>
                        </a:p>
                      </a:txBody>
                      <a:tcPr/>
                    </a:tc>
                    <a:tc>
                      <a:txBody>
                        <a:bodyPr/>
                        <a:lstStyle/>
                        <a:p>
                          <a:pPr algn="ctr"/>
                          <a:r>
                            <a:rPr lang="en-US" dirty="0"/>
                            <a:t>0.55</a:t>
                          </a:r>
                          <a:endParaRPr lang="en-CA" dirty="0"/>
                        </a:p>
                      </a:txBody>
                      <a:tcPr/>
                    </a:tc>
                    <a:tc>
                      <a:txBody>
                        <a:bodyPr/>
                        <a:lstStyle/>
                        <a:p>
                          <a:pPr algn="ctr"/>
                          <a:r>
                            <a:rPr lang="en-US" dirty="0"/>
                            <a:t>0.423</a:t>
                          </a:r>
                          <a:endParaRPr lang="en-CA" dirty="0"/>
                        </a:p>
                      </a:txBody>
                      <a:tcPr/>
                    </a:tc>
                    <a:extLst>
                      <a:ext uri="{0D108BD9-81ED-4DB2-BD59-A6C34878D82A}">
                        <a16:rowId xmlns:a16="http://schemas.microsoft.com/office/drawing/2014/main" val="13937568"/>
                      </a:ext>
                    </a:extLst>
                  </a:tr>
                  <a:tr h="370840">
                    <a:tc>
                      <a:txBody>
                        <a:bodyPr/>
                        <a:lstStyle/>
                        <a:p>
                          <a:pPr algn="ctr"/>
                          <a:r>
                            <a:rPr lang="en-US" dirty="0"/>
                            <a:t>0.5</a:t>
                          </a:r>
                          <a:endParaRPr lang="en-CA" dirty="0"/>
                        </a:p>
                      </a:txBody>
                      <a:tcPr/>
                    </a:tc>
                    <a:tc>
                      <a:txBody>
                        <a:bodyPr/>
                        <a:lstStyle/>
                        <a:p>
                          <a:pPr algn="ctr"/>
                          <a:r>
                            <a:rPr lang="en-US" dirty="0"/>
                            <a:t>0.393</a:t>
                          </a:r>
                          <a:endParaRPr lang="en-CA" dirty="0"/>
                        </a:p>
                      </a:txBody>
                      <a:tcPr/>
                    </a:tc>
                    <a:tc>
                      <a:txBody>
                        <a:bodyPr/>
                        <a:lstStyle/>
                        <a:p>
                          <a:pPr algn="ctr"/>
                          <a:r>
                            <a:rPr lang="en-US" dirty="0"/>
                            <a:t>0.25</a:t>
                          </a:r>
                          <a:endParaRPr lang="en-CA" dirty="0"/>
                        </a:p>
                      </a:txBody>
                      <a:tcPr/>
                    </a:tc>
                    <a:tc>
                      <a:txBody>
                        <a:bodyPr/>
                        <a:lstStyle/>
                        <a:p>
                          <a:pPr algn="ctr"/>
                          <a:r>
                            <a:rPr lang="en-US" dirty="0"/>
                            <a:t>0.75</a:t>
                          </a:r>
                          <a:endParaRPr lang="en-CA" dirty="0"/>
                        </a:p>
                      </a:txBody>
                      <a:tcPr/>
                    </a:tc>
                    <a:tc>
                      <a:txBody>
                        <a:bodyPr/>
                        <a:lstStyle/>
                        <a:p>
                          <a:pPr algn="ctr"/>
                          <a:r>
                            <a:rPr lang="en-US" dirty="0"/>
                            <a:t>0.528</a:t>
                          </a:r>
                          <a:endParaRPr lang="en-CA" dirty="0"/>
                        </a:p>
                      </a:txBody>
                      <a:tcPr/>
                    </a:tc>
                    <a:extLst>
                      <a:ext uri="{0D108BD9-81ED-4DB2-BD59-A6C34878D82A}">
                        <a16:rowId xmlns:a16="http://schemas.microsoft.com/office/drawing/2014/main" val="1372787945"/>
                      </a:ext>
                    </a:extLst>
                  </a:tr>
                  <a:tr h="370840">
                    <a:tc>
                      <a:txBody>
                        <a:bodyPr/>
                        <a:lstStyle/>
                        <a:p>
                          <a:pPr algn="ctr"/>
                          <a:r>
                            <a:rPr lang="en-US" dirty="0"/>
                            <a:t>0.7</a:t>
                          </a:r>
                          <a:endParaRPr lang="en-CA" dirty="0"/>
                        </a:p>
                      </a:txBody>
                      <a:tcPr/>
                    </a:tc>
                    <a:tc>
                      <a:txBody>
                        <a:bodyPr/>
                        <a:lstStyle/>
                        <a:p>
                          <a:pPr algn="ctr"/>
                          <a:r>
                            <a:rPr lang="en-US" dirty="0"/>
                            <a:t>0.503</a:t>
                          </a:r>
                          <a:endParaRPr lang="en-CA" dirty="0"/>
                        </a:p>
                      </a:txBody>
                      <a:tcPr/>
                    </a:tc>
                    <a:tc>
                      <a:txBody>
                        <a:bodyPr/>
                        <a:lstStyle/>
                        <a:p>
                          <a:pPr algn="ctr"/>
                          <a:r>
                            <a:rPr lang="en-US" dirty="0"/>
                            <a:t>0.25</a:t>
                          </a:r>
                          <a:endParaRPr lang="en-CA" dirty="0"/>
                        </a:p>
                      </a:txBody>
                      <a:tcPr/>
                    </a:tc>
                    <a:tc>
                      <a:txBody>
                        <a:bodyPr/>
                        <a:lstStyle/>
                        <a:p>
                          <a:pPr algn="ctr"/>
                          <a:r>
                            <a:rPr lang="en-US" dirty="0"/>
                            <a:t>0.95</a:t>
                          </a:r>
                          <a:endParaRPr lang="en-CA" dirty="0"/>
                        </a:p>
                      </a:txBody>
                      <a:tcPr/>
                    </a:tc>
                    <a:tc>
                      <a:txBody>
                        <a:bodyPr/>
                        <a:lstStyle/>
                        <a:p>
                          <a:pPr algn="ctr"/>
                          <a:r>
                            <a:rPr lang="en-US" dirty="0"/>
                            <a:t>0.613</a:t>
                          </a:r>
                          <a:endParaRPr lang="en-CA" dirty="0"/>
                        </a:p>
                      </a:txBody>
                      <a:tcPr/>
                    </a:tc>
                    <a:extLst>
                      <a:ext uri="{0D108BD9-81ED-4DB2-BD59-A6C34878D82A}">
                        <a16:rowId xmlns:a16="http://schemas.microsoft.com/office/drawing/2014/main" val="683204680"/>
                      </a:ext>
                    </a:extLst>
                  </a:tr>
                </a:tbl>
              </a:graphicData>
            </a:graphic>
          </p:graphicFrame>
        </mc:Fallback>
      </mc:AlternateContent>
      <p:sp>
        <p:nvSpPr>
          <p:cNvPr id="5" name="Slide Number Placeholder 4"/>
          <p:cNvSpPr>
            <a:spLocks noGrp="1"/>
          </p:cNvSpPr>
          <p:nvPr>
            <p:ph type="sldNum" sz="quarter" idx="12"/>
          </p:nvPr>
        </p:nvSpPr>
        <p:spPr/>
        <p:txBody>
          <a:bodyPr/>
          <a:lstStyle/>
          <a:p>
            <a:fld id="{EEDFA2F9-C25F-4A63-B46B-7B5C200A39D1}" type="slidenum">
              <a:rPr lang="en-CA" smtClean="0"/>
              <a:t>67</a:t>
            </a:fld>
            <a:endParaRPr lang="en-CA"/>
          </a:p>
        </p:txBody>
      </p:sp>
    </p:spTree>
    <p:extLst>
      <p:ext uri="{BB962C8B-B14F-4D97-AF65-F5344CB8AC3E}">
        <p14:creationId xmlns:p14="http://schemas.microsoft.com/office/powerpoint/2010/main" val="154425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Calculations </a:t>
            </a:r>
            <a:r>
              <a:rPr lang="en-CA" sz="3600" b="1" dirty="0">
                <a:solidFill>
                  <a:srgbClr val="0000FF"/>
                </a:solidFill>
              </a:rPr>
              <a:t>2. Survivorship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track a cohort from the </a:t>
                </a:r>
                <a:r>
                  <a:rPr lang="en-US" u="sng" dirty="0"/>
                  <a:t>age of recruitment </a:t>
                </a:r>
                <a:r>
                  <a:rPr lang="en-US" dirty="0"/>
                  <a:t>to a </a:t>
                </a:r>
                <a:r>
                  <a:rPr lang="en-US" u="sng" dirty="0"/>
                  <a:t>plus group</a:t>
                </a:r>
              </a:p>
              <a:p>
                <a:r>
                  <a:rPr lang="en-US" dirty="0"/>
                  <a:t>We begin assuming no fishing mortality (</a:t>
                </a:r>
                <a14:m>
                  <m:oMath xmlns:m="http://schemas.openxmlformats.org/officeDocument/2006/math">
                    <m:r>
                      <a:rPr lang="en-US" b="0" i="1" smtClean="0">
                        <a:latin typeface="Cambria Math" panose="02040503050406030204" pitchFamily="18" charset="0"/>
                      </a:rPr>
                      <m:t>𝐹</m:t>
                    </m:r>
                    <m:r>
                      <a:rPr lang="en-US" b="0" i="1" smtClean="0">
                        <a:latin typeface="Cambria Math" panose="02040503050406030204" pitchFamily="18" charset="0"/>
                      </a:rPr>
                      <m:t>=0</m:t>
                    </m:r>
                  </m:oMath>
                </a14:m>
                <a:r>
                  <a:rPr lang="en-US" dirty="0"/>
                  <a:t>) so removal is only by natural mortality (</a:t>
                </a:r>
                <a14:m>
                  <m:oMath xmlns:m="http://schemas.openxmlformats.org/officeDocument/2006/math">
                    <m:r>
                      <a:rPr lang="en-US" i="1" dirty="0" smtClean="0">
                        <a:latin typeface="Cambria Math" panose="02040503050406030204" pitchFamily="18" charset="0"/>
                      </a:rPr>
                      <m:t>𝑀</m:t>
                    </m:r>
                  </m:oMath>
                </a14:m>
                <a:r>
                  <a:rPr lang="en-US" dirty="0"/>
                  <a:t>)</a:t>
                </a:r>
              </a:p>
              <a:p>
                <a:r>
                  <a:rPr lang="en-US" dirty="0"/>
                  <a:t>We define </a:t>
                </a:r>
                <a:r>
                  <a:rPr lang="en-US" u="sng" dirty="0"/>
                  <a:t>unfished</a:t>
                </a:r>
                <a:r>
                  <a:rPr lang="en-US" dirty="0"/>
                  <a:t> “survivorship-at-age”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0</m:t>
                            </m:r>
                          </m:e>
                          <m:sub>
                            <m:r>
                              <a:rPr lang="en-US" b="0" i="1" smtClean="0">
                                <a:latin typeface="Cambria Math" panose="02040503050406030204" pitchFamily="18" charset="0"/>
                              </a:rPr>
                              <m:t>𝑎</m:t>
                            </m:r>
                          </m:sub>
                        </m:sSub>
                      </m:sub>
                    </m:sSub>
                  </m:oMath>
                </a14:m>
                <a:r>
                  <a:rPr lang="en-US" dirty="0"/>
                  <a:t>) as the probability of surviving to age </a:t>
                </a:r>
                <a14:m>
                  <m:oMath xmlns:m="http://schemas.openxmlformats.org/officeDocument/2006/math">
                    <m:r>
                      <a:rPr lang="en-US" i="1">
                        <a:latin typeface="Cambria Math" panose="02040503050406030204" pitchFamily="18" charset="0"/>
                      </a:rPr>
                      <m:t>𝑎</m:t>
                    </m:r>
                  </m:oMath>
                </a14:m>
                <a:r>
                  <a:rPr lang="en-US" dirty="0"/>
                  <a:t> when </a:t>
                </a:r>
                <a14:m>
                  <m:oMath xmlns:m="http://schemas.openxmlformats.org/officeDocument/2006/math">
                    <m:r>
                      <a:rPr lang="en-US" i="1" dirty="0" smtClean="0">
                        <a:latin typeface="Cambria Math" panose="02040503050406030204" pitchFamily="18" charset="0"/>
                      </a:rPr>
                      <m:t>𝐹</m:t>
                    </m:r>
                    <m:r>
                      <a:rPr lang="en-US" i="1" dirty="0" smtClean="0">
                        <a:latin typeface="Cambria Math" panose="02040503050406030204" pitchFamily="18" charset="0"/>
                      </a:rPr>
                      <m:t>=0</m:t>
                    </m:r>
                  </m:oMath>
                </a14:m>
                <a:endParaRPr lang="en-US" dirty="0"/>
              </a:p>
              <a:p>
                <a:endParaRPr lang="en-US" dirty="0"/>
              </a:p>
              <a:p>
                <a:r>
                  <a:rPr lang="en-US" dirty="0"/>
                  <a:t>Example with </a:t>
                </a:r>
                <a:r>
                  <a:rPr lang="en-US" u="sng" dirty="0"/>
                  <a:t>age of recruitment </a:t>
                </a:r>
                <a:r>
                  <a:rPr lang="en-US" dirty="0"/>
                  <a:t>= 1, </a:t>
                </a:r>
                <a:r>
                  <a:rPr lang="en-US" u="sng" dirty="0"/>
                  <a:t>plus group </a:t>
                </a:r>
                <a:r>
                  <a:rPr lang="en-US" dirty="0"/>
                  <a:t>= 9</a:t>
                </a:r>
                <a:r>
                  <a:rPr lang="en-US" baseline="30000" dirty="0"/>
                  <a:t>+</a:t>
                </a:r>
                <a:r>
                  <a:rPr lang="en-US" dirty="0"/>
                  <a:t>, and </a:t>
                </a:r>
                <a14:m>
                  <m:oMath xmlns:m="http://schemas.openxmlformats.org/officeDocument/2006/math">
                    <m:r>
                      <a:rPr lang="en-US" b="0" i="1" dirty="0" smtClean="0">
                        <a:latin typeface="Cambria Math" panose="02040503050406030204" pitchFamily="18" charset="0"/>
                      </a:rPr>
                      <m:t>𝑀</m:t>
                    </m:r>
                    <m:r>
                      <a:rPr lang="en-US" b="0" i="1" dirty="0" smtClean="0">
                        <a:latin typeface="Cambria Math" panose="02040503050406030204" pitchFamily="18" charset="0"/>
                      </a:rPr>
                      <m:t>=0.3</m:t>
                    </m:r>
                  </m:oMath>
                </a14:m>
                <a:endParaRPr lang="en-US" dirty="0"/>
              </a:p>
              <a:p>
                <a:endParaRPr lang="en-CA" dirty="0"/>
              </a:p>
              <a:p>
                <a:pPr lvl="1"/>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r="-58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68</a:t>
            </a:fld>
            <a:endParaRPr lang="en-CA"/>
          </a:p>
        </p:txBody>
      </p:sp>
    </p:spTree>
    <p:extLst>
      <p:ext uri="{BB962C8B-B14F-4D97-AF65-F5344CB8AC3E}">
        <p14:creationId xmlns:p14="http://schemas.microsoft.com/office/powerpoint/2010/main" val="42492741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stretch>
            <a:fillRect/>
          </a:stretch>
        </p:blipFill>
        <p:spPr>
          <a:xfrm>
            <a:off x="7607411" y="4102369"/>
            <a:ext cx="4584589" cy="2755631"/>
          </a:xfrm>
          <a:prstGeom prst="rect">
            <a:avLst/>
          </a:prstGeom>
        </p:spPr>
      </p:pic>
      <p:pic>
        <p:nvPicPr>
          <p:cNvPr id="15" name="Picture 14"/>
          <p:cNvPicPr>
            <a:picLocks noChangeAspect="1"/>
          </p:cNvPicPr>
          <p:nvPr/>
        </p:nvPicPr>
        <p:blipFill>
          <a:blip r:embed="rId3"/>
          <a:stretch>
            <a:fillRect/>
          </a:stretch>
        </p:blipFill>
        <p:spPr>
          <a:xfrm>
            <a:off x="0" y="4102369"/>
            <a:ext cx="4584589" cy="2755631"/>
          </a:xfrm>
          <a:prstGeom prst="rect">
            <a:avLst/>
          </a:prstGeom>
        </p:spPr>
      </p:pic>
      <p:sp>
        <p:nvSpPr>
          <p:cNvPr id="2" name="Title 1"/>
          <p:cNvSpPr>
            <a:spLocks noGrp="1"/>
          </p:cNvSpPr>
          <p:nvPr>
            <p:ph type="title"/>
          </p:nvPr>
        </p:nvSpPr>
        <p:spPr/>
        <p:txBody>
          <a:bodyPr>
            <a:normAutofit/>
          </a:bodyPr>
          <a:lstStyle/>
          <a:p>
            <a:r>
              <a:rPr lang="en-CA" sz="3600" dirty="0"/>
              <a:t>Per-Recruit Calculations </a:t>
            </a:r>
            <a:r>
              <a:rPr lang="en-CA" sz="3600" b="1" dirty="0">
                <a:solidFill>
                  <a:srgbClr val="0000FF"/>
                </a:solidFill>
              </a:rPr>
              <a:t>2. </a:t>
            </a:r>
            <a:r>
              <a:rPr lang="en-CA" sz="3600" b="1" u="sng" dirty="0">
                <a:solidFill>
                  <a:srgbClr val="0000FF"/>
                </a:solidFill>
              </a:rPr>
              <a:t>Unfished</a:t>
            </a:r>
            <a:r>
              <a:rPr lang="en-CA" sz="3600" b="1" dirty="0">
                <a:solidFill>
                  <a:srgbClr val="0000FF"/>
                </a:solidFill>
              </a:rPr>
              <a:t> Survivorship</a:t>
            </a:r>
            <a:endParaRPr lang="en-CA" sz="3600" dirty="0">
              <a:solidFill>
                <a:srgbClr val="0000FF"/>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For </a:t>
                </a:r>
                <a14:m>
                  <m:oMath xmlns:m="http://schemas.openxmlformats.org/officeDocument/2006/math">
                    <m:r>
                      <a:rPr lang="en-US" b="0" i="1" dirty="0" smtClean="0">
                        <a:latin typeface="Cambria Math" panose="02040503050406030204" pitchFamily="18" charset="0"/>
                      </a:rPr>
                      <m:t>𝑀</m:t>
                    </m:r>
                    <m:r>
                      <a:rPr lang="en-US" b="0" i="1" dirty="0" smtClean="0">
                        <a:latin typeface="Cambria Math" panose="02040503050406030204" pitchFamily="18" charset="0"/>
                      </a:rPr>
                      <m:t>=0.3</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sSub>
                          <m:sSubPr>
                            <m:ctrlPr>
                              <a:rPr lang="en-US" i="1">
                                <a:latin typeface="Cambria Math" panose="02040503050406030204" pitchFamily="18" charset="0"/>
                              </a:rPr>
                            </m:ctrlPr>
                          </m:sSubPr>
                          <m:e>
                            <m:r>
                              <a:rPr lang="en-US" i="1">
                                <a:latin typeface="Cambria Math" panose="02040503050406030204" pitchFamily="18" charset="0"/>
                              </a:rPr>
                              <m:t>0</m:t>
                            </m:r>
                          </m:e>
                          <m:sub>
                            <m:r>
                              <a:rPr lang="en-US" i="1">
                                <a:latin typeface="Cambria Math" panose="02040503050406030204" pitchFamily="18" charset="0"/>
                              </a:rPr>
                              <m:t>𝑎</m:t>
                            </m:r>
                            <m:r>
                              <a:rPr lang="en-US" b="0" i="1" smtClean="0">
                                <a:latin typeface="Cambria Math" panose="02040503050406030204" pitchFamily="18" charset="0"/>
                              </a:rPr>
                              <m:t>=1</m:t>
                            </m:r>
                          </m:sub>
                        </m:sSub>
                      </m:sub>
                    </m:sSub>
                    <m:r>
                      <a:rPr lang="en-US" b="0" i="1" smtClean="0">
                        <a:latin typeface="Cambria Math" panose="02040503050406030204" pitchFamily="18" charset="0"/>
                      </a:rPr>
                      <m:t>=</m:t>
                    </m:r>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𝑠𝑢𝑟𝑣𝑖𝑣𝑖𝑛𝑔</m:t>
                        </m:r>
                        <m:r>
                          <a:rPr lang="en-US" b="0" i="1" smtClean="0">
                            <a:latin typeface="Cambria Math" panose="02040503050406030204" pitchFamily="18" charset="0"/>
                          </a:rPr>
                          <m:t> </m:t>
                        </m:r>
                        <m:r>
                          <a:rPr lang="en-US" b="0" i="1" smtClean="0">
                            <a:latin typeface="Cambria Math" panose="02040503050406030204" pitchFamily="18" charset="0"/>
                          </a:rPr>
                          <m:t>𝑡𝑜</m:t>
                        </m:r>
                        <m:r>
                          <a:rPr lang="en-US" b="0" i="1" smtClean="0">
                            <a:latin typeface="Cambria Math" panose="02040503050406030204" pitchFamily="18" charset="0"/>
                          </a:rPr>
                          <m:t> </m:t>
                        </m:r>
                        <m:r>
                          <a:rPr lang="en-US" b="0" i="1" smtClean="0">
                            <a:latin typeface="Cambria Math" panose="02040503050406030204" pitchFamily="18" charset="0"/>
                          </a:rPr>
                          <m:t>𝑎𝑔𝑒</m:t>
                        </m:r>
                        <m:r>
                          <a:rPr lang="en-US" b="0" i="1" smtClean="0">
                            <a:latin typeface="Cambria Math" panose="02040503050406030204" pitchFamily="18" charset="0"/>
                          </a:rPr>
                          <m:t> 1</m:t>
                        </m:r>
                      </m:e>
                    </m:d>
                    <m:r>
                      <a:rPr lang="en-US" b="0" i="1" smtClean="0">
                        <a:latin typeface="Cambria Math" panose="02040503050406030204" pitchFamily="18" charset="0"/>
                      </a:rPr>
                      <m:t>=1</m:t>
                    </m:r>
                  </m:oMath>
                </a14:m>
                <a:endParaRPr lang="en-US"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sSub>
                          <m:sSubPr>
                            <m:ctrlPr>
                              <a:rPr lang="en-US" i="1">
                                <a:latin typeface="Cambria Math" panose="02040503050406030204" pitchFamily="18" charset="0"/>
                              </a:rPr>
                            </m:ctrlPr>
                          </m:sSubPr>
                          <m:e>
                            <m:r>
                              <a:rPr lang="en-US" i="1">
                                <a:latin typeface="Cambria Math" panose="02040503050406030204" pitchFamily="18" charset="0"/>
                              </a:rPr>
                              <m:t>0</m:t>
                            </m:r>
                          </m:e>
                          <m:sub>
                            <m:r>
                              <a:rPr lang="en-US" i="1">
                                <a:latin typeface="Cambria Math" panose="02040503050406030204" pitchFamily="18" charset="0"/>
                              </a:rPr>
                              <m:t>𝑎</m:t>
                            </m:r>
                            <m:r>
                              <a:rPr lang="en-US" i="1">
                                <a:latin typeface="Cambria Math" panose="02040503050406030204" pitchFamily="18" charset="0"/>
                              </a:rPr>
                              <m:t>=2</m:t>
                            </m:r>
                          </m:sub>
                        </m:sSub>
                      </m:sub>
                    </m:sSub>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𝑠𝑢𝑟𝑣𝑖𝑣𝑖𝑛𝑔</m:t>
                        </m:r>
                        <m:r>
                          <a:rPr lang="en-US" i="1">
                            <a:latin typeface="Cambria Math" panose="02040503050406030204" pitchFamily="18" charset="0"/>
                          </a:rPr>
                          <m:t> </m:t>
                        </m:r>
                        <m:r>
                          <a:rPr lang="en-US" i="1">
                            <a:latin typeface="Cambria Math" panose="02040503050406030204" pitchFamily="18" charset="0"/>
                          </a:rPr>
                          <m:t>𝑡𝑜</m:t>
                        </m:r>
                        <m:r>
                          <a:rPr lang="en-US" i="1">
                            <a:latin typeface="Cambria Math" panose="02040503050406030204" pitchFamily="18" charset="0"/>
                          </a:rPr>
                          <m:t> </m:t>
                        </m:r>
                        <m:r>
                          <a:rPr lang="en-US" i="1">
                            <a:latin typeface="Cambria Math" panose="02040503050406030204" pitchFamily="18" charset="0"/>
                          </a:rPr>
                          <m:t>𝑎𝑔𝑒</m:t>
                        </m:r>
                        <m:r>
                          <a:rPr lang="en-US" i="1">
                            <a:latin typeface="Cambria Math" panose="02040503050406030204" pitchFamily="18" charset="0"/>
                          </a:rPr>
                          <m:t> 2</m:t>
                        </m:r>
                      </m:e>
                    </m:d>
                    <m:r>
                      <a:rPr lang="en-US" i="1">
                        <a:latin typeface="Cambria Math" panose="02040503050406030204" pitchFamily="18" charset="0"/>
                      </a:rPr>
                      <m:t>=1</m:t>
                    </m:r>
                    <m:r>
                      <a:rPr lang="en-US"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𝑒</m:t>
                        </m:r>
                      </m:e>
                      <m: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𝑀</m:t>
                        </m:r>
                      </m:sup>
                    </m:sSup>
                    <m:r>
                      <a:rPr lang="en-US" b="0" i="1" smtClean="0">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0.3</m:t>
                        </m:r>
                      </m:sup>
                    </m:sSup>
                  </m:oMath>
                </a14:m>
                <a:endParaRPr lang="en-US" baseline="30000" dirty="0"/>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sSub>
                          <m:sSubPr>
                            <m:ctrlPr>
                              <a:rPr lang="en-US" i="1">
                                <a:latin typeface="Cambria Math" panose="02040503050406030204" pitchFamily="18" charset="0"/>
                              </a:rPr>
                            </m:ctrlPr>
                          </m:sSubPr>
                          <m:e>
                            <m:r>
                              <a:rPr lang="en-US" i="1">
                                <a:latin typeface="Cambria Math" panose="02040503050406030204" pitchFamily="18" charset="0"/>
                              </a:rPr>
                              <m:t>0</m:t>
                            </m:r>
                          </m:e>
                          <m:sub>
                            <m:r>
                              <a:rPr lang="en-US" i="1">
                                <a:latin typeface="Cambria Math" panose="02040503050406030204" pitchFamily="18" charset="0"/>
                              </a:rPr>
                              <m:t>𝑎</m:t>
                            </m:r>
                            <m:r>
                              <a:rPr lang="en-US" i="1">
                                <a:latin typeface="Cambria Math" panose="02040503050406030204" pitchFamily="18" charset="0"/>
                              </a:rPr>
                              <m:t>=3</m:t>
                            </m:r>
                          </m:sub>
                        </m:sSub>
                      </m:sub>
                    </m:sSub>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𝑠𝑢𝑟𝑣𝑖𝑣𝑖𝑛𝑔</m:t>
                        </m:r>
                        <m:r>
                          <a:rPr lang="en-US" i="1">
                            <a:latin typeface="Cambria Math" panose="02040503050406030204" pitchFamily="18" charset="0"/>
                          </a:rPr>
                          <m:t> </m:t>
                        </m:r>
                        <m:r>
                          <a:rPr lang="en-US" i="1">
                            <a:latin typeface="Cambria Math" panose="02040503050406030204" pitchFamily="18" charset="0"/>
                          </a:rPr>
                          <m:t>𝑡𝑜</m:t>
                        </m:r>
                        <m:r>
                          <a:rPr lang="en-US" i="1">
                            <a:latin typeface="Cambria Math" panose="02040503050406030204" pitchFamily="18" charset="0"/>
                          </a:rPr>
                          <m:t> </m:t>
                        </m:r>
                        <m:r>
                          <a:rPr lang="en-US" i="1">
                            <a:latin typeface="Cambria Math" panose="02040503050406030204" pitchFamily="18" charset="0"/>
                          </a:rPr>
                          <m:t>𝑎𝑔𝑒</m:t>
                        </m:r>
                        <m:r>
                          <a:rPr lang="en-US" i="1">
                            <a:latin typeface="Cambria Math" panose="02040503050406030204" pitchFamily="18" charset="0"/>
                          </a:rPr>
                          <m:t> 3</m:t>
                        </m:r>
                      </m:e>
                    </m:d>
                    <m:r>
                      <a:rPr lang="en-US" i="1">
                        <a:latin typeface="Cambria Math" panose="02040503050406030204" pitchFamily="18" charset="0"/>
                      </a:rPr>
                      <m:t>=1</m:t>
                    </m:r>
                  </m:oMath>
                </a14:m>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𝑀</m:t>
                        </m:r>
                      </m:sup>
                    </m:s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𝑀</m:t>
                        </m:r>
                      </m:sup>
                    </m:s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3)</m:t>
                        </m:r>
                      </m:sup>
                    </m:sSup>
                  </m:oMath>
                </a14:m>
                <a:endParaRPr lang="en-US" i="1" dirty="0">
                  <a:latin typeface="Cambria Math" panose="02040503050406030204" pitchFamily="18" charset="0"/>
                  <a:ea typeface="Cambria Math" panose="02040503050406030204" pitchFamily="18" charset="0"/>
                </a:endParaRPr>
              </a:p>
              <a:p>
                <a:pPr lvl="1"/>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sSub>
                          <m:sSubPr>
                            <m:ctrlPr>
                              <a:rPr lang="en-US" i="1">
                                <a:latin typeface="Cambria Math" panose="02040503050406030204" pitchFamily="18" charset="0"/>
                              </a:rPr>
                            </m:ctrlPr>
                          </m:sSubPr>
                          <m:e>
                            <m:r>
                              <a:rPr lang="en-US" i="1">
                                <a:latin typeface="Cambria Math" panose="02040503050406030204" pitchFamily="18" charset="0"/>
                              </a:rPr>
                              <m:t>0</m:t>
                            </m:r>
                          </m:e>
                          <m:sub>
                            <m:r>
                              <a:rPr lang="en-US" i="1">
                                <a:latin typeface="Cambria Math" panose="02040503050406030204" pitchFamily="18" charset="0"/>
                              </a:rPr>
                              <m:t>𝑎</m:t>
                            </m:r>
                            <m:r>
                              <a:rPr lang="en-US" i="1">
                                <a:latin typeface="Cambria Math" panose="02040503050406030204" pitchFamily="18" charset="0"/>
                              </a:rPr>
                              <m:t>=4</m:t>
                            </m:r>
                          </m:sub>
                        </m:sSub>
                      </m:sub>
                    </m:sSub>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𝑠𝑢𝑟𝑣𝑖𝑣𝑖𝑛𝑔</m:t>
                        </m:r>
                        <m:r>
                          <a:rPr lang="en-US" i="1">
                            <a:latin typeface="Cambria Math" panose="02040503050406030204" pitchFamily="18" charset="0"/>
                          </a:rPr>
                          <m:t> </m:t>
                        </m:r>
                        <m:r>
                          <a:rPr lang="en-US" i="1">
                            <a:latin typeface="Cambria Math" panose="02040503050406030204" pitchFamily="18" charset="0"/>
                          </a:rPr>
                          <m:t>𝑡𝑜</m:t>
                        </m:r>
                        <m:r>
                          <a:rPr lang="en-US" i="1">
                            <a:latin typeface="Cambria Math" panose="02040503050406030204" pitchFamily="18" charset="0"/>
                          </a:rPr>
                          <m:t> </m:t>
                        </m:r>
                        <m:r>
                          <a:rPr lang="en-US" i="1">
                            <a:latin typeface="Cambria Math" panose="02040503050406030204" pitchFamily="18" charset="0"/>
                          </a:rPr>
                          <m:t>𝑎𝑔𝑒</m:t>
                        </m:r>
                        <m:r>
                          <a:rPr lang="en-US" i="1">
                            <a:latin typeface="Cambria Math" panose="02040503050406030204" pitchFamily="18" charset="0"/>
                          </a:rPr>
                          <m:t> 4</m:t>
                        </m:r>
                      </m:e>
                    </m:d>
                    <m:r>
                      <a:rPr lang="en-US" i="1">
                        <a:latin typeface="Cambria Math" panose="02040503050406030204" pitchFamily="18" charset="0"/>
                      </a:rPr>
                      <m:t>=1</m:t>
                    </m:r>
                    <m:r>
                      <m:rPr>
                        <m:nor/>
                      </m:rPr>
                      <a:rPr lang="en-US" i="0" dirty="0">
                        <a:ea typeface="Cambria Math" panose="02040503050406030204" pitchFamily="18" charset="0"/>
                      </a:rPr>
                      <m:t> </m:t>
                    </m:r>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𝑀</m:t>
                        </m:r>
                      </m:sup>
                    </m:s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𝑀</m:t>
                        </m:r>
                      </m:sup>
                    </m:s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𝑀</m:t>
                        </m:r>
                      </m:sup>
                    </m:sSup>
                    <m:r>
                      <a:rPr lang="en-US" i="1">
                        <a:latin typeface="Cambria Math" panose="02040503050406030204" pitchFamily="18" charset="0"/>
                        <a:ea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(0.</m:t>
                        </m:r>
                        <m:r>
                          <a:rPr lang="en-US" b="0" i="1" smtClean="0">
                            <a:latin typeface="Cambria Math" panose="02040503050406030204" pitchFamily="18" charset="0"/>
                            <a:ea typeface="Cambria Math" panose="02040503050406030204" pitchFamily="18" charset="0"/>
                          </a:rPr>
                          <m:t>3</m:t>
                        </m:r>
                        <m:r>
                          <a:rPr lang="en-US" i="1">
                            <a:latin typeface="Cambria Math" panose="02040503050406030204" pitchFamily="18" charset="0"/>
                            <a:ea typeface="Cambria Math" panose="02040503050406030204" pitchFamily="18" charset="0"/>
                          </a:rPr>
                          <m:t>)</m:t>
                        </m:r>
                      </m:sup>
                    </m:sSup>
                  </m:oMath>
                </a14:m>
                <a:r>
                  <a:rPr lang="en-US" dirty="0"/>
                  <a:t>		</a:t>
                </a:r>
              </a:p>
              <a:p>
                <a:pPr marL="457200" lvl="1" indent="0">
                  <a:buNone/>
                </a:pPr>
                <a:endParaRPr lang="en-US" dirty="0"/>
              </a:p>
              <a:p>
                <a:pPr marL="457200" lvl="1" indent="0">
                  <a:buNone/>
                </a:pPr>
                <a:r>
                  <a:rPr lang="en-US" dirty="0"/>
                  <a:t>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sSub>
                          <m:sSubPr>
                            <m:ctrlPr>
                              <a:rPr lang="en-US" i="1">
                                <a:latin typeface="Cambria Math" panose="02040503050406030204" pitchFamily="18" charset="0"/>
                              </a:rPr>
                            </m:ctrlPr>
                          </m:sSubPr>
                          <m:e>
                            <m:r>
                              <a:rPr lang="en-US" i="1">
                                <a:latin typeface="Cambria Math" panose="02040503050406030204" pitchFamily="18" charset="0"/>
                              </a:rPr>
                              <m:t>0</m:t>
                            </m:r>
                          </m:e>
                          <m:sub>
                            <m:r>
                              <a:rPr lang="en-US" i="1">
                                <a:latin typeface="Cambria Math" panose="02040503050406030204" pitchFamily="18" charset="0"/>
                              </a:rPr>
                              <m:t>𝑎</m:t>
                            </m:r>
                            <m:r>
                              <a:rPr lang="en-US" i="1">
                                <a:latin typeface="Cambria Math" panose="02040503050406030204" pitchFamily="18" charset="0"/>
                              </a:rPr>
                              <m:t>=</m:t>
                            </m:r>
                            <m:r>
                              <a:rPr lang="en-US" b="0" i="1" smtClean="0">
                                <a:latin typeface="Cambria Math" panose="02040503050406030204" pitchFamily="18" charset="0"/>
                              </a:rPr>
                              <m:t>𝑎</m:t>
                            </m:r>
                          </m:sub>
                        </m:sSub>
                      </m:sub>
                    </m:sSub>
                    <m:r>
                      <a:rPr lang="en-US" i="1">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𝑒</m:t>
                        </m:r>
                      </m:e>
                      <m:sup>
                        <m:r>
                          <a:rPr lang="en-US" i="1">
                            <a:latin typeface="Cambria Math" panose="02040503050406030204" pitchFamily="18" charset="0"/>
                            <a:ea typeface="Cambria Math" panose="02040503050406030204" pitchFamily="18" charset="0"/>
                          </a:rPr>
                          <m:t>− </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−1</m:t>
                            </m:r>
                          </m:e>
                        </m:d>
                        <m:r>
                          <a:rPr lang="en-US" i="1">
                            <a:latin typeface="Cambria Math" panose="02040503050406030204" pitchFamily="18" charset="0"/>
                            <a:ea typeface="Cambria Math" panose="02040503050406030204" pitchFamily="18" charset="0"/>
                          </a:rPr>
                          <m:t>𝑀</m:t>
                        </m:r>
                      </m:sup>
                    </m:sSup>
                  </m:oMath>
                </a14:m>
                <a:endParaRPr lang="en-US" baseline="30000" dirty="0"/>
              </a:p>
              <a:p>
                <a:pPr lvl="1"/>
                <a:endParaRPr lang="en-US" baseline="30000" dirty="0"/>
              </a:p>
              <a:p>
                <a:pPr marL="0" indent="0">
                  <a:buNone/>
                </a:pPr>
                <a:endParaRPr lang="en-US" baseline="30000" dirty="0"/>
              </a:p>
              <a:p>
                <a:endParaRPr lang="en-CA" dirty="0"/>
              </a:p>
              <a:p>
                <a:pPr lvl="1"/>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4"/>
                <a:stretch>
                  <a:fillRect l="-1043" t="-2241"/>
                </a:stretch>
              </a:blipFill>
            </p:spPr>
            <p:txBody>
              <a:bodyPr/>
              <a:lstStyle/>
              <a:p>
                <a:r>
                  <a:rPr lang="en-US">
                    <a:noFill/>
                  </a:rPr>
                  <a:t> </a:t>
                </a:r>
              </a:p>
            </p:txBody>
          </p:sp>
        </mc:Fallback>
      </mc:AlternateContent>
      <p:sp>
        <p:nvSpPr>
          <p:cNvPr id="8" name="Rectangle 7"/>
          <p:cNvSpPr/>
          <p:nvPr/>
        </p:nvSpPr>
        <p:spPr>
          <a:xfrm>
            <a:off x="2435629" y="5902035"/>
            <a:ext cx="2003367" cy="64839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Rectangle 9"/>
          <p:cNvSpPr/>
          <p:nvPr/>
        </p:nvSpPr>
        <p:spPr>
          <a:xfrm>
            <a:off x="11404370" y="5522418"/>
            <a:ext cx="385156" cy="4098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12" name="Straight Arrow Connector 11"/>
          <p:cNvCxnSpPr/>
          <p:nvPr/>
        </p:nvCxnSpPr>
        <p:spPr>
          <a:xfrm flipH="1">
            <a:off x="5328458" y="1690688"/>
            <a:ext cx="457200" cy="51538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5785658" y="1388825"/>
            <a:ext cx="3208713" cy="369332"/>
          </a:xfrm>
          <a:prstGeom prst="rect">
            <a:avLst/>
          </a:prstGeom>
          <a:noFill/>
        </p:spPr>
        <p:txBody>
          <a:bodyPr wrap="square" rtlCol="0">
            <a:spAutoFit/>
          </a:bodyPr>
          <a:lstStyle/>
          <a:p>
            <a:r>
              <a:rPr lang="en-US" dirty="0">
                <a:solidFill>
                  <a:srgbClr val="C00000"/>
                </a:solidFill>
              </a:rPr>
              <a:t>age 1 = age of recruitment</a:t>
            </a:r>
            <a:endParaRPr lang="en-CA" dirty="0">
              <a:solidFill>
                <a:srgbClr val="C00000"/>
              </a:solidFill>
            </a:endParaRPr>
          </a:p>
        </p:txBody>
      </p:sp>
      <p:sp>
        <p:nvSpPr>
          <p:cNvPr id="4" name="Slide Number Placeholder 3"/>
          <p:cNvSpPr>
            <a:spLocks noGrp="1"/>
          </p:cNvSpPr>
          <p:nvPr>
            <p:ph type="sldNum" sz="quarter" idx="12"/>
          </p:nvPr>
        </p:nvSpPr>
        <p:spPr/>
        <p:txBody>
          <a:bodyPr/>
          <a:lstStyle/>
          <a:p>
            <a:fld id="{EEDFA2F9-C25F-4A63-B46B-7B5C200A39D1}" type="slidenum">
              <a:rPr lang="en-CA" smtClean="0"/>
              <a:t>69</a:t>
            </a:fld>
            <a:endParaRPr lang="en-CA"/>
          </a:p>
        </p:txBody>
      </p:sp>
    </p:spTree>
    <p:extLst>
      <p:ext uri="{BB962C8B-B14F-4D97-AF65-F5344CB8AC3E}">
        <p14:creationId xmlns:p14="http://schemas.microsoft.com/office/powerpoint/2010/main" val="2821356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Calculations </a:t>
            </a:r>
            <a:r>
              <a:rPr lang="en-CA" sz="3600" b="1" dirty="0">
                <a:solidFill>
                  <a:srgbClr val="0000FF"/>
                </a:solidFill>
              </a:rPr>
              <a:t>2. </a:t>
            </a:r>
            <a:r>
              <a:rPr lang="en-CA" sz="3600" b="1" u="sng" dirty="0">
                <a:solidFill>
                  <a:srgbClr val="0000FF"/>
                </a:solidFill>
              </a:rPr>
              <a:t>Unfished</a:t>
            </a:r>
            <a:r>
              <a:rPr lang="en-CA" sz="3600" b="1" dirty="0">
                <a:solidFill>
                  <a:srgbClr val="0000FF"/>
                </a:solidFill>
              </a:rPr>
              <a:t> Survivorship</a:t>
            </a:r>
            <a:endParaRPr lang="en-CA" sz="3600" dirty="0">
              <a:solidFill>
                <a:srgbClr val="0000FF"/>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1748848"/>
              </a:xfrm>
            </p:spPr>
            <p:txBody>
              <a:bodyPr>
                <a:normAutofit fontScale="92500"/>
              </a:bodyPr>
              <a:lstStyle/>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0</m:t>
                        </m:r>
                        <m:r>
                          <a:rPr lang="en-US" i="1">
                            <a:latin typeface="Cambria Math" panose="02040503050406030204" pitchFamily="18" charset="0"/>
                          </a:rPr>
                          <m:t>𝑎</m:t>
                        </m:r>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9</m:t>
                            </m:r>
                          </m:e>
                          <m:sup>
                            <m:r>
                              <a:rPr lang="en-US" b="0" i="1" smtClean="0">
                                <a:latin typeface="Cambria Math" panose="02040503050406030204" pitchFamily="18" charset="0"/>
                              </a:rPr>
                              <m:t>+</m:t>
                            </m:r>
                          </m:sup>
                        </m:sSup>
                      </m:sub>
                    </m:sSub>
                    <m:r>
                      <a:rPr lang="en-US" i="1">
                        <a:latin typeface="Cambria Math" panose="02040503050406030204" pitchFamily="18" charset="0"/>
                      </a:rPr>
                      <m:t>=</m:t>
                    </m:r>
                    <m:r>
                      <a:rPr lang="en-US" i="1">
                        <a:latin typeface="Cambria Math" panose="02040503050406030204" pitchFamily="18" charset="0"/>
                      </a:rPr>
                      <m:t>𝑃</m:t>
                    </m:r>
                    <m:d>
                      <m:dPr>
                        <m:ctrlPr>
                          <a:rPr lang="en-US" i="1">
                            <a:latin typeface="Cambria Math" panose="02040503050406030204" pitchFamily="18" charset="0"/>
                          </a:rPr>
                        </m:ctrlPr>
                      </m:dPr>
                      <m:e>
                        <m:r>
                          <a:rPr lang="en-US" i="1">
                            <a:latin typeface="Cambria Math" panose="02040503050406030204" pitchFamily="18" charset="0"/>
                          </a:rPr>
                          <m:t>𝑠𝑢𝑟𝑣𝑖𝑣𝑖𝑛𝑔</m:t>
                        </m:r>
                        <m:r>
                          <a:rPr lang="en-US" i="1">
                            <a:latin typeface="Cambria Math" panose="02040503050406030204" pitchFamily="18" charset="0"/>
                          </a:rPr>
                          <m:t> </m:t>
                        </m:r>
                        <m:r>
                          <a:rPr lang="en-US" i="1">
                            <a:latin typeface="Cambria Math" panose="02040503050406030204" pitchFamily="18" charset="0"/>
                          </a:rPr>
                          <m:t>𝑡𝑜</m:t>
                        </m:r>
                        <m:r>
                          <a:rPr lang="en-US" i="1">
                            <a:latin typeface="Cambria Math" panose="02040503050406030204" pitchFamily="18" charset="0"/>
                          </a:rPr>
                          <m:t> </m:t>
                        </m:r>
                        <m:r>
                          <a:rPr lang="en-US" b="0" i="1" smtClean="0">
                            <a:latin typeface="Cambria Math" panose="02040503050406030204" pitchFamily="18" charset="0"/>
                          </a:rPr>
                          <m:t>𝑎𝑡</m:t>
                        </m:r>
                        <m:r>
                          <a:rPr lang="en-US" b="0" i="1" smtClean="0">
                            <a:latin typeface="Cambria Math" panose="02040503050406030204" pitchFamily="18" charset="0"/>
                          </a:rPr>
                          <m:t> </m:t>
                        </m:r>
                        <m:r>
                          <a:rPr lang="en-US" b="0" i="1" smtClean="0">
                            <a:latin typeface="Cambria Math" panose="02040503050406030204" pitchFamily="18" charset="0"/>
                          </a:rPr>
                          <m:t>𝑙𝑒𝑎𝑠𝑡</m:t>
                        </m:r>
                        <m:r>
                          <a:rPr lang="en-US" b="0" i="1" smtClean="0">
                            <a:latin typeface="Cambria Math" panose="02040503050406030204" pitchFamily="18" charset="0"/>
                          </a:rPr>
                          <m:t> </m:t>
                        </m:r>
                        <m:r>
                          <a:rPr lang="en-US" b="0" i="1" smtClean="0">
                            <a:latin typeface="Cambria Math" panose="02040503050406030204" pitchFamily="18" charset="0"/>
                          </a:rPr>
                          <m:t>𝑎𝑔𝑒</m:t>
                        </m:r>
                        <m:r>
                          <a:rPr lang="en-US" b="0" i="1" smtClean="0">
                            <a:latin typeface="Cambria Math" panose="02040503050406030204" pitchFamily="18" charset="0"/>
                          </a:rPr>
                          <m:t> 9 </m:t>
                        </m:r>
                      </m:e>
                    </m:d>
                    <m:r>
                      <a:rPr lang="en-US" i="1">
                        <a:latin typeface="Cambria Math" panose="02040503050406030204" pitchFamily="18" charset="0"/>
                      </a:rPr>
                      <m:t>=</m:t>
                    </m:r>
                  </m:oMath>
                </a14:m>
                <a:r>
                  <a:rPr lang="en-US" baseline="30000"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8</m:t>
                        </m:r>
                        <m:r>
                          <a:rPr lang="en-US" b="0" i="1" smtClean="0">
                            <a:latin typeface="Cambria Math" panose="02040503050406030204" pitchFamily="18" charset="0"/>
                          </a:rPr>
                          <m:t>𝑀</m:t>
                        </m:r>
                      </m:sup>
                    </m:sSup>
                  </m:oMath>
                </a14:m>
                <a:r>
                  <a:rPr lang="en-US" baseline="30000" dirty="0"/>
                  <a:t> </a:t>
                </a:r>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9</m:t>
                        </m:r>
                        <m:r>
                          <a:rPr lang="en-US" b="0" i="1" smtClean="0">
                            <a:latin typeface="Cambria Math" panose="02040503050406030204" pitchFamily="18" charset="0"/>
                          </a:rPr>
                          <m:t>𝑀</m:t>
                        </m:r>
                      </m:sup>
                    </m:sSup>
                  </m:oMath>
                </a14:m>
                <a:r>
                  <a:rPr lang="en-US" baseline="30000" dirty="0"/>
                  <a:t> </a:t>
                </a:r>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10</m:t>
                        </m:r>
                        <m:r>
                          <a:rPr lang="en-US" b="0" i="1" smtClean="0">
                            <a:latin typeface="Cambria Math" panose="02040503050406030204" pitchFamily="18" charset="0"/>
                          </a:rPr>
                          <m:t>𝑀</m:t>
                        </m:r>
                      </m:sup>
                    </m:sSup>
                  </m:oMath>
                </a14:m>
                <a:r>
                  <a:rPr lang="en-US" dirty="0"/>
                  <a:t> + …</a:t>
                </a:r>
                <a:endParaRPr lang="en-US" baseline="30000" dirty="0"/>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0</m:t>
                        </m:r>
                        <m:r>
                          <a:rPr lang="en-US" i="1">
                            <a:latin typeface="Cambria Math" panose="02040503050406030204" pitchFamily="18" charset="0"/>
                          </a:rPr>
                          <m:t>𝑎</m:t>
                        </m:r>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9</m:t>
                            </m:r>
                          </m:e>
                          <m:sup>
                            <m:r>
                              <a:rPr lang="en-US" i="1">
                                <a:latin typeface="Cambria Math" panose="02040503050406030204" pitchFamily="18" charset="0"/>
                              </a:rPr>
                              <m:t>+</m:t>
                            </m:r>
                          </m:sup>
                        </m:sSup>
                      </m:sub>
                    </m:sSub>
                    <m:r>
                      <a:rPr lang="en-US" i="1">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8</m:t>
                        </m:r>
                        <m:r>
                          <a:rPr lang="en-US" b="0" i="1" smtClean="0">
                            <a:latin typeface="Cambria Math" panose="02040503050406030204" pitchFamily="18" charset="0"/>
                          </a:rPr>
                          <m:t>𝑀</m:t>
                        </m:r>
                      </m:sup>
                    </m:sSup>
                    <m:d>
                      <m:dPr>
                        <m:ctrlPr>
                          <a:rPr lang="en-US" i="1">
                            <a:latin typeface="Cambria Math" panose="02040503050406030204" pitchFamily="18" charset="0"/>
                          </a:rPr>
                        </m:ctrlPr>
                      </m:dPr>
                      <m:e>
                        <m:r>
                          <a:rPr lang="en-US" i="1">
                            <a:latin typeface="Cambria Math" panose="02040503050406030204" pitchFamily="18" charset="0"/>
                          </a:rPr>
                          <m:t>1+</m:t>
                        </m:r>
                        <m:r>
                          <m:rPr>
                            <m:nor/>
                          </m:rPr>
                          <a:rPr lang="en-US" i="0" dirty="0"/>
                          <m:t> </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𝑀</m:t>
                            </m:r>
                          </m:sup>
                        </m:sSup>
                        <m:r>
                          <a:rPr lang="en-US" i="1">
                            <a:latin typeface="Cambria Math" panose="02040503050406030204" pitchFamily="18" charset="0"/>
                          </a:rPr>
                          <m:t>+</m:t>
                        </m:r>
                        <m:r>
                          <m:rPr>
                            <m:nor/>
                          </m:rPr>
                          <a:rPr lang="en-US" i="0" dirty="0"/>
                          <m:t> (</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𝑀</m:t>
                            </m:r>
                          </m:sup>
                        </m:sSup>
                        <m:r>
                          <m:rPr>
                            <m:nor/>
                          </m:rPr>
                          <a:rPr lang="en-US" i="0" dirty="0"/>
                          <m:t>)</m:t>
                        </m:r>
                        <m:r>
                          <m:rPr>
                            <m:nor/>
                          </m:rPr>
                          <a:rPr lang="en-US" i="0" baseline="30000" dirty="0"/>
                          <m:t>2 </m:t>
                        </m:r>
                        <m:r>
                          <a:rPr lang="en-US" i="1">
                            <a:latin typeface="Cambria Math" panose="02040503050406030204" pitchFamily="18" charset="0"/>
                          </a:rPr>
                          <m:t>+</m:t>
                        </m:r>
                        <m:r>
                          <m:rPr>
                            <m:nor/>
                          </m:rPr>
                          <a:rPr lang="en-US" i="0" dirty="0"/>
                          <m:t> (</m:t>
                        </m:r>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𝑀</m:t>
                            </m:r>
                          </m:sup>
                        </m:sSup>
                        <m:r>
                          <m:rPr>
                            <m:nor/>
                          </m:rPr>
                          <a:rPr lang="en-US" i="0" dirty="0"/>
                          <m:t>)</m:t>
                        </m:r>
                        <m:r>
                          <m:rPr>
                            <m:nor/>
                          </m:rPr>
                          <a:rPr lang="en-US" i="0" baseline="30000" dirty="0"/>
                          <m:t>3  </m:t>
                        </m:r>
                        <m:r>
                          <a:rPr lang="en-US" i="1">
                            <a:latin typeface="Cambria Math" panose="02040503050406030204" pitchFamily="18" charset="0"/>
                          </a:rPr>
                          <m:t>+</m:t>
                        </m:r>
                        <m:r>
                          <m:rPr>
                            <m:nor/>
                          </m:rPr>
                          <a:rPr lang="en-US" i="0" dirty="0"/>
                          <m:t> …</m:t>
                        </m:r>
                        <m:r>
                          <m:rPr>
                            <m:nor/>
                          </m:rPr>
                          <a:rPr lang="en-US" i="0" baseline="30000" dirty="0"/>
                          <m:t> </m:t>
                        </m:r>
                      </m:e>
                    </m:d>
                  </m:oMath>
                </a14:m>
                <a:endParaRPr lang="en-US" i="1" dirty="0">
                  <a:latin typeface="Cambria Math" panose="02040503050406030204" pitchFamily="18" charset="0"/>
                </a:endParaRPr>
              </a:p>
              <a:p>
                <a:pPr marL="0" indent="0">
                  <a:buNone/>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0</m:t>
                        </m:r>
                        <m:r>
                          <a:rPr lang="en-US" i="1">
                            <a:latin typeface="Cambria Math" panose="02040503050406030204" pitchFamily="18" charset="0"/>
                          </a:rPr>
                          <m:t>𝑎</m:t>
                        </m:r>
                        <m:r>
                          <a:rPr lang="en-US" i="1">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9</m:t>
                            </m:r>
                          </m:e>
                          <m:sup>
                            <m:r>
                              <a:rPr lang="en-US" i="1">
                                <a:latin typeface="Cambria Math" panose="02040503050406030204" pitchFamily="18" charset="0"/>
                              </a:rPr>
                              <m:t>+</m:t>
                            </m:r>
                          </m:sup>
                        </m:sSup>
                      </m:sub>
                    </m:sSub>
                    <m:r>
                      <a:rPr lang="en-US" i="1">
                        <a:latin typeface="Cambria Math" panose="02040503050406030204" pitchFamily="18" charset="0"/>
                      </a:rPr>
                      <m:t>=</m:t>
                    </m:r>
                  </m:oMath>
                </a14:m>
                <a:r>
                  <a:rPr lang="en-US" dirty="0"/>
                  <a:t>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𝑒</m:t>
                        </m:r>
                      </m:e>
                      <m:sup>
                        <m:r>
                          <a:rPr lang="en-US" i="1">
                            <a:latin typeface="Cambria Math" panose="02040503050406030204" pitchFamily="18" charset="0"/>
                          </a:rPr>
                          <m:t>−</m:t>
                        </m:r>
                        <m:r>
                          <a:rPr lang="en-US" b="0" i="1" smtClean="0">
                            <a:latin typeface="Cambria Math" panose="02040503050406030204" pitchFamily="18" charset="0"/>
                          </a:rPr>
                          <m:t>8</m:t>
                        </m:r>
                        <m:r>
                          <a:rPr lang="en-US" b="0" i="1" smtClean="0">
                            <a:latin typeface="Cambria Math" panose="02040503050406030204" pitchFamily="18" charset="0"/>
                          </a:rPr>
                          <m:t>𝑀</m:t>
                        </m:r>
                      </m:sup>
                    </m:s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r>
                              <a:rPr lang="en-US" b="0" i="1" smtClean="0">
                                <a:latin typeface="Cambria Math" panose="02040503050406030204" pitchFamily="18" charset="0"/>
                              </a:rPr>
                              <m:t>𝑀</m:t>
                            </m:r>
                          </m:sup>
                        </m:sSup>
                      </m:den>
                    </m:f>
                  </m:oMath>
                </a14:m>
                <a:endParaRPr lang="en-US" baseline="30000" dirty="0"/>
              </a:p>
              <a:p>
                <a:pPr marL="0" indent="0">
                  <a:buNone/>
                </a:pPr>
                <a:endParaRPr lang="en-US" baseline="30000" dirty="0"/>
              </a:p>
              <a:p>
                <a:pPr marL="0" indent="0">
                  <a:buNone/>
                </a:pPr>
                <a:endParaRPr lang="en-CA" dirty="0"/>
              </a:p>
              <a:p>
                <a:pPr lvl="1"/>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1748848"/>
              </a:xfrm>
              <a:blipFill>
                <a:blip r:embed="rId2"/>
                <a:stretch>
                  <a:fillRect t="-4878"/>
                </a:stretch>
              </a:blipFill>
            </p:spPr>
            <p:txBody>
              <a:bodyPr/>
              <a:lstStyle/>
              <a:p>
                <a:r>
                  <a:rPr lang="en-US">
                    <a:noFill/>
                  </a:rPr>
                  <a:t> </a:t>
                </a:r>
              </a:p>
            </p:txBody>
          </p:sp>
        </mc:Fallback>
      </mc:AlternateContent>
      <p:pic>
        <p:nvPicPr>
          <p:cNvPr id="15" name="Picture 14"/>
          <p:cNvPicPr>
            <a:picLocks noChangeAspect="1"/>
          </p:cNvPicPr>
          <p:nvPr/>
        </p:nvPicPr>
        <p:blipFill>
          <a:blip r:embed="rId3"/>
          <a:stretch>
            <a:fillRect/>
          </a:stretch>
        </p:blipFill>
        <p:spPr>
          <a:xfrm>
            <a:off x="3524025" y="4235263"/>
            <a:ext cx="3726872" cy="1441933"/>
          </a:xfrm>
          <a:prstGeom prst="rect">
            <a:avLst/>
          </a:prstGeom>
        </p:spPr>
      </p:pic>
      <p:sp>
        <p:nvSpPr>
          <p:cNvPr id="16" name="Rectangle 15"/>
          <p:cNvSpPr/>
          <p:nvPr/>
        </p:nvSpPr>
        <p:spPr>
          <a:xfrm>
            <a:off x="2974837" y="2689934"/>
            <a:ext cx="940215" cy="73906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Slide Number Placeholder 3"/>
          <p:cNvSpPr>
            <a:spLocks noGrp="1"/>
          </p:cNvSpPr>
          <p:nvPr>
            <p:ph type="sldNum" sz="quarter" idx="12"/>
          </p:nvPr>
        </p:nvSpPr>
        <p:spPr/>
        <p:txBody>
          <a:bodyPr/>
          <a:lstStyle/>
          <a:p>
            <a:fld id="{EEDFA2F9-C25F-4A63-B46B-7B5C200A39D1}" type="slidenum">
              <a:rPr lang="en-CA" smtClean="0"/>
              <a:t>70</a:t>
            </a:fld>
            <a:endParaRPr lang="en-CA"/>
          </a:p>
        </p:txBody>
      </p:sp>
    </p:spTree>
    <p:extLst>
      <p:ext uri="{BB962C8B-B14F-4D97-AF65-F5344CB8AC3E}">
        <p14:creationId xmlns:p14="http://schemas.microsoft.com/office/powerpoint/2010/main" val="1515612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Calculations </a:t>
            </a:r>
            <a:r>
              <a:rPr lang="en-CA" sz="3600" b="1" dirty="0">
                <a:solidFill>
                  <a:srgbClr val="0000FF"/>
                </a:solidFill>
              </a:rPr>
              <a:t>2. </a:t>
            </a:r>
            <a:r>
              <a:rPr lang="en-CA" sz="3600" b="1" u="sng" dirty="0">
                <a:solidFill>
                  <a:srgbClr val="0000FF"/>
                </a:solidFill>
              </a:rPr>
              <a:t>Unfished</a:t>
            </a:r>
            <a:r>
              <a:rPr lang="en-CA" sz="3600" b="1" dirty="0">
                <a:solidFill>
                  <a:srgbClr val="0000FF"/>
                </a:solidFill>
              </a:rPr>
              <a:t> Survivorship</a:t>
            </a:r>
            <a:endParaRPr lang="en-CA" sz="3600" dirty="0"/>
          </a:p>
        </p:txBody>
      </p:sp>
      <p:sp>
        <p:nvSpPr>
          <p:cNvPr id="3" name="Content Placeholder 2"/>
          <p:cNvSpPr>
            <a:spLocks noGrp="1"/>
          </p:cNvSpPr>
          <p:nvPr>
            <p:ph idx="1"/>
          </p:nvPr>
        </p:nvSpPr>
        <p:spPr/>
        <p:txBody>
          <a:bodyPr/>
          <a:lstStyle/>
          <a:p>
            <a:r>
              <a:rPr lang="en-US" u="sng" dirty="0"/>
              <a:t>Unfished</a:t>
            </a:r>
            <a:r>
              <a:rPr lang="en-US" dirty="0"/>
              <a:t> survivorship-at-age</a:t>
            </a:r>
          </a:p>
          <a:p>
            <a:endParaRPr lang="en-US" baseline="30000" dirty="0"/>
          </a:p>
          <a:p>
            <a:endParaRPr lang="en-CA" dirty="0"/>
          </a:p>
          <a:p>
            <a:pPr lvl="1"/>
            <a:endParaRPr lang="en-CA" dirty="0"/>
          </a:p>
        </p:txBody>
      </p:sp>
      <mc:AlternateContent xmlns:mc="http://schemas.openxmlformats.org/markup-compatibility/2006" xmlns:a14="http://schemas.microsoft.com/office/drawing/2010/main">
        <mc:Choice Requires="a14">
          <p:sp>
            <p:nvSpPr>
              <p:cNvPr id="5" name="TextBox 4"/>
              <p:cNvSpPr txBox="1"/>
              <p:nvPr/>
            </p:nvSpPr>
            <p:spPr>
              <a:xfrm>
                <a:off x="2502593" y="2849391"/>
                <a:ext cx="7562734" cy="1705082"/>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just"/>
                <a14:m>
                  <m:oMathPara xmlns:m="http://schemas.openxmlformats.org/officeDocument/2006/math">
                    <m:oMathParaPr>
                      <m:jc m:val="center"/>
                    </m:oMathParaPr>
                    <m:oMath>
                      <m:sSub>
                        <m:sSubPr>
                          <m:ctrlPr>
                            <a:rPr lang="en-US" sz="2400" b="0" i="1" smtClean="0">
                              <a:solidFill>
                                <a:schemeClr val="tx1"/>
                              </a:solidFill>
                              <a:effectLst/>
                              <a:latin typeface="Cambria Math" panose="02040503050406030204" pitchFamily="18" charset="0"/>
                            </a:rPr>
                          </m:ctrlPr>
                        </m:sSubPr>
                        <m:e>
                          <m:r>
                            <a:rPr lang="en-US" sz="2400" b="0" i="1" smtClean="0">
                              <a:solidFill>
                                <a:schemeClr val="tx1"/>
                              </a:solidFill>
                              <a:effectLst/>
                              <a:latin typeface="Cambria Math" panose="02040503050406030204" pitchFamily="18" charset="0"/>
                            </a:rPr>
                            <m:t>𝑙</m:t>
                          </m:r>
                        </m:e>
                        <m:sub>
                          <m:sSub>
                            <m:sSubPr>
                              <m:ctrlPr>
                                <a:rPr lang="en-US" sz="2400" i="1">
                                  <a:latin typeface="Cambria Math" panose="02040503050406030204" pitchFamily="18" charset="0"/>
                                </a:rPr>
                              </m:ctrlPr>
                            </m:sSubPr>
                            <m:e>
                              <m:r>
                                <a:rPr lang="en-US" sz="2400" i="1">
                                  <a:latin typeface="Cambria Math" panose="02040503050406030204" pitchFamily="18" charset="0"/>
                                </a:rPr>
                                <m:t>0</m:t>
                              </m:r>
                            </m:e>
                            <m:sub>
                              <m:r>
                                <a:rPr lang="en-US" sz="2400" i="1">
                                  <a:latin typeface="Cambria Math" panose="02040503050406030204" pitchFamily="18" charset="0"/>
                                </a:rPr>
                                <m:t>𝑎</m:t>
                              </m:r>
                            </m:sub>
                          </m:sSub>
                        </m:sub>
                      </m:sSub>
                      <m:r>
                        <a:rPr lang="en-US" sz="2400" i="1">
                          <a:solidFill>
                            <a:schemeClr val="tx1"/>
                          </a:solidFill>
                          <a:effectLst/>
                          <a:latin typeface="Cambria Math" panose="02040503050406030204" pitchFamily="18" charset="0"/>
                        </a:rPr>
                        <m:t>=</m:t>
                      </m:r>
                      <m:d>
                        <m:dPr>
                          <m:begChr m:val="{"/>
                          <m:endChr m:val=""/>
                          <m:ctrlPr>
                            <a:rPr lang="en-CA" sz="2400" i="1" smtClean="0">
                              <a:solidFill>
                                <a:schemeClr val="tx1"/>
                              </a:solidFill>
                              <a:effectLst/>
                              <a:latin typeface="Cambria Math" panose="02040503050406030204" pitchFamily="18" charset="0"/>
                            </a:rPr>
                          </m:ctrlPr>
                        </m:dPr>
                        <m:e>
                          <m:m>
                            <m:mPr>
                              <m:mcs>
                                <m:mc>
                                  <m:mcPr>
                                    <m:count m:val="1"/>
                                    <m:mcJc m:val="center"/>
                                  </m:mcPr>
                                </m:mc>
                              </m:mcs>
                              <m:ctrlPr>
                                <a:rPr lang="en-CA" sz="2400" i="1" smtClean="0">
                                  <a:solidFill>
                                    <a:schemeClr val="tx1"/>
                                  </a:solidFill>
                                  <a:effectLst/>
                                  <a:latin typeface="Cambria Math" panose="02040503050406030204" pitchFamily="18" charset="0"/>
                                </a:rPr>
                              </m:ctrlPr>
                            </m:mPr>
                            <m:mr>
                              <m:e>
                                <m:r>
                                  <a:rPr lang="en-US" sz="2400" i="1">
                                    <a:solidFill>
                                      <a:schemeClr val="tx1"/>
                                    </a:solidFill>
                                    <a:effectLst/>
                                    <a:latin typeface="Cambria Math" panose="02040503050406030204" pitchFamily="18" charset="0"/>
                                  </a:rPr>
                                  <m:t>1</m:t>
                                </m:r>
                                <m:r>
                                  <a:rPr lang="en-US" sz="2400" b="0" i="1" smtClean="0">
                                    <a:solidFill>
                                      <a:schemeClr val="tx1"/>
                                    </a:solidFill>
                                    <a:effectLst/>
                                    <a:latin typeface="Cambria Math" panose="02040503050406030204" pitchFamily="18" charset="0"/>
                                  </a:rPr>
                                  <m:t>                                             </m:t>
                                </m:r>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 =</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b="0" i="1" smtClean="0">
                                        <a:solidFill>
                                          <a:schemeClr val="tx1"/>
                                        </a:solidFill>
                                        <a:latin typeface="Cambria Math" panose="02040503050406030204" pitchFamily="18" charset="0"/>
                                      </a:rPr>
                                      <m:t>𝑟𝑒𝑐</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𝑙</m:t>
                                    </m:r>
                                  </m:e>
                                  <m:sub>
                                    <m:sSub>
                                      <m:sSubPr>
                                        <m:ctrlPr>
                                          <a:rPr lang="en-US" sz="2400" i="1">
                                            <a:latin typeface="Cambria Math" panose="02040503050406030204" pitchFamily="18" charset="0"/>
                                          </a:rPr>
                                        </m:ctrlPr>
                                      </m:sSubPr>
                                      <m:e>
                                        <m:r>
                                          <a:rPr lang="en-US" sz="2400" i="1">
                                            <a:latin typeface="Cambria Math" panose="02040503050406030204" pitchFamily="18" charset="0"/>
                                          </a:rPr>
                                          <m:t>0</m:t>
                                        </m:r>
                                      </m:e>
                                      <m:sub>
                                        <m:r>
                                          <a:rPr lang="en-US" sz="2400" i="1">
                                            <a:latin typeface="Cambria Math" panose="02040503050406030204" pitchFamily="18" charset="0"/>
                                          </a:rPr>
                                          <m:t>𝑎</m:t>
                                        </m:r>
                                        <m:r>
                                          <a:rPr lang="en-US" sz="2400" b="0" i="1" smtClean="0">
                                            <a:latin typeface="Cambria Math" panose="02040503050406030204" pitchFamily="18" charset="0"/>
                                          </a:rPr>
                                          <m:t>−1</m:t>
                                        </m:r>
                                      </m:sub>
                                    </m:sSub>
                                  </m:sub>
                                </m:sSub>
                                <m:sSup>
                                  <m:sSupPr>
                                    <m:ctrlPr>
                                      <a:rPr lang="en-US" sz="2400" i="1">
                                        <a:solidFill>
                                          <a:schemeClr val="tx1"/>
                                        </a:solidFill>
                                        <a:effectLst/>
                                        <a:latin typeface="Cambria Math" panose="02040503050406030204" pitchFamily="18" charset="0"/>
                                      </a:rPr>
                                    </m:ctrlPr>
                                  </m:sSupPr>
                                  <m:e>
                                    <m:r>
                                      <a:rPr lang="en-US" sz="2400" i="1">
                                        <a:solidFill>
                                          <a:schemeClr val="tx1"/>
                                        </a:solidFill>
                                        <a:effectLst/>
                                        <a:latin typeface="Cambria Math" panose="02040503050406030204" pitchFamily="18" charset="0"/>
                                      </a:rPr>
                                      <m:t>𝑒</m:t>
                                    </m:r>
                                  </m:e>
                                  <m:sup>
                                    <m:r>
                                      <a:rPr lang="en-US" sz="2400" b="0" i="1" smtClean="0">
                                        <a:solidFill>
                                          <a:schemeClr val="tx1"/>
                                        </a:solidFill>
                                        <a:effectLst/>
                                        <a:latin typeface="Cambria Math" panose="02040503050406030204" pitchFamily="18" charset="0"/>
                                      </a:rPr>
                                      <m:t>−</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𝑀</m:t>
                                        </m:r>
                                      </m:e>
                                      <m:sub>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−1</m:t>
                                        </m:r>
                                      </m:sub>
                                    </m:sSub>
                                  </m:sup>
                                </m:sSup>
                                <m:r>
                                  <a:rPr lang="en-US" sz="2400" b="0" i="1" smtClean="0">
                                    <a:solidFill>
                                      <a:schemeClr val="tx1"/>
                                    </a:solidFill>
                                    <a:effectLst/>
                                    <a:latin typeface="Cambria Math" panose="02040503050406030204" pitchFamily="18" charset="0"/>
                                  </a:rPr>
                                  <m:t>         </m:t>
                                </m:r>
                                <m:sSub>
                                  <m:sSubPr>
                                    <m:ctrlPr>
                                      <a:rPr lang="en-US" sz="2400" i="1" smtClean="0">
                                        <a:solidFill>
                                          <a:schemeClr val="tx1"/>
                                        </a:solidFill>
                                        <a:latin typeface="Cambria Math" panose="02040503050406030204" pitchFamily="18" charset="0"/>
                                      </a:rPr>
                                    </m:ctrlPr>
                                  </m:sSubPr>
                                  <m:e>
                                    <m:r>
                                      <a:rPr lang="en-US" sz="2400" i="1" smtClean="0">
                                        <a:solidFill>
                                          <a:schemeClr val="tx1"/>
                                        </a:solidFill>
                                        <a:latin typeface="Cambria Math" panose="02040503050406030204" pitchFamily="18" charset="0"/>
                                      </a:rPr>
                                      <m:t>𝑎</m:t>
                                    </m:r>
                                  </m:e>
                                  <m:sub>
                                    <m:r>
                                      <a:rPr lang="en-US" sz="2400" i="1">
                                        <a:solidFill>
                                          <a:schemeClr val="tx1"/>
                                        </a:solidFill>
                                        <a:latin typeface="Cambria Math" panose="02040503050406030204" pitchFamily="18" charset="0"/>
                                      </a:rPr>
                                      <m:t>𝑟𝑒𝑐</m:t>
                                    </m:r>
                                  </m:sub>
                                </m:sSub>
                                <m:r>
                                  <a:rPr lang="en-US" sz="2400" b="0" i="1" smtClean="0">
                                    <a:solidFill>
                                      <a:schemeClr val="tx1"/>
                                    </a:solidFill>
                                    <a:latin typeface="Cambria Math" panose="02040503050406030204" pitchFamily="18" charset="0"/>
                                  </a:rPr>
                                  <m:t>&lt;</m:t>
                                </m:r>
                                <m:r>
                                  <a:rPr lang="en-US" sz="2400" i="1">
                                    <a:solidFill>
                                      <a:schemeClr val="tx1"/>
                                    </a:solidFill>
                                    <a:effectLst/>
                                    <a:latin typeface="Cambria Math" panose="02040503050406030204" pitchFamily="18" charset="0"/>
                                  </a:rPr>
                                  <m:t> </m:t>
                                </m:r>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&lt;</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𝑎</m:t>
                                    </m:r>
                                  </m:e>
                                  <m:sub>
                                    <m:r>
                                      <a:rPr lang="en-US" sz="2400" i="1">
                                        <a:solidFill>
                                          <a:schemeClr val="tx1"/>
                                        </a:solidFill>
                                        <a:effectLst/>
                                        <a:latin typeface="Cambria Math" panose="02040503050406030204" pitchFamily="18" charset="0"/>
                                      </a:rPr>
                                      <m:t>𝑚𝑎𝑥</m:t>
                                    </m:r>
                                  </m:sub>
                                </m:sSub>
                              </m:e>
                            </m:mr>
                            <m:mr>
                              <m:e>
                                <m:f>
                                  <m:fPr>
                                    <m:ctrlPr>
                                      <a:rPr lang="en-CA"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𝑙</m:t>
                                        </m:r>
                                      </m:e>
                                      <m:sub>
                                        <m:sSub>
                                          <m:sSubPr>
                                            <m:ctrlPr>
                                              <a:rPr lang="en-US" sz="2400" i="1">
                                                <a:latin typeface="Cambria Math" panose="02040503050406030204" pitchFamily="18" charset="0"/>
                                              </a:rPr>
                                            </m:ctrlPr>
                                          </m:sSubPr>
                                          <m:e>
                                            <m:r>
                                              <a:rPr lang="en-US" sz="2400" i="1">
                                                <a:latin typeface="Cambria Math" panose="02040503050406030204" pitchFamily="18" charset="0"/>
                                              </a:rPr>
                                              <m:t>0</m:t>
                                            </m:r>
                                          </m:e>
                                          <m:sub>
                                            <m:r>
                                              <a:rPr lang="en-US" sz="2400" i="1">
                                                <a:latin typeface="Cambria Math" panose="02040503050406030204" pitchFamily="18" charset="0"/>
                                              </a:rPr>
                                              <m:t>𝑎</m:t>
                                            </m:r>
                                            <m:r>
                                              <a:rPr lang="en-US" sz="2400" b="0" i="1" smtClean="0">
                                                <a:latin typeface="Cambria Math" panose="02040503050406030204" pitchFamily="18" charset="0"/>
                                              </a:rPr>
                                              <m:t>−1</m:t>
                                            </m:r>
                                          </m:sub>
                                        </m:sSub>
                                      </m:sub>
                                    </m:sSub>
                                    <m:sSup>
                                      <m:sSupPr>
                                        <m:ctrlPr>
                                          <a:rPr lang="en-US" sz="2400" i="1">
                                            <a:solidFill>
                                              <a:schemeClr val="tx1"/>
                                            </a:solidFill>
                                            <a:effectLst/>
                                            <a:latin typeface="Cambria Math" panose="02040503050406030204" pitchFamily="18" charset="0"/>
                                          </a:rPr>
                                        </m:ctrlPr>
                                      </m:sSupPr>
                                      <m:e>
                                        <m:r>
                                          <a:rPr lang="en-US" sz="2400" i="1">
                                            <a:solidFill>
                                              <a:schemeClr val="tx1"/>
                                            </a:solidFill>
                                            <a:effectLst/>
                                            <a:latin typeface="Cambria Math" panose="02040503050406030204" pitchFamily="18" charset="0"/>
                                          </a:rPr>
                                          <m:t>𝑒</m:t>
                                        </m:r>
                                      </m:e>
                                      <m:sup>
                                        <m:r>
                                          <a:rPr lang="en-US" sz="2400" b="0" i="1" smtClean="0">
                                            <a:solidFill>
                                              <a:schemeClr val="tx1"/>
                                            </a:solidFill>
                                            <a:effectLst/>
                                            <a:latin typeface="Cambria Math" panose="02040503050406030204" pitchFamily="18" charset="0"/>
                                          </a:rPr>
                                          <m:t>−</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𝑀</m:t>
                                            </m:r>
                                          </m:e>
                                          <m:sub>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−1</m:t>
                                            </m:r>
                                          </m:sub>
                                        </m:sSub>
                                      </m:sup>
                                    </m:sSup>
                                  </m:num>
                                  <m:den>
                                    <m:r>
                                      <a:rPr lang="en-US" sz="2400" i="1">
                                        <a:solidFill>
                                          <a:schemeClr val="tx1"/>
                                        </a:solidFill>
                                        <a:effectLst/>
                                        <a:latin typeface="Cambria Math" panose="02040503050406030204" pitchFamily="18" charset="0"/>
                                      </a:rPr>
                                      <m:t>1−</m:t>
                                    </m:r>
                                    <m:sSup>
                                      <m:sSupPr>
                                        <m:ctrlPr>
                                          <a:rPr lang="en-US" sz="2400" i="1">
                                            <a:solidFill>
                                              <a:schemeClr val="tx1"/>
                                            </a:solidFill>
                                            <a:effectLst/>
                                            <a:latin typeface="Cambria Math" panose="02040503050406030204" pitchFamily="18" charset="0"/>
                                          </a:rPr>
                                        </m:ctrlPr>
                                      </m:sSupPr>
                                      <m:e>
                                        <m:r>
                                          <a:rPr lang="en-US" sz="2400" i="1">
                                            <a:solidFill>
                                              <a:schemeClr val="tx1"/>
                                            </a:solidFill>
                                            <a:effectLst/>
                                            <a:latin typeface="Cambria Math" panose="02040503050406030204" pitchFamily="18" charset="0"/>
                                          </a:rPr>
                                          <m:t>𝑒</m:t>
                                        </m:r>
                                      </m:e>
                                      <m:sup>
                                        <m:r>
                                          <a:rPr lang="en-US" sz="2400" b="0" i="1" smtClean="0">
                                            <a:solidFill>
                                              <a:schemeClr val="tx1"/>
                                            </a:solidFill>
                                            <a:effectLst/>
                                            <a:latin typeface="Cambria Math" panose="02040503050406030204" pitchFamily="18" charset="0"/>
                                          </a:rPr>
                                          <m:t>−</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𝑀</m:t>
                                            </m:r>
                                          </m:e>
                                          <m:sub>
                                            <m:r>
                                              <a:rPr lang="en-US" sz="2400" i="1">
                                                <a:solidFill>
                                                  <a:schemeClr val="tx1"/>
                                                </a:solidFill>
                                                <a:effectLst/>
                                                <a:latin typeface="Cambria Math" panose="02040503050406030204" pitchFamily="18" charset="0"/>
                                              </a:rPr>
                                              <m:t>𝑎</m:t>
                                            </m:r>
                                          </m:sub>
                                        </m:sSub>
                                      </m:sup>
                                    </m:sSup>
                                  </m:den>
                                </m:f>
                                <m:r>
                                  <a:rPr lang="en-US" sz="2400" b="0" i="1" smtClean="0">
                                    <a:solidFill>
                                      <a:schemeClr val="tx1"/>
                                    </a:solidFill>
                                    <a:effectLst/>
                                    <a:latin typeface="Cambria Math" panose="02040503050406030204" pitchFamily="18" charset="0"/>
                                  </a:rPr>
                                  <m:t>                      </m:t>
                                </m:r>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 </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𝑎</m:t>
                                    </m:r>
                                  </m:e>
                                  <m:sub>
                                    <m:r>
                                      <a:rPr lang="en-US" sz="2400" i="1">
                                        <a:solidFill>
                                          <a:schemeClr val="tx1"/>
                                        </a:solidFill>
                                        <a:effectLst/>
                                        <a:latin typeface="Cambria Math" panose="02040503050406030204" pitchFamily="18" charset="0"/>
                                      </a:rPr>
                                      <m:t>𝑚𝑎𝑥</m:t>
                                    </m:r>
                                  </m:sub>
                                </m:sSub>
                              </m:e>
                            </m:mr>
                          </m:m>
                        </m:e>
                      </m:d>
                    </m:oMath>
                  </m:oMathPara>
                </a14:m>
                <a:endParaRPr lang="en-CA"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2502593" y="2849391"/>
                <a:ext cx="7562734" cy="1705082"/>
              </a:xfrm>
              <a:prstGeom prst="rect">
                <a:avLst/>
              </a:prstGeom>
              <a:blipFill>
                <a:blip r:embed="rId2"/>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71</a:t>
            </a:fld>
            <a:endParaRPr lang="en-CA"/>
          </a:p>
        </p:txBody>
      </p:sp>
    </p:spTree>
    <p:extLst>
      <p:ext uri="{BB962C8B-B14F-4D97-AF65-F5344CB8AC3E}">
        <p14:creationId xmlns:p14="http://schemas.microsoft.com/office/powerpoint/2010/main" val="19254928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Survivorship </a:t>
                </a:r>
                <a:r>
                  <a:rPr lang="en-US" b="1" dirty="0"/>
                  <a:t>when we add fishing mortality (</a:t>
                </a:r>
                <a14:m>
                  <m:oMath xmlns:m="http://schemas.openxmlformats.org/officeDocument/2006/math">
                    <m:r>
                      <a:rPr lang="en-US" b="1" i="1" dirty="0" smtClean="0">
                        <a:latin typeface="Cambria Math" panose="02040503050406030204" pitchFamily="18" charset="0"/>
                      </a:rPr>
                      <m:t>𝑭</m:t>
                    </m:r>
                  </m:oMath>
                </a14:m>
                <a:r>
                  <a:rPr lang="en-US" b="1" dirty="0"/>
                  <a:t>)</a:t>
                </a:r>
                <a:r>
                  <a:rPr lang="en-US" dirty="0"/>
                  <a:t>:</a:t>
                </a:r>
              </a:p>
              <a:p>
                <a:endParaRPr lang="en-US" baseline="30000" dirty="0"/>
              </a:p>
              <a:p>
                <a:endParaRPr lang="en-CA" dirty="0"/>
              </a:p>
              <a:p>
                <a:pPr lvl="1"/>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50C6C03-966C-41D8-8D9C-6B4867432982}"/>
                  </a:ext>
                </a:extLst>
              </p:cNvPr>
              <p:cNvSpPr txBox="1"/>
              <p:nvPr/>
            </p:nvSpPr>
            <p:spPr>
              <a:xfrm>
                <a:off x="3292303" y="2506890"/>
                <a:ext cx="6546086" cy="1664815"/>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ParaPr>
                      <m:jc m:val="right"/>
                    </m:oMathParaPr>
                    <m:oMath>
                      <m:sSub>
                        <m:sSubPr>
                          <m:ctrlPr>
                            <a:rPr lang="en-US" sz="2400" b="0" i="1" smtClean="0">
                              <a:solidFill>
                                <a:schemeClr val="tx1"/>
                              </a:solidFill>
                              <a:effectLst/>
                              <a:latin typeface="Cambria Math" panose="02040503050406030204" pitchFamily="18" charset="0"/>
                            </a:rPr>
                          </m:ctrlPr>
                        </m:sSubPr>
                        <m:e>
                          <m:r>
                            <a:rPr lang="en-US" sz="2400" b="0" i="1" smtClean="0">
                              <a:solidFill>
                                <a:schemeClr val="tx1"/>
                              </a:solidFill>
                              <a:effectLst/>
                              <a:latin typeface="Cambria Math" panose="02040503050406030204" pitchFamily="18" charset="0"/>
                            </a:rPr>
                            <m:t>𝑙</m:t>
                          </m:r>
                        </m:e>
                        <m:sub>
                          <m:r>
                            <a:rPr lang="en-US" sz="2400" i="1">
                              <a:solidFill>
                                <a:schemeClr val="tx1"/>
                              </a:solidFill>
                              <a:effectLst/>
                              <a:latin typeface="Cambria Math" panose="02040503050406030204" pitchFamily="18" charset="0"/>
                            </a:rPr>
                            <m:t>𝑎</m:t>
                          </m:r>
                        </m:sub>
                      </m:sSub>
                      <m:r>
                        <a:rPr lang="en-US" sz="2400" i="1">
                          <a:solidFill>
                            <a:schemeClr val="tx1"/>
                          </a:solidFill>
                          <a:effectLst/>
                          <a:latin typeface="Cambria Math" panose="02040503050406030204" pitchFamily="18" charset="0"/>
                        </a:rPr>
                        <m:t>=</m:t>
                      </m:r>
                      <m:d>
                        <m:dPr>
                          <m:begChr m:val="{"/>
                          <m:endChr m:val=""/>
                          <m:ctrlPr>
                            <a:rPr lang="en-CA" sz="2400" i="1" smtClean="0">
                              <a:solidFill>
                                <a:schemeClr val="tx1"/>
                              </a:solidFill>
                              <a:effectLst/>
                              <a:latin typeface="Cambria Math" panose="02040503050406030204" pitchFamily="18" charset="0"/>
                            </a:rPr>
                          </m:ctrlPr>
                        </m:dPr>
                        <m:e>
                          <m:m>
                            <m:mPr>
                              <m:mcs>
                                <m:mc>
                                  <m:mcPr>
                                    <m:count m:val="1"/>
                                    <m:mcJc m:val="center"/>
                                  </m:mcPr>
                                </m:mc>
                              </m:mcs>
                              <m:ctrlPr>
                                <a:rPr lang="en-CA" sz="2400" i="1" smtClean="0">
                                  <a:solidFill>
                                    <a:schemeClr val="tx1"/>
                                  </a:solidFill>
                                  <a:effectLst/>
                                  <a:latin typeface="Cambria Math" panose="02040503050406030204" pitchFamily="18" charset="0"/>
                                </a:rPr>
                              </m:ctrlPr>
                            </m:mPr>
                            <m:mr>
                              <m:e>
                                <m:r>
                                  <a:rPr lang="en-US" sz="2400" i="1">
                                    <a:solidFill>
                                      <a:schemeClr val="tx1"/>
                                    </a:solidFill>
                                    <a:effectLst/>
                                    <a:latin typeface="Cambria Math" panose="02040503050406030204" pitchFamily="18" charset="0"/>
                                  </a:rPr>
                                  <m:t>1</m:t>
                                </m:r>
                                <m:r>
                                  <a:rPr lang="en-US" sz="2400" b="0" i="1" smtClean="0">
                                    <a:solidFill>
                                      <a:schemeClr val="tx1"/>
                                    </a:solidFill>
                                    <a:effectLst/>
                                    <a:latin typeface="Cambria Math" panose="02040503050406030204" pitchFamily="18" charset="0"/>
                                  </a:rPr>
                                  <m:t>                               </m:t>
                                </m:r>
                                <m:r>
                                  <a:rPr lang="en-US" sz="2400" i="1">
                                    <a:solidFill>
                                      <a:schemeClr val="tx1"/>
                                    </a:solidFill>
                                    <a:effectLst/>
                                    <a:latin typeface="Cambria Math" panose="02040503050406030204" pitchFamily="18" charset="0"/>
                                  </a:rPr>
                                  <m:t> </m:t>
                                </m:r>
                                <m:r>
                                  <a:rPr lang="en-US" sz="2400" b="0" i="1" smtClean="0">
                                    <a:solidFill>
                                      <a:schemeClr val="tx1"/>
                                    </a:solidFill>
                                    <a:effectLst/>
                                    <a:latin typeface="Cambria Math" panose="02040503050406030204" pitchFamily="18" charset="0"/>
                                  </a:rPr>
                                  <m:t>                               </m:t>
                                </m:r>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 =</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b="0" i="1" smtClean="0">
                                        <a:solidFill>
                                          <a:schemeClr val="tx1"/>
                                        </a:solidFill>
                                        <a:latin typeface="Cambria Math" panose="02040503050406030204" pitchFamily="18" charset="0"/>
                                      </a:rPr>
                                      <m:t>𝑟𝑒𝑐</m:t>
                                    </m:r>
                                  </m:sub>
                                </m:sSub>
                              </m:e>
                            </m:mr>
                            <m:mr>
                              <m:e>
                                <m:sSub>
                                  <m:sSubPr>
                                    <m:ctrlPr>
                                      <a:rPr lang="en-US" sz="2400" b="0" i="1" smtClean="0">
                                        <a:solidFill>
                                          <a:schemeClr val="tx1"/>
                                        </a:solidFill>
                                        <a:effectLst/>
                                        <a:latin typeface="Cambria Math" panose="02040503050406030204" pitchFamily="18" charset="0"/>
                                      </a:rPr>
                                    </m:ctrlPr>
                                  </m:sSubPr>
                                  <m:e>
                                    <m:r>
                                      <a:rPr lang="en-US" sz="2400" b="0" i="1" smtClean="0">
                                        <a:solidFill>
                                          <a:schemeClr val="tx1"/>
                                        </a:solidFill>
                                        <a:effectLst/>
                                        <a:latin typeface="Cambria Math" panose="02040503050406030204" pitchFamily="18" charset="0"/>
                                      </a:rPr>
                                      <m:t>𝑙</m:t>
                                    </m:r>
                                  </m:e>
                                  <m:sub>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−1</m:t>
                                    </m:r>
                                  </m:sub>
                                </m:sSub>
                                <m:sSup>
                                  <m:sSupPr>
                                    <m:ctrlPr>
                                      <a:rPr lang="en-US" sz="2400" i="1">
                                        <a:solidFill>
                                          <a:schemeClr val="tx1"/>
                                        </a:solidFill>
                                        <a:effectLst/>
                                        <a:latin typeface="Cambria Math" panose="02040503050406030204" pitchFamily="18" charset="0"/>
                                      </a:rPr>
                                    </m:ctrlPr>
                                  </m:sSupPr>
                                  <m:e>
                                    <m:r>
                                      <a:rPr lang="en-US" sz="2400" i="1">
                                        <a:solidFill>
                                          <a:schemeClr val="tx1"/>
                                        </a:solidFill>
                                        <a:effectLst/>
                                        <a:latin typeface="Cambria Math" panose="02040503050406030204" pitchFamily="18" charset="0"/>
                                      </a:rPr>
                                      <m:t>𝑒</m:t>
                                    </m:r>
                                  </m:e>
                                  <m:sup>
                                    <m:r>
                                      <a:rPr lang="en-US" sz="2400" b="0" i="1" smtClean="0">
                                        <a:solidFill>
                                          <a:schemeClr val="tx1"/>
                                        </a:solidFill>
                                        <a:effectLst/>
                                        <a:latin typeface="Cambria Math" panose="02040503050406030204" pitchFamily="18" charset="0"/>
                                      </a:rPr>
                                      <m:t>−</m:t>
                                    </m:r>
                                    <m:r>
                                      <a:rPr lang="en-US" sz="2400" i="1">
                                        <a:solidFill>
                                          <a:schemeClr val="tx1"/>
                                        </a:solidFill>
                                        <a:effectLst/>
                                        <a:latin typeface="Cambria Math" panose="02040503050406030204" pitchFamily="18" charset="0"/>
                                      </a:rPr>
                                      <m:t>(</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𝑀</m:t>
                                        </m:r>
                                      </m:e>
                                      <m:sub>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−1</m:t>
                                        </m:r>
                                      </m:sub>
                                    </m:sSub>
                                    <m:r>
                                      <a:rPr lang="en-US" sz="2400" b="0" i="1" smtClean="0">
                                        <a:solidFill>
                                          <a:schemeClr val="tx1"/>
                                        </a:solidFill>
                                        <a:effectLst/>
                                        <a:latin typeface="Cambria Math" panose="02040503050406030204" pitchFamily="18" charset="0"/>
                                      </a:rPr>
                                      <m:t>+</m:t>
                                    </m:r>
                                    <m:r>
                                      <a:rPr lang="en-US" sz="2400" i="1" smtClean="0">
                                        <a:solidFill>
                                          <a:schemeClr val="tx1"/>
                                        </a:solidFill>
                                        <a:effectLst/>
                                        <a:latin typeface="Cambria Math" panose="02040503050406030204" pitchFamily="18" charset="0"/>
                                      </a:rPr>
                                      <m:t>𝐹</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𝑣</m:t>
                                        </m:r>
                                      </m:e>
                                      <m:sub>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−1</m:t>
                                        </m:r>
                                      </m:sub>
                                    </m:sSub>
                                    <m:r>
                                      <a:rPr lang="en-US" sz="2400" i="1">
                                        <a:solidFill>
                                          <a:schemeClr val="tx1"/>
                                        </a:solidFill>
                                        <a:effectLst/>
                                        <a:latin typeface="Cambria Math" panose="02040503050406030204" pitchFamily="18" charset="0"/>
                                      </a:rPr>
                                      <m:t>)</m:t>
                                    </m:r>
                                  </m:sup>
                                </m:sSup>
                                <m:r>
                                  <a:rPr lang="en-US" sz="2400" b="0" i="1" smtClean="0">
                                    <a:solidFill>
                                      <a:schemeClr val="tx1"/>
                                    </a:solidFill>
                                    <a:effectLst/>
                                    <a:latin typeface="Cambria Math" panose="02040503050406030204" pitchFamily="18" charset="0"/>
                                  </a:rPr>
                                  <m:t>             </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i="1">
                                        <a:solidFill>
                                          <a:schemeClr val="tx1"/>
                                        </a:solidFill>
                                        <a:latin typeface="Cambria Math" panose="02040503050406030204" pitchFamily="18" charset="0"/>
                                      </a:rPr>
                                      <m:t>𝑟𝑒𝑐</m:t>
                                    </m:r>
                                  </m:sub>
                                </m:sSub>
                                <m:r>
                                  <a:rPr lang="en-US" sz="2400" b="0" i="1" smtClean="0">
                                    <a:solidFill>
                                      <a:schemeClr val="tx1"/>
                                    </a:solidFill>
                                    <a:latin typeface="Cambria Math" panose="02040503050406030204" pitchFamily="18" charset="0"/>
                                  </a:rPr>
                                  <m:t>&lt;</m:t>
                                </m:r>
                                <m:r>
                                  <a:rPr lang="en-US" sz="2400" i="1">
                                    <a:solidFill>
                                      <a:schemeClr val="tx1"/>
                                    </a:solidFill>
                                    <a:effectLst/>
                                    <a:latin typeface="Cambria Math" panose="02040503050406030204" pitchFamily="18" charset="0"/>
                                  </a:rPr>
                                  <m:t> </m:t>
                                </m:r>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&lt;</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𝑎</m:t>
                                    </m:r>
                                  </m:e>
                                  <m:sub>
                                    <m:r>
                                      <a:rPr lang="en-US" sz="2400" i="1">
                                        <a:solidFill>
                                          <a:schemeClr val="tx1"/>
                                        </a:solidFill>
                                        <a:effectLst/>
                                        <a:latin typeface="Cambria Math" panose="02040503050406030204" pitchFamily="18" charset="0"/>
                                      </a:rPr>
                                      <m:t>𝑚𝑎𝑥</m:t>
                                    </m:r>
                                  </m:sub>
                                </m:sSub>
                              </m:e>
                            </m:mr>
                            <m:mr>
                              <m:e>
                                <m:f>
                                  <m:fPr>
                                    <m:ctrlPr>
                                      <a:rPr lang="en-CA" sz="2400" i="1">
                                        <a:solidFill>
                                          <a:schemeClr val="tx1"/>
                                        </a:solidFill>
                                        <a:effectLst/>
                                        <a:latin typeface="Cambria Math" panose="02040503050406030204" pitchFamily="18" charset="0"/>
                                      </a:rPr>
                                    </m:ctrlPr>
                                  </m:fPr>
                                  <m:num>
                                    <m:sSub>
                                      <m:sSubPr>
                                        <m:ctrlPr>
                                          <a:rPr lang="en-US" sz="2400" b="0" i="1" smtClean="0">
                                            <a:solidFill>
                                              <a:schemeClr val="tx1"/>
                                            </a:solidFill>
                                            <a:effectLst/>
                                            <a:latin typeface="Cambria Math" panose="02040503050406030204" pitchFamily="18" charset="0"/>
                                          </a:rPr>
                                        </m:ctrlPr>
                                      </m:sSubPr>
                                      <m:e>
                                        <m:r>
                                          <a:rPr lang="en-US" sz="2400" b="0" i="1" smtClean="0">
                                            <a:solidFill>
                                              <a:schemeClr val="tx1"/>
                                            </a:solidFill>
                                            <a:effectLst/>
                                            <a:latin typeface="Cambria Math" panose="02040503050406030204" pitchFamily="18" charset="0"/>
                                          </a:rPr>
                                          <m:t>𝑙</m:t>
                                        </m:r>
                                      </m:e>
                                      <m:sub>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−1</m:t>
                                        </m:r>
                                      </m:sub>
                                    </m:sSub>
                                    <m:sSup>
                                      <m:sSupPr>
                                        <m:ctrlPr>
                                          <a:rPr lang="en-US" sz="2400" i="1">
                                            <a:solidFill>
                                              <a:schemeClr val="tx1"/>
                                            </a:solidFill>
                                            <a:effectLst/>
                                            <a:latin typeface="Cambria Math" panose="02040503050406030204" pitchFamily="18" charset="0"/>
                                          </a:rPr>
                                        </m:ctrlPr>
                                      </m:sSupPr>
                                      <m:e>
                                        <m:r>
                                          <a:rPr lang="en-US" sz="2400" i="1">
                                            <a:solidFill>
                                              <a:schemeClr val="tx1"/>
                                            </a:solidFill>
                                            <a:effectLst/>
                                            <a:latin typeface="Cambria Math" panose="02040503050406030204" pitchFamily="18" charset="0"/>
                                          </a:rPr>
                                          <m:t>𝑒</m:t>
                                        </m:r>
                                      </m:e>
                                      <m:sup>
                                        <m:r>
                                          <a:rPr lang="en-US" sz="2400" b="0" i="1" smtClean="0">
                                            <a:solidFill>
                                              <a:schemeClr val="tx1"/>
                                            </a:solidFill>
                                            <a:effectLst/>
                                            <a:latin typeface="Cambria Math" panose="02040503050406030204" pitchFamily="18" charset="0"/>
                                          </a:rPr>
                                          <m:t>−</m:t>
                                        </m:r>
                                        <m:r>
                                          <a:rPr lang="en-US" sz="2400" i="1">
                                            <a:solidFill>
                                              <a:schemeClr val="tx1"/>
                                            </a:solidFill>
                                            <a:effectLst/>
                                            <a:latin typeface="Cambria Math" panose="02040503050406030204" pitchFamily="18" charset="0"/>
                                          </a:rPr>
                                          <m:t>(</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𝑀</m:t>
                                            </m:r>
                                          </m:e>
                                          <m:sub>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−1</m:t>
                                            </m:r>
                                          </m:sub>
                                        </m:sSub>
                                        <m:r>
                                          <a:rPr lang="en-US" sz="2400" b="0" i="1" smtClean="0">
                                            <a:solidFill>
                                              <a:schemeClr val="tx1"/>
                                            </a:solidFill>
                                            <a:effectLst/>
                                            <a:latin typeface="Cambria Math" panose="02040503050406030204" pitchFamily="18" charset="0"/>
                                          </a:rPr>
                                          <m:t>+</m:t>
                                        </m:r>
                                        <m:r>
                                          <a:rPr lang="en-US" sz="2400" i="1" smtClean="0">
                                            <a:solidFill>
                                              <a:schemeClr val="tx1"/>
                                            </a:solidFill>
                                            <a:effectLst/>
                                            <a:latin typeface="Cambria Math" panose="02040503050406030204" pitchFamily="18" charset="0"/>
                                          </a:rPr>
                                          <m:t>𝐹</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𝑣</m:t>
                                            </m:r>
                                          </m:e>
                                          <m:sub>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−1</m:t>
                                            </m:r>
                                          </m:sub>
                                        </m:sSub>
                                        <m:r>
                                          <a:rPr lang="en-US" sz="2400" i="1">
                                            <a:solidFill>
                                              <a:schemeClr val="tx1"/>
                                            </a:solidFill>
                                            <a:effectLst/>
                                            <a:latin typeface="Cambria Math" panose="02040503050406030204" pitchFamily="18" charset="0"/>
                                          </a:rPr>
                                          <m:t>)</m:t>
                                        </m:r>
                                      </m:sup>
                                    </m:sSup>
                                  </m:num>
                                  <m:den>
                                    <m:r>
                                      <a:rPr lang="en-US" sz="2400" i="1">
                                        <a:solidFill>
                                          <a:schemeClr val="tx1"/>
                                        </a:solidFill>
                                        <a:effectLst/>
                                        <a:latin typeface="Cambria Math" panose="02040503050406030204" pitchFamily="18" charset="0"/>
                                      </a:rPr>
                                      <m:t>1−</m:t>
                                    </m:r>
                                    <m:sSup>
                                      <m:sSupPr>
                                        <m:ctrlPr>
                                          <a:rPr lang="en-US" sz="2400" i="1">
                                            <a:solidFill>
                                              <a:schemeClr val="tx1"/>
                                            </a:solidFill>
                                            <a:effectLst/>
                                            <a:latin typeface="Cambria Math" panose="02040503050406030204" pitchFamily="18" charset="0"/>
                                          </a:rPr>
                                        </m:ctrlPr>
                                      </m:sSupPr>
                                      <m:e>
                                        <m:r>
                                          <a:rPr lang="en-US" sz="2400" i="1">
                                            <a:solidFill>
                                              <a:schemeClr val="tx1"/>
                                            </a:solidFill>
                                            <a:effectLst/>
                                            <a:latin typeface="Cambria Math" panose="02040503050406030204" pitchFamily="18" charset="0"/>
                                          </a:rPr>
                                          <m:t>𝑒</m:t>
                                        </m:r>
                                      </m:e>
                                      <m:sup>
                                        <m:r>
                                          <a:rPr lang="en-US" sz="2400" b="0" i="1" smtClean="0">
                                            <a:solidFill>
                                              <a:schemeClr val="tx1"/>
                                            </a:solidFill>
                                            <a:effectLst/>
                                            <a:latin typeface="Cambria Math" panose="02040503050406030204" pitchFamily="18" charset="0"/>
                                          </a:rPr>
                                          <m:t>−</m:t>
                                        </m:r>
                                        <m:r>
                                          <a:rPr lang="en-US" sz="2400" i="1">
                                            <a:solidFill>
                                              <a:schemeClr val="tx1"/>
                                            </a:solidFill>
                                            <a:effectLst/>
                                            <a:latin typeface="Cambria Math" panose="02040503050406030204" pitchFamily="18" charset="0"/>
                                          </a:rPr>
                                          <m:t>(</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𝑀</m:t>
                                            </m:r>
                                          </m:e>
                                          <m:sub>
                                            <m:r>
                                              <a:rPr lang="en-US" sz="2400" i="1">
                                                <a:solidFill>
                                                  <a:schemeClr val="tx1"/>
                                                </a:solidFill>
                                                <a:effectLst/>
                                                <a:latin typeface="Cambria Math" panose="02040503050406030204" pitchFamily="18" charset="0"/>
                                              </a:rPr>
                                              <m:t>𝑎</m:t>
                                            </m:r>
                                          </m:sub>
                                        </m:sSub>
                                        <m:r>
                                          <a:rPr lang="en-US" sz="2400" b="0" i="1" smtClean="0">
                                            <a:solidFill>
                                              <a:schemeClr val="tx1"/>
                                            </a:solidFill>
                                            <a:effectLst/>
                                            <a:latin typeface="Cambria Math" panose="02040503050406030204" pitchFamily="18" charset="0"/>
                                          </a:rPr>
                                          <m:t>+</m:t>
                                        </m:r>
                                        <m:r>
                                          <a:rPr lang="en-US" sz="2400" i="1" smtClean="0">
                                            <a:solidFill>
                                              <a:schemeClr val="tx1"/>
                                            </a:solidFill>
                                            <a:effectLst/>
                                            <a:latin typeface="Cambria Math" panose="02040503050406030204" pitchFamily="18" charset="0"/>
                                          </a:rPr>
                                          <m:t>𝐹</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𝑣</m:t>
                                            </m:r>
                                          </m:e>
                                          <m:sub>
                                            <m:r>
                                              <a:rPr lang="en-US" sz="2400" i="1">
                                                <a:solidFill>
                                                  <a:schemeClr val="tx1"/>
                                                </a:solidFill>
                                                <a:effectLst/>
                                                <a:latin typeface="Cambria Math" panose="02040503050406030204" pitchFamily="18" charset="0"/>
                                              </a:rPr>
                                              <m:t>𝑎</m:t>
                                            </m:r>
                                          </m:sub>
                                        </m:sSub>
                                        <m:r>
                                          <a:rPr lang="en-US" sz="2400" i="1">
                                            <a:solidFill>
                                              <a:schemeClr val="tx1"/>
                                            </a:solidFill>
                                            <a:effectLst/>
                                            <a:latin typeface="Cambria Math" panose="02040503050406030204" pitchFamily="18" charset="0"/>
                                          </a:rPr>
                                          <m:t>)</m:t>
                                        </m:r>
                                      </m:sup>
                                    </m:sSup>
                                  </m:den>
                                </m:f>
                                <m:r>
                                  <a:rPr lang="en-US" sz="2400" b="0" i="1" smtClean="0">
                                    <a:solidFill>
                                      <a:schemeClr val="tx1"/>
                                    </a:solidFill>
                                    <a:effectLst/>
                                    <a:latin typeface="Cambria Math" panose="02040503050406030204" pitchFamily="18" charset="0"/>
                                  </a:rPr>
                                  <m:t>                           </m:t>
                                </m:r>
                                <m:r>
                                  <a:rPr lang="en-US" sz="2400" i="1">
                                    <a:solidFill>
                                      <a:schemeClr val="tx1"/>
                                    </a:solidFill>
                                    <a:effectLst/>
                                    <a:latin typeface="Cambria Math" panose="02040503050406030204" pitchFamily="18" charset="0"/>
                                  </a:rPr>
                                  <m:t>𝑎</m:t>
                                </m:r>
                                <m:r>
                                  <a:rPr lang="en-US" sz="2400" i="1">
                                    <a:solidFill>
                                      <a:schemeClr val="tx1"/>
                                    </a:solidFill>
                                    <a:effectLst/>
                                    <a:latin typeface="Cambria Math" panose="02040503050406030204" pitchFamily="18" charset="0"/>
                                  </a:rPr>
                                  <m:t>=</m:t>
                                </m:r>
                                <m:sSub>
                                  <m:sSubPr>
                                    <m:ctrlPr>
                                      <a:rPr lang="en-US" sz="2400" i="1">
                                        <a:solidFill>
                                          <a:schemeClr val="tx1"/>
                                        </a:solidFill>
                                        <a:effectLst/>
                                        <a:latin typeface="Cambria Math" panose="02040503050406030204" pitchFamily="18" charset="0"/>
                                      </a:rPr>
                                    </m:ctrlPr>
                                  </m:sSubPr>
                                  <m:e>
                                    <m:r>
                                      <a:rPr lang="en-US" sz="2400" i="1">
                                        <a:solidFill>
                                          <a:schemeClr val="tx1"/>
                                        </a:solidFill>
                                        <a:effectLst/>
                                        <a:latin typeface="Cambria Math" panose="02040503050406030204" pitchFamily="18" charset="0"/>
                                      </a:rPr>
                                      <m:t>𝑎</m:t>
                                    </m:r>
                                  </m:e>
                                  <m:sub>
                                    <m:r>
                                      <a:rPr lang="en-US" sz="2400" i="1">
                                        <a:solidFill>
                                          <a:schemeClr val="tx1"/>
                                        </a:solidFill>
                                        <a:effectLst/>
                                        <a:latin typeface="Cambria Math" panose="02040503050406030204" pitchFamily="18" charset="0"/>
                                      </a:rPr>
                                      <m:t>𝑚𝑎𝑥</m:t>
                                    </m:r>
                                  </m:sub>
                                </m:sSub>
                              </m:e>
                            </m:mr>
                          </m:m>
                        </m:e>
                      </m:d>
                    </m:oMath>
                  </m:oMathPara>
                </a14:m>
                <a:endParaRPr lang="en-CA" sz="1600" dirty="0"/>
              </a:p>
            </p:txBody>
          </p:sp>
        </mc:Choice>
        <mc:Fallback xmlns="">
          <p:sp>
            <p:nvSpPr>
              <p:cNvPr id="14" name="TextBox 13">
                <a:extLst>
                  <a:ext uri="{FF2B5EF4-FFF2-40B4-BE49-F238E27FC236}">
                    <a16:creationId xmlns:a16="http://schemas.microsoft.com/office/drawing/2014/main" id="{D50C6C03-966C-41D8-8D9C-6B4867432982}"/>
                  </a:ext>
                </a:extLst>
              </p:cNvPr>
              <p:cNvSpPr txBox="1">
                <a:spLocks noRot="1" noChangeAspect="1" noMove="1" noResize="1" noEditPoints="1" noAdjustHandles="1" noChangeArrowheads="1" noChangeShapeType="1" noTextEdit="1"/>
              </p:cNvSpPr>
              <p:nvPr/>
            </p:nvSpPr>
            <p:spPr>
              <a:xfrm>
                <a:off x="3292303" y="2506890"/>
                <a:ext cx="6546086" cy="1664815"/>
              </a:xfrm>
              <a:prstGeom prst="rect">
                <a:avLst/>
              </a:prstGeom>
              <a:blipFill>
                <a:blip r:embed="rId3"/>
                <a:stretch>
                  <a:fillRect/>
                </a:stretch>
              </a:blipFill>
            </p:spPr>
            <p:txBody>
              <a:bodyPr/>
              <a:lstStyle/>
              <a:p>
                <a:r>
                  <a:rPr lang="en-US">
                    <a:noFill/>
                  </a:rPr>
                  <a:t> </a:t>
                </a:r>
              </a:p>
            </p:txBody>
          </p:sp>
        </mc:Fallback>
      </mc:AlternateContent>
      <p:sp>
        <p:nvSpPr>
          <p:cNvPr id="2" name="Title 1"/>
          <p:cNvSpPr>
            <a:spLocks noGrp="1"/>
          </p:cNvSpPr>
          <p:nvPr>
            <p:ph type="title"/>
          </p:nvPr>
        </p:nvSpPr>
        <p:spPr/>
        <p:txBody>
          <a:bodyPr>
            <a:normAutofit/>
          </a:bodyPr>
          <a:lstStyle/>
          <a:p>
            <a:r>
              <a:rPr lang="en-CA" sz="3600" dirty="0"/>
              <a:t>Per-Recruit Calculations </a:t>
            </a:r>
            <a:r>
              <a:rPr lang="en-CA" sz="3600" b="1" dirty="0">
                <a:solidFill>
                  <a:srgbClr val="0000FF"/>
                </a:solidFill>
              </a:rPr>
              <a:t>2. Survivorship</a:t>
            </a:r>
            <a:endParaRPr lang="en-CA" sz="3600" dirty="0"/>
          </a:p>
        </p:txBody>
      </p:sp>
      <p:pic>
        <p:nvPicPr>
          <p:cNvPr id="7" name="Picture 6"/>
          <p:cNvPicPr>
            <a:picLocks noChangeAspect="1"/>
          </p:cNvPicPr>
          <p:nvPr/>
        </p:nvPicPr>
        <p:blipFill>
          <a:blip r:embed="rId4"/>
          <a:stretch>
            <a:fillRect/>
          </a:stretch>
        </p:blipFill>
        <p:spPr>
          <a:xfrm>
            <a:off x="8271323" y="228514"/>
            <a:ext cx="3713863" cy="2228318"/>
          </a:xfrm>
          <a:prstGeom prst="rect">
            <a:avLst/>
          </a:prstGeom>
        </p:spPr>
      </p:pic>
      <p:pic>
        <p:nvPicPr>
          <p:cNvPr id="10" name="Picture 9"/>
          <p:cNvPicPr>
            <a:picLocks noChangeAspect="1"/>
          </p:cNvPicPr>
          <p:nvPr/>
        </p:nvPicPr>
        <p:blipFill>
          <a:blip r:embed="rId5"/>
          <a:stretch>
            <a:fillRect/>
          </a:stretch>
        </p:blipFill>
        <p:spPr>
          <a:xfrm>
            <a:off x="0" y="4121647"/>
            <a:ext cx="4572396" cy="2743438"/>
          </a:xfrm>
          <a:prstGeom prst="rect">
            <a:avLst/>
          </a:prstGeom>
        </p:spPr>
      </p:pic>
      <p:pic>
        <p:nvPicPr>
          <p:cNvPr id="9" name="Picture 8"/>
          <p:cNvPicPr>
            <a:picLocks noChangeAspect="1"/>
          </p:cNvPicPr>
          <p:nvPr/>
        </p:nvPicPr>
        <p:blipFill>
          <a:blip r:embed="rId6"/>
          <a:stretch>
            <a:fillRect/>
          </a:stretch>
        </p:blipFill>
        <p:spPr>
          <a:xfrm>
            <a:off x="0" y="4121647"/>
            <a:ext cx="4572396" cy="2743438"/>
          </a:xfrm>
          <a:prstGeom prst="rect">
            <a:avLst/>
          </a:prstGeom>
        </p:spPr>
      </p:pic>
      <p:pic>
        <p:nvPicPr>
          <p:cNvPr id="11" name="Picture 10"/>
          <p:cNvPicPr>
            <a:picLocks noChangeAspect="1"/>
          </p:cNvPicPr>
          <p:nvPr/>
        </p:nvPicPr>
        <p:blipFill>
          <a:blip r:embed="rId7"/>
          <a:stretch>
            <a:fillRect/>
          </a:stretch>
        </p:blipFill>
        <p:spPr>
          <a:xfrm>
            <a:off x="0" y="4115227"/>
            <a:ext cx="4572396" cy="2743438"/>
          </a:xfrm>
          <a:prstGeom prst="rect">
            <a:avLst/>
          </a:prstGeom>
        </p:spPr>
      </p:pic>
      <p:sp>
        <p:nvSpPr>
          <p:cNvPr id="4" name="Rectangle 3">
            <a:extLst>
              <a:ext uri="{FF2B5EF4-FFF2-40B4-BE49-F238E27FC236}">
                <a16:creationId xmlns:a16="http://schemas.microsoft.com/office/drawing/2014/main" id="{A03F992B-B1A2-4FBC-BC98-9F78913CF0CD}"/>
              </a:ext>
            </a:extLst>
          </p:cNvPr>
          <p:cNvSpPr/>
          <p:nvPr/>
        </p:nvSpPr>
        <p:spPr>
          <a:xfrm>
            <a:off x="5159037" y="2882118"/>
            <a:ext cx="1537854" cy="318341"/>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a:extLst>
              <a:ext uri="{FF2B5EF4-FFF2-40B4-BE49-F238E27FC236}">
                <a16:creationId xmlns:a16="http://schemas.microsoft.com/office/drawing/2014/main" id="{E16B7503-0AC5-4006-8561-C90EB0AAAE2B}"/>
              </a:ext>
            </a:extLst>
          </p:cNvPr>
          <p:cNvCxnSpPr/>
          <p:nvPr/>
        </p:nvCxnSpPr>
        <p:spPr>
          <a:xfrm>
            <a:off x="6627618" y="3177474"/>
            <a:ext cx="1826008" cy="1632155"/>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A7D8326-B8CA-4275-A111-C57C3F6688DC}"/>
              </a:ext>
            </a:extLst>
          </p:cNvPr>
          <p:cNvSpPr txBox="1"/>
          <p:nvPr/>
        </p:nvSpPr>
        <p:spPr>
          <a:xfrm>
            <a:off x="8453626" y="4809628"/>
            <a:ext cx="2861699" cy="923330"/>
          </a:xfrm>
          <a:prstGeom prst="rect">
            <a:avLst/>
          </a:prstGeom>
          <a:noFill/>
          <a:ln>
            <a:solidFill>
              <a:schemeClr val="accent2"/>
            </a:solidFill>
          </a:ln>
        </p:spPr>
        <p:txBody>
          <a:bodyPr wrap="square" rtlCol="0">
            <a:spAutoFit/>
          </a:bodyPr>
          <a:lstStyle/>
          <a:p>
            <a:pPr algn="ctr"/>
            <a:r>
              <a:rPr lang="en-US" dirty="0"/>
              <a:t>The total mortality at-age depends on the vulnerability-at-age</a:t>
            </a:r>
          </a:p>
        </p:txBody>
      </p:sp>
      <p:sp>
        <p:nvSpPr>
          <p:cNvPr id="5" name="Slide Number Placeholder 4"/>
          <p:cNvSpPr>
            <a:spLocks noGrp="1"/>
          </p:cNvSpPr>
          <p:nvPr>
            <p:ph type="sldNum" sz="quarter" idx="12"/>
          </p:nvPr>
        </p:nvSpPr>
        <p:spPr/>
        <p:txBody>
          <a:bodyPr/>
          <a:lstStyle/>
          <a:p>
            <a:fld id="{EEDFA2F9-C25F-4A63-B46B-7B5C200A39D1}" type="slidenum">
              <a:rPr lang="en-CA" smtClean="0"/>
              <a:t>72</a:t>
            </a:fld>
            <a:endParaRPr lang="en-CA"/>
          </a:p>
        </p:txBody>
      </p:sp>
    </p:spTree>
    <p:extLst>
      <p:ext uri="{BB962C8B-B14F-4D97-AF65-F5344CB8AC3E}">
        <p14:creationId xmlns:p14="http://schemas.microsoft.com/office/powerpoint/2010/main" val="3956551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Calculations </a:t>
            </a:r>
            <a:r>
              <a:rPr lang="en-CA" sz="3600" b="1" dirty="0">
                <a:solidFill>
                  <a:schemeClr val="accent2"/>
                </a:solidFill>
              </a:rPr>
              <a:t>3. Unfished SSB-per-Recruit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506783"/>
                <a:ext cx="10515600" cy="4351338"/>
              </a:xfrm>
            </p:spPr>
            <p:txBody>
              <a:bodyPr/>
              <a:lstStyle/>
              <a:p>
                <a:r>
                  <a:rPr lang="en-US" dirty="0"/>
                  <a:t>Equilibrium </a:t>
                </a:r>
                <a:r>
                  <a:rPr lang="en-US" u="sng" dirty="0"/>
                  <a:t>unfished</a:t>
                </a:r>
                <a:r>
                  <a:rPr lang="en-US" dirty="0"/>
                  <a:t> SSB-per-recruit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ea typeface="Cambria Math" panose="02040503050406030204" pitchFamily="18" charset="0"/>
                          </a:rPr>
                          <m:t>0</m:t>
                        </m:r>
                      </m:sub>
                    </m:sSub>
                  </m:oMath>
                </a14:m>
                <a:r>
                  <a:rPr lang="en-US" dirty="0"/>
                  <a:t>) </a:t>
                </a:r>
              </a:p>
              <a:p>
                <a:pPr lvl="1"/>
                <a:r>
                  <a:rPr lang="en-US" dirty="0">
                    <a:solidFill>
                      <a:schemeClr val="tx2"/>
                    </a:solidFill>
                  </a:rPr>
                  <a:t>subscript </a:t>
                </a:r>
                <a14:m>
                  <m:oMath xmlns:m="http://schemas.openxmlformats.org/officeDocument/2006/math">
                    <m:r>
                      <a:rPr lang="en-US" i="1" dirty="0" smtClean="0">
                        <a:solidFill>
                          <a:schemeClr val="tx2"/>
                        </a:solidFill>
                        <a:latin typeface="Cambria Math" panose="02040503050406030204" pitchFamily="18" charset="0"/>
                      </a:rPr>
                      <m:t>𝐸</m:t>
                    </m:r>
                  </m:oMath>
                </a14:m>
                <a:r>
                  <a:rPr lang="en-US" dirty="0">
                    <a:solidFill>
                      <a:schemeClr val="tx2"/>
                    </a:solidFill>
                  </a:rPr>
                  <a:t> because we assume that SSB is a proxy for eggs produced</a:t>
                </a:r>
              </a:p>
              <a:p>
                <a:pPr lvl="1"/>
                <a:r>
                  <a:rPr lang="en-US" dirty="0">
                    <a:solidFill>
                      <a:schemeClr val="tx2"/>
                    </a:solidFill>
                  </a:rPr>
                  <a:t>subscript </a:t>
                </a:r>
                <a14:m>
                  <m:oMath xmlns:m="http://schemas.openxmlformats.org/officeDocument/2006/math">
                    <m:r>
                      <a:rPr lang="en-US" b="0" i="1" dirty="0" smtClean="0">
                        <a:solidFill>
                          <a:schemeClr val="tx2"/>
                        </a:solidFill>
                        <a:latin typeface="Cambria Math" panose="02040503050406030204" pitchFamily="18" charset="0"/>
                      </a:rPr>
                      <m:t>0</m:t>
                    </m:r>
                  </m:oMath>
                </a14:m>
                <a:r>
                  <a:rPr lang="en-US" dirty="0">
                    <a:solidFill>
                      <a:schemeClr val="tx2"/>
                    </a:solidFill>
                  </a:rPr>
                  <a:t> represents unfished (</a:t>
                </a:r>
                <a14:m>
                  <m:oMath xmlns:m="http://schemas.openxmlformats.org/officeDocument/2006/math">
                    <m:r>
                      <a:rPr lang="en-US" i="1" dirty="0" smtClean="0">
                        <a:solidFill>
                          <a:schemeClr val="tx2"/>
                        </a:solidFill>
                        <a:latin typeface="Cambria Math" panose="02040503050406030204" pitchFamily="18" charset="0"/>
                      </a:rPr>
                      <m:t>𝐹</m:t>
                    </m:r>
                    <m:r>
                      <a:rPr lang="en-US" i="1" dirty="0" smtClean="0">
                        <a:solidFill>
                          <a:schemeClr val="tx2"/>
                        </a:solidFill>
                        <a:latin typeface="Cambria Math" panose="02040503050406030204" pitchFamily="18" charset="0"/>
                      </a:rPr>
                      <m:t>=0</m:t>
                    </m:r>
                  </m:oMath>
                </a14:m>
                <a:r>
                  <a:rPr lang="en-US" dirty="0">
                    <a:solidFill>
                      <a:schemeClr val="tx2"/>
                    </a:solidFill>
                  </a:rPr>
                  <a:t>) state</a:t>
                </a:r>
              </a:p>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ea typeface="Cambria Math" panose="02040503050406030204" pitchFamily="18" charset="0"/>
                          </a:rPr>
                          <m:t>𝐸</m:t>
                        </m:r>
                        <m:r>
                          <a:rPr lang="en-US" i="1">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 </m:t>
                    </m:r>
                  </m:oMath>
                </a14:m>
                <a:r>
                  <a:rPr lang="en-US" dirty="0"/>
                  <a:t>unfished SSB produced on average by each recruit over its lifetime, considering </a:t>
                </a:r>
                <a:r>
                  <a:rPr lang="en-US" dirty="0">
                    <a:solidFill>
                      <a:srgbClr val="0000FF"/>
                    </a:solidFill>
                  </a:rPr>
                  <a:t>survival</a:t>
                </a:r>
                <a:r>
                  <a:rPr lang="en-US" dirty="0"/>
                  <a:t>, </a:t>
                </a:r>
                <a:r>
                  <a:rPr lang="en-US" dirty="0">
                    <a:solidFill>
                      <a:srgbClr val="C00000"/>
                    </a:solidFill>
                  </a:rPr>
                  <a:t>growth</a:t>
                </a:r>
                <a:r>
                  <a:rPr lang="en-US" dirty="0"/>
                  <a:t>, and </a:t>
                </a:r>
                <a:r>
                  <a:rPr lang="en-US" dirty="0">
                    <a:solidFill>
                      <a:srgbClr val="7030A0"/>
                    </a:solidFill>
                  </a:rPr>
                  <a:t>maturity</a:t>
                </a:r>
              </a:p>
              <a:p>
                <a:r>
                  <a:rPr lang="en-US" dirty="0"/>
                  <a:t>Sum over all ages:</a:t>
                </a:r>
              </a:p>
              <a:p>
                <a:pPr marL="0" indent="0" algn="ctr">
                  <a:buNone/>
                </a:pPr>
                <a:r>
                  <a:rPr lang="en-US" dirty="0">
                    <a:solidFill>
                      <a:srgbClr val="0000FF"/>
                    </a:solidFill>
                  </a:rPr>
                  <a:t>P(survives to age </a:t>
                </a:r>
                <a14:m>
                  <m:oMath xmlns:m="http://schemas.openxmlformats.org/officeDocument/2006/math">
                    <m:r>
                      <m:rPr>
                        <m:brk m:alnAt="23"/>
                      </m:rPr>
                      <a:rPr lang="en-US" sz="2800" b="0" i="1" smtClean="0">
                        <a:solidFill>
                          <a:srgbClr val="0000FF"/>
                        </a:solidFill>
                        <a:effectLst/>
                        <a:latin typeface="Cambria Math" panose="02040503050406030204" pitchFamily="18" charset="0"/>
                      </a:rPr>
                      <m:t>𝑎</m:t>
                    </m:r>
                  </m:oMath>
                </a14:m>
                <a:r>
                  <a:rPr lang="en-US" dirty="0">
                    <a:solidFill>
                      <a:srgbClr val="0000FF"/>
                    </a:solidFill>
                  </a:rPr>
                  <a:t>) </a:t>
                </a:r>
                <a:r>
                  <a:rPr lang="en-US" dirty="0"/>
                  <a:t>× </a:t>
                </a:r>
                <a:r>
                  <a:rPr lang="en-US" dirty="0">
                    <a:solidFill>
                      <a:srgbClr val="C00000"/>
                    </a:solidFill>
                  </a:rPr>
                  <a:t>weight-at-age </a:t>
                </a:r>
                <a14:m>
                  <m:oMath xmlns:m="http://schemas.openxmlformats.org/officeDocument/2006/math">
                    <m:r>
                      <m:rPr>
                        <m:brk m:alnAt="23"/>
                      </m:rPr>
                      <a:rPr lang="en-US" i="1" smtClean="0">
                        <a:solidFill>
                          <a:srgbClr val="C00000"/>
                        </a:solidFill>
                        <a:latin typeface="Cambria Math" panose="02040503050406030204" pitchFamily="18" charset="0"/>
                      </a:rPr>
                      <m:t>𝑎</m:t>
                    </m:r>
                  </m:oMath>
                </a14:m>
                <a:r>
                  <a:rPr lang="en-US" dirty="0">
                    <a:solidFill>
                      <a:srgbClr val="C00000"/>
                    </a:solidFill>
                  </a:rPr>
                  <a:t> </a:t>
                </a:r>
                <a:r>
                  <a:rPr lang="en-US" dirty="0"/>
                  <a:t>× </a:t>
                </a:r>
                <a:r>
                  <a:rPr lang="en-US" dirty="0">
                    <a:solidFill>
                      <a:srgbClr val="7030A0"/>
                    </a:solidFill>
                  </a:rPr>
                  <a:t>P(mature-at-age </a:t>
                </a:r>
                <a14:m>
                  <m:oMath xmlns:m="http://schemas.openxmlformats.org/officeDocument/2006/math">
                    <m:r>
                      <m:rPr>
                        <m:brk m:alnAt="23"/>
                      </m:rPr>
                      <a:rPr lang="en-US" i="1" smtClean="0">
                        <a:solidFill>
                          <a:srgbClr val="7030A0"/>
                        </a:solidFill>
                        <a:latin typeface="Cambria Math" panose="02040503050406030204" pitchFamily="18" charset="0"/>
                      </a:rPr>
                      <m:t>𝑎</m:t>
                    </m:r>
                  </m:oMath>
                </a14:m>
                <a:r>
                  <a:rPr lang="en-US" dirty="0">
                    <a:solidFill>
                      <a:srgbClr val="7030A0"/>
                    </a:solidFill>
                  </a:rPr>
                  <a:t>) </a:t>
                </a:r>
              </a:p>
              <a:p>
                <a:pPr lvl="1"/>
                <a:endParaRPr lang="en-US" baseline="30000" dirty="0"/>
              </a:p>
              <a:p>
                <a:pPr marL="0" indent="0">
                  <a:buNone/>
                </a:pPr>
                <a:endParaRPr lang="en-US" baseline="30000" dirty="0"/>
              </a:p>
              <a:p>
                <a:endParaRPr lang="en-CA" dirty="0"/>
              </a:p>
              <a:p>
                <a:pPr lvl="1"/>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506783"/>
                <a:ext cx="10515600" cy="4351338"/>
              </a:xfrm>
              <a:blipFill>
                <a:blip r:embed="rId2"/>
                <a:stretch>
                  <a:fillRect l="-986" t="-2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525529" y="4865338"/>
                <a:ext cx="2944845" cy="1053943"/>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
                      <m:sSub>
                        <m:sSubPr>
                          <m:ctrlPr>
                            <a:rPr lang="en-US" sz="2400" i="1" smtClean="0">
                              <a:solidFill>
                                <a:schemeClr val="tx1"/>
                              </a:solidFill>
                              <a:effectLst/>
                              <a:latin typeface="Cambria Math" panose="02040503050406030204" pitchFamily="18" charset="0"/>
                              <a:ea typeface="Cambria Math" panose="02040503050406030204" pitchFamily="18" charset="0"/>
                            </a:rPr>
                          </m:ctrlPr>
                        </m:sSubPr>
                        <m:e>
                          <m:r>
                            <a:rPr lang="en-US" sz="2400" i="1" smtClean="0">
                              <a:solidFill>
                                <a:schemeClr val="tx1"/>
                              </a:solidFill>
                              <a:effectLst/>
                              <a:latin typeface="Cambria Math" panose="02040503050406030204" pitchFamily="18" charset="0"/>
                              <a:ea typeface="Cambria Math" panose="02040503050406030204" pitchFamily="18" charset="0"/>
                            </a:rPr>
                            <m:t>𝜑</m:t>
                          </m:r>
                        </m:e>
                        <m:sub>
                          <m:r>
                            <a:rPr lang="en-US" sz="2400" b="0" i="1" smtClean="0">
                              <a:solidFill>
                                <a:schemeClr val="tx1"/>
                              </a:solidFill>
                              <a:effectLst/>
                              <a:latin typeface="Cambria Math" panose="02040503050406030204" pitchFamily="18" charset="0"/>
                              <a:ea typeface="Cambria Math" panose="02040503050406030204" pitchFamily="18" charset="0"/>
                            </a:rPr>
                            <m:t>𝐸</m:t>
                          </m:r>
                          <m:r>
                            <a:rPr lang="en-US" sz="2400" b="0" i="1" smtClean="0">
                              <a:solidFill>
                                <a:schemeClr val="tx1"/>
                              </a:solidFill>
                              <a:effectLst/>
                              <a:latin typeface="Cambria Math" panose="02040503050406030204" pitchFamily="18" charset="0"/>
                              <a:ea typeface="Cambria Math" panose="02040503050406030204" pitchFamily="18" charset="0"/>
                            </a:rPr>
                            <m:t>0</m:t>
                          </m:r>
                        </m:sub>
                      </m:sSub>
                      <m:r>
                        <a:rPr lang="en-US" sz="2400" b="0" i="1" smtClean="0">
                          <a:solidFill>
                            <a:schemeClr val="tx1"/>
                          </a:solidFill>
                          <a:effectLst/>
                          <a:latin typeface="Cambria Math" panose="02040503050406030204" pitchFamily="18" charset="0"/>
                        </a:rPr>
                        <m:t>=</m:t>
                      </m:r>
                      <m:nary>
                        <m:naryPr>
                          <m:chr m:val="∑"/>
                          <m:ctrlPr>
                            <a:rPr lang="en-US" sz="2400" i="1">
                              <a:latin typeface="Cambria Math" panose="02040503050406030204" pitchFamily="18" charset="0"/>
                            </a:rPr>
                          </m:ctrlPr>
                        </m:naryPr>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𝑎</m:t>
                              </m:r>
                              <m:r>
                                <a:rPr lang="en-US" sz="2400" b="0" i="1" smtClean="0">
                                  <a:latin typeface="Cambria Math" panose="02040503050406030204" pitchFamily="18" charset="0"/>
                                </a:rPr>
                                <m:t>=</m:t>
                              </m:r>
                              <m:r>
                                <a:rPr lang="en-US" sz="2400" i="1">
                                  <a:latin typeface="Cambria Math" panose="02040503050406030204" pitchFamily="18" charset="0"/>
                                </a:rPr>
                                <m:t>𝑎</m:t>
                              </m:r>
                            </m:e>
                            <m:sub>
                              <m:r>
                                <a:rPr lang="en-US" sz="2400" b="0" i="1" smtClean="0">
                                  <a:latin typeface="Cambria Math" panose="02040503050406030204" pitchFamily="18" charset="0"/>
                                </a:rPr>
                                <m:t>𝑟𝑒𝑐</m:t>
                              </m:r>
                            </m:sub>
                          </m:sSub>
                        </m:sub>
                        <m:sup>
                          <m:sSub>
                            <m:sSubPr>
                              <m:ctrlPr>
                                <a:rPr lang="en-US" sz="2400" b="0" i="1" smtClean="0">
                                  <a:solidFill>
                                    <a:schemeClr val="tx1"/>
                                  </a:solidFill>
                                  <a:effectLst/>
                                  <a:latin typeface="Cambria Math" panose="02040503050406030204" pitchFamily="18" charset="0"/>
                                </a:rPr>
                              </m:ctrlPr>
                            </m:sSubPr>
                            <m:e>
                              <m:r>
                                <a:rPr lang="en-US" sz="2400" b="0" i="1" smtClean="0">
                                  <a:solidFill>
                                    <a:schemeClr val="tx1"/>
                                  </a:solidFill>
                                  <a:effectLst/>
                                  <a:latin typeface="Cambria Math" panose="02040503050406030204" pitchFamily="18" charset="0"/>
                                </a:rPr>
                                <m:t>𝑎</m:t>
                              </m:r>
                            </m:e>
                            <m:sub>
                              <m:r>
                                <a:rPr lang="en-US" sz="2400" b="0" i="1" smtClean="0">
                                  <a:solidFill>
                                    <a:schemeClr val="tx1"/>
                                  </a:solidFill>
                                  <a:effectLst/>
                                  <a:latin typeface="Cambria Math" panose="02040503050406030204" pitchFamily="18" charset="0"/>
                                </a:rPr>
                                <m:t>𝑚𝑎𝑥</m:t>
                              </m:r>
                            </m:sub>
                          </m:sSub>
                        </m:sup>
                        <m:e>
                          <m:sSub>
                            <m:sSubPr>
                              <m:ctrlPr>
                                <a:rPr lang="en-US" sz="2400" b="0" i="1" smtClean="0">
                                  <a:solidFill>
                                    <a:srgbClr val="0000FF"/>
                                  </a:solidFill>
                                  <a:effectLst/>
                                  <a:latin typeface="Cambria Math" panose="02040503050406030204" pitchFamily="18" charset="0"/>
                                </a:rPr>
                              </m:ctrlPr>
                            </m:sSubPr>
                            <m:e>
                              <m:r>
                                <a:rPr lang="en-US" sz="2400" b="0" i="1" smtClean="0">
                                  <a:solidFill>
                                    <a:srgbClr val="0000FF"/>
                                  </a:solidFill>
                                  <a:effectLst/>
                                  <a:latin typeface="Cambria Math" panose="02040503050406030204" pitchFamily="18" charset="0"/>
                                </a:rPr>
                                <m:t>𝑙</m:t>
                              </m:r>
                            </m:e>
                            <m:sub>
                              <m:sSub>
                                <m:sSubPr>
                                  <m:ctrlPr>
                                    <a:rPr lang="en-US" sz="2400" b="0" i="1" smtClean="0">
                                      <a:solidFill>
                                        <a:srgbClr val="0000FF"/>
                                      </a:solidFill>
                                      <a:effectLst/>
                                      <a:latin typeface="Cambria Math" panose="02040503050406030204" pitchFamily="18" charset="0"/>
                                    </a:rPr>
                                  </m:ctrlPr>
                                </m:sSubPr>
                                <m:e>
                                  <m:r>
                                    <a:rPr lang="en-US" sz="2400" b="0" i="1" smtClean="0">
                                      <a:solidFill>
                                        <a:srgbClr val="0000FF"/>
                                      </a:solidFill>
                                      <a:effectLst/>
                                      <a:latin typeface="Cambria Math" panose="02040503050406030204" pitchFamily="18" charset="0"/>
                                    </a:rPr>
                                    <m:t>0</m:t>
                                  </m:r>
                                </m:e>
                                <m:sub>
                                  <m:r>
                                    <a:rPr lang="en-US" sz="2400" b="0" i="1" smtClean="0">
                                      <a:solidFill>
                                        <a:srgbClr val="0000FF"/>
                                      </a:solidFill>
                                      <a:effectLst/>
                                      <a:latin typeface="Cambria Math" panose="02040503050406030204" pitchFamily="18" charset="0"/>
                                    </a:rPr>
                                    <m:t>𝑎</m:t>
                                  </m:r>
                                </m:sub>
                              </m:sSub>
                            </m:sub>
                          </m:sSub>
                          <m:sSub>
                            <m:sSubPr>
                              <m:ctrlPr>
                                <a:rPr lang="en-US" sz="2400" b="0" i="1" smtClean="0">
                                  <a:solidFill>
                                    <a:srgbClr val="C00000"/>
                                  </a:solidFill>
                                  <a:latin typeface="Cambria Math" panose="02040503050406030204" pitchFamily="18" charset="0"/>
                                </a:rPr>
                              </m:ctrlPr>
                            </m:sSubPr>
                            <m:e>
                              <m:r>
                                <a:rPr lang="en-US" sz="2400" b="0" i="1" smtClean="0">
                                  <a:solidFill>
                                    <a:srgbClr val="C00000"/>
                                  </a:solidFill>
                                  <a:latin typeface="Cambria Math" panose="02040503050406030204" pitchFamily="18" charset="0"/>
                                </a:rPr>
                                <m:t>𝑤</m:t>
                              </m:r>
                            </m:e>
                            <m:sub>
                              <m:r>
                                <a:rPr lang="en-US" sz="2400" i="1">
                                  <a:solidFill>
                                    <a:srgbClr val="C00000"/>
                                  </a:solidFill>
                                  <a:latin typeface="Cambria Math" panose="02040503050406030204" pitchFamily="18" charset="0"/>
                                </a:rPr>
                                <m:t>𝑎</m:t>
                              </m:r>
                            </m:sub>
                          </m:sSub>
                          <m:sSub>
                            <m:sSubPr>
                              <m:ctrlPr>
                                <a:rPr lang="en-US" sz="2400" b="0" i="1" smtClean="0">
                                  <a:solidFill>
                                    <a:srgbClr val="7030A0"/>
                                  </a:solidFill>
                                  <a:latin typeface="Cambria Math" panose="02040503050406030204" pitchFamily="18" charset="0"/>
                                </a:rPr>
                              </m:ctrlPr>
                            </m:sSubPr>
                            <m:e>
                              <m:r>
                                <a:rPr lang="en-US" sz="2400" b="0" i="1" smtClean="0">
                                  <a:solidFill>
                                    <a:srgbClr val="7030A0"/>
                                  </a:solidFill>
                                  <a:latin typeface="Cambria Math" panose="02040503050406030204" pitchFamily="18" charset="0"/>
                                </a:rPr>
                                <m:t>𝑚</m:t>
                              </m:r>
                            </m:e>
                            <m:sub>
                              <m:r>
                                <a:rPr lang="en-US" sz="2400" i="1">
                                  <a:solidFill>
                                    <a:srgbClr val="7030A0"/>
                                  </a:solidFill>
                                  <a:latin typeface="Cambria Math" panose="02040503050406030204" pitchFamily="18" charset="0"/>
                                </a:rPr>
                                <m:t>𝑎</m:t>
                              </m:r>
                            </m:sub>
                          </m:sSub>
                        </m:e>
                      </m:nary>
                    </m:oMath>
                  </m:oMathPara>
                </a14:m>
                <a:endParaRPr lang="en-CA"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3525529" y="4865338"/>
                <a:ext cx="2944845" cy="1053943"/>
              </a:xfrm>
              <a:prstGeom prst="rect">
                <a:avLst/>
              </a:prstGeom>
              <a:blipFill>
                <a:blip r:embed="rId3"/>
                <a:stretch>
                  <a:fillRect/>
                </a:stretch>
              </a:blipFill>
            </p:spPr>
            <p:txBody>
              <a:bodyPr/>
              <a:lstStyle/>
              <a:p>
                <a:r>
                  <a:rPr lang="en-US">
                    <a:noFill/>
                  </a:rPr>
                  <a:t> </a:t>
                </a:r>
              </a:p>
            </p:txBody>
          </p:sp>
        </mc:Fallback>
      </mc:AlternateContent>
      <p:sp>
        <p:nvSpPr>
          <p:cNvPr id="4" name="TextBox 3"/>
          <p:cNvSpPr txBox="1"/>
          <p:nvPr/>
        </p:nvSpPr>
        <p:spPr>
          <a:xfrm>
            <a:off x="7523018" y="4827164"/>
            <a:ext cx="4038600" cy="1200329"/>
          </a:xfrm>
          <a:prstGeom prst="rect">
            <a:avLst/>
          </a:prstGeom>
          <a:noFill/>
          <a:ln>
            <a:solidFill>
              <a:schemeClr val="tx2"/>
            </a:solidFill>
          </a:ln>
        </p:spPr>
        <p:txBody>
          <a:bodyPr wrap="square" rtlCol="0">
            <a:spAutoFit/>
          </a:bodyPr>
          <a:lstStyle/>
          <a:p>
            <a:r>
              <a:rPr lang="en-US" dirty="0">
                <a:solidFill>
                  <a:schemeClr val="tx2"/>
                </a:solidFill>
              </a:rPr>
              <a:t>These functions are sometimes referred to as “incidence functions” (Walters and Martell 2004, Box 3.1, and </a:t>
            </a:r>
            <a:r>
              <a:rPr lang="en-US" dirty="0" err="1">
                <a:solidFill>
                  <a:schemeClr val="tx2"/>
                </a:solidFill>
              </a:rPr>
              <a:t>Botsford</a:t>
            </a:r>
            <a:r>
              <a:rPr lang="en-US" dirty="0">
                <a:solidFill>
                  <a:schemeClr val="tx2"/>
                </a:solidFill>
              </a:rPr>
              <a:t> references therein)</a:t>
            </a:r>
          </a:p>
        </p:txBody>
      </p:sp>
      <p:sp>
        <p:nvSpPr>
          <p:cNvPr id="6" name="Rectangle 3"/>
          <p:cNvSpPr>
            <a:spLocks noChangeArrowheads="1"/>
          </p:cNvSpPr>
          <p:nvPr/>
        </p:nvSpPr>
        <p:spPr bwMode="auto">
          <a:xfrm>
            <a:off x="218912" y="6338471"/>
            <a:ext cx="11134887" cy="338554"/>
          </a:xfrm>
          <a:prstGeom prst="rect">
            <a:avLst/>
          </a:prstGeom>
          <a:solidFill>
            <a:schemeClr val="accent1">
              <a:alpha val="25000"/>
            </a:schemeClr>
          </a:solidFill>
          <a:ln>
            <a:solidFill>
              <a:schemeClr val="accent1">
                <a:lumMod val="50000"/>
              </a:schemeClr>
            </a:solidFill>
          </a:ln>
        </p:spPr>
        <p:txBody>
          <a:bodyPr wrap="square" rtlCol="0">
            <a:spAutoFit/>
          </a:bodyPr>
          <a:lstStyle/>
          <a:p>
            <a:pPr marL="534988" indent="-534988"/>
            <a:r>
              <a:rPr lang="en-AU" altLang="en-US" sz="1600" dirty="0">
                <a:solidFill>
                  <a:schemeClr val="tx2"/>
                </a:solidFill>
              </a:rPr>
              <a:t>Walters, C.J. and Martell, S.J.D. 2004. Fisheries Ecology and Management. Princeton University Press, Princeton, 399 pp.</a:t>
            </a:r>
          </a:p>
        </p:txBody>
      </p:sp>
      <p:sp>
        <p:nvSpPr>
          <p:cNvPr id="7" name="Slide Number Placeholder 6"/>
          <p:cNvSpPr>
            <a:spLocks noGrp="1"/>
          </p:cNvSpPr>
          <p:nvPr>
            <p:ph type="sldNum" sz="quarter" idx="12"/>
          </p:nvPr>
        </p:nvSpPr>
        <p:spPr/>
        <p:txBody>
          <a:bodyPr/>
          <a:lstStyle/>
          <a:p>
            <a:fld id="{EEDFA2F9-C25F-4A63-B46B-7B5C200A39D1}" type="slidenum">
              <a:rPr lang="en-CA" smtClean="0"/>
              <a:t>73</a:t>
            </a:fld>
            <a:endParaRPr lang="en-CA"/>
          </a:p>
        </p:txBody>
      </p:sp>
    </p:spTree>
    <p:extLst>
      <p:ext uri="{BB962C8B-B14F-4D97-AF65-F5344CB8AC3E}">
        <p14:creationId xmlns:p14="http://schemas.microsoft.com/office/powerpoint/2010/main" val="373029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Calculations </a:t>
            </a:r>
            <a:r>
              <a:rPr lang="en-CA" sz="3600" b="1" dirty="0">
                <a:solidFill>
                  <a:schemeClr val="accent2"/>
                </a:solidFill>
              </a:rPr>
              <a:t>3. SSB-per-Recruit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799618" cy="4351338"/>
              </a:xfrm>
            </p:spPr>
            <p:txBody>
              <a:bodyPr/>
              <a:lstStyle/>
              <a:p>
                <a:r>
                  <a:rPr lang="en-US" dirty="0"/>
                  <a:t>Equilibrium SSB-per-recruit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𝐹</m:t>
                        </m:r>
                      </m:sub>
                    </m:sSub>
                  </m:oMath>
                </a14:m>
                <a:r>
                  <a:rPr lang="en-US" dirty="0"/>
                  <a:t>) = SSB produced on average by each recruit over its lifetime, considering survival (with </a:t>
                </a:r>
                <a14:m>
                  <m:oMath xmlns:m="http://schemas.openxmlformats.org/officeDocument/2006/math">
                    <m:r>
                      <a:rPr lang="en-US" i="1" dirty="0" smtClean="0">
                        <a:latin typeface="Cambria Math" panose="02040503050406030204" pitchFamily="18" charset="0"/>
                      </a:rPr>
                      <m:t>𝐹</m:t>
                    </m:r>
                  </m:oMath>
                </a14:m>
                <a:r>
                  <a:rPr lang="en-US" dirty="0"/>
                  <a:t>), growth, and maturity</a:t>
                </a:r>
              </a:p>
              <a:p>
                <a:r>
                  <a:rPr lang="en-US" dirty="0"/>
                  <a:t>Sum over all ages:</a:t>
                </a:r>
              </a:p>
              <a:p>
                <a:pPr marL="0" indent="0" algn="ctr">
                  <a:buNone/>
                </a:pPr>
                <a:r>
                  <a:rPr lang="en-US" dirty="0">
                    <a:solidFill>
                      <a:srgbClr val="0000FF"/>
                    </a:solidFill>
                  </a:rPr>
                  <a:t>P(survives to age </a:t>
                </a:r>
                <a14:m>
                  <m:oMath xmlns:m="http://schemas.openxmlformats.org/officeDocument/2006/math">
                    <m:r>
                      <m:rPr>
                        <m:brk m:alnAt="23"/>
                      </m:rPr>
                      <a:rPr lang="en-US" sz="2800" b="0" i="1" smtClean="0">
                        <a:solidFill>
                          <a:srgbClr val="0000FF"/>
                        </a:solidFill>
                        <a:effectLst/>
                        <a:latin typeface="Cambria Math" panose="02040503050406030204" pitchFamily="18" charset="0"/>
                      </a:rPr>
                      <m:t>𝑎</m:t>
                    </m:r>
                  </m:oMath>
                </a14:m>
                <a:r>
                  <a:rPr lang="en-US" dirty="0">
                    <a:solidFill>
                      <a:srgbClr val="0000FF"/>
                    </a:solidFill>
                  </a:rPr>
                  <a:t>) </a:t>
                </a:r>
                <a:r>
                  <a:rPr lang="en-US" dirty="0"/>
                  <a:t>× </a:t>
                </a:r>
                <a:r>
                  <a:rPr lang="en-US" dirty="0">
                    <a:solidFill>
                      <a:srgbClr val="C00000"/>
                    </a:solidFill>
                  </a:rPr>
                  <a:t>weight-at-age </a:t>
                </a:r>
                <a14:m>
                  <m:oMath xmlns:m="http://schemas.openxmlformats.org/officeDocument/2006/math">
                    <m:r>
                      <m:rPr>
                        <m:brk m:alnAt="23"/>
                      </m:rPr>
                      <a:rPr lang="en-US" i="1" smtClean="0">
                        <a:solidFill>
                          <a:srgbClr val="C00000"/>
                        </a:solidFill>
                        <a:latin typeface="Cambria Math" panose="02040503050406030204" pitchFamily="18" charset="0"/>
                      </a:rPr>
                      <m:t>𝑎</m:t>
                    </m:r>
                  </m:oMath>
                </a14:m>
                <a:r>
                  <a:rPr lang="en-US" dirty="0">
                    <a:solidFill>
                      <a:srgbClr val="C00000"/>
                    </a:solidFill>
                  </a:rPr>
                  <a:t> </a:t>
                </a:r>
                <a:r>
                  <a:rPr lang="en-US" dirty="0"/>
                  <a:t>× </a:t>
                </a:r>
                <a:r>
                  <a:rPr lang="en-US" dirty="0">
                    <a:solidFill>
                      <a:srgbClr val="7030A0"/>
                    </a:solidFill>
                  </a:rPr>
                  <a:t>P(mature-at-age </a:t>
                </a:r>
                <a14:m>
                  <m:oMath xmlns:m="http://schemas.openxmlformats.org/officeDocument/2006/math">
                    <m:r>
                      <m:rPr>
                        <m:brk m:alnAt="23"/>
                      </m:rPr>
                      <a:rPr lang="en-US" i="1" smtClean="0">
                        <a:solidFill>
                          <a:srgbClr val="7030A0"/>
                        </a:solidFill>
                        <a:latin typeface="Cambria Math" panose="02040503050406030204" pitchFamily="18" charset="0"/>
                      </a:rPr>
                      <m:t>𝑎</m:t>
                    </m:r>
                  </m:oMath>
                </a14:m>
                <a:r>
                  <a:rPr lang="en-US" dirty="0">
                    <a:solidFill>
                      <a:srgbClr val="7030A0"/>
                    </a:solidFill>
                  </a:rPr>
                  <a:t>) </a:t>
                </a:r>
              </a:p>
              <a:p>
                <a:pPr lvl="1"/>
                <a:endParaRPr lang="en-US" baseline="30000" dirty="0"/>
              </a:p>
              <a:p>
                <a:pPr marL="0" indent="0">
                  <a:buNone/>
                </a:pPr>
                <a:endParaRPr lang="en-US" baseline="30000" dirty="0"/>
              </a:p>
              <a:p>
                <a:endParaRPr lang="en-CA" dirty="0"/>
              </a:p>
              <a:p>
                <a:pPr lvl="1"/>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799618" cy="4351338"/>
              </a:xfrm>
              <a:blipFill>
                <a:blip r:embed="rId2"/>
                <a:stretch>
                  <a:fillRect l="-1016" t="-2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957771" y="5298581"/>
                <a:ext cx="2276457" cy="878382"/>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
                      <m:sSub>
                        <m:sSubPr>
                          <m:ctrlPr>
                            <a:rPr lang="en-US" sz="2000" i="1" smtClean="0">
                              <a:solidFill>
                                <a:schemeClr val="tx1"/>
                              </a:solidFill>
                              <a:effectLst/>
                              <a:latin typeface="Cambria Math" panose="02040503050406030204" pitchFamily="18" charset="0"/>
                              <a:ea typeface="Cambria Math" panose="02040503050406030204" pitchFamily="18" charset="0"/>
                            </a:rPr>
                          </m:ctrlPr>
                        </m:sSubPr>
                        <m:e>
                          <m:r>
                            <a:rPr lang="en-US" sz="2000" i="1" smtClean="0">
                              <a:solidFill>
                                <a:schemeClr val="tx1"/>
                              </a:solidFill>
                              <a:effectLst/>
                              <a:latin typeface="Cambria Math" panose="02040503050406030204" pitchFamily="18" charset="0"/>
                              <a:ea typeface="Cambria Math" panose="02040503050406030204" pitchFamily="18" charset="0"/>
                            </a:rPr>
                            <m:t>𝜑</m:t>
                          </m:r>
                        </m:e>
                        <m:sub>
                          <m:r>
                            <a:rPr lang="en-US" sz="2000" b="0" i="1" smtClean="0">
                              <a:solidFill>
                                <a:schemeClr val="tx1"/>
                              </a:solidFill>
                              <a:effectLst/>
                              <a:latin typeface="Cambria Math" panose="02040503050406030204" pitchFamily="18" charset="0"/>
                            </a:rPr>
                            <m:t>𝐹</m:t>
                          </m:r>
                        </m:sub>
                      </m:sSub>
                      <m:r>
                        <a:rPr lang="en-US" sz="2000" b="0" i="1" smtClean="0">
                          <a:solidFill>
                            <a:schemeClr val="tx1"/>
                          </a:solidFill>
                          <a:effectLst/>
                          <a:latin typeface="Cambria Math" panose="02040503050406030204" pitchFamily="18" charset="0"/>
                        </a:rPr>
                        <m:t>=</m:t>
                      </m:r>
                      <m:nary>
                        <m:naryPr>
                          <m:chr m:val="∑"/>
                          <m:ctrlPr>
                            <a:rPr lang="en-US" sz="2000" i="1">
                              <a:latin typeface="Cambria Math" panose="02040503050406030204" pitchFamily="18" charset="0"/>
                            </a:rPr>
                          </m:ctrlPr>
                        </m:naryPr>
                        <m: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r>
                                <a:rPr lang="en-US" sz="2000" b="0" i="1" smtClean="0">
                                  <a:latin typeface="Cambria Math" panose="02040503050406030204" pitchFamily="18" charset="0"/>
                                </a:rPr>
                                <m:t>=</m:t>
                              </m:r>
                              <m:r>
                                <a:rPr lang="en-US" sz="2000" i="1">
                                  <a:latin typeface="Cambria Math" panose="02040503050406030204" pitchFamily="18" charset="0"/>
                                </a:rPr>
                                <m:t>𝑎</m:t>
                              </m:r>
                            </m:e>
                            <m:sub>
                              <m:r>
                                <a:rPr lang="en-US" sz="2000" b="0" i="1" smtClean="0">
                                  <a:latin typeface="Cambria Math" panose="02040503050406030204" pitchFamily="18" charset="0"/>
                                </a:rPr>
                                <m:t>𝑟𝑒𝑐</m:t>
                              </m:r>
                            </m:sub>
                          </m:sSub>
                        </m:sub>
                        <m:sup>
                          <m:sSub>
                            <m:sSubPr>
                              <m:ctrlPr>
                                <a:rPr lang="en-US" sz="2000" b="0" i="1" smtClean="0">
                                  <a:solidFill>
                                    <a:schemeClr val="tx1"/>
                                  </a:solidFill>
                                  <a:effectLst/>
                                  <a:latin typeface="Cambria Math" panose="02040503050406030204" pitchFamily="18" charset="0"/>
                                </a:rPr>
                              </m:ctrlPr>
                            </m:sSubPr>
                            <m:e>
                              <m:r>
                                <a:rPr lang="en-US" sz="2000" b="0" i="1" smtClean="0">
                                  <a:solidFill>
                                    <a:schemeClr val="tx1"/>
                                  </a:solidFill>
                                  <a:effectLst/>
                                  <a:latin typeface="Cambria Math" panose="02040503050406030204" pitchFamily="18" charset="0"/>
                                </a:rPr>
                                <m:t>𝑎</m:t>
                              </m:r>
                            </m:e>
                            <m:sub>
                              <m:r>
                                <a:rPr lang="en-US" sz="2000" b="0" i="1" smtClean="0">
                                  <a:solidFill>
                                    <a:schemeClr val="tx1"/>
                                  </a:solidFill>
                                  <a:effectLst/>
                                  <a:latin typeface="Cambria Math" panose="02040503050406030204" pitchFamily="18" charset="0"/>
                                </a:rPr>
                                <m:t>𝑚𝑎𝑥</m:t>
                              </m:r>
                            </m:sub>
                          </m:sSub>
                        </m:sup>
                        <m:e>
                          <m:sSub>
                            <m:sSubPr>
                              <m:ctrlPr>
                                <a:rPr lang="en-US" sz="2000" b="0" i="1" smtClean="0">
                                  <a:solidFill>
                                    <a:srgbClr val="0000FF"/>
                                  </a:solidFill>
                                  <a:effectLst/>
                                  <a:latin typeface="Cambria Math" panose="02040503050406030204" pitchFamily="18" charset="0"/>
                                </a:rPr>
                              </m:ctrlPr>
                            </m:sSubPr>
                            <m:e>
                              <m:r>
                                <a:rPr lang="en-US" sz="2000" b="0" i="1" smtClean="0">
                                  <a:solidFill>
                                    <a:srgbClr val="0000FF"/>
                                  </a:solidFill>
                                  <a:effectLst/>
                                  <a:latin typeface="Cambria Math" panose="02040503050406030204" pitchFamily="18" charset="0"/>
                                </a:rPr>
                                <m:t>𝑙</m:t>
                              </m:r>
                            </m:e>
                            <m:sub>
                              <m:r>
                                <a:rPr lang="en-US" sz="2000" b="0" i="1" smtClean="0">
                                  <a:solidFill>
                                    <a:srgbClr val="0000FF"/>
                                  </a:solidFill>
                                  <a:effectLst/>
                                  <a:latin typeface="Cambria Math" panose="02040503050406030204" pitchFamily="18" charset="0"/>
                                </a:rPr>
                                <m:t>𝑎</m:t>
                              </m:r>
                            </m:sub>
                          </m:sSub>
                          <m:sSub>
                            <m:sSubPr>
                              <m:ctrlPr>
                                <a:rPr lang="en-US" sz="2000" b="0" i="1" smtClean="0">
                                  <a:solidFill>
                                    <a:srgbClr val="C00000"/>
                                  </a:solidFill>
                                  <a:latin typeface="Cambria Math" panose="02040503050406030204" pitchFamily="18" charset="0"/>
                                </a:rPr>
                              </m:ctrlPr>
                            </m:sSubPr>
                            <m:e>
                              <m:r>
                                <a:rPr lang="en-US" sz="2000" b="0" i="1" smtClean="0">
                                  <a:solidFill>
                                    <a:srgbClr val="C00000"/>
                                  </a:solidFill>
                                  <a:latin typeface="Cambria Math" panose="02040503050406030204" pitchFamily="18" charset="0"/>
                                </a:rPr>
                                <m:t>𝑤</m:t>
                              </m:r>
                            </m:e>
                            <m:sub>
                              <m:r>
                                <a:rPr lang="en-US" sz="2000" i="1">
                                  <a:solidFill>
                                    <a:srgbClr val="C00000"/>
                                  </a:solidFill>
                                  <a:latin typeface="Cambria Math" panose="02040503050406030204" pitchFamily="18" charset="0"/>
                                </a:rPr>
                                <m:t>𝑎</m:t>
                              </m:r>
                            </m:sub>
                          </m:sSub>
                          <m:sSub>
                            <m:sSubPr>
                              <m:ctrlPr>
                                <a:rPr lang="en-US" sz="2000" b="0" i="1" smtClean="0">
                                  <a:solidFill>
                                    <a:srgbClr val="7030A0"/>
                                  </a:solidFill>
                                  <a:latin typeface="Cambria Math" panose="02040503050406030204" pitchFamily="18" charset="0"/>
                                </a:rPr>
                              </m:ctrlPr>
                            </m:sSubPr>
                            <m:e>
                              <m:r>
                                <a:rPr lang="en-US" sz="2000" b="0" i="1" smtClean="0">
                                  <a:solidFill>
                                    <a:srgbClr val="7030A0"/>
                                  </a:solidFill>
                                  <a:latin typeface="Cambria Math" panose="02040503050406030204" pitchFamily="18" charset="0"/>
                                </a:rPr>
                                <m:t>𝑚</m:t>
                              </m:r>
                            </m:e>
                            <m:sub>
                              <m:r>
                                <a:rPr lang="en-US" sz="2000" i="1">
                                  <a:solidFill>
                                    <a:srgbClr val="7030A0"/>
                                  </a:solidFill>
                                  <a:latin typeface="Cambria Math" panose="02040503050406030204" pitchFamily="18" charset="0"/>
                                </a:rPr>
                                <m:t>𝑎</m:t>
                              </m:r>
                            </m:sub>
                          </m:sSub>
                        </m:e>
                      </m:nary>
                    </m:oMath>
                  </m:oMathPara>
                </a14:m>
                <a:endParaRPr lang="en-CA" sz="2000" dirty="0"/>
              </a:p>
            </p:txBody>
          </p:sp>
        </mc:Choice>
        <mc:Fallback xmlns="">
          <p:sp>
            <p:nvSpPr>
              <p:cNvPr id="5" name="TextBox 4"/>
              <p:cNvSpPr txBox="1">
                <a:spLocks noRot="1" noChangeAspect="1" noMove="1" noResize="1" noEditPoints="1" noAdjustHandles="1" noChangeArrowheads="1" noChangeShapeType="1" noTextEdit="1"/>
              </p:cNvSpPr>
              <p:nvPr/>
            </p:nvSpPr>
            <p:spPr>
              <a:xfrm>
                <a:off x="4957771" y="5298581"/>
                <a:ext cx="2276457" cy="87838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E8908E4-4D03-410F-AB3E-C31515FFEC3A}"/>
                  </a:ext>
                </a:extLst>
              </p:cNvPr>
              <p:cNvSpPr txBox="1"/>
              <p:nvPr/>
            </p:nvSpPr>
            <p:spPr>
              <a:xfrm>
                <a:off x="3014506" y="4482804"/>
                <a:ext cx="3215472" cy="369332"/>
              </a:xfrm>
              <a:prstGeom prst="rect">
                <a:avLst/>
              </a:prstGeom>
              <a:solidFill>
                <a:srgbClr val="FFFF00"/>
              </a:solidFill>
            </p:spPr>
            <p:txBody>
              <a:bodyPr wrap="square" rtlCol="0">
                <a:spAutoFit/>
              </a:bodyPr>
              <a:lstStyle/>
              <a:p>
                <a:pPr algn="ctr"/>
                <a:r>
                  <a:rPr lang="en-US" b="1" dirty="0"/>
                  <a:t>Survivorship now includes </a:t>
                </a:r>
                <a14:m>
                  <m:oMath xmlns:m="http://schemas.openxmlformats.org/officeDocument/2006/math">
                    <m:r>
                      <a:rPr lang="en-US" b="1" i="1" dirty="0" smtClean="0">
                        <a:latin typeface="Cambria Math" panose="02040503050406030204" pitchFamily="18" charset="0"/>
                      </a:rPr>
                      <m:t>𝑭</m:t>
                    </m:r>
                  </m:oMath>
                </a14:m>
                <a:endParaRPr lang="en-US" b="1" dirty="0"/>
              </a:p>
            </p:txBody>
          </p:sp>
        </mc:Choice>
        <mc:Fallback xmlns="">
          <p:sp>
            <p:nvSpPr>
              <p:cNvPr id="4" name="TextBox 3">
                <a:extLst>
                  <a:ext uri="{FF2B5EF4-FFF2-40B4-BE49-F238E27FC236}">
                    <a16:creationId xmlns:a16="http://schemas.microsoft.com/office/drawing/2014/main" id="{DE8908E4-4D03-410F-AB3E-C31515FFEC3A}"/>
                  </a:ext>
                </a:extLst>
              </p:cNvPr>
              <p:cNvSpPr txBox="1">
                <a:spLocks noRot="1" noChangeAspect="1" noMove="1" noResize="1" noEditPoints="1" noAdjustHandles="1" noChangeArrowheads="1" noChangeShapeType="1" noTextEdit="1"/>
              </p:cNvSpPr>
              <p:nvPr/>
            </p:nvSpPr>
            <p:spPr>
              <a:xfrm>
                <a:off x="3014506" y="4482804"/>
                <a:ext cx="3215472" cy="369332"/>
              </a:xfrm>
              <a:prstGeom prst="rect">
                <a:avLst/>
              </a:prstGeom>
              <a:blipFill>
                <a:blip r:embed="rId4"/>
                <a:stretch>
                  <a:fillRect t="-8197" b="-24590"/>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60857D23-4355-4CD3-A0A7-3E900ED52606}"/>
              </a:ext>
            </a:extLst>
          </p:cNvPr>
          <p:cNvCxnSpPr>
            <a:cxnSpLocks/>
            <a:stCxn id="4" idx="0"/>
          </p:cNvCxnSpPr>
          <p:nvPr/>
        </p:nvCxnSpPr>
        <p:spPr>
          <a:xfrm flipH="1" flipV="1">
            <a:off x="4263656" y="4178595"/>
            <a:ext cx="358586" cy="304209"/>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7D8D488-C38D-4717-A3AC-ECEE89316212}"/>
              </a:ext>
            </a:extLst>
          </p:cNvPr>
          <p:cNvCxnSpPr>
            <a:cxnSpLocks/>
          </p:cNvCxnSpPr>
          <p:nvPr/>
        </p:nvCxnSpPr>
        <p:spPr>
          <a:xfrm>
            <a:off x="5847907" y="4852136"/>
            <a:ext cx="502651" cy="63825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EEDFA2F9-C25F-4A63-B46B-7B5C200A39D1}" type="slidenum">
              <a:rPr lang="en-CA" smtClean="0"/>
              <a:t>74</a:t>
            </a:fld>
            <a:endParaRPr lang="en-CA"/>
          </a:p>
        </p:txBody>
      </p:sp>
    </p:spTree>
    <p:extLst>
      <p:ext uri="{BB962C8B-B14F-4D97-AF65-F5344CB8AC3E}">
        <p14:creationId xmlns:p14="http://schemas.microsoft.com/office/powerpoint/2010/main" val="1807608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455" y="392400"/>
            <a:ext cx="11568545" cy="1325563"/>
          </a:xfrm>
        </p:spPr>
        <p:txBody>
          <a:bodyPr>
            <a:normAutofit/>
          </a:bodyPr>
          <a:lstStyle/>
          <a:p>
            <a:r>
              <a:rPr lang="en-CA" sz="3600" dirty="0"/>
              <a:t>Per-Recruit Calculations </a:t>
            </a:r>
            <a:r>
              <a:rPr lang="en-CA" sz="3600" b="1" dirty="0">
                <a:solidFill>
                  <a:schemeClr val="accent2"/>
                </a:solidFill>
              </a:rPr>
              <a:t>3. SSB-per-Recruit or Eggs-per-Recruit</a:t>
            </a:r>
            <a:endParaRPr lang="en-CA" sz="3600" dirty="0"/>
          </a:p>
        </p:txBody>
      </p:sp>
      <p:sp>
        <p:nvSpPr>
          <p:cNvPr id="3" name="Content Placeholder 2"/>
          <p:cNvSpPr>
            <a:spLocks noGrp="1"/>
          </p:cNvSpPr>
          <p:nvPr>
            <p:ph idx="1"/>
          </p:nvPr>
        </p:nvSpPr>
        <p:spPr/>
        <p:txBody>
          <a:bodyPr/>
          <a:lstStyle/>
          <a:p>
            <a:r>
              <a:rPr lang="en-US" dirty="0"/>
              <a:t>We generally do not know relative fecundity and assume that SSB is proportional to fecundity</a:t>
            </a:r>
          </a:p>
          <a:p>
            <a:r>
              <a:rPr lang="en-US" dirty="0"/>
              <a:t>See recent paper from Marshall et al. (</a:t>
            </a:r>
            <a:r>
              <a:rPr lang="en-US" dirty="0">
                <a:hlinkClick r:id="rId2"/>
              </a:rPr>
              <a:t>2021</a:t>
            </a:r>
            <a:r>
              <a:rPr lang="en-US" dirty="0"/>
              <a:t>) if you’re interested in understanding the implications of the assumption that SSB is proportional to fecundity.</a:t>
            </a:r>
          </a:p>
          <a:p>
            <a:endParaRPr lang="en-US" dirty="0"/>
          </a:p>
          <a:p>
            <a:pPr lvl="1"/>
            <a:endParaRPr lang="en-US" baseline="30000" dirty="0"/>
          </a:p>
          <a:p>
            <a:pPr marL="0" indent="0">
              <a:buNone/>
            </a:pPr>
            <a:endParaRPr lang="en-US" baseline="30000" dirty="0"/>
          </a:p>
          <a:p>
            <a:endParaRPr lang="en-CA" dirty="0"/>
          </a:p>
          <a:p>
            <a:pPr lvl="1"/>
            <a:endParaRPr lang="en-CA" dirty="0"/>
          </a:p>
        </p:txBody>
      </p:sp>
      <p:grpSp>
        <p:nvGrpSpPr>
          <p:cNvPr id="8" name="Group 7">
            <a:extLst>
              <a:ext uri="{FF2B5EF4-FFF2-40B4-BE49-F238E27FC236}">
                <a16:creationId xmlns:a16="http://schemas.microsoft.com/office/drawing/2014/main" id="{47D0ABF7-D622-4B45-9DD2-FA60FCF24CBA}"/>
              </a:ext>
            </a:extLst>
          </p:cNvPr>
          <p:cNvGrpSpPr/>
          <p:nvPr/>
        </p:nvGrpSpPr>
        <p:grpSpPr>
          <a:xfrm>
            <a:off x="3937471" y="4284375"/>
            <a:ext cx="8048625" cy="2105310"/>
            <a:chOff x="3850153" y="4106673"/>
            <a:chExt cx="8048625" cy="2105310"/>
          </a:xfrm>
        </p:grpSpPr>
        <p:pic>
          <p:nvPicPr>
            <p:cNvPr id="5" name="Picture 4">
              <a:extLst>
                <a:ext uri="{FF2B5EF4-FFF2-40B4-BE49-F238E27FC236}">
                  <a16:creationId xmlns:a16="http://schemas.microsoft.com/office/drawing/2014/main" id="{75E94172-5547-4C13-8E05-9A1831421430}"/>
                </a:ext>
              </a:extLst>
            </p:cNvPr>
            <p:cNvPicPr>
              <a:picLocks noChangeAspect="1"/>
            </p:cNvPicPr>
            <p:nvPr/>
          </p:nvPicPr>
          <p:blipFill>
            <a:blip r:embed="rId3"/>
            <a:stretch>
              <a:fillRect/>
            </a:stretch>
          </p:blipFill>
          <p:spPr>
            <a:xfrm>
              <a:off x="3850153" y="4106673"/>
              <a:ext cx="8048625" cy="2000250"/>
            </a:xfrm>
            <a:prstGeom prst="rect">
              <a:avLst/>
            </a:prstGeom>
          </p:spPr>
        </p:pic>
        <p:pic>
          <p:nvPicPr>
            <p:cNvPr id="7" name="Picture 6">
              <a:extLst>
                <a:ext uri="{FF2B5EF4-FFF2-40B4-BE49-F238E27FC236}">
                  <a16:creationId xmlns:a16="http://schemas.microsoft.com/office/drawing/2014/main" id="{4B70AE13-24AB-42F6-829E-112417F2E07A}"/>
                </a:ext>
              </a:extLst>
            </p:cNvPr>
            <p:cNvPicPr>
              <a:picLocks noChangeAspect="1"/>
            </p:cNvPicPr>
            <p:nvPr/>
          </p:nvPicPr>
          <p:blipFill>
            <a:blip r:embed="rId4"/>
            <a:stretch>
              <a:fillRect/>
            </a:stretch>
          </p:blipFill>
          <p:spPr>
            <a:xfrm>
              <a:off x="9803278" y="5945283"/>
              <a:ext cx="2095500" cy="266700"/>
            </a:xfrm>
            <a:prstGeom prst="rect">
              <a:avLst/>
            </a:prstGeom>
          </p:spPr>
        </p:pic>
      </p:grpSp>
      <p:sp>
        <p:nvSpPr>
          <p:cNvPr id="4" name="Slide Number Placeholder 3"/>
          <p:cNvSpPr>
            <a:spLocks noGrp="1"/>
          </p:cNvSpPr>
          <p:nvPr>
            <p:ph type="sldNum" sz="quarter" idx="12"/>
          </p:nvPr>
        </p:nvSpPr>
        <p:spPr/>
        <p:txBody>
          <a:bodyPr/>
          <a:lstStyle/>
          <a:p>
            <a:fld id="{EEDFA2F9-C25F-4A63-B46B-7B5C200A39D1}" type="slidenum">
              <a:rPr lang="en-CA" smtClean="0"/>
              <a:t>75</a:t>
            </a:fld>
            <a:endParaRPr lang="en-CA"/>
          </a:p>
        </p:txBody>
      </p:sp>
    </p:spTree>
    <p:extLst>
      <p:ext uri="{BB962C8B-B14F-4D97-AF65-F5344CB8AC3E}">
        <p14:creationId xmlns:p14="http://schemas.microsoft.com/office/powerpoint/2010/main" val="33979348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Reference Points </a:t>
            </a:r>
            <a:r>
              <a:rPr lang="en-CA" sz="3600" b="1" dirty="0">
                <a:solidFill>
                  <a:schemeClr val="accent6"/>
                </a:solidFill>
              </a:rPr>
              <a:t>4. </a:t>
            </a:r>
            <a:r>
              <a:rPr lang="en-US" sz="3600" b="1" dirty="0">
                <a:solidFill>
                  <a:schemeClr val="accent6"/>
                </a:solidFill>
              </a:rPr>
              <a:t>Yield-per-Recruit (YPR)</a:t>
            </a:r>
            <a:endParaRPr lang="en-CA" sz="3600" b="1" dirty="0">
              <a:solidFill>
                <a:schemeClr val="accent6"/>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3910157"/>
              </a:xfrm>
            </p:spPr>
            <p:txBody>
              <a:bodyPr>
                <a:normAutofit/>
              </a:bodyPr>
              <a:lstStyle/>
              <a:p>
                <a:r>
                  <a:rPr lang="en-US" dirty="0"/>
                  <a:t>YPR-at-age is the expected life-time yield per fish recruited into the stock at a specified age</a:t>
                </a:r>
              </a:p>
              <a:p>
                <a:r>
                  <a:rPr lang="en-US" dirty="0"/>
                  <a:t>We begin the introduction to YPR by defining total biomass removed-per-recruit: </a:t>
                </a:r>
              </a:p>
              <a:p>
                <a:endParaRPr lang="en-US" dirty="0"/>
              </a:p>
              <a:p>
                <a:pPr marL="0" indent="0">
                  <a:buNone/>
                </a:pPr>
                <a14:m>
                  <m:oMath xmlns:m="http://schemas.openxmlformats.org/officeDocument/2006/math">
                    <m:r>
                      <a:rPr lang="en-US" sz="2400" i="1" dirty="0" smtClean="0">
                        <a:latin typeface="Cambria Math" panose="02040503050406030204" pitchFamily="18" charset="0"/>
                      </a:rPr>
                      <m:t>𝐵</m:t>
                    </m:r>
                  </m:oMath>
                </a14:m>
                <a:r>
                  <a:rPr lang="en-US" sz="2400" dirty="0"/>
                  <a:t> removed-per-recruit at age </a:t>
                </a:r>
                <a14:m>
                  <m:oMath xmlns:m="http://schemas.openxmlformats.org/officeDocument/2006/math">
                    <m:r>
                      <a:rPr lang="en-US" sz="2400" i="1" smtClean="0">
                        <a:solidFill>
                          <a:schemeClr val="tx1"/>
                        </a:solidFill>
                        <a:latin typeface="Cambria Math" panose="02040503050406030204" pitchFamily="18" charset="0"/>
                      </a:rPr>
                      <m:t>𝑎</m:t>
                    </m:r>
                    <m:r>
                      <a:rPr lang="en-US" sz="2400" i="1" smtClean="0">
                        <a:solidFill>
                          <a:srgbClr val="0000FF"/>
                        </a:solidFill>
                        <a:latin typeface="Cambria Math" panose="02040503050406030204" pitchFamily="18" charset="0"/>
                      </a:rPr>
                      <m:t> </m:t>
                    </m:r>
                  </m:oMath>
                </a14:m>
                <a:r>
                  <a:rPr lang="en-US" sz="2400" dirty="0"/>
                  <a:t>= </a:t>
                </a:r>
                <a:r>
                  <a:rPr lang="en-US" sz="2400" dirty="0">
                    <a:solidFill>
                      <a:srgbClr val="0000FF"/>
                    </a:solidFill>
                  </a:rPr>
                  <a:t>biomass-per-recruit at age </a:t>
                </a:r>
                <a14:m>
                  <m:oMath xmlns:m="http://schemas.openxmlformats.org/officeDocument/2006/math">
                    <m:r>
                      <a:rPr lang="en-US" sz="2400" i="1" smtClean="0">
                        <a:solidFill>
                          <a:srgbClr val="0000FF"/>
                        </a:solidFill>
                        <a:latin typeface="Cambria Math" panose="02040503050406030204" pitchFamily="18" charset="0"/>
                      </a:rPr>
                      <m:t>𝑎</m:t>
                    </m:r>
                    <m:r>
                      <a:rPr lang="en-US" sz="2400" i="1">
                        <a:latin typeface="Cambria Math" panose="02040503050406030204" pitchFamily="18" charset="0"/>
                      </a:rPr>
                      <m:t> </m:t>
                    </m:r>
                  </m:oMath>
                </a14:m>
                <a:r>
                  <a:rPr lang="en-US" sz="2400" dirty="0"/>
                  <a:t>× </a:t>
                </a:r>
                <a:r>
                  <a:rPr lang="en-US" sz="2400" dirty="0">
                    <a:solidFill>
                      <a:srgbClr val="C00000"/>
                    </a:solidFill>
                  </a:rPr>
                  <a:t>total removal rate</a:t>
                </a:r>
              </a:p>
              <a:p>
                <a:endParaRPr lang="en-US" dirty="0"/>
              </a:p>
              <a:p>
                <a:endParaRPr lang="en-US" dirty="0"/>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3910157"/>
              </a:xfrm>
              <a:blipFill>
                <a:blip r:embed="rId2"/>
                <a:stretch>
                  <a:fillRect l="-1043" t="-24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p:cNvSpPr txBox="1"/>
              <p:nvPr/>
            </p:nvSpPr>
            <p:spPr>
              <a:xfrm>
                <a:off x="2387018" y="5125804"/>
                <a:ext cx="6868740" cy="360804"/>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14:m>
                  <m:oMath xmlns:m="http://schemas.openxmlformats.org/officeDocument/2006/math">
                    <m:r>
                      <a:rPr lang="en-US" sz="2400" i="1" dirty="0">
                        <a:latin typeface="Cambria Math" panose="02040503050406030204" pitchFamily="18" charset="0"/>
                      </a:rPr>
                      <m:t>𝐵</m:t>
                    </m:r>
                    <m:r>
                      <m:rPr>
                        <m:nor/>
                      </m:rPr>
                      <a:rPr lang="en-US" sz="2400" b="0" i="0" dirty="0" smtClean="0">
                        <a:latin typeface="Cambria Math" panose="02040503050406030204" pitchFamily="18" charset="0"/>
                      </a:rPr>
                      <m:t> r</m:t>
                    </m:r>
                    <m:r>
                      <m:rPr>
                        <m:nor/>
                      </m:rPr>
                      <a:rPr lang="en-US" sz="2400" i="0" dirty="0" smtClean="0">
                        <a:solidFill>
                          <a:schemeClr val="tx1"/>
                        </a:solidFill>
                      </a:rPr>
                      <m:t>emov</m:t>
                    </m:r>
                    <m:r>
                      <m:rPr>
                        <m:nor/>
                      </m:rPr>
                      <a:rPr lang="en-US" sz="2400" b="0" i="0" dirty="0" smtClean="0">
                        <a:solidFill>
                          <a:schemeClr val="tx1"/>
                        </a:solidFill>
                      </a:rPr>
                      <m:t>ed−</m:t>
                    </m:r>
                    <m:r>
                      <m:rPr>
                        <m:nor/>
                      </m:rPr>
                      <a:rPr lang="en-US" sz="2400" i="0" dirty="0" smtClean="0"/>
                      <m:t>per</m:t>
                    </m:r>
                    <m:r>
                      <m:rPr>
                        <m:nor/>
                      </m:rPr>
                      <a:rPr lang="en-US" sz="2400" b="0" i="0" dirty="0" smtClean="0"/>
                      <m:t>−</m:t>
                    </m:r>
                    <m:r>
                      <m:rPr>
                        <m:nor/>
                      </m:rPr>
                      <a:rPr lang="en-US" sz="2400" i="0" dirty="0" smtClean="0"/>
                      <m:t>recruit</m:t>
                    </m:r>
                    <m:r>
                      <m:rPr>
                        <m:nor/>
                      </m:rPr>
                      <a:rPr lang="en-US" sz="2400" b="0" i="0" dirty="0" smtClean="0"/>
                      <m:t> </m:t>
                    </m:r>
                    <m:r>
                      <m:rPr>
                        <m:nor/>
                      </m:rPr>
                      <a:rPr lang="en-US" sz="2400" i="0" dirty="0" smtClean="0">
                        <a:solidFill>
                          <a:schemeClr val="tx1"/>
                        </a:solidFill>
                      </a:rPr>
                      <m:t>at age</m:t>
                    </m:r>
                    <m:r>
                      <a:rPr lang="en-US" sz="2400" b="0" i="1" dirty="0" smtClean="0">
                        <a:solidFill>
                          <a:schemeClr val="tx1"/>
                        </a:solidFill>
                        <a:latin typeface="Cambria Math" panose="02040503050406030204" pitchFamily="18" charset="0"/>
                      </a:rPr>
                      <m:t> </m:t>
                    </m:r>
                    <m:r>
                      <a:rPr lang="en-US" sz="2400" i="1">
                        <a:latin typeface="Cambria Math" panose="02040503050406030204" pitchFamily="18" charset="0"/>
                      </a:rPr>
                      <m:t>𝑎</m:t>
                    </m:r>
                    <m:r>
                      <a:rPr lang="en-US" sz="2400" b="0" i="1" smtClean="0">
                        <a:solidFill>
                          <a:schemeClr val="tx1"/>
                        </a:solidFill>
                        <a:effectLst/>
                        <a:latin typeface="Cambria Math" panose="02040503050406030204" pitchFamily="18" charset="0"/>
                      </a:rPr>
                      <m:t>=</m:t>
                    </m:r>
                    <m:sSub>
                      <m:sSubPr>
                        <m:ctrlPr>
                          <a:rPr lang="en-US" sz="2400" b="0" i="1" smtClean="0">
                            <a:solidFill>
                              <a:srgbClr val="0000FF"/>
                            </a:solidFill>
                            <a:latin typeface="Cambria Math" panose="02040503050406030204" pitchFamily="18" charset="0"/>
                          </a:rPr>
                        </m:ctrlPr>
                      </m:sSubPr>
                      <m:e>
                        <m:r>
                          <a:rPr lang="en-US" sz="2400" b="0" i="1" smtClean="0">
                            <a:solidFill>
                              <a:srgbClr val="0000FF"/>
                            </a:solidFill>
                            <a:latin typeface="Cambria Math" panose="02040503050406030204" pitchFamily="18" charset="0"/>
                          </a:rPr>
                          <m:t>𝑙</m:t>
                        </m:r>
                      </m:e>
                      <m:sub>
                        <m:r>
                          <a:rPr lang="en-US" sz="2400" i="1">
                            <a:solidFill>
                              <a:srgbClr val="0000FF"/>
                            </a:solidFill>
                            <a:latin typeface="Cambria Math" panose="02040503050406030204" pitchFamily="18" charset="0"/>
                          </a:rPr>
                          <m:t>𝑎</m:t>
                        </m:r>
                      </m:sub>
                    </m:sSub>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𝑤</m:t>
                        </m:r>
                      </m:e>
                      <m:sub>
                        <m:r>
                          <a:rPr lang="en-US" sz="2400" i="1">
                            <a:solidFill>
                              <a:srgbClr val="0000FF"/>
                            </a:solidFill>
                            <a:latin typeface="Cambria Math" panose="02040503050406030204" pitchFamily="18" charset="0"/>
                          </a:rPr>
                          <m:t>𝑎</m:t>
                        </m:r>
                      </m:sub>
                    </m:sSub>
                  </m:oMath>
                </a14:m>
                <a:r>
                  <a:rPr lang="en-CA" sz="2000" dirty="0">
                    <a:solidFill>
                      <a:srgbClr val="C00000"/>
                    </a:solidFill>
                  </a:rPr>
                  <a:t>(</a:t>
                </a:r>
                <a14:m>
                  <m:oMath xmlns:m="http://schemas.openxmlformats.org/officeDocument/2006/math">
                    <m:r>
                      <a:rPr lang="en-US" sz="2000" i="1">
                        <a:solidFill>
                          <a:srgbClr val="C00000"/>
                        </a:solidFill>
                        <a:latin typeface="Cambria Math" panose="02040503050406030204" pitchFamily="18" charset="0"/>
                      </a:rPr>
                      <m:t>1−</m:t>
                    </m:r>
                    <m:sSup>
                      <m:sSupPr>
                        <m:ctrlPr>
                          <a:rPr lang="en-US" sz="2000" i="1">
                            <a:solidFill>
                              <a:srgbClr val="C00000"/>
                            </a:solidFill>
                            <a:latin typeface="Cambria Math" panose="02040503050406030204" pitchFamily="18" charset="0"/>
                          </a:rPr>
                        </m:ctrlPr>
                      </m:sSupPr>
                      <m:e>
                        <m:r>
                          <a:rPr lang="en-US" sz="2000" i="1">
                            <a:solidFill>
                              <a:srgbClr val="C00000"/>
                            </a:solidFill>
                            <a:latin typeface="Cambria Math" panose="02040503050406030204" pitchFamily="18" charset="0"/>
                          </a:rPr>
                          <m:t>𝑒</m:t>
                        </m:r>
                      </m:e>
                      <m:sup>
                        <m:r>
                          <a:rPr lang="en-US" sz="2000" i="1">
                            <a:solidFill>
                              <a:srgbClr val="C00000"/>
                            </a:solidFill>
                            <a:latin typeface="Cambria Math" panose="02040503050406030204" pitchFamily="18" charset="0"/>
                          </a:rPr>
                          <m:t>−</m:t>
                        </m:r>
                        <m:d>
                          <m:dPr>
                            <m:ctrlPr>
                              <a:rPr lang="en-CA" sz="2000" i="1">
                                <a:solidFill>
                                  <a:srgbClr val="C00000"/>
                                </a:solidFill>
                                <a:latin typeface="Cambria Math" panose="02040503050406030204" pitchFamily="18" charset="0"/>
                              </a:rPr>
                            </m:ctrlPr>
                          </m:d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𝑀</m:t>
                                </m:r>
                              </m:e>
                              <m:sub>
                                <m:r>
                                  <a:rPr lang="en-US" sz="2000" i="1">
                                    <a:solidFill>
                                      <a:srgbClr val="C00000"/>
                                    </a:solidFill>
                                    <a:latin typeface="Cambria Math" panose="02040503050406030204" pitchFamily="18" charset="0"/>
                                  </a:rPr>
                                  <m:t>𝑎</m:t>
                                </m:r>
                              </m:sub>
                            </m:sSub>
                            <m:r>
                              <a:rPr lang="en-US" sz="2000" b="0" i="1" smtClean="0">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𝐹</m:t>
                            </m:r>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𝑣</m:t>
                                </m:r>
                              </m:e>
                              <m:sub>
                                <m:r>
                                  <a:rPr lang="en-US" sz="2000" i="1">
                                    <a:solidFill>
                                      <a:srgbClr val="C00000"/>
                                    </a:solidFill>
                                    <a:latin typeface="Cambria Math" panose="02040503050406030204" pitchFamily="18" charset="0"/>
                                  </a:rPr>
                                  <m:t>𝑎</m:t>
                                </m:r>
                              </m:sub>
                            </m:sSub>
                          </m:e>
                        </m:d>
                      </m:sup>
                    </m:sSup>
                  </m:oMath>
                </a14:m>
                <a:r>
                  <a:rPr lang="en-CA" sz="2000" dirty="0">
                    <a:solidFill>
                      <a:srgbClr val="C00000"/>
                    </a:solidFill>
                  </a:rPr>
                  <a:t>)</a:t>
                </a:r>
                <a:endParaRPr lang="en-CA" sz="2000" dirty="0">
                  <a:solidFill>
                    <a:schemeClr val="tx1"/>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2387018" y="5125804"/>
                <a:ext cx="6868740" cy="360804"/>
              </a:xfrm>
              <a:prstGeom prst="rect">
                <a:avLst/>
              </a:prstGeom>
              <a:blipFill>
                <a:blip r:embed="rId3"/>
                <a:stretch>
                  <a:fillRect l="-1599" t="-6780" r="-1332" b="-42373"/>
                </a:stretch>
              </a:blipFill>
            </p:spPr>
            <p:txBody>
              <a:bodyPr/>
              <a:lstStyle/>
              <a:p>
                <a:r>
                  <a:rPr lang="en-US">
                    <a:noFill/>
                  </a:rPr>
                  <a:t> </a:t>
                </a:r>
              </a:p>
            </p:txBody>
          </p:sp>
        </mc:Fallback>
      </mc:AlternateContent>
      <p:cxnSp>
        <p:nvCxnSpPr>
          <p:cNvPr id="6" name="Straight Arrow Connector 5"/>
          <p:cNvCxnSpPr/>
          <p:nvPr/>
        </p:nvCxnSpPr>
        <p:spPr>
          <a:xfrm flipH="1">
            <a:off x="2387018" y="3813665"/>
            <a:ext cx="1305099" cy="30650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692116" y="3532318"/>
            <a:ext cx="3516284" cy="369332"/>
          </a:xfrm>
          <a:prstGeom prst="rect">
            <a:avLst/>
          </a:prstGeom>
          <a:noFill/>
          <a:ln>
            <a:noFill/>
          </a:ln>
        </p:spPr>
        <p:txBody>
          <a:bodyPr wrap="square" rtlCol="0">
            <a:spAutoFit/>
          </a:bodyPr>
          <a:lstStyle/>
          <a:p>
            <a:r>
              <a:rPr lang="en-US" dirty="0">
                <a:solidFill>
                  <a:srgbClr val="C00000"/>
                </a:solidFill>
              </a:rPr>
              <a:t>from fishing and natural mortality</a:t>
            </a:r>
            <a:endParaRPr lang="en-CA" dirty="0">
              <a:solidFill>
                <a:srgbClr val="C00000"/>
              </a:solidFill>
            </a:endParaRPr>
          </a:p>
        </p:txBody>
      </p:sp>
      <p:cxnSp>
        <p:nvCxnSpPr>
          <p:cNvPr id="9" name="Straight Arrow Connector 8"/>
          <p:cNvCxnSpPr>
            <a:cxnSpLocks/>
          </p:cNvCxnSpPr>
          <p:nvPr/>
        </p:nvCxnSpPr>
        <p:spPr>
          <a:xfrm>
            <a:off x="7077477" y="3716984"/>
            <a:ext cx="3415031" cy="38211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EEDFA2F9-C25F-4A63-B46B-7B5C200A39D1}" type="slidenum">
              <a:rPr lang="en-CA" smtClean="0"/>
              <a:t>76</a:t>
            </a:fld>
            <a:endParaRPr lang="en-CA"/>
          </a:p>
        </p:txBody>
      </p:sp>
    </p:spTree>
    <p:extLst>
      <p:ext uri="{BB962C8B-B14F-4D97-AF65-F5344CB8AC3E}">
        <p14:creationId xmlns:p14="http://schemas.microsoft.com/office/powerpoint/2010/main" val="494746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Reference Points </a:t>
            </a:r>
            <a:r>
              <a:rPr lang="en-CA" sz="3600" b="1" dirty="0">
                <a:solidFill>
                  <a:schemeClr val="accent6"/>
                </a:solidFill>
              </a:rPr>
              <a:t>4. </a:t>
            </a:r>
            <a:r>
              <a:rPr lang="en-US" sz="3600" b="1" dirty="0">
                <a:solidFill>
                  <a:schemeClr val="accent6"/>
                </a:solidFill>
              </a:rPr>
              <a:t>Yield-per-Recruit (YPR)</a:t>
            </a:r>
            <a:endParaRPr lang="en-CA" sz="3600" b="1" dirty="0">
              <a:solidFill>
                <a:schemeClr val="accent6"/>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3910157"/>
              </a:xfrm>
            </p:spPr>
            <p:txBody>
              <a:bodyPr>
                <a:normAutofit/>
              </a:bodyPr>
              <a:lstStyle/>
              <a:p>
                <a:r>
                  <a:rPr lang="en-US" dirty="0"/>
                  <a:t>The yield is the biomass removed from </a:t>
                </a:r>
                <a14:m>
                  <m:oMath xmlns:m="http://schemas.openxmlformats.org/officeDocument/2006/math">
                    <m:r>
                      <a:rPr lang="en-US" i="1" dirty="0" smtClean="0">
                        <a:latin typeface="Cambria Math" panose="02040503050406030204" pitchFamily="18" charset="0"/>
                      </a:rPr>
                      <m:t>𝐹</m:t>
                    </m:r>
                  </m:oMath>
                </a14:m>
                <a:endParaRPr lang="en-US" dirty="0"/>
              </a:p>
              <a:p>
                <a:endParaRPr lang="en-US" dirty="0"/>
              </a:p>
              <a:p>
                <a:pPr marL="0" indent="0">
                  <a:buNone/>
                </a:pPr>
                <a:r>
                  <a:rPr lang="en-US" dirty="0"/>
                  <a:t>YPR-at-age </a:t>
                </a:r>
                <a14:m>
                  <m:oMath xmlns:m="http://schemas.openxmlformats.org/officeDocument/2006/math">
                    <m:r>
                      <a:rPr lang="en-US" i="1" smtClean="0">
                        <a:solidFill>
                          <a:schemeClr val="tx1"/>
                        </a:solidFill>
                        <a:latin typeface="Cambria Math" panose="02040503050406030204" pitchFamily="18" charset="0"/>
                      </a:rPr>
                      <m:t>𝑎</m:t>
                    </m:r>
                    <m:r>
                      <a:rPr lang="en-US" i="1">
                        <a:solidFill>
                          <a:srgbClr val="0000FF"/>
                        </a:solidFill>
                        <a:latin typeface="Cambria Math" panose="02040503050406030204" pitchFamily="18" charset="0"/>
                      </a:rPr>
                      <m:t> </m:t>
                    </m:r>
                  </m:oMath>
                </a14:m>
                <a:r>
                  <a:rPr lang="en-US" dirty="0"/>
                  <a:t>is therefore the </a:t>
                </a:r>
                <a:r>
                  <a:rPr lang="en-US" dirty="0">
                    <a:solidFill>
                      <a:srgbClr val="7030A0"/>
                    </a:solidFill>
                  </a:rPr>
                  <a:t>proportion</a:t>
                </a:r>
                <a:r>
                  <a:rPr lang="en-US" dirty="0"/>
                  <a:t> </a:t>
                </a:r>
                <a:r>
                  <a:rPr lang="en-US" dirty="0">
                    <a:solidFill>
                      <a:srgbClr val="7030A0"/>
                    </a:solidFill>
                  </a:rPr>
                  <a:t>of</a:t>
                </a:r>
                <a:r>
                  <a:rPr lang="en-US" dirty="0"/>
                  <a:t> </a:t>
                </a:r>
                <a14:m>
                  <m:oMath xmlns:m="http://schemas.openxmlformats.org/officeDocument/2006/math">
                    <m:r>
                      <a:rPr lang="en-US" i="1" dirty="0">
                        <a:latin typeface="Cambria Math" panose="02040503050406030204" pitchFamily="18" charset="0"/>
                      </a:rPr>
                      <m:t>𝐵</m:t>
                    </m:r>
                    <m:r>
                      <m:rPr>
                        <m:nor/>
                      </m:rPr>
                      <a:rPr lang="en-US" i="0" dirty="0">
                        <a:latin typeface="Cambria Math" panose="02040503050406030204" pitchFamily="18" charset="0"/>
                      </a:rPr>
                      <m:t> r</m:t>
                    </m:r>
                    <m:r>
                      <m:rPr>
                        <m:nor/>
                      </m:rPr>
                      <a:rPr lang="en-US" i="0" dirty="0"/>
                      <m:t>emoved−per−recruit at age</m:t>
                    </m:r>
                    <m:r>
                      <a:rPr lang="en-US" i="1" dirty="0">
                        <a:latin typeface="Cambria Math" panose="02040503050406030204" pitchFamily="18" charset="0"/>
                      </a:rPr>
                      <m:t> </m:t>
                    </m:r>
                    <m:r>
                      <a:rPr lang="en-US" i="1">
                        <a:latin typeface="Cambria Math" panose="02040503050406030204" pitchFamily="18" charset="0"/>
                      </a:rPr>
                      <m:t>𝑎</m:t>
                    </m:r>
                    <m:r>
                      <a:rPr lang="en-US" i="1">
                        <a:latin typeface="Cambria Math" panose="02040503050406030204" pitchFamily="18" charset="0"/>
                      </a:rPr>
                      <m:t> </m:t>
                    </m:r>
                  </m:oMath>
                </a14:m>
                <a:r>
                  <a:rPr lang="en-US" dirty="0">
                    <a:solidFill>
                      <a:srgbClr val="7030A0"/>
                    </a:solidFill>
                  </a:rPr>
                  <a:t>that is due to fishing</a:t>
                </a:r>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3910157"/>
              </a:xfrm>
              <a:blipFill>
                <a:blip r:embed="rId2"/>
                <a:stretch>
                  <a:fillRect l="-1217" t="-24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3805471" y="5498184"/>
                <a:ext cx="4052841" cy="475195"/>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14:m>
                  <m:oMath xmlns:m="http://schemas.openxmlformats.org/officeDocument/2006/math">
                    <m:sSub>
                      <m:sSubPr>
                        <m:ctrlPr>
                          <a:rPr lang="en-US" sz="2000" b="0" i="1" dirty="0" smtClean="0">
                            <a:solidFill>
                              <a:schemeClr val="tx1"/>
                            </a:solidFill>
                            <a:latin typeface="Cambria Math" panose="02040503050406030204" pitchFamily="18" charset="0"/>
                          </a:rPr>
                        </m:ctrlPr>
                      </m:sSubPr>
                      <m:e>
                        <m:r>
                          <a:rPr lang="en-US" sz="2000" b="0" i="1" dirty="0" smtClean="0">
                            <a:solidFill>
                              <a:schemeClr val="tx1"/>
                            </a:solidFill>
                            <a:latin typeface="Cambria Math" panose="02040503050406030204" pitchFamily="18" charset="0"/>
                          </a:rPr>
                          <m:t>𝑌𝑃𝑅</m:t>
                        </m:r>
                      </m:e>
                      <m:sub>
                        <m:r>
                          <a:rPr lang="en-US" sz="2000" b="0" i="1" dirty="0" smtClean="0">
                            <a:solidFill>
                              <a:schemeClr val="tx1"/>
                            </a:solidFill>
                            <a:latin typeface="Cambria Math" panose="02040503050406030204" pitchFamily="18" charset="0"/>
                          </a:rPr>
                          <m:t>𝑎</m:t>
                        </m:r>
                      </m:sub>
                    </m:sSub>
                    <m:r>
                      <a:rPr lang="en-US" sz="2000" b="0" i="1" smtClean="0">
                        <a:solidFill>
                          <a:schemeClr val="tx1"/>
                        </a:solidFill>
                        <a:effectLst/>
                        <a:latin typeface="Cambria Math" panose="02040503050406030204" pitchFamily="18" charset="0"/>
                      </a:rPr>
                      <m:t>=</m:t>
                    </m:r>
                    <m:sSub>
                      <m:sSubPr>
                        <m:ctrlPr>
                          <a:rPr lang="en-US" sz="2000" b="0" i="1" smtClean="0">
                            <a:solidFill>
                              <a:srgbClr val="0000FF"/>
                            </a:solidFill>
                            <a:latin typeface="Cambria Math" panose="02040503050406030204" pitchFamily="18" charset="0"/>
                          </a:rPr>
                        </m:ctrlPr>
                      </m:sSubPr>
                      <m:e>
                        <m:r>
                          <a:rPr lang="en-US" sz="2000" b="0" i="1" smtClean="0">
                            <a:solidFill>
                              <a:srgbClr val="0000FF"/>
                            </a:solidFill>
                            <a:latin typeface="Cambria Math" panose="02040503050406030204" pitchFamily="18" charset="0"/>
                          </a:rPr>
                          <m:t>𝑙</m:t>
                        </m:r>
                      </m:e>
                      <m:sub>
                        <m:r>
                          <a:rPr lang="en-US" sz="2000" i="1">
                            <a:solidFill>
                              <a:srgbClr val="0000FF"/>
                            </a:solidFill>
                            <a:latin typeface="Cambria Math" panose="02040503050406030204" pitchFamily="18" charset="0"/>
                          </a:rPr>
                          <m:t>𝑎</m:t>
                        </m:r>
                      </m:sub>
                    </m:sSub>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𝑤</m:t>
                        </m:r>
                      </m:e>
                      <m:sub>
                        <m:r>
                          <a:rPr lang="en-US" sz="2000" i="1">
                            <a:solidFill>
                              <a:srgbClr val="0000FF"/>
                            </a:solidFill>
                            <a:latin typeface="Cambria Math" panose="02040503050406030204" pitchFamily="18" charset="0"/>
                          </a:rPr>
                          <m:t>𝑎</m:t>
                        </m:r>
                      </m:sub>
                    </m:sSub>
                  </m:oMath>
                </a14:m>
                <a:r>
                  <a:rPr lang="en-CA" sz="2000" dirty="0">
                    <a:solidFill>
                      <a:srgbClr val="C00000"/>
                    </a:solidFill>
                  </a:rPr>
                  <a:t>(</a:t>
                </a:r>
                <a14:m>
                  <m:oMath xmlns:m="http://schemas.openxmlformats.org/officeDocument/2006/math">
                    <m:r>
                      <a:rPr lang="en-US" sz="2000" i="1">
                        <a:solidFill>
                          <a:srgbClr val="C00000"/>
                        </a:solidFill>
                        <a:latin typeface="Cambria Math" panose="02040503050406030204" pitchFamily="18" charset="0"/>
                      </a:rPr>
                      <m:t>1−</m:t>
                    </m:r>
                    <m:sSup>
                      <m:sSupPr>
                        <m:ctrlPr>
                          <a:rPr lang="en-US" sz="2000" i="1">
                            <a:solidFill>
                              <a:srgbClr val="C00000"/>
                            </a:solidFill>
                            <a:latin typeface="Cambria Math" panose="02040503050406030204" pitchFamily="18" charset="0"/>
                          </a:rPr>
                        </m:ctrlPr>
                      </m:sSupPr>
                      <m:e>
                        <m:r>
                          <a:rPr lang="en-US" sz="2000" i="1">
                            <a:solidFill>
                              <a:srgbClr val="C00000"/>
                            </a:solidFill>
                            <a:latin typeface="Cambria Math" panose="02040503050406030204" pitchFamily="18" charset="0"/>
                          </a:rPr>
                          <m:t>𝑒</m:t>
                        </m:r>
                      </m:e>
                      <m:sup>
                        <m:r>
                          <a:rPr lang="en-US" sz="2000" i="1">
                            <a:solidFill>
                              <a:srgbClr val="C00000"/>
                            </a:solidFill>
                            <a:latin typeface="Cambria Math" panose="02040503050406030204" pitchFamily="18" charset="0"/>
                          </a:rPr>
                          <m:t>−(</m:t>
                        </m:r>
                        <m:sSub>
                          <m:sSubPr>
                            <m:ctrlPr>
                              <a:rPr lang="en-US" sz="2000" b="0" i="1" smtClean="0">
                                <a:solidFill>
                                  <a:srgbClr val="C00000"/>
                                </a:solidFill>
                                <a:latin typeface="Cambria Math" panose="02040503050406030204" pitchFamily="18" charset="0"/>
                              </a:rPr>
                            </m:ctrlPr>
                          </m:sSubPr>
                          <m:e>
                            <m:r>
                              <a:rPr lang="en-US" sz="2000" b="0" i="1" smtClean="0">
                                <a:solidFill>
                                  <a:srgbClr val="C00000"/>
                                </a:solidFill>
                                <a:latin typeface="Cambria Math" panose="02040503050406030204" pitchFamily="18" charset="0"/>
                              </a:rPr>
                              <m:t>𝑀</m:t>
                            </m:r>
                          </m:e>
                          <m:sub>
                            <m:r>
                              <a:rPr lang="en-US" sz="2000" b="0" i="1" smtClean="0">
                                <a:solidFill>
                                  <a:srgbClr val="C00000"/>
                                </a:solidFill>
                                <a:latin typeface="Cambria Math" panose="02040503050406030204" pitchFamily="18" charset="0"/>
                              </a:rPr>
                              <m:t>𝑎</m:t>
                            </m:r>
                          </m:sub>
                        </m:sSub>
                        <m:r>
                          <a:rPr lang="en-US" sz="2000" b="0" i="1" smtClean="0">
                            <a:solidFill>
                              <a:srgbClr val="C00000"/>
                            </a:solidFill>
                            <a:latin typeface="Cambria Math" panose="02040503050406030204" pitchFamily="18" charset="0"/>
                          </a:rPr>
                          <m:t>+</m:t>
                        </m:r>
                        <m:sSub>
                          <m:sSubPr>
                            <m:ctrlPr>
                              <a:rPr lang="en-US" sz="2000" b="0" i="1" smtClean="0">
                                <a:solidFill>
                                  <a:srgbClr val="C00000"/>
                                </a:solidFill>
                                <a:latin typeface="Cambria Math" panose="02040503050406030204" pitchFamily="18" charset="0"/>
                              </a:rPr>
                            </m:ctrlPr>
                          </m:sSubPr>
                          <m:e>
                            <m:r>
                              <a:rPr lang="en-US" sz="2000" b="0" i="1" smtClean="0">
                                <a:solidFill>
                                  <a:srgbClr val="C00000"/>
                                </a:solidFill>
                                <a:latin typeface="Cambria Math" panose="02040503050406030204" pitchFamily="18" charset="0"/>
                              </a:rPr>
                              <m:t>𝐹𝑣</m:t>
                            </m:r>
                          </m:e>
                          <m:sub>
                            <m:r>
                              <a:rPr lang="en-US" sz="2000" i="1">
                                <a:solidFill>
                                  <a:srgbClr val="C00000"/>
                                </a:solidFill>
                                <a:latin typeface="Cambria Math" panose="02040503050406030204" pitchFamily="18" charset="0"/>
                              </a:rPr>
                              <m:t>𝑎</m:t>
                            </m:r>
                          </m:sub>
                        </m:sSub>
                        <m:r>
                          <a:rPr lang="en-US" sz="2000" i="1">
                            <a:solidFill>
                              <a:srgbClr val="C00000"/>
                            </a:solidFill>
                            <a:latin typeface="Cambria Math" panose="02040503050406030204" pitchFamily="18" charset="0"/>
                          </a:rPr>
                          <m:t>)</m:t>
                        </m:r>
                      </m:sup>
                    </m:sSup>
                  </m:oMath>
                </a14:m>
                <a:r>
                  <a:rPr lang="en-CA" sz="2000" dirty="0">
                    <a:solidFill>
                      <a:srgbClr val="C00000"/>
                    </a:solidFill>
                  </a:rPr>
                  <a:t>)</a:t>
                </a:r>
                <a:r>
                  <a:rPr lang="en-US" sz="2000" dirty="0">
                    <a:solidFill>
                      <a:srgbClr val="C00000"/>
                    </a:solidFill>
                  </a:rPr>
                  <a:t> </a:t>
                </a:r>
                <a14:m>
                  <m:oMath xmlns:m="http://schemas.openxmlformats.org/officeDocument/2006/math">
                    <m:f>
                      <m:fPr>
                        <m:ctrlPr>
                          <a:rPr lang="en-US" sz="2000" i="1">
                            <a:solidFill>
                              <a:srgbClr val="7030A0"/>
                            </a:solidFill>
                            <a:latin typeface="Cambria Math" panose="02040503050406030204" pitchFamily="18" charset="0"/>
                          </a:rPr>
                        </m:ctrlPr>
                      </m:fPr>
                      <m:num>
                        <m:r>
                          <a:rPr lang="en-US" sz="2000" i="1">
                            <a:solidFill>
                              <a:srgbClr val="7030A0"/>
                            </a:solidFill>
                            <a:latin typeface="Cambria Math" panose="02040503050406030204" pitchFamily="18" charset="0"/>
                          </a:rPr>
                          <m:t>𝐹</m:t>
                        </m:r>
                        <m:sSub>
                          <m:sSubPr>
                            <m:ctrlPr>
                              <a:rPr lang="en-US" sz="2000" i="1">
                                <a:solidFill>
                                  <a:srgbClr val="7030A0"/>
                                </a:solidFill>
                                <a:latin typeface="Cambria Math" panose="02040503050406030204" pitchFamily="18" charset="0"/>
                              </a:rPr>
                            </m:ctrlPr>
                          </m:sSubPr>
                          <m:e>
                            <m:r>
                              <a:rPr lang="en-US" sz="2000" i="1">
                                <a:solidFill>
                                  <a:srgbClr val="7030A0"/>
                                </a:solidFill>
                                <a:latin typeface="Cambria Math" panose="02040503050406030204" pitchFamily="18" charset="0"/>
                              </a:rPr>
                              <m:t>𝑣</m:t>
                            </m:r>
                          </m:e>
                          <m:sub>
                            <m:r>
                              <a:rPr lang="en-US" sz="2000" i="1">
                                <a:solidFill>
                                  <a:srgbClr val="7030A0"/>
                                </a:solidFill>
                                <a:latin typeface="Cambria Math" panose="02040503050406030204" pitchFamily="18" charset="0"/>
                              </a:rPr>
                              <m:t>𝑎</m:t>
                            </m:r>
                          </m:sub>
                        </m:sSub>
                      </m:num>
                      <m:den>
                        <m:sSub>
                          <m:sSubPr>
                            <m:ctrlPr>
                              <a:rPr lang="en-US" sz="2000" i="1">
                                <a:solidFill>
                                  <a:srgbClr val="7030A0"/>
                                </a:solidFill>
                                <a:latin typeface="Cambria Math" panose="02040503050406030204" pitchFamily="18" charset="0"/>
                              </a:rPr>
                            </m:ctrlPr>
                          </m:sSubPr>
                          <m:e>
                            <m:r>
                              <a:rPr lang="en-US" sz="2000" i="1">
                                <a:solidFill>
                                  <a:srgbClr val="7030A0"/>
                                </a:solidFill>
                                <a:latin typeface="Cambria Math" panose="02040503050406030204" pitchFamily="18" charset="0"/>
                              </a:rPr>
                              <m:t>𝑀</m:t>
                            </m:r>
                          </m:e>
                          <m:sub>
                            <m:r>
                              <a:rPr lang="en-US" sz="2000" i="1">
                                <a:solidFill>
                                  <a:srgbClr val="7030A0"/>
                                </a:solidFill>
                                <a:latin typeface="Cambria Math" panose="02040503050406030204" pitchFamily="18" charset="0"/>
                              </a:rPr>
                              <m:t>𝑎</m:t>
                            </m:r>
                          </m:sub>
                        </m:sSub>
                        <m:r>
                          <a:rPr lang="en-US" sz="2000" i="1">
                            <a:solidFill>
                              <a:srgbClr val="7030A0"/>
                            </a:solidFill>
                            <a:latin typeface="Cambria Math" panose="02040503050406030204" pitchFamily="18" charset="0"/>
                          </a:rPr>
                          <m:t>+</m:t>
                        </m:r>
                        <m:sSub>
                          <m:sSubPr>
                            <m:ctrlPr>
                              <a:rPr lang="en-US" sz="2000" i="1">
                                <a:solidFill>
                                  <a:srgbClr val="7030A0"/>
                                </a:solidFill>
                                <a:latin typeface="Cambria Math" panose="02040503050406030204" pitchFamily="18" charset="0"/>
                              </a:rPr>
                            </m:ctrlPr>
                          </m:sSubPr>
                          <m:e>
                            <m:r>
                              <a:rPr lang="en-US" sz="2000" i="1">
                                <a:solidFill>
                                  <a:srgbClr val="7030A0"/>
                                </a:solidFill>
                                <a:latin typeface="Cambria Math" panose="02040503050406030204" pitchFamily="18" charset="0"/>
                              </a:rPr>
                              <m:t>𝐹𝑣</m:t>
                            </m:r>
                          </m:e>
                          <m:sub>
                            <m:r>
                              <a:rPr lang="en-US" sz="2000" i="1">
                                <a:solidFill>
                                  <a:srgbClr val="7030A0"/>
                                </a:solidFill>
                                <a:latin typeface="Cambria Math" panose="02040503050406030204" pitchFamily="18" charset="0"/>
                              </a:rPr>
                              <m:t>𝑎</m:t>
                            </m:r>
                          </m:sub>
                        </m:sSub>
                      </m:den>
                    </m:f>
                  </m:oMath>
                </a14:m>
                <a:endParaRPr lang="en-CA" sz="2000" dirty="0">
                  <a:solidFill>
                    <a:schemeClr val="tx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3805471" y="5498184"/>
                <a:ext cx="4052841" cy="475195"/>
              </a:xfrm>
              <a:prstGeom prst="rect">
                <a:avLst/>
              </a:prstGeom>
              <a:blipFill>
                <a:blip r:embed="rId3"/>
                <a:stretch>
                  <a:fillRect t="-2564" b="-10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25B80E2-9734-47A3-B6EC-F99E2D8E99A2}"/>
                  </a:ext>
                </a:extLst>
              </p:cNvPr>
              <p:cNvSpPr txBox="1"/>
              <p:nvPr/>
            </p:nvSpPr>
            <p:spPr>
              <a:xfrm>
                <a:off x="2818502" y="4674618"/>
                <a:ext cx="6026778" cy="328680"/>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14:m>
                  <m:oMath xmlns:m="http://schemas.openxmlformats.org/officeDocument/2006/math">
                    <m:r>
                      <a:rPr lang="en-US" sz="2000" i="1" dirty="0">
                        <a:latin typeface="Cambria Math" panose="02040503050406030204" pitchFamily="18" charset="0"/>
                      </a:rPr>
                      <m:t>𝐵</m:t>
                    </m:r>
                    <m:r>
                      <m:rPr>
                        <m:nor/>
                      </m:rPr>
                      <a:rPr lang="en-US" sz="2000" b="0" i="0" dirty="0" smtClean="0">
                        <a:latin typeface="Cambria Math" panose="02040503050406030204" pitchFamily="18" charset="0"/>
                      </a:rPr>
                      <m:t> r</m:t>
                    </m:r>
                    <m:r>
                      <m:rPr>
                        <m:nor/>
                      </m:rPr>
                      <a:rPr lang="en-US" sz="2000" i="0" dirty="0" smtClean="0">
                        <a:solidFill>
                          <a:schemeClr val="tx1"/>
                        </a:solidFill>
                      </a:rPr>
                      <m:t>emov</m:t>
                    </m:r>
                    <m:r>
                      <m:rPr>
                        <m:nor/>
                      </m:rPr>
                      <a:rPr lang="en-US" sz="2000" b="0" i="0" dirty="0" smtClean="0">
                        <a:solidFill>
                          <a:schemeClr val="tx1"/>
                        </a:solidFill>
                      </a:rPr>
                      <m:t>ed−</m:t>
                    </m:r>
                    <m:r>
                      <m:rPr>
                        <m:nor/>
                      </m:rPr>
                      <a:rPr lang="en-US" sz="2000" i="0" dirty="0" smtClean="0"/>
                      <m:t>per</m:t>
                    </m:r>
                    <m:r>
                      <m:rPr>
                        <m:nor/>
                      </m:rPr>
                      <a:rPr lang="en-US" sz="2000" b="0" i="0" dirty="0" smtClean="0"/>
                      <m:t>−</m:t>
                    </m:r>
                    <m:r>
                      <m:rPr>
                        <m:nor/>
                      </m:rPr>
                      <a:rPr lang="en-US" sz="2000" i="0" dirty="0" smtClean="0"/>
                      <m:t>recruit</m:t>
                    </m:r>
                    <m:r>
                      <m:rPr>
                        <m:nor/>
                      </m:rPr>
                      <a:rPr lang="en-US" sz="2000" b="0" i="0" dirty="0" smtClean="0"/>
                      <m:t> </m:t>
                    </m:r>
                    <m:r>
                      <m:rPr>
                        <m:nor/>
                      </m:rPr>
                      <a:rPr lang="en-US" sz="2000" i="0" dirty="0" smtClean="0">
                        <a:solidFill>
                          <a:schemeClr val="tx1"/>
                        </a:solidFill>
                      </a:rPr>
                      <m:t>at age</m:t>
                    </m:r>
                    <m:r>
                      <a:rPr lang="en-US" sz="2000" b="0" i="1" dirty="0" smtClean="0">
                        <a:solidFill>
                          <a:schemeClr val="tx1"/>
                        </a:solidFill>
                        <a:latin typeface="Cambria Math" panose="02040503050406030204" pitchFamily="18" charset="0"/>
                      </a:rPr>
                      <m:t> </m:t>
                    </m:r>
                    <m:r>
                      <a:rPr lang="en-US" sz="2000" i="1">
                        <a:latin typeface="Cambria Math" panose="02040503050406030204" pitchFamily="18" charset="0"/>
                      </a:rPr>
                      <m:t>𝑎</m:t>
                    </m:r>
                    <m:r>
                      <a:rPr lang="en-US" sz="2000" b="0" i="1" smtClean="0">
                        <a:solidFill>
                          <a:schemeClr val="tx1"/>
                        </a:solidFill>
                        <a:effectLst/>
                        <a:latin typeface="Cambria Math" panose="02040503050406030204" pitchFamily="18" charset="0"/>
                      </a:rPr>
                      <m:t>=</m:t>
                    </m:r>
                    <m:sSub>
                      <m:sSubPr>
                        <m:ctrlPr>
                          <a:rPr lang="en-US" sz="2000" b="0" i="1" smtClean="0">
                            <a:solidFill>
                              <a:srgbClr val="0000FF"/>
                            </a:solidFill>
                            <a:latin typeface="Cambria Math" panose="02040503050406030204" pitchFamily="18" charset="0"/>
                          </a:rPr>
                        </m:ctrlPr>
                      </m:sSubPr>
                      <m:e>
                        <m:r>
                          <a:rPr lang="en-US" sz="2000" b="0" i="1" smtClean="0">
                            <a:solidFill>
                              <a:srgbClr val="0000FF"/>
                            </a:solidFill>
                            <a:latin typeface="Cambria Math" panose="02040503050406030204" pitchFamily="18" charset="0"/>
                          </a:rPr>
                          <m:t>𝑙</m:t>
                        </m:r>
                      </m:e>
                      <m:sub>
                        <m:r>
                          <a:rPr lang="en-US" sz="2000" i="1">
                            <a:solidFill>
                              <a:srgbClr val="0000FF"/>
                            </a:solidFill>
                            <a:latin typeface="Cambria Math" panose="02040503050406030204" pitchFamily="18" charset="0"/>
                          </a:rPr>
                          <m:t>𝑎</m:t>
                        </m:r>
                      </m:sub>
                    </m:sSub>
                    <m:sSub>
                      <m:sSubPr>
                        <m:ctrlPr>
                          <a:rPr lang="en-US" sz="2000" i="1">
                            <a:solidFill>
                              <a:srgbClr val="0000FF"/>
                            </a:solidFill>
                            <a:latin typeface="Cambria Math" panose="02040503050406030204" pitchFamily="18" charset="0"/>
                          </a:rPr>
                        </m:ctrlPr>
                      </m:sSubPr>
                      <m:e>
                        <m:r>
                          <a:rPr lang="en-US" sz="2000" i="1">
                            <a:solidFill>
                              <a:srgbClr val="0000FF"/>
                            </a:solidFill>
                            <a:latin typeface="Cambria Math" panose="02040503050406030204" pitchFamily="18" charset="0"/>
                          </a:rPr>
                          <m:t>𝑤</m:t>
                        </m:r>
                      </m:e>
                      <m:sub>
                        <m:r>
                          <a:rPr lang="en-US" sz="2000" i="1">
                            <a:solidFill>
                              <a:srgbClr val="0000FF"/>
                            </a:solidFill>
                            <a:latin typeface="Cambria Math" panose="02040503050406030204" pitchFamily="18" charset="0"/>
                          </a:rPr>
                          <m:t>𝑎</m:t>
                        </m:r>
                      </m:sub>
                    </m:sSub>
                  </m:oMath>
                </a14:m>
                <a:r>
                  <a:rPr lang="en-CA" sz="2000" dirty="0">
                    <a:solidFill>
                      <a:srgbClr val="C00000"/>
                    </a:solidFill>
                  </a:rPr>
                  <a:t>(</a:t>
                </a:r>
                <a14:m>
                  <m:oMath xmlns:m="http://schemas.openxmlformats.org/officeDocument/2006/math">
                    <m:r>
                      <a:rPr lang="en-US" sz="2000" i="1">
                        <a:solidFill>
                          <a:srgbClr val="C00000"/>
                        </a:solidFill>
                        <a:latin typeface="Cambria Math" panose="02040503050406030204" pitchFamily="18" charset="0"/>
                      </a:rPr>
                      <m:t>1−</m:t>
                    </m:r>
                    <m:sSup>
                      <m:sSupPr>
                        <m:ctrlPr>
                          <a:rPr lang="en-US" sz="2000" i="1">
                            <a:solidFill>
                              <a:srgbClr val="C00000"/>
                            </a:solidFill>
                            <a:latin typeface="Cambria Math" panose="02040503050406030204" pitchFamily="18" charset="0"/>
                          </a:rPr>
                        </m:ctrlPr>
                      </m:sSupPr>
                      <m:e>
                        <m:r>
                          <a:rPr lang="en-US" sz="2000" i="1">
                            <a:solidFill>
                              <a:srgbClr val="C00000"/>
                            </a:solidFill>
                            <a:latin typeface="Cambria Math" panose="02040503050406030204" pitchFamily="18" charset="0"/>
                          </a:rPr>
                          <m:t>𝑒</m:t>
                        </m:r>
                      </m:e>
                      <m:sup>
                        <m:r>
                          <a:rPr lang="en-US" sz="2000" i="1">
                            <a:solidFill>
                              <a:srgbClr val="C00000"/>
                            </a:solidFill>
                            <a:latin typeface="Cambria Math" panose="02040503050406030204" pitchFamily="18" charset="0"/>
                          </a:rPr>
                          <m:t>−</m:t>
                        </m:r>
                        <m:d>
                          <m:dPr>
                            <m:ctrlPr>
                              <a:rPr lang="en-CA" sz="2000" i="1">
                                <a:solidFill>
                                  <a:srgbClr val="C00000"/>
                                </a:solidFill>
                                <a:latin typeface="Cambria Math" panose="02040503050406030204" pitchFamily="18" charset="0"/>
                              </a:rPr>
                            </m:ctrlPr>
                          </m:dPr>
                          <m:e>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𝑀</m:t>
                                </m:r>
                              </m:e>
                              <m:sub>
                                <m:r>
                                  <a:rPr lang="en-US" sz="2000" i="1">
                                    <a:solidFill>
                                      <a:srgbClr val="C00000"/>
                                    </a:solidFill>
                                    <a:latin typeface="Cambria Math" panose="02040503050406030204" pitchFamily="18" charset="0"/>
                                  </a:rPr>
                                  <m:t>𝑎</m:t>
                                </m:r>
                              </m:sub>
                            </m:sSub>
                            <m:r>
                              <a:rPr lang="en-US" sz="2000" b="0" i="1" smtClean="0">
                                <a:solidFill>
                                  <a:srgbClr val="C00000"/>
                                </a:solidFill>
                                <a:latin typeface="Cambria Math" panose="02040503050406030204" pitchFamily="18" charset="0"/>
                              </a:rPr>
                              <m:t>+</m:t>
                            </m:r>
                            <m:r>
                              <a:rPr lang="en-US" sz="2000" i="1">
                                <a:solidFill>
                                  <a:srgbClr val="C00000"/>
                                </a:solidFill>
                                <a:latin typeface="Cambria Math" panose="02040503050406030204" pitchFamily="18" charset="0"/>
                              </a:rPr>
                              <m:t>𝐹</m:t>
                            </m:r>
                            <m:sSub>
                              <m:sSubPr>
                                <m:ctrlPr>
                                  <a:rPr lang="en-US" sz="2000" i="1">
                                    <a:solidFill>
                                      <a:srgbClr val="C00000"/>
                                    </a:solidFill>
                                    <a:latin typeface="Cambria Math" panose="02040503050406030204" pitchFamily="18" charset="0"/>
                                  </a:rPr>
                                </m:ctrlPr>
                              </m:sSubPr>
                              <m:e>
                                <m:r>
                                  <a:rPr lang="en-US" sz="2000" i="1">
                                    <a:solidFill>
                                      <a:srgbClr val="C00000"/>
                                    </a:solidFill>
                                    <a:latin typeface="Cambria Math" panose="02040503050406030204" pitchFamily="18" charset="0"/>
                                  </a:rPr>
                                  <m:t>𝑣</m:t>
                                </m:r>
                              </m:e>
                              <m:sub>
                                <m:r>
                                  <a:rPr lang="en-US" sz="2000" i="1">
                                    <a:solidFill>
                                      <a:srgbClr val="C00000"/>
                                    </a:solidFill>
                                    <a:latin typeface="Cambria Math" panose="02040503050406030204" pitchFamily="18" charset="0"/>
                                  </a:rPr>
                                  <m:t>𝑎</m:t>
                                </m:r>
                              </m:sub>
                            </m:sSub>
                          </m:e>
                        </m:d>
                      </m:sup>
                    </m:sSup>
                  </m:oMath>
                </a14:m>
                <a:r>
                  <a:rPr lang="en-CA" sz="2000" dirty="0">
                    <a:solidFill>
                      <a:srgbClr val="C00000"/>
                    </a:solidFill>
                  </a:rPr>
                  <a:t>)</a:t>
                </a:r>
                <a:endParaRPr lang="en-CA" sz="2000" dirty="0">
                  <a:solidFill>
                    <a:schemeClr val="tx1"/>
                  </a:solidFill>
                </a:endParaRPr>
              </a:p>
            </p:txBody>
          </p:sp>
        </mc:Choice>
        <mc:Fallback xmlns="">
          <p:sp>
            <p:nvSpPr>
              <p:cNvPr id="10" name="TextBox 9">
                <a:extLst>
                  <a:ext uri="{FF2B5EF4-FFF2-40B4-BE49-F238E27FC236}">
                    <a16:creationId xmlns:a16="http://schemas.microsoft.com/office/drawing/2014/main" id="{225B80E2-9734-47A3-B6EC-F99E2D8E99A2}"/>
                  </a:ext>
                </a:extLst>
              </p:cNvPr>
              <p:cNvSpPr txBox="1">
                <a:spLocks noRot="1" noChangeAspect="1" noMove="1" noResize="1" noEditPoints="1" noAdjustHandles="1" noChangeArrowheads="1" noChangeShapeType="1" noTextEdit="1"/>
              </p:cNvSpPr>
              <p:nvPr/>
            </p:nvSpPr>
            <p:spPr>
              <a:xfrm>
                <a:off x="2818502" y="4674618"/>
                <a:ext cx="6026778" cy="328680"/>
              </a:xfrm>
              <a:prstGeom prst="rect">
                <a:avLst/>
              </a:prstGeom>
              <a:blipFill>
                <a:blip r:embed="rId4"/>
                <a:stretch>
                  <a:fillRect l="-1416" t="-16667" r="-1719" b="-4629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77</a:t>
            </a:fld>
            <a:endParaRPr lang="en-CA"/>
          </a:p>
        </p:txBody>
      </p:sp>
    </p:spTree>
    <p:extLst>
      <p:ext uri="{BB962C8B-B14F-4D97-AF65-F5344CB8AC3E}">
        <p14:creationId xmlns:p14="http://schemas.microsoft.com/office/powerpoint/2010/main" val="107146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Per-Recruit Reference Points </a:t>
            </a:r>
            <a:r>
              <a:rPr lang="en-CA" sz="3600" b="1" dirty="0">
                <a:solidFill>
                  <a:schemeClr val="accent6"/>
                </a:solidFill>
              </a:rPr>
              <a:t>4. </a:t>
            </a:r>
            <a:r>
              <a:rPr lang="en-US" sz="3600" b="1" dirty="0">
                <a:solidFill>
                  <a:schemeClr val="accent6"/>
                </a:solidFill>
              </a:rPr>
              <a:t>Yield-per-Recruit (YPR)</a:t>
            </a:r>
            <a:endParaRPr lang="en-CA" sz="36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r>
                      <m:rPr>
                        <m:sty m:val="p"/>
                      </m:rPr>
                      <a:rPr lang="en-US" sz="2800" b="0" i="0" smtClean="0">
                        <a:latin typeface="Cambria Math" panose="02040503050406030204" pitchFamily="18" charset="0"/>
                        <a:ea typeface="Cambria Math" panose="02040503050406030204" pitchFamily="18" charset="0"/>
                      </a:rPr>
                      <m:t>YPR</m:t>
                    </m:r>
                    <m:r>
                      <a:rPr lang="en-US" sz="2800" b="0" i="1" smtClean="0">
                        <a:latin typeface="Cambria Math" panose="02040503050406030204" pitchFamily="18" charset="0"/>
                        <a:ea typeface="Cambria Math" panose="02040503050406030204" pitchFamily="18" charset="0"/>
                      </a:rPr>
                      <m:t>= </m:t>
                    </m:r>
                  </m:oMath>
                </a14:m>
                <a:r>
                  <a:rPr lang="en-US" dirty="0"/>
                  <a:t>Sum over all ages:</a:t>
                </a:r>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2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5100229" y="1690688"/>
                <a:ext cx="6024049" cy="665118"/>
              </a:xfrm>
              <a:prstGeom prst="rect">
                <a:avLst/>
              </a:prstGeom>
              <a:noFill/>
            </p:spPr>
            <p:style>
              <a:lnRef idx="0">
                <a:scrgbClr r="0" g="0" b="0"/>
              </a:lnRef>
              <a:fillRef idx="0">
                <a:scrgbClr r="0" g="0" b="0"/>
              </a:fillRef>
              <a:effectRef idx="0">
                <a:scrgbClr r="0" g="0" b="0"/>
              </a:effectRef>
              <a:fontRef idx="minor">
                <a:schemeClr val="tx1"/>
              </a:fontRef>
            </p:style>
            <p:txBody>
              <a:bodyPr wrap="squar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14:m>
                  <m:oMath xmlns:m="http://schemas.openxmlformats.org/officeDocument/2006/math">
                    <m:sSub>
                      <m:sSubPr>
                        <m:ctrlPr>
                          <a:rPr lang="en-US" sz="2800" b="0" i="1" dirty="0" smtClean="0">
                            <a:solidFill>
                              <a:schemeClr val="tx1"/>
                            </a:solidFill>
                            <a:latin typeface="Cambria Math" panose="02040503050406030204" pitchFamily="18" charset="0"/>
                          </a:rPr>
                        </m:ctrlPr>
                      </m:sSubPr>
                      <m:e>
                        <m:r>
                          <a:rPr lang="en-US" sz="2800" b="0" i="1" dirty="0" smtClean="0">
                            <a:solidFill>
                              <a:schemeClr val="tx1"/>
                            </a:solidFill>
                            <a:latin typeface="Cambria Math" panose="02040503050406030204" pitchFamily="18" charset="0"/>
                          </a:rPr>
                          <m:t>𝑌𝑃𝑅</m:t>
                        </m:r>
                      </m:e>
                      <m:sub>
                        <m:r>
                          <a:rPr lang="en-US" sz="2800" b="0" i="1" dirty="0" smtClean="0">
                            <a:solidFill>
                              <a:schemeClr val="tx1"/>
                            </a:solidFill>
                            <a:latin typeface="Cambria Math" panose="02040503050406030204" pitchFamily="18" charset="0"/>
                          </a:rPr>
                          <m:t>𝑎</m:t>
                        </m:r>
                      </m:sub>
                    </m:sSub>
                    <m:r>
                      <a:rPr lang="en-US" sz="2800" b="0" i="1" smtClean="0">
                        <a:solidFill>
                          <a:schemeClr val="tx1"/>
                        </a:solidFill>
                        <a:effectLst/>
                        <a:latin typeface="Cambria Math" panose="02040503050406030204" pitchFamily="18" charset="0"/>
                      </a:rPr>
                      <m:t>=</m:t>
                    </m:r>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𝑙</m:t>
                        </m:r>
                      </m:e>
                      <m:sub>
                        <m:r>
                          <a:rPr lang="en-US" sz="2800" i="1">
                            <a:solidFill>
                              <a:schemeClr val="tx1"/>
                            </a:solidFill>
                            <a:latin typeface="Cambria Math" panose="02040503050406030204" pitchFamily="18" charset="0"/>
                          </a:rPr>
                          <m:t>𝑎</m:t>
                        </m:r>
                      </m:sub>
                    </m:sSub>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𝑤</m:t>
                        </m:r>
                      </m:e>
                      <m:sub>
                        <m:r>
                          <a:rPr lang="en-US" sz="2800" i="1">
                            <a:solidFill>
                              <a:schemeClr val="tx1"/>
                            </a:solidFill>
                            <a:latin typeface="Cambria Math" panose="02040503050406030204" pitchFamily="18" charset="0"/>
                          </a:rPr>
                          <m:t>𝑎</m:t>
                        </m:r>
                      </m:sub>
                    </m:sSub>
                  </m:oMath>
                </a14:m>
                <a:r>
                  <a:rPr lang="en-CA" sz="2800" dirty="0">
                    <a:solidFill>
                      <a:schemeClr val="tx1"/>
                    </a:solidFill>
                  </a:rPr>
                  <a:t>(</a:t>
                </a:r>
                <a14:m>
                  <m:oMath xmlns:m="http://schemas.openxmlformats.org/officeDocument/2006/math">
                    <m:r>
                      <a:rPr lang="en-US" sz="2800" i="1">
                        <a:solidFill>
                          <a:schemeClr val="tx1"/>
                        </a:solidFill>
                        <a:latin typeface="Cambria Math" panose="02040503050406030204" pitchFamily="18" charset="0"/>
                      </a:rPr>
                      <m:t>1−</m:t>
                    </m:r>
                    <m:sSup>
                      <m:sSupPr>
                        <m:ctrlPr>
                          <a:rPr lang="en-US" sz="2800" i="1">
                            <a:solidFill>
                              <a:schemeClr val="tx1"/>
                            </a:solidFill>
                            <a:latin typeface="Cambria Math" panose="02040503050406030204" pitchFamily="18" charset="0"/>
                          </a:rPr>
                        </m:ctrlPr>
                      </m:sSupPr>
                      <m:e>
                        <m:r>
                          <a:rPr lang="en-US" sz="2800" i="1">
                            <a:solidFill>
                              <a:schemeClr val="tx1"/>
                            </a:solidFill>
                            <a:latin typeface="Cambria Math" panose="02040503050406030204" pitchFamily="18" charset="0"/>
                          </a:rPr>
                          <m:t>𝑒</m:t>
                        </m:r>
                      </m:e>
                      <m:sup>
                        <m:r>
                          <a:rPr lang="en-US" sz="2800" i="1">
                            <a:solidFill>
                              <a:schemeClr val="tx1"/>
                            </a:solidFill>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𝑀</m:t>
                            </m:r>
                          </m:e>
                          <m:sub>
                            <m:r>
                              <a:rPr lang="en-US" sz="2800" i="1">
                                <a:latin typeface="Cambria Math" panose="02040503050406030204" pitchFamily="18" charset="0"/>
                              </a:rPr>
                              <m:t>𝑎</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𝐹𝑣</m:t>
                            </m:r>
                          </m:e>
                          <m:sub>
                            <m:r>
                              <a:rPr lang="en-US" sz="2800" i="1">
                                <a:latin typeface="Cambria Math" panose="02040503050406030204" pitchFamily="18" charset="0"/>
                              </a:rPr>
                              <m:t>𝑎</m:t>
                            </m:r>
                          </m:sub>
                        </m:sSub>
                        <m:r>
                          <a:rPr lang="en-US" sz="2800" i="1">
                            <a:solidFill>
                              <a:schemeClr val="tx1"/>
                            </a:solidFill>
                            <a:latin typeface="Cambria Math" panose="02040503050406030204" pitchFamily="18" charset="0"/>
                          </a:rPr>
                          <m:t>)</m:t>
                        </m:r>
                      </m:sup>
                    </m:sSup>
                  </m:oMath>
                </a14:m>
                <a:r>
                  <a:rPr lang="en-CA" sz="2800" dirty="0">
                    <a:solidFill>
                      <a:schemeClr val="tx1"/>
                    </a:solidFill>
                  </a:rPr>
                  <a:t>)</a:t>
                </a:r>
                <a:r>
                  <a:rPr lang="en-US" sz="2800" dirty="0"/>
                  <a:t> </a:t>
                </a:r>
                <a14:m>
                  <m:oMath xmlns:m="http://schemas.openxmlformats.org/officeDocument/2006/math">
                    <m:f>
                      <m:fPr>
                        <m:ctrlPr>
                          <a:rPr lang="en-US" sz="2800" i="1">
                            <a:solidFill>
                              <a:schemeClr val="tx1"/>
                            </a:solidFill>
                            <a:latin typeface="Cambria Math" panose="02040503050406030204" pitchFamily="18" charset="0"/>
                          </a:rPr>
                        </m:ctrlPr>
                      </m:fPr>
                      <m:num>
                        <m:r>
                          <a:rPr lang="en-US" sz="2800" i="1">
                            <a:solidFill>
                              <a:schemeClr val="tx1"/>
                            </a:solidFill>
                            <a:latin typeface="Cambria Math" panose="02040503050406030204" pitchFamily="18" charset="0"/>
                          </a:rPr>
                          <m:t>𝐹</m:t>
                        </m:r>
                        <m:sSub>
                          <m:sSubPr>
                            <m:ctrlPr>
                              <a:rPr lang="en-US" sz="2800" i="1">
                                <a:solidFill>
                                  <a:schemeClr val="tx1"/>
                                </a:solidFill>
                                <a:latin typeface="Cambria Math" panose="02040503050406030204" pitchFamily="18" charset="0"/>
                              </a:rPr>
                            </m:ctrlPr>
                          </m:sSubPr>
                          <m:e>
                            <m:r>
                              <a:rPr lang="en-US" sz="2800" i="1">
                                <a:solidFill>
                                  <a:schemeClr val="tx1"/>
                                </a:solidFill>
                                <a:latin typeface="Cambria Math" panose="02040503050406030204" pitchFamily="18" charset="0"/>
                              </a:rPr>
                              <m:t>𝑣</m:t>
                            </m:r>
                          </m:e>
                          <m:sub>
                            <m:r>
                              <a:rPr lang="en-US" sz="2800" i="1">
                                <a:solidFill>
                                  <a:schemeClr val="tx1"/>
                                </a:solidFill>
                                <a:latin typeface="Cambria Math" panose="02040503050406030204" pitchFamily="18" charset="0"/>
                              </a:rPr>
                              <m:t>𝑎</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𝑀</m:t>
                            </m:r>
                          </m:e>
                          <m:sub>
                            <m:r>
                              <a:rPr lang="en-US" sz="2800" i="1">
                                <a:latin typeface="Cambria Math" panose="02040503050406030204" pitchFamily="18" charset="0"/>
                              </a:rPr>
                              <m:t>𝑎</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𝐹𝑣</m:t>
                            </m:r>
                          </m:e>
                          <m:sub>
                            <m:r>
                              <a:rPr lang="en-US" sz="2800" i="1">
                                <a:latin typeface="Cambria Math" panose="02040503050406030204" pitchFamily="18" charset="0"/>
                              </a:rPr>
                              <m:t>𝑎</m:t>
                            </m:r>
                          </m:sub>
                        </m:sSub>
                      </m:den>
                    </m:f>
                  </m:oMath>
                </a14:m>
                <a:endParaRPr lang="en-CA" sz="2800" dirty="0">
                  <a:solidFill>
                    <a:schemeClr val="tx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5100229" y="1690688"/>
                <a:ext cx="6024049" cy="665118"/>
              </a:xfrm>
              <a:prstGeom prst="rect">
                <a:avLst/>
              </a:prstGeom>
              <a:blipFill>
                <a:blip r:embed="rId3"/>
                <a:stretch>
                  <a:fillRect t="-1835" b="-119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3"/>
              <p:cNvSpPr txBox="1"/>
              <p:nvPr/>
            </p:nvSpPr>
            <p:spPr>
              <a:xfrm>
                <a:off x="1925827" y="3596580"/>
                <a:ext cx="7208512" cy="1229504"/>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
                      <m:sSub>
                        <m:sSubPr>
                          <m:ctrlPr>
                            <a:rPr lang="en-US" sz="2800" b="0" i="1">
                              <a:latin typeface="Cambria Math" panose="02040503050406030204" pitchFamily="18" charset="0"/>
                              <a:ea typeface="Cambria Math" panose="02040503050406030204" pitchFamily="18" charset="0"/>
                            </a:rPr>
                          </m:ctrlPr>
                        </m:sSubPr>
                        <m:e>
                          <m:r>
                            <a:rPr lang="en-US" sz="2800" b="0" i="1">
                              <a:latin typeface="Cambria Math" panose="02040503050406030204" pitchFamily="18" charset="0"/>
                              <a:ea typeface="Cambria Math" panose="02040503050406030204" pitchFamily="18" charset="0"/>
                            </a:rPr>
                            <m:t>𝑌𝑃𝑅</m:t>
                          </m:r>
                        </m:e>
                        <m:sub>
                          <m:r>
                            <a:rPr lang="en-US" sz="2800" b="0" i="1">
                              <a:latin typeface="Cambria Math" panose="02040503050406030204" pitchFamily="18" charset="0"/>
                            </a:rPr>
                            <m:t>𝐹</m:t>
                          </m:r>
                        </m:sub>
                      </m:sSub>
                      <m:r>
                        <a:rPr lang="en-US" sz="2800" b="0" i="1">
                          <a:latin typeface="Cambria Math" panose="02040503050406030204" pitchFamily="18" charset="0"/>
                        </a:rPr>
                        <m:t>=</m:t>
                      </m:r>
                      <m:nary>
                        <m:naryPr>
                          <m:chr m:val="∑"/>
                          <m:ctrlPr>
                            <a:rPr lang="en-US" sz="2800" b="0" i="1">
                              <a:latin typeface="Cambria Math" panose="02040503050406030204" pitchFamily="18" charset="0"/>
                            </a:rPr>
                          </m:ctrlPr>
                        </m:naryPr>
                        <m:sub>
                          <m:r>
                            <m:rPr>
                              <m:brk m:alnAt="23"/>
                            </m:rPr>
                            <a:rPr lang="en-US" sz="2800" b="0" i="1">
                              <a:latin typeface="Cambria Math" panose="02040503050406030204" pitchFamily="18" charset="0"/>
                            </a:rPr>
                            <m:t>𝑎</m:t>
                          </m:r>
                          <m:r>
                            <a:rPr lang="en-US" sz="2800" b="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b="0" i="1" smtClean="0">
                                  <a:latin typeface="Cambria Math" panose="02040503050406030204" pitchFamily="18" charset="0"/>
                                </a:rPr>
                                <m:t>𝑟𝑒𝑐</m:t>
                              </m:r>
                            </m:sub>
                          </m:sSub>
                        </m:sub>
                        <m:sup>
                          <m:sSub>
                            <m:sSubPr>
                              <m:ctrlPr>
                                <a:rPr lang="en-US" sz="2800" b="0" i="1">
                                  <a:latin typeface="Cambria Math" panose="02040503050406030204" pitchFamily="18" charset="0"/>
                                </a:rPr>
                              </m:ctrlPr>
                            </m:sSubPr>
                            <m:e>
                              <m:r>
                                <a:rPr lang="en-US" sz="2800" b="0" i="1">
                                  <a:latin typeface="Cambria Math" panose="02040503050406030204" pitchFamily="18" charset="0"/>
                                </a:rPr>
                                <m:t>𝑎</m:t>
                              </m:r>
                            </m:e>
                            <m:sub>
                              <m:r>
                                <a:rPr lang="en-US" sz="2800" b="0" i="1">
                                  <a:latin typeface="Cambria Math" panose="02040503050406030204" pitchFamily="18" charset="0"/>
                                </a:rPr>
                                <m:t>𝑚𝑎𝑥</m:t>
                              </m:r>
                            </m:sub>
                          </m:sSub>
                        </m:sup>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𝑙</m:t>
                              </m:r>
                            </m:e>
                            <m:sub>
                              <m:r>
                                <a:rPr lang="en-US" sz="2800" i="1">
                                  <a:latin typeface="Cambria Math" panose="02040503050406030204" pitchFamily="18" charset="0"/>
                                </a:rPr>
                                <m:t>𝑎</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𝑤</m:t>
                              </m:r>
                            </m:e>
                            <m:sub>
                              <m:r>
                                <a:rPr lang="en-US" sz="2800" i="1">
                                  <a:latin typeface="Cambria Math" panose="02040503050406030204" pitchFamily="18" charset="0"/>
                                </a:rPr>
                                <m:t>𝑎</m:t>
                              </m:r>
                            </m:sub>
                          </m:sSub>
                          <m:d>
                            <m:dPr>
                              <m:ctrlPr>
                                <a:rPr lang="en-US" sz="2800" i="1">
                                  <a:latin typeface="Cambria Math" panose="02040503050406030204" pitchFamily="18" charset="0"/>
                                </a:rPr>
                              </m:ctrlPr>
                            </m:dPr>
                            <m:e>
                              <m:r>
                                <a:rPr lang="en-US" sz="2800" i="1">
                                  <a:latin typeface="Cambria Math" panose="02040503050406030204" pitchFamily="18" charset="0"/>
                                </a:rPr>
                                <m:t>1−</m:t>
                              </m:r>
                              <m:sSup>
                                <m:sSupPr>
                                  <m:ctrlPr>
                                    <a:rPr lang="en-US" sz="2800" i="1">
                                      <a:latin typeface="Cambria Math" panose="02040503050406030204" pitchFamily="18" charset="0"/>
                                    </a:rPr>
                                  </m:ctrlPr>
                                </m:sSupPr>
                                <m:e>
                                  <m:r>
                                    <a:rPr lang="en-US" sz="2800" i="1">
                                      <a:latin typeface="Cambria Math" panose="02040503050406030204" pitchFamily="18" charset="0"/>
                                    </a:rPr>
                                    <m:t>𝑒</m:t>
                                  </m:r>
                                </m:e>
                                <m:sup>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𝑀</m:t>
                                      </m:r>
                                    </m:e>
                                    <m:sub>
                                      <m:r>
                                        <a:rPr lang="en-US" sz="2800" i="1">
                                          <a:latin typeface="Cambria Math" panose="02040503050406030204" pitchFamily="18" charset="0"/>
                                        </a:rPr>
                                        <m:t>𝑎</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𝐹𝑣</m:t>
                                      </m:r>
                                    </m:e>
                                    <m:sub>
                                      <m:r>
                                        <a:rPr lang="en-US" sz="2800" i="1">
                                          <a:latin typeface="Cambria Math" panose="02040503050406030204" pitchFamily="18" charset="0"/>
                                        </a:rPr>
                                        <m:t>𝑎</m:t>
                                      </m:r>
                                    </m:sub>
                                  </m:sSub>
                                  <m:r>
                                    <a:rPr lang="en-US" sz="2800" i="1">
                                      <a:latin typeface="Cambria Math" panose="02040503050406030204" pitchFamily="18" charset="0"/>
                                    </a:rPr>
                                    <m:t>)</m:t>
                                  </m:r>
                                </m:sup>
                              </m:sSup>
                            </m:e>
                          </m:d>
                          <m:f>
                            <m:fPr>
                              <m:ctrlPr>
                                <a:rPr lang="en-CA" sz="2800" i="1">
                                  <a:latin typeface="Cambria Math" panose="02040503050406030204" pitchFamily="18" charset="0"/>
                                </a:rPr>
                              </m:ctrlPr>
                            </m:fPr>
                            <m:num>
                              <m:sSub>
                                <m:sSubPr>
                                  <m:ctrlPr>
                                    <a:rPr lang="en-US" sz="2800" i="1">
                                      <a:latin typeface="Cambria Math" panose="02040503050406030204" pitchFamily="18" charset="0"/>
                                    </a:rPr>
                                  </m:ctrlPr>
                                </m:sSubPr>
                                <m:e>
                                  <m:r>
                                    <a:rPr lang="en-US" sz="2800" i="1">
                                      <a:latin typeface="Cambria Math" panose="02040503050406030204" pitchFamily="18" charset="0"/>
                                    </a:rPr>
                                    <m:t>𝐹𝑣</m:t>
                                  </m:r>
                                </m:e>
                                <m:sub>
                                  <m:r>
                                    <a:rPr lang="en-US" sz="2800" i="1">
                                      <a:latin typeface="Cambria Math" panose="02040503050406030204" pitchFamily="18" charset="0"/>
                                    </a:rPr>
                                    <m:t>𝑎</m:t>
                                  </m:r>
                                </m:sub>
                              </m:sSub>
                            </m:num>
                            <m:den>
                              <m:sSub>
                                <m:sSubPr>
                                  <m:ctrlPr>
                                    <a:rPr lang="en-US" sz="2800" i="1">
                                      <a:latin typeface="Cambria Math" panose="02040503050406030204" pitchFamily="18" charset="0"/>
                                    </a:rPr>
                                  </m:ctrlPr>
                                </m:sSubPr>
                                <m:e>
                                  <m:r>
                                    <a:rPr lang="en-US" sz="2800" i="1">
                                      <a:latin typeface="Cambria Math" panose="02040503050406030204" pitchFamily="18" charset="0"/>
                                    </a:rPr>
                                    <m:t>𝑀</m:t>
                                  </m:r>
                                </m:e>
                                <m:sub>
                                  <m:r>
                                    <a:rPr lang="en-US" sz="2800" i="1">
                                      <a:latin typeface="Cambria Math" panose="02040503050406030204" pitchFamily="18" charset="0"/>
                                    </a:rPr>
                                    <m:t>𝑎</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𝐹𝑣</m:t>
                                  </m:r>
                                </m:e>
                                <m:sub>
                                  <m:r>
                                    <a:rPr lang="en-US" sz="2800" i="1">
                                      <a:latin typeface="Cambria Math" panose="02040503050406030204" pitchFamily="18" charset="0"/>
                                    </a:rPr>
                                    <m:t>𝑎</m:t>
                                  </m:r>
                                </m:sub>
                              </m:sSub>
                            </m:den>
                          </m:f>
                        </m:e>
                      </m:nary>
                    </m:oMath>
                  </m:oMathPara>
                </a14:m>
                <a:endParaRPr lang="en-CA" sz="2800" dirty="0"/>
              </a:p>
            </p:txBody>
          </p:sp>
        </mc:Choice>
        <mc:Fallback xmlns="">
          <p:sp>
            <p:nvSpPr>
              <p:cNvPr id="10" name="TextBox 3"/>
              <p:cNvSpPr txBox="1">
                <a:spLocks noRot="1" noChangeAspect="1" noMove="1" noResize="1" noEditPoints="1" noAdjustHandles="1" noChangeArrowheads="1" noChangeShapeType="1" noTextEdit="1"/>
              </p:cNvSpPr>
              <p:nvPr/>
            </p:nvSpPr>
            <p:spPr>
              <a:xfrm>
                <a:off x="1925827" y="3596580"/>
                <a:ext cx="7208512" cy="122950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5FE95BC-9880-4BBD-A8AB-65A672B25604}"/>
                  </a:ext>
                </a:extLst>
              </p:cNvPr>
              <p:cNvSpPr txBox="1"/>
              <p:nvPr/>
            </p:nvSpPr>
            <p:spPr>
              <a:xfrm>
                <a:off x="7905790" y="5384980"/>
                <a:ext cx="4038600" cy="923330"/>
              </a:xfrm>
              <a:prstGeom prst="rect">
                <a:avLst/>
              </a:prstGeom>
              <a:noFill/>
              <a:ln>
                <a:solidFill>
                  <a:schemeClr val="tx2"/>
                </a:solidFill>
              </a:ln>
            </p:spPr>
            <p:txBody>
              <a:bodyPr wrap="square" rtlCol="0">
                <a:spAutoFit/>
              </a:bodyPr>
              <a:lstStyle/>
              <a:p>
                <a:r>
                  <a:rPr lang="en-US" dirty="0">
                    <a:solidFill>
                      <a:schemeClr val="tx2"/>
                    </a:solidFill>
                  </a:rPr>
                  <a:t>Note that this is a per-recruit version of the Baranov catch equation (</a:t>
                </a:r>
                <a14:m>
                  <m:oMath xmlns:m="http://schemas.openxmlformats.org/officeDocument/2006/math">
                    <m:r>
                      <a:rPr lang="en-US" i="1" dirty="0" smtClean="0">
                        <a:solidFill>
                          <a:schemeClr val="tx2"/>
                        </a:solidFill>
                        <a:latin typeface="Cambria Math" panose="02040503050406030204" pitchFamily="18" charset="0"/>
                      </a:rPr>
                      <m:t>𝑁</m:t>
                    </m:r>
                    <m:r>
                      <a:rPr lang="en-US" i="1" baseline="-25000" dirty="0" smtClean="0">
                        <a:solidFill>
                          <a:schemeClr val="tx2"/>
                        </a:solidFill>
                        <a:latin typeface="Cambria Math" panose="02040503050406030204" pitchFamily="18" charset="0"/>
                      </a:rPr>
                      <m:t>𝑎</m:t>
                    </m:r>
                  </m:oMath>
                </a14:m>
                <a:r>
                  <a:rPr lang="en-US" dirty="0">
                    <a:solidFill>
                      <a:schemeClr val="tx2"/>
                    </a:solidFill>
                  </a:rPr>
                  <a:t> replaced with </a:t>
                </a:r>
                <a14:m>
                  <m:oMath xmlns:m="http://schemas.openxmlformats.org/officeDocument/2006/math">
                    <m:r>
                      <a:rPr lang="en-US" i="1" dirty="0" smtClean="0">
                        <a:solidFill>
                          <a:schemeClr val="tx2"/>
                        </a:solidFill>
                        <a:latin typeface="Cambria Math" panose="02040503050406030204" pitchFamily="18" charset="0"/>
                      </a:rPr>
                      <m:t>𝑙</m:t>
                    </m:r>
                    <m:r>
                      <a:rPr lang="en-US" i="1" baseline="-25000" dirty="0" smtClean="0">
                        <a:solidFill>
                          <a:schemeClr val="tx2"/>
                        </a:solidFill>
                        <a:latin typeface="Cambria Math" panose="02040503050406030204" pitchFamily="18" charset="0"/>
                      </a:rPr>
                      <m:t>𝑎</m:t>
                    </m:r>
                  </m:oMath>
                </a14:m>
                <a:r>
                  <a:rPr lang="en-US" dirty="0">
                    <a:solidFill>
                      <a:schemeClr val="tx2"/>
                    </a:solidFill>
                  </a:rPr>
                  <a:t>)</a:t>
                </a:r>
              </a:p>
            </p:txBody>
          </p:sp>
        </mc:Choice>
        <mc:Fallback xmlns="">
          <p:sp>
            <p:nvSpPr>
              <p:cNvPr id="7" name="TextBox 6">
                <a:extLst>
                  <a:ext uri="{FF2B5EF4-FFF2-40B4-BE49-F238E27FC236}">
                    <a16:creationId xmlns:a16="http://schemas.microsoft.com/office/drawing/2014/main" id="{95FE95BC-9880-4BBD-A8AB-65A672B25604}"/>
                  </a:ext>
                </a:extLst>
              </p:cNvPr>
              <p:cNvSpPr txBox="1">
                <a:spLocks noRot="1" noChangeAspect="1" noMove="1" noResize="1" noEditPoints="1" noAdjustHandles="1" noChangeArrowheads="1" noChangeShapeType="1" noTextEdit="1"/>
              </p:cNvSpPr>
              <p:nvPr/>
            </p:nvSpPr>
            <p:spPr>
              <a:xfrm>
                <a:off x="7905790" y="5384980"/>
                <a:ext cx="4038600" cy="923330"/>
              </a:xfrm>
              <a:prstGeom prst="rect">
                <a:avLst/>
              </a:prstGeom>
              <a:blipFill>
                <a:blip r:embed="rId5"/>
                <a:stretch>
                  <a:fillRect l="-1205" t="-2597" r="-904" b="-8442"/>
                </a:stretch>
              </a:blipFill>
              <a:ln>
                <a:solidFill>
                  <a:schemeClr val="tx2"/>
                </a:solidFill>
              </a:ln>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78</a:t>
            </a:fld>
            <a:endParaRPr lang="en-CA"/>
          </a:p>
        </p:txBody>
      </p:sp>
    </p:spTree>
    <p:extLst>
      <p:ext uri="{BB962C8B-B14F-4D97-AF65-F5344CB8AC3E}">
        <p14:creationId xmlns:p14="http://schemas.microsoft.com/office/powerpoint/2010/main" val="4263727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Next step: Yield-per-Recruit </a:t>
            </a:r>
            <a:r>
              <a:rPr lang="en-US" sz="4800" dirty="0">
                <a:sym typeface="Wingdings" panose="05000000000000000000" pitchFamily="2" charset="2"/>
              </a:rPr>
              <a:t> Yield</a:t>
            </a:r>
            <a:r>
              <a:rPr lang="en-US" sz="4800" dirty="0"/>
              <a:t> </a:t>
            </a:r>
            <a:endParaRPr lang="en-CA" sz="48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4351338"/>
              </a:xfrm>
            </p:spPr>
            <p:txBody>
              <a:bodyPr/>
              <a:lstStyle/>
              <a:p>
                <a:r>
                  <a:rPr lang="en-US" dirty="0"/>
                  <a:t>Yield = </a:t>
                </a:r>
                <a14:m>
                  <m:oMath xmlns:m="http://schemas.openxmlformats.org/officeDocument/2006/math">
                    <m:r>
                      <a:rPr lang="en-US" i="1" dirty="0" smtClean="0">
                        <a:latin typeface="Cambria Math" panose="02040503050406030204" pitchFamily="18" charset="0"/>
                      </a:rPr>
                      <m:t>𝑌𝑃𝑅</m:t>
                    </m:r>
                    <m:r>
                      <a:rPr lang="en-US" i="1" dirty="0" smtClean="0">
                        <a:latin typeface="Cambria Math" panose="02040503050406030204" pitchFamily="18" charset="0"/>
                      </a:rPr>
                      <m:t> ×</m:t>
                    </m:r>
                    <m:r>
                      <a:rPr lang="en-US" b="0" i="1" dirty="0" smtClean="0">
                        <a:latin typeface="Cambria Math" panose="02040503050406030204" pitchFamily="18" charset="0"/>
                      </a:rPr>
                      <m:t>𝑛𝑢𝑚𝑏𝑒𝑟</m:t>
                    </m:r>
                    <m:r>
                      <a:rPr lang="en-US" b="0" i="1" dirty="0" smtClean="0">
                        <a:latin typeface="Cambria Math" panose="02040503050406030204" pitchFamily="18" charset="0"/>
                      </a:rPr>
                      <m:t> </m:t>
                    </m:r>
                    <m:r>
                      <a:rPr lang="en-US" b="0" i="1" dirty="0" smtClean="0">
                        <a:latin typeface="Cambria Math" panose="02040503050406030204" pitchFamily="18" charset="0"/>
                      </a:rPr>
                      <m:t>𝑜𝑓</m:t>
                    </m:r>
                    <m:r>
                      <a:rPr lang="en-US" b="0" i="1" dirty="0" smtClean="0">
                        <a:latin typeface="Cambria Math" panose="02040503050406030204" pitchFamily="18" charset="0"/>
                      </a:rPr>
                      <m:t> </m:t>
                    </m:r>
                    <m:r>
                      <a:rPr lang="en-US" b="0" i="1" dirty="0" smtClean="0">
                        <a:latin typeface="Cambria Math" panose="02040503050406030204" pitchFamily="18" charset="0"/>
                      </a:rPr>
                      <m:t>𝑟𝑒𝑐𝑟𝑢𝑖𝑡𝑠</m:t>
                    </m:r>
                  </m:oMath>
                </a14:m>
                <a:endParaRPr lang="en-US" dirty="0"/>
              </a:p>
              <a:p>
                <a:r>
                  <a:rPr lang="en-US" dirty="0"/>
                  <a:t>We saw how to calculate </a:t>
                </a:r>
                <a14:m>
                  <m:oMath xmlns:m="http://schemas.openxmlformats.org/officeDocument/2006/math">
                    <m:r>
                      <a:rPr lang="en-US" i="1" dirty="0" smtClean="0">
                        <a:latin typeface="Cambria Math" panose="02040503050406030204" pitchFamily="18" charset="0"/>
                      </a:rPr>
                      <m:t>𝑌𝑃𝑅</m:t>
                    </m:r>
                  </m:oMath>
                </a14:m>
                <a:r>
                  <a:rPr lang="en-US" dirty="0"/>
                  <a:t> for various </a:t>
                </a:r>
                <a14:m>
                  <m:oMath xmlns:m="http://schemas.openxmlformats.org/officeDocument/2006/math">
                    <m:r>
                      <a:rPr lang="en-US" i="1" dirty="0" smtClean="0">
                        <a:latin typeface="Cambria Math" panose="02040503050406030204" pitchFamily="18" charset="0"/>
                      </a:rPr>
                      <m:t>𝐹</m:t>
                    </m:r>
                  </m:oMath>
                </a14:m>
                <a:endParaRPr lang="en-US" dirty="0"/>
              </a:p>
              <a:p>
                <a:r>
                  <a:rPr lang="en-US" dirty="0"/>
                  <a:t>Now we just need to know how the number of recruits changes with changes in </a:t>
                </a:r>
                <a14:m>
                  <m:oMath xmlns:m="http://schemas.openxmlformats.org/officeDocument/2006/math">
                    <m:r>
                      <a:rPr lang="en-US" i="1" dirty="0" smtClean="0">
                        <a:latin typeface="Cambria Math" panose="02040503050406030204" pitchFamily="18" charset="0"/>
                      </a:rPr>
                      <m:t>𝐹</m:t>
                    </m:r>
                  </m:oMath>
                </a14:m>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71D9DCA5-5823-4C6F-B3FE-44EDF581D9AD}"/>
              </a:ext>
            </a:extLst>
          </p:cNvPr>
          <p:cNvSpPr txBox="1"/>
          <p:nvPr/>
        </p:nvSpPr>
        <p:spPr>
          <a:xfrm>
            <a:off x="1403420" y="4143642"/>
            <a:ext cx="9119108" cy="1815882"/>
          </a:xfrm>
          <a:prstGeom prst="rect">
            <a:avLst/>
          </a:prstGeom>
          <a:solidFill>
            <a:schemeClr val="accent1">
              <a:lumMod val="60000"/>
              <a:lumOff val="40000"/>
            </a:schemeClr>
          </a:solidFill>
          <a:ln>
            <a:solidFill>
              <a:schemeClr val="accent1">
                <a:lumMod val="50000"/>
              </a:schemeClr>
            </a:solidFill>
          </a:ln>
        </p:spPr>
        <p:txBody>
          <a:bodyPr wrap="square" rtlCol="0">
            <a:spAutoFit/>
          </a:bodyPr>
          <a:lstStyle/>
          <a:p>
            <a:pPr algn="ctr"/>
            <a:endParaRPr lang="en-CA" sz="2800" dirty="0"/>
          </a:p>
          <a:p>
            <a:pPr algn="ctr"/>
            <a:r>
              <a:rPr lang="en-CA" sz="2800" dirty="0"/>
              <a:t>This is where stock-recruitment relationships enter the reference point calculations</a:t>
            </a:r>
          </a:p>
          <a:p>
            <a:pPr algn="ctr"/>
            <a:endParaRPr lang="en-US" sz="2800" dirty="0"/>
          </a:p>
        </p:txBody>
      </p:sp>
      <p:sp>
        <p:nvSpPr>
          <p:cNvPr id="5" name="Slide Number Placeholder 4"/>
          <p:cNvSpPr>
            <a:spLocks noGrp="1"/>
          </p:cNvSpPr>
          <p:nvPr>
            <p:ph type="sldNum" sz="quarter" idx="12"/>
          </p:nvPr>
        </p:nvSpPr>
        <p:spPr/>
        <p:txBody>
          <a:bodyPr/>
          <a:lstStyle/>
          <a:p>
            <a:fld id="{EEDFA2F9-C25F-4A63-B46B-7B5C200A39D1}" type="slidenum">
              <a:rPr lang="en-CA" smtClean="0"/>
              <a:t>79</a:t>
            </a:fld>
            <a:endParaRPr lang="en-CA"/>
          </a:p>
        </p:txBody>
      </p:sp>
    </p:spTree>
    <p:extLst>
      <p:ext uri="{BB962C8B-B14F-4D97-AF65-F5344CB8AC3E}">
        <p14:creationId xmlns:p14="http://schemas.microsoft.com/office/powerpoint/2010/main" val="3371589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2700434"/>
            <a:ext cx="10515600" cy="1325563"/>
          </a:xfrm>
        </p:spPr>
        <p:txBody>
          <a:bodyPr>
            <a:normAutofit/>
          </a:bodyPr>
          <a:lstStyle/>
          <a:p>
            <a:pPr algn="ctr"/>
            <a:r>
              <a:rPr lang="en-US" sz="5400" dirty="0">
                <a:solidFill>
                  <a:schemeClr val="bg1"/>
                </a:solidFill>
                <a:latin typeface="+mn-lt"/>
              </a:rPr>
              <a:t>Reference Point Calculations</a:t>
            </a:r>
          </a:p>
        </p:txBody>
      </p:sp>
      <p:sp>
        <p:nvSpPr>
          <p:cNvPr id="3" name="Slide Number Placeholder 2"/>
          <p:cNvSpPr>
            <a:spLocks noGrp="1"/>
          </p:cNvSpPr>
          <p:nvPr>
            <p:ph type="sldNum" sz="quarter" idx="12"/>
          </p:nvPr>
        </p:nvSpPr>
        <p:spPr/>
        <p:txBody>
          <a:bodyPr/>
          <a:lstStyle/>
          <a:p>
            <a:fld id="{EEDFA2F9-C25F-4A63-B46B-7B5C200A39D1}" type="slidenum">
              <a:rPr lang="en-CA" smtClean="0"/>
              <a:t>80</a:t>
            </a:fld>
            <a:endParaRPr lang="en-CA"/>
          </a:p>
        </p:txBody>
      </p:sp>
    </p:spTree>
    <p:extLst>
      <p:ext uri="{BB962C8B-B14F-4D97-AF65-F5344CB8AC3E}">
        <p14:creationId xmlns:p14="http://schemas.microsoft.com/office/powerpoint/2010/main" val="10187001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4796443" y="1845425"/>
            <a:ext cx="1695797" cy="10141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Growth</a:t>
            </a:r>
          </a:p>
          <a:p>
            <a:pPr algn="ctr"/>
            <a:r>
              <a:rPr lang="en-US" dirty="0"/>
              <a:t>(weight-at-age)</a:t>
            </a:r>
            <a:endParaRPr lang="en-CA" dirty="0"/>
          </a:p>
        </p:txBody>
      </p:sp>
      <p:sp>
        <p:nvSpPr>
          <p:cNvPr id="5" name="Rounded Rectangle 4"/>
          <p:cNvSpPr/>
          <p:nvPr/>
        </p:nvSpPr>
        <p:spPr>
          <a:xfrm>
            <a:off x="4796443" y="3060931"/>
            <a:ext cx="1695797" cy="10141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Maturity</a:t>
            </a:r>
          </a:p>
        </p:txBody>
      </p:sp>
      <mc:AlternateContent xmlns:mc="http://schemas.openxmlformats.org/markup-compatibility/2006" xmlns:a14="http://schemas.microsoft.com/office/drawing/2010/main">
        <mc:Choice Requires="a14">
          <p:sp>
            <p:nvSpPr>
              <p:cNvPr id="6" name="Rounded Rectangle 5"/>
              <p:cNvSpPr/>
              <p:nvPr/>
            </p:nvSpPr>
            <p:spPr>
              <a:xfrm>
                <a:off x="4796443" y="4276437"/>
                <a:ext cx="1695797" cy="10141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i="1" dirty="0" smtClean="0">
                          <a:latin typeface="Cambria Math" panose="02040503050406030204" pitchFamily="18" charset="0"/>
                        </a:rPr>
                        <m:t>𝑀</m:t>
                      </m:r>
                    </m:oMath>
                  </m:oMathPara>
                </a14:m>
                <a:endParaRPr lang="en-CA" dirty="0"/>
              </a:p>
            </p:txBody>
          </p:sp>
        </mc:Choice>
        <mc:Fallback xmlns="">
          <p:sp>
            <p:nvSpPr>
              <p:cNvPr id="6" name="Rounded Rectangle 5"/>
              <p:cNvSpPr>
                <a:spLocks noRot="1" noChangeAspect="1" noMove="1" noResize="1" noEditPoints="1" noAdjustHandles="1" noChangeArrowheads="1" noChangeShapeType="1" noTextEdit="1"/>
              </p:cNvSpPr>
              <p:nvPr/>
            </p:nvSpPr>
            <p:spPr>
              <a:xfrm>
                <a:off x="4796443" y="4276437"/>
                <a:ext cx="1695797" cy="1014153"/>
              </a:xfrm>
              <a:prstGeom prst="round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4796442" y="5491943"/>
                <a:ext cx="1695797" cy="1014153"/>
              </a:xfrm>
              <a:prstGeom prst="round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a:rPr lang="en-US" i="1" dirty="0" smtClean="0">
                        <a:latin typeface="Cambria Math" panose="02040503050406030204" pitchFamily="18" charset="0"/>
                      </a:rPr>
                      <m:t>𝐹</m:t>
                    </m:r>
                  </m:oMath>
                </a14:m>
                <a:r>
                  <a:rPr lang="en-US" dirty="0"/>
                  <a:t> and Selectivity</a:t>
                </a:r>
                <a:endParaRPr lang="en-CA" dirty="0"/>
              </a:p>
            </p:txBody>
          </p:sp>
        </mc:Choice>
        <mc:Fallback xmlns="">
          <p:sp>
            <p:nvSpPr>
              <p:cNvPr id="7" name="Rounded Rectangle 6"/>
              <p:cNvSpPr>
                <a:spLocks noRot="1" noChangeAspect="1" noMove="1" noResize="1" noEditPoints="1" noAdjustHandles="1" noChangeArrowheads="1" noChangeShapeType="1" noTextEdit="1"/>
              </p:cNvSpPr>
              <p:nvPr/>
            </p:nvSpPr>
            <p:spPr>
              <a:xfrm>
                <a:off x="4796442" y="5491943"/>
                <a:ext cx="1695797" cy="1014153"/>
              </a:xfrm>
              <a:prstGeom prst="roundRect">
                <a:avLst/>
              </a:prstGeom>
              <a:blipFill>
                <a:blip r:embed="rId3"/>
                <a:stretch>
                  <a:fillRect/>
                </a:stretch>
              </a:blipFill>
              <a:ln>
                <a:solidFill>
                  <a:schemeClr val="tx1"/>
                </a:solidFill>
              </a:ln>
            </p:spPr>
            <p:txBody>
              <a:bodyPr/>
              <a:lstStyle/>
              <a:p>
                <a:r>
                  <a:rPr lang="en-US">
                    <a:noFill/>
                  </a:rPr>
                  <a:t> </a:t>
                </a:r>
              </a:p>
            </p:txBody>
          </p:sp>
        </mc:Fallback>
      </mc:AlternateContent>
      <p:sp>
        <p:nvSpPr>
          <p:cNvPr id="8" name="Double Brace 8"/>
          <p:cNvSpPr/>
          <p:nvPr/>
        </p:nvSpPr>
        <p:spPr>
          <a:xfrm>
            <a:off x="3940232" y="1845425"/>
            <a:ext cx="638682" cy="4660671"/>
          </a:xfrm>
          <a:custGeom>
            <a:avLst/>
            <a:gdLst>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14" fmla="*/ 638682 w 2236124"/>
              <a:gd name="connsiteY14"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14" fmla="*/ 638682 w 2236124"/>
              <a:gd name="connsiteY14"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1916783 w 2236124"/>
              <a:gd name="connsiteY8" fmla="*/ 1684027 h 4006735"/>
              <a:gd name="connsiteX9" fmla="*/ 2236124 w 2236124"/>
              <a:gd name="connsiteY9" fmla="*/ 2003368 h 4006735"/>
              <a:gd name="connsiteX10" fmla="*/ 1916783 w 2236124"/>
              <a:gd name="connsiteY10" fmla="*/ 2322709 h 4006735"/>
              <a:gd name="connsiteX11" fmla="*/ 1916783 w 2236124"/>
              <a:gd name="connsiteY11" fmla="*/ 3687394 h 4006735"/>
              <a:gd name="connsiteX12" fmla="*/ 1597442 w 2236124"/>
              <a:gd name="connsiteY12"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14" fmla="*/ 638682 w 2236124"/>
              <a:gd name="connsiteY14"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1916783 w 2236124"/>
              <a:gd name="connsiteY8" fmla="*/ 1684027 h 4006735"/>
              <a:gd name="connsiteX9" fmla="*/ 2236124 w 2236124"/>
              <a:gd name="connsiteY9" fmla="*/ 2003368 h 4006735"/>
              <a:gd name="connsiteX10" fmla="*/ 1916783 w 2236124"/>
              <a:gd name="connsiteY10" fmla="*/ 2322709 h 4006735"/>
              <a:gd name="connsiteX11" fmla="*/ 1916783 w 2236124"/>
              <a:gd name="connsiteY11" fmla="*/ 3687394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14" fmla="*/ 638682 w 2236124"/>
              <a:gd name="connsiteY14"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1916783 w 2236124"/>
              <a:gd name="connsiteY8" fmla="*/ 1684027 h 4006735"/>
              <a:gd name="connsiteX9" fmla="*/ 2236124 w 2236124"/>
              <a:gd name="connsiteY9" fmla="*/ 2003368 h 4006735"/>
              <a:gd name="connsiteX10" fmla="*/ 1916783 w 2236124"/>
              <a:gd name="connsiteY10" fmla="*/ 3687394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14" fmla="*/ 638682 w 2236124"/>
              <a:gd name="connsiteY14"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2236124 w 2236124"/>
              <a:gd name="connsiteY8" fmla="*/ 2003368 h 4006735"/>
              <a:gd name="connsiteX9" fmla="*/ 1916783 w 2236124"/>
              <a:gd name="connsiteY9" fmla="*/ 3687394 h 4006735"/>
              <a:gd name="connsiteX0" fmla="*/ 1597442 w 2236124"/>
              <a:gd name="connsiteY0" fmla="*/ 0 h 4006735"/>
              <a:gd name="connsiteX1" fmla="*/ 1916783 w 2236124"/>
              <a:gd name="connsiteY1" fmla="*/ 319341 h 4006735"/>
              <a:gd name="connsiteX2" fmla="*/ 1916783 w 2236124"/>
              <a:gd name="connsiteY2" fmla="*/ 1684027 h 4006735"/>
              <a:gd name="connsiteX3" fmla="*/ 2236124 w 2236124"/>
              <a:gd name="connsiteY3" fmla="*/ 2003368 h 4006735"/>
              <a:gd name="connsiteX4" fmla="*/ 1916783 w 2236124"/>
              <a:gd name="connsiteY4" fmla="*/ 2322709 h 4006735"/>
              <a:gd name="connsiteX5" fmla="*/ 1916783 w 2236124"/>
              <a:gd name="connsiteY5" fmla="*/ 3687394 h 4006735"/>
              <a:gd name="connsiteX6" fmla="*/ 1597442 w 2236124"/>
              <a:gd name="connsiteY6" fmla="*/ 4006735 h 4006735"/>
              <a:gd name="connsiteX7" fmla="*/ 638682 w 2236124"/>
              <a:gd name="connsiteY7" fmla="*/ 4006735 h 4006735"/>
              <a:gd name="connsiteX8" fmla="*/ 319341 w 2236124"/>
              <a:gd name="connsiteY8" fmla="*/ 3687394 h 4006735"/>
              <a:gd name="connsiteX9" fmla="*/ 319341 w 2236124"/>
              <a:gd name="connsiteY9" fmla="*/ 2322708 h 4006735"/>
              <a:gd name="connsiteX10" fmla="*/ 0 w 2236124"/>
              <a:gd name="connsiteY10" fmla="*/ 2003367 h 4006735"/>
              <a:gd name="connsiteX11" fmla="*/ 319341 w 2236124"/>
              <a:gd name="connsiteY11" fmla="*/ 1684026 h 4006735"/>
              <a:gd name="connsiteX12" fmla="*/ 319341 w 2236124"/>
              <a:gd name="connsiteY12" fmla="*/ 319341 h 4006735"/>
              <a:gd name="connsiteX13" fmla="*/ 638682 w 2236124"/>
              <a:gd name="connsiteY13" fmla="*/ 0 h 4006735"/>
              <a:gd name="connsiteX14" fmla="*/ 1688882 w 2236124"/>
              <a:gd name="connsiteY14" fmla="*/ 91440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2236124 w 2236124"/>
              <a:gd name="connsiteY8" fmla="*/ 2003368 h 4006735"/>
              <a:gd name="connsiteX9" fmla="*/ 1916783 w 2236124"/>
              <a:gd name="connsiteY9" fmla="*/ 3687394 h 4006735"/>
              <a:gd name="connsiteX0" fmla="*/ 1597442 w 2236124"/>
              <a:gd name="connsiteY0" fmla="*/ 0 h 4006735"/>
              <a:gd name="connsiteX1" fmla="*/ 1916783 w 2236124"/>
              <a:gd name="connsiteY1" fmla="*/ 319341 h 4006735"/>
              <a:gd name="connsiteX2" fmla="*/ 1916783 w 2236124"/>
              <a:gd name="connsiteY2" fmla="*/ 1684027 h 4006735"/>
              <a:gd name="connsiteX3" fmla="*/ 2236124 w 2236124"/>
              <a:gd name="connsiteY3" fmla="*/ 2003368 h 4006735"/>
              <a:gd name="connsiteX4" fmla="*/ 1916783 w 2236124"/>
              <a:gd name="connsiteY4" fmla="*/ 2322709 h 4006735"/>
              <a:gd name="connsiteX5" fmla="*/ 1916783 w 2236124"/>
              <a:gd name="connsiteY5" fmla="*/ 3687394 h 4006735"/>
              <a:gd name="connsiteX6" fmla="*/ 1597442 w 2236124"/>
              <a:gd name="connsiteY6" fmla="*/ 4006735 h 4006735"/>
              <a:gd name="connsiteX7" fmla="*/ 638682 w 2236124"/>
              <a:gd name="connsiteY7" fmla="*/ 4006735 h 4006735"/>
              <a:gd name="connsiteX8" fmla="*/ 319341 w 2236124"/>
              <a:gd name="connsiteY8" fmla="*/ 3687394 h 4006735"/>
              <a:gd name="connsiteX9" fmla="*/ 319341 w 2236124"/>
              <a:gd name="connsiteY9" fmla="*/ 2322708 h 4006735"/>
              <a:gd name="connsiteX10" fmla="*/ 0 w 2236124"/>
              <a:gd name="connsiteY10" fmla="*/ 2003367 h 4006735"/>
              <a:gd name="connsiteX11" fmla="*/ 319341 w 2236124"/>
              <a:gd name="connsiteY11" fmla="*/ 1684026 h 4006735"/>
              <a:gd name="connsiteX12" fmla="*/ 319341 w 2236124"/>
              <a:gd name="connsiteY12" fmla="*/ 319341 h 4006735"/>
              <a:gd name="connsiteX13" fmla="*/ 638682 w 2236124"/>
              <a:gd name="connsiteY13" fmla="*/ 0 h 4006735"/>
              <a:gd name="connsiteX14" fmla="*/ 1688882 w 2236124"/>
              <a:gd name="connsiteY14" fmla="*/ 91440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2236124 w 2236124"/>
              <a:gd name="connsiteY8" fmla="*/ 2003368 h 4006735"/>
              <a:gd name="connsiteX9" fmla="*/ 1916783 w 2236124"/>
              <a:gd name="connsiteY9" fmla="*/ 3687394 h 4006735"/>
              <a:gd name="connsiteX10" fmla="*/ 638682 w 2236124"/>
              <a:gd name="connsiteY10" fmla="*/ 4006735 h 4006735"/>
              <a:gd name="connsiteX0" fmla="*/ 1597442 w 2236124"/>
              <a:gd name="connsiteY0" fmla="*/ 0 h 4006735"/>
              <a:gd name="connsiteX1" fmla="*/ 1916783 w 2236124"/>
              <a:gd name="connsiteY1" fmla="*/ 319341 h 4006735"/>
              <a:gd name="connsiteX2" fmla="*/ 1916783 w 2236124"/>
              <a:gd name="connsiteY2" fmla="*/ 1684027 h 4006735"/>
              <a:gd name="connsiteX3" fmla="*/ 2236124 w 2236124"/>
              <a:gd name="connsiteY3" fmla="*/ 2003368 h 4006735"/>
              <a:gd name="connsiteX4" fmla="*/ 1916783 w 2236124"/>
              <a:gd name="connsiteY4" fmla="*/ 2322709 h 4006735"/>
              <a:gd name="connsiteX5" fmla="*/ 1916783 w 2236124"/>
              <a:gd name="connsiteY5" fmla="*/ 3687394 h 4006735"/>
              <a:gd name="connsiteX6" fmla="*/ 1597442 w 2236124"/>
              <a:gd name="connsiteY6" fmla="*/ 4006735 h 4006735"/>
              <a:gd name="connsiteX7" fmla="*/ 638682 w 2236124"/>
              <a:gd name="connsiteY7" fmla="*/ 4006735 h 4006735"/>
              <a:gd name="connsiteX8" fmla="*/ 319341 w 2236124"/>
              <a:gd name="connsiteY8" fmla="*/ 3687394 h 4006735"/>
              <a:gd name="connsiteX9" fmla="*/ 319341 w 2236124"/>
              <a:gd name="connsiteY9" fmla="*/ 2322708 h 4006735"/>
              <a:gd name="connsiteX10" fmla="*/ 0 w 2236124"/>
              <a:gd name="connsiteY10" fmla="*/ 2003367 h 4006735"/>
              <a:gd name="connsiteX11" fmla="*/ 319341 w 2236124"/>
              <a:gd name="connsiteY11" fmla="*/ 1684026 h 4006735"/>
              <a:gd name="connsiteX12" fmla="*/ 319341 w 2236124"/>
              <a:gd name="connsiteY12" fmla="*/ 319341 h 4006735"/>
              <a:gd name="connsiteX13" fmla="*/ 638682 w 2236124"/>
              <a:gd name="connsiteY13" fmla="*/ 0 h 4006735"/>
              <a:gd name="connsiteX14" fmla="*/ 1688882 w 2236124"/>
              <a:gd name="connsiteY14" fmla="*/ 91440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1916783 w 2236124"/>
              <a:gd name="connsiteY8" fmla="*/ 3687394 h 4006735"/>
              <a:gd name="connsiteX9" fmla="*/ 638682 w 2236124"/>
              <a:gd name="connsiteY9" fmla="*/ 4006735 h 4006735"/>
              <a:gd name="connsiteX10" fmla="*/ 1916783 w 2236124"/>
              <a:gd name="connsiteY10" fmla="*/ 319341 h 4006735"/>
              <a:gd name="connsiteX0" fmla="*/ 1597442 w 2236124"/>
              <a:gd name="connsiteY0" fmla="*/ 0 h 4006735"/>
              <a:gd name="connsiteX1" fmla="*/ 1916783 w 2236124"/>
              <a:gd name="connsiteY1" fmla="*/ 319341 h 4006735"/>
              <a:gd name="connsiteX2" fmla="*/ 2236124 w 2236124"/>
              <a:gd name="connsiteY2" fmla="*/ 2003368 h 4006735"/>
              <a:gd name="connsiteX3" fmla="*/ 1916783 w 2236124"/>
              <a:gd name="connsiteY3" fmla="*/ 2322709 h 4006735"/>
              <a:gd name="connsiteX4" fmla="*/ 1916783 w 2236124"/>
              <a:gd name="connsiteY4" fmla="*/ 3687394 h 4006735"/>
              <a:gd name="connsiteX5" fmla="*/ 1597442 w 2236124"/>
              <a:gd name="connsiteY5" fmla="*/ 4006735 h 4006735"/>
              <a:gd name="connsiteX6" fmla="*/ 638682 w 2236124"/>
              <a:gd name="connsiteY6" fmla="*/ 4006735 h 4006735"/>
              <a:gd name="connsiteX7" fmla="*/ 319341 w 2236124"/>
              <a:gd name="connsiteY7" fmla="*/ 3687394 h 4006735"/>
              <a:gd name="connsiteX8" fmla="*/ 319341 w 2236124"/>
              <a:gd name="connsiteY8" fmla="*/ 2322708 h 4006735"/>
              <a:gd name="connsiteX9" fmla="*/ 0 w 2236124"/>
              <a:gd name="connsiteY9" fmla="*/ 2003367 h 4006735"/>
              <a:gd name="connsiteX10" fmla="*/ 319341 w 2236124"/>
              <a:gd name="connsiteY10" fmla="*/ 1684026 h 4006735"/>
              <a:gd name="connsiteX11" fmla="*/ 319341 w 2236124"/>
              <a:gd name="connsiteY11" fmla="*/ 319341 h 4006735"/>
              <a:gd name="connsiteX12" fmla="*/ 638682 w 2236124"/>
              <a:gd name="connsiteY12" fmla="*/ 0 h 4006735"/>
              <a:gd name="connsiteX13" fmla="*/ 1688882 w 2236124"/>
              <a:gd name="connsiteY13" fmla="*/ 91440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1916783 w 2236124"/>
              <a:gd name="connsiteY8" fmla="*/ 3687394 h 4006735"/>
              <a:gd name="connsiteX9" fmla="*/ 638682 w 2236124"/>
              <a:gd name="connsiteY9" fmla="*/ 4006735 h 4006735"/>
              <a:gd name="connsiteX10" fmla="*/ 1916783 w 2236124"/>
              <a:gd name="connsiteY10" fmla="*/ 319341 h 4006735"/>
              <a:gd name="connsiteX0" fmla="*/ 1597442 w 1916783"/>
              <a:gd name="connsiteY0" fmla="*/ 0 h 4006735"/>
              <a:gd name="connsiteX1" fmla="*/ 1916783 w 1916783"/>
              <a:gd name="connsiteY1" fmla="*/ 319341 h 4006735"/>
              <a:gd name="connsiteX2" fmla="*/ 1916783 w 1916783"/>
              <a:gd name="connsiteY2" fmla="*/ 2322709 h 4006735"/>
              <a:gd name="connsiteX3" fmla="*/ 1916783 w 1916783"/>
              <a:gd name="connsiteY3" fmla="*/ 3687394 h 4006735"/>
              <a:gd name="connsiteX4" fmla="*/ 1597442 w 1916783"/>
              <a:gd name="connsiteY4" fmla="*/ 4006735 h 4006735"/>
              <a:gd name="connsiteX5" fmla="*/ 638682 w 1916783"/>
              <a:gd name="connsiteY5" fmla="*/ 4006735 h 4006735"/>
              <a:gd name="connsiteX6" fmla="*/ 319341 w 1916783"/>
              <a:gd name="connsiteY6" fmla="*/ 3687394 h 4006735"/>
              <a:gd name="connsiteX7" fmla="*/ 319341 w 1916783"/>
              <a:gd name="connsiteY7" fmla="*/ 2322708 h 4006735"/>
              <a:gd name="connsiteX8" fmla="*/ 0 w 1916783"/>
              <a:gd name="connsiteY8" fmla="*/ 2003367 h 4006735"/>
              <a:gd name="connsiteX9" fmla="*/ 319341 w 1916783"/>
              <a:gd name="connsiteY9" fmla="*/ 1684026 h 4006735"/>
              <a:gd name="connsiteX10" fmla="*/ 319341 w 1916783"/>
              <a:gd name="connsiteY10" fmla="*/ 319341 h 4006735"/>
              <a:gd name="connsiteX11" fmla="*/ 638682 w 1916783"/>
              <a:gd name="connsiteY11" fmla="*/ 0 h 4006735"/>
              <a:gd name="connsiteX12" fmla="*/ 1688882 w 1916783"/>
              <a:gd name="connsiteY12" fmla="*/ 9144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7" fmla="*/ 1916783 w 1916783"/>
              <a:gd name="connsiteY7" fmla="*/ 319341 h 4006735"/>
              <a:gd name="connsiteX8" fmla="*/ 1916783 w 1916783"/>
              <a:gd name="connsiteY8" fmla="*/ 3687394 h 4006735"/>
              <a:gd name="connsiteX9" fmla="*/ 638682 w 1916783"/>
              <a:gd name="connsiteY9" fmla="*/ 4006735 h 4006735"/>
              <a:gd name="connsiteX10" fmla="*/ 1916783 w 1916783"/>
              <a:gd name="connsiteY10" fmla="*/ 319341 h 4006735"/>
              <a:gd name="connsiteX0" fmla="*/ 1597442 w 1916783"/>
              <a:gd name="connsiteY0" fmla="*/ 0 h 4006735"/>
              <a:gd name="connsiteX1" fmla="*/ 1916783 w 1916783"/>
              <a:gd name="connsiteY1" fmla="*/ 319341 h 4006735"/>
              <a:gd name="connsiteX2" fmla="*/ 1916783 w 1916783"/>
              <a:gd name="connsiteY2" fmla="*/ 3687394 h 4006735"/>
              <a:gd name="connsiteX3" fmla="*/ 1597442 w 1916783"/>
              <a:gd name="connsiteY3" fmla="*/ 4006735 h 4006735"/>
              <a:gd name="connsiteX4" fmla="*/ 638682 w 1916783"/>
              <a:gd name="connsiteY4" fmla="*/ 4006735 h 4006735"/>
              <a:gd name="connsiteX5" fmla="*/ 319341 w 1916783"/>
              <a:gd name="connsiteY5" fmla="*/ 3687394 h 4006735"/>
              <a:gd name="connsiteX6" fmla="*/ 319341 w 1916783"/>
              <a:gd name="connsiteY6" fmla="*/ 2322708 h 4006735"/>
              <a:gd name="connsiteX7" fmla="*/ 0 w 1916783"/>
              <a:gd name="connsiteY7" fmla="*/ 2003367 h 4006735"/>
              <a:gd name="connsiteX8" fmla="*/ 319341 w 1916783"/>
              <a:gd name="connsiteY8" fmla="*/ 1684026 h 4006735"/>
              <a:gd name="connsiteX9" fmla="*/ 319341 w 1916783"/>
              <a:gd name="connsiteY9" fmla="*/ 319341 h 4006735"/>
              <a:gd name="connsiteX10" fmla="*/ 638682 w 1916783"/>
              <a:gd name="connsiteY10" fmla="*/ 0 h 4006735"/>
              <a:gd name="connsiteX11" fmla="*/ 1688882 w 1916783"/>
              <a:gd name="connsiteY11" fmla="*/ 9144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7" fmla="*/ 1916783 w 1916783"/>
              <a:gd name="connsiteY7" fmla="*/ 319341 h 4006735"/>
              <a:gd name="connsiteX8" fmla="*/ 1916783 w 1916783"/>
              <a:gd name="connsiteY8" fmla="*/ 3687394 h 4006735"/>
              <a:gd name="connsiteX9" fmla="*/ 638682 w 1916783"/>
              <a:gd name="connsiteY9" fmla="*/ 4006735 h 4006735"/>
              <a:gd name="connsiteX10" fmla="*/ 1916783 w 1916783"/>
              <a:gd name="connsiteY10" fmla="*/ 319341 h 4006735"/>
              <a:gd name="connsiteX0" fmla="*/ 1597442 w 1916783"/>
              <a:gd name="connsiteY0" fmla="*/ 0 h 4006735"/>
              <a:gd name="connsiteX1" fmla="*/ 1916783 w 1916783"/>
              <a:gd name="connsiteY1" fmla="*/ 319341 h 4006735"/>
              <a:gd name="connsiteX2" fmla="*/ 1916783 w 1916783"/>
              <a:gd name="connsiteY2" fmla="*/ 3687394 h 4006735"/>
              <a:gd name="connsiteX3" fmla="*/ 1597442 w 1916783"/>
              <a:gd name="connsiteY3" fmla="*/ 4006735 h 4006735"/>
              <a:gd name="connsiteX4" fmla="*/ 638682 w 1916783"/>
              <a:gd name="connsiteY4" fmla="*/ 4006735 h 4006735"/>
              <a:gd name="connsiteX5" fmla="*/ 319341 w 1916783"/>
              <a:gd name="connsiteY5" fmla="*/ 3687394 h 4006735"/>
              <a:gd name="connsiteX6" fmla="*/ 319341 w 1916783"/>
              <a:gd name="connsiteY6" fmla="*/ 2322708 h 4006735"/>
              <a:gd name="connsiteX7" fmla="*/ 0 w 1916783"/>
              <a:gd name="connsiteY7" fmla="*/ 2003367 h 4006735"/>
              <a:gd name="connsiteX8" fmla="*/ 319341 w 1916783"/>
              <a:gd name="connsiteY8" fmla="*/ 1684026 h 4006735"/>
              <a:gd name="connsiteX9" fmla="*/ 319341 w 1916783"/>
              <a:gd name="connsiteY9" fmla="*/ 319341 h 4006735"/>
              <a:gd name="connsiteX10" fmla="*/ 638682 w 1916783"/>
              <a:gd name="connsiteY10" fmla="*/ 0 h 4006735"/>
              <a:gd name="connsiteX11" fmla="*/ 1688882 w 1916783"/>
              <a:gd name="connsiteY11" fmla="*/ 9144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7" fmla="*/ 1916783 w 1916783"/>
              <a:gd name="connsiteY7" fmla="*/ 319341 h 4006735"/>
              <a:gd name="connsiteX8" fmla="*/ 638682 w 1916783"/>
              <a:gd name="connsiteY8" fmla="*/ 4006735 h 4006735"/>
              <a:gd name="connsiteX9" fmla="*/ 1916783 w 1916783"/>
              <a:gd name="connsiteY9" fmla="*/ 319341 h 4006735"/>
              <a:gd name="connsiteX0" fmla="*/ 1597442 w 1916783"/>
              <a:gd name="connsiteY0" fmla="*/ 0 h 4077616"/>
              <a:gd name="connsiteX1" fmla="*/ 1916783 w 1916783"/>
              <a:gd name="connsiteY1" fmla="*/ 319341 h 4077616"/>
              <a:gd name="connsiteX2" fmla="*/ 1916783 w 1916783"/>
              <a:gd name="connsiteY2" fmla="*/ 3687394 h 4077616"/>
              <a:gd name="connsiteX3" fmla="*/ 638682 w 1916783"/>
              <a:gd name="connsiteY3" fmla="*/ 4006735 h 4077616"/>
              <a:gd name="connsiteX4" fmla="*/ 319341 w 1916783"/>
              <a:gd name="connsiteY4" fmla="*/ 3687394 h 4077616"/>
              <a:gd name="connsiteX5" fmla="*/ 319341 w 1916783"/>
              <a:gd name="connsiteY5" fmla="*/ 2322708 h 4077616"/>
              <a:gd name="connsiteX6" fmla="*/ 0 w 1916783"/>
              <a:gd name="connsiteY6" fmla="*/ 2003367 h 4077616"/>
              <a:gd name="connsiteX7" fmla="*/ 319341 w 1916783"/>
              <a:gd name="connsiteY7" fmla="*/ 1684026 h 4077616"/>
              <a:gd name="connsiteX8" fmla="*/ 319341 w 1916783"/>
              <a:gd name="connsiteY8" fmla="*/ 319341 h 4077616"/>
              <a:gd name="connsiteX9" fmla="*/ 638682 w 1916783"/>
              <a:gd name="connsiteY9" fmla="*/ 0 h 4077616"/>
              <a:gd name="connsiteX10" fmla="*/ 1688882 w 1916783"/>
              <a:gd name="connsiteY10" fmla="*/ 91440 h 4077616"/>
              <a:gd name="connsiteX0" fmla="*/ 638682 w 1916783"/>
              <a:gd name="connsiteY0" fmla="*/ 4006735 h 4077616"/>
              <a:gd name="connsiteX1" fmla="*/ 319341 w 1916783"/>
              <a:gd name="connsiteY1" fmla="*/ 3687394 h 4077616"/>
              <a:gd name="connsiteX2" fmla="*/ 319341 w 1916783"/>
              <a:gd name="connsiteY2" fmla="*/ 2322708 h 4077616"/>
              <a:gd name="connsiteX3" fmla="*/ 0 w 1916783"/>
              <a:gd name="connsiteY3" fmla="*/ 2003367 h 4077616"/>
              <a:gd name="connsiteX4" fmla="*/ 319341 w 1916783"/>
              <a:gd name="connsiteY4" fmla="*/ 1684026 h 4077616"/>
              <a:gd name="connsiteX5" fmla="*/ 319341 w 1916783"/>
              <a:gd name="connsiteY5" fmla="*/ 319341 h 4077616"/>
              <a:gd name="connsiteX6" fmla="*/ 638682 w 1916783"/>
              <a:gd name="connsiteY6" fmla="*/ 0 h 4077616"/>
              <a:gd name="connsiteX7" fmla="*/ 1916783 w 1916783"/>
              <a:gd name="connsiteY7" fmla="*/ 319341 h 4077616"/>
              <a:gd name="connsiteX8" fmla="*/ 638682 w 1916783"/>
              <a:gd name="connsiteY8" fmla="*/ 4006735 h 4077616"/>
              <a:gd name="connsiteX9" fmla="*/ 1916783 w 1916783"/>
              <a:gd name="connsiteY9" fmla="*/ 319341 h 4077616"/>
              <a:gd name="connsiteX0" fmla="*/ 1597442 w 1916783"/>
              <a:gd name="connsiteY0" fmla="*/ 0 h 4077616"/>
              <a:gd name="connsiteX1" fmla="*/ 1916783 w 1916783"/>
              <a:gd name="connsiteY1" fmla="*/ 319341 h 4077616"/>
              <a:gd name="connsiteX2" fmla="*/ 1916783 w 1916783"/>
              <a:gd name="connsiteY2" fmla="*/ 3687394 h 4077616"/>
              <a:gd name="connsiteX3" fmla="*/ 638682 w 1916783"/>
              <a:gd name="connsiteY3" fmla="*/ 4006735 h 4077616"/>
              <a:gd name="connsiteX4" fmla="*/ 319341 w 1916783"/>
              <a:gd name="connsiteY4" fmla="*/ 3687394 h 4077616"/>
              <a:gd name="connsiteX5" fmla="*/ 319341 w 1916783"/>
              <a:gd name="connsiteY5" fmla="*/ 2322708 h 4077616"/>
              <a:gd name="connsiteX6" fmla="*/ 0 w 1916783"/>
              <a:gd name="connsiteY6" fmla="*/ 2003367 h 4077616"/>
              <a:gd name="connsiteX7" fmla="*/ 319341 w 1916783"/>
              <a:gd name="connsiteY7" fmla="*/ 1684026 h 4077616"/>
              <a:gd name="connsiteX8" fmla="*/ 319341 w 1916783"/>
              <a:gd name="connsiteY8" fmla="*/ 319341 h 4077616"/>
              <a:gd name="connsiteX9" fmla="*/ 638682 w 1916783"/>
              <a:gd name="connsiteY9" fmla="*/ 0 h 4077616"/>
              <a:gd name="connsiteX10" fmla="*/ 1688882 w 1916783"/>
              <a:gd name="connsiteY10" fmla="*/ 91440 h 4077616"/>
              <a:gd name="connsiteX0" fmla="*/ 638682 w 1916783"/>
              <a:gd name="connsiteY0" fmla="*/ 4006735 h 4077616"/>
              <a:gd name="connsiteX1" fmla="*/ 319341 w 1916783"/>
              <a:gd name="connsiteY1" fmla="*/ 3687394 h 4077616"/>
              <a:gd name="connsiteX2" fmla="*/ 319341 w 1916783"/>
              <a:gd name="connsiteY2" fmla="*/ 2322708 h 4077616"/>
              <a:gd name="connsiteX3" fmla="*/ 0 w 1916783"/>
              <a:gd name="connsiteY3" fmla="*/ 2003367 h 4077616"/>
              <a:gd name="connsiteX4" fmla="*/ 319341 w 1916783"/>
              <a:gd name="connsiteY4" fmla="*/ 1684026 h 4077616"/>
              <a:gd name="connsiteX5" fmla="*/ 319341 w 1916783"/>
              <a:gd name="connsiteY5" fmla="*/ 319341 h 4077616"/>
              <a:gd name="connsiteX6" fmla="*/ 638682 w 1916783"/>
              <a:gd name="connsiteY6" fmla="*/ 0 h 4077616"/>
              <a:gd name="connsiteX7" fmla="*/ 1916783 w 1916783"/>
              <a:gd name="connsiteY7" fmla="*/ 319341 h 4077616"/>
              <a:gd name="connsiteX8" fmla="*/ 638682 w 1916783"/>
              <a:gd name="connsiteY8" fmla="*/ 4006735 h 4077616"/>
              <a:gd name="connsiteX9" fmla="*/ 1916783 w 1916783"/>
              <a:gd name="connsiteY9" fmla="*/ 319341 h 4077616"/>
              <a:gd name="connsiteX0" fmla="*/ 1597442 w 1916783"/>
              <a:gd name="connsiteY0" fmla="*/ 0 h 4006735"/>
              <a:gd name="connsiteX1" fmla="*/ 1916783 w 1916783"/>
              <a:gd name="connsiteY1" fmla="*/ 319341 h 4006735"/>
              <a:gd name="connsiteX2" fmla="*/ 638682 w 1916783"/>
              <a:gd name="connsiteY2" fmla="*/ 4006735 h 4006735"/>
              <a:gd name="connsiteX3" fmla="*/ 319341 w 1916783"/>
              <a:gd name="connsiteY3" fmla="*/ 3687394 h 4006735"/>
              <a:gd name="connsiteX4" fmla="*/ 319341 w 1916783"/>
              <a:gd name="connsiteY4" fmla="*/ 2322708 h 4006735"/>
              <a:gd name="connsiteX5" fmla="*/ 0 w 1916783"/>
              <a:gd name="connsiteY5" fmla="*/ 2003367 h 4006735"/>
              <a:gd name="connsiteX6" fmla="*/ 319341 w 1916783"/>
              <a:gd name="connsiteY6" fmla="*/ 1684026 h 4006735"/>
              <a:gd name="connsiteX7" fmla="*/ 319341 w 1916783"/>
              <a:gd name="connsiteY7" fmla="*/ 319341 h 4006735"/>
              <a:gd name="connsiteX8" fmla="*/ 638682 w 1916783"/>
              <a:gd name="connsiteY8" fmla="*/ 0 h 4006735"/>
              <a:gd name="connsiteX9" fmla="*/ 1688882 w 1916783"/>
              <a:gd name="connsiteY9" fmla="*/ 9144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7" fmla="*/ 1916783 w 1916783"/>
              <a:gd name="connsiteY7" fmla="*/ 319341 h 4006735"/>
              <a:gd name="connsiteX8" fmla="*/ 638682 w 1916783"/>
              <a:gd name="connsiteY8" fmla="*/ 4006735 h 4006735"/>
              <a:gd name="connsiteX9" fmla="*/ 1916783 w 1916783"/>
              <a:gd name="connsiteY9" fmla="*/ 319341 h 4006735"/>
              <a:gd name="connsiteX0" fmla="*/ 1597442 w 1916783"/>
              <a:gd name="connsiteY0" fmla="*/ 0 h 4006735"/>
              <a:gd name="connsiteX1" fmla="*/ 1916783 w 1916783"/>
              <a:gd name="connsiteY1" fmla="*/ 319341 h 4006735"/>
              <a:gd name="connsiteX2" fmla="*/ 638682 w 1916783"/>
              <a:gd name="connsiteY2" fmla="*/ 4006735 h 4006735"/>
              <a:gd name="connsiteX3" fmla="*/ 319341 w 1916783"/>
              <a:gd name="connsiteY3" fmla="*/ 3687394 h 4006735"/>
              <a:gd name="connsiteX4" fmla="*/ 319341 w 1916783"/>
              <a:gd name="connsiteY4" fmla="*/ 2322708 h 4006735"/>
              <a:gd name="connsiteX5" fmla="*/ 0 w 1916783"/>
              <a:gd name="connsiteY5" fmla="*/ 2003367 h 4006735"/>
              <a:gd name="connsiteX6" fmla="*/ 319341 w 1916783"/>
              <a:gd name="connsiteY6" fmla="*/ 1684026 h 4006735"/>
              <a:gd name="connsiteX7" fmla="*/ 319341 w 1916783"/>
              <a:gd name="connsiteY7" fmla="*/ 319341 h 4006735"/>
              <a:gd name="connsiteX8" fmla="*/ 638682 w 1916783"/>
              <a:gd name="connsiteY8" fmla="*/ 0 h 4006735"/>
              <a:gd name="connsiteX9" fmla="*/ 1688882 w 1916783"/>
              <a:gd name="connsiteY9" fmla="*/ 9144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0" fmla="*/ 1597442 w 1916783"/>
              <a:gd name="connsiteY0" fmla="*/ 0 h 4006735"/>
              <a:gd name="connsiteX1" fmla="*/ 1916783 w 1916783"/>
              <a:gd name="connsiteY1" fmla="*/ 319341 h 4006735"/>
              <a:gd name="connsiteX2" fmla="*/ 638682 w 1916783"/>
              <a:gd name="connsiteY2" fmla="*/ 4006735 h 4006735"/>
              <a:gd name="connsiteX3" fmla="*/ 319341 w 1916783"/>
              <a:gd name="connsiteY3" fmla="*/ 3687394 h 4006735"/>
              <a:gd name="connsiteX4" fmla="*/ 319341 w 1916783"/>
              <a:gd name="connsiteY4" fmla="*/ 2322708 h 4006735"/>
              <a:gd name="connsiteX5" fmla="*/ 0 w 1916783"/>
              <a:gd name="connsiteY5" fmla="*/ 2003367 h 4006735"/>
              <a:gd name="connsiteX6" fmla="*/ 319341 w 1916783"/>
              <a:gd name="connsiteY6" fmla="*/ 1684026 h 4006735"/>
              <a:gd name="connsiteX7" fmla="*/ 319341 w 1916783"/>
              <a:gd name="connsiteY7" fmla="*/ 319341 h 4006735"/>
              <a:gd name="connsiteX8" fmla="*/ 638682 w 1916783"/>
              <a:gd name="connsiteY8" fmla="*/ 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0" fmla="*/ 1916783 w 1916783"/>
              <a:gd name="connsiteY0" fmla="*/ 319341 h 4006735"/>
              <a:gd name="connsiteX1" fmla="*/ 638682 w 1916783"/>
              <a:gd name="connsiteY1" fmla="*/ 4006735 h 4006735"/>
              <a:gd name="connsiteX2" fmla="*/ 319341 w 1916783"/>
              <a:gd name="connsiteY2" fmla="*/ 3687394 h 4006735"/>
              <a:gd name="connsiteX3" fmla="*/ 319341 w 1916783"/>
              <a:gd name="connsiteY3" fmla="*/ 2322708 h 4006735"/>
              <a:gd name="connsiteX4" fmla="*/ 0 w 1916783"/>
              <a:gd name="connsiteY4" fmla="*/ 2003367 h 4006735"/>
              <a:gd name="connsiteX5" fmla="*/ 319341 w 1916783"/>
              <a:gd name="connsiteY5" fmla="*/ 1684026 h 4006735"/>
              <a:gd name="connsiteX6" fmla="*/ 319341 w 1916783"/>
              <a:gd name="connsiteY6" fmla="*/ 319341 h 4006735"/>
              <a:gd name="connsiteX7" fmla="*/ 638682 w 1916783"/>
              <a:gd name="connsiteY7" fmla="*/ 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0" fmla="*/ 638682 w 638682"/>
              <a:gd name="connsiteY0" fmla="*/ 4006735 h 4006735"/>
              <a:gd name="connsiteX1" fmla="*/ 319341 w 638682"/>
              <a:gd name="connsiteY1" fmla="*/ 3687394 h 4006735"/>
              <a:gd name="connsiteX2" fmla="*/ 319341 w 638682"/>
              <a:gd name="connsiteY2" fmla="*/ 2322708 h 4006735"/>
              <a:gd name="connsiteX3" fmla="*/ 0 w 638682"/>
              <a:gd name="connsiteY3" fmla="*/ 2003367 h 4006735"/>
              <a:gd name="connsiteX4" fmla="*/ 319341 w 638682"/>
              <a:gd name="connsiteY4" fmla="*/ 1684026 h 4006735"/>
              <a:gd name="connsiteX5" fmla="*/ 319341 w 638682"/>
              <a:gd name="connsiteY5" fmla="*/ 319341 h 4006735"/>
              <a:gd name="connsiteX6" fmla="*/ 638682 w 638682"/>
              <a:gd name="connsiteY6" fmla="*/ 0 h 4006735"/>
              <a:gd name="connsiteX0" fmla="*/ 638682 w 638682"/>
              <a:gd name="connsiteY0" fmla="*/ 4006735 h 4006735"/>
              <a:gd name="connsiteX1" fmla="*/ 319341 w 638682"/>
              <a:gd name="connsiteY1" fmla="*/ 3687394 h 4006735"/>
              <a:gd name="connsiteX2" fmla="*/ 319341 w 638682"/>
              <a:gd name="connsiteY2" fmla="*/ 2322708 h 4006735"/>
              <a:gd name="connsiteX3" fmla="*/ 0 w 638682"/>
              <a:gd name="connsiteY3" fmla="*/ 2003367 h 4006735"/>
              <a:gd name="connsiteX4" fmla="*/ 319341 w 638682"/>
              <a:gd name="connsiteY4" fmla="*/ 1684026 h 4006735"/>
              <a:gd name="connsiteX5" fmla="*/ 319341 w 638682"/>
              <a:gd name="connsiteY5" fmla="*/ 319341 h 4006735"/>
              <a:gd name="connsiteX6" fmla="*/ 638682 w 638682"/>
              <a:gd name="connsiteY6" fmla="*/ 0 h 400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682" h="4006735" stroke="0" extrusionOk="0">
                <a:moveTo>
                  <a:pt x="638682" y="4006735"/>
                </a:moveTo>
                <a:cubicBezTo>
                  <a:pt x="462315" y="4006735"/>
                  <a:pt x="319341" y="3863761"/>
                  <a:pt x="319341" y="3687394"/>
                </a:cubicBezTo>
                <a:lnTo>
                  <a:pt x="319341" y="2322708"/>
                </a:lnTo>
                <a:cubicBezTo>
                  <a:pt x="319341" y="2146341"/>
                  <a:pt x="176367" y="2003367"/>
                  <a:pt x="0" y="2003367"/>
                </a:cubicBezTo>
                <a:cubicBezTo>
                  <a:pt x="176367" y="2003367"/>
                  <a:pt x="319341" y="1860393"/>
                  <a:pt x="319341" y="1684026"/>
                </a:cubicBezTo>
                <a:lnTo>
                  <a:pt x="319341" y="319341"/>
                </a:lnTo>
                <a:cubicBezTo>
                  <a:pt x="319341" y="142974"/>
                  <a:pt x="462315" y="0"/>
                  <a:pt x="638682" y="0"/>
                </a:cubicBezTo>
              </a:path>
              <a:path w="638682" h="4006735" fill="none">
                <a:moveTo>
                  <a:pt x="638682" y="4006735"/>
                </a:moveTo>
                <a:cubicBezTo>
                  <a:pt x="462315" y="4006735"/>
                  <a:pt x="319341" y="3863761"/>
                  <a:pt x="319341" y="3687394"/>
                </a:cubicBezTo>
                <a:lnTo>
                  <a:pt x="319341" y="2322708"/>
                </a:lnTo>
                <a:cubicBezTo>
                  <a:pt x="319341" y="2146341"/>
                  <a:pt x="176367" y="2003367"/>
                  <a:pt x="0" y="2003367"/>
                </a:cubicBezTo>
                <a:cubicBezTo>
                  <a:pt x="176367" y="2003367"/>
                  <a:pt x="319341" y="1860393"/>
                  <a:pt x="319341" y="1684026"/>
                </a:cubicBezTo>
                <a:lnTo>
                  <a:pt x="319341" y="319341"/>
                </a:lnTo>
                <a:cubicBezTo>
                  <a:pt x="319341" y="142974"/>
                  <a:pt x="462315" y="0"/>
                  <a:pt x="638682" y="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9" name="Double Brace 8"/>
          <p:cNvSpPr/>
          <p:nvPr/>
        </p:nvSpPr>
        <p:spPr>
          <a:xfrm flipH="1">
            <a:off x="6709767" y="629919"/>
            <a:ext cx="640080" cy="5876176"/>
          </a:xfrm>
          <a:custGeom>
            <a:avLst/>
            <a:gdLst>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14" fmla="*/ 638682 w 2236124"/>
              <a:gd name="connsiteY14"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14" fmla="*/ 638682 w 2236124"/>
              <a:gd name="connsiteY14"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1916783 w 2236124"/>
              <a:gd name="connsiteY8" fmla="*/ 1684027 h 4006735"/>
              <a:gd name="connsiteX9" fmla="*/ 2236124 w 2236124"/>
              <a:gd name="connsiteY9" fmla="*/ 2003368 h 4006735"/>
              <a:gd name="connsiteX10" fmla="*/ 1916783 w 2236124"/>
              <a:gd name="connsiteY10" fmla="*/ 2322709 h 4006735"/>
              <a:gd name="connsiteX11" fmla="*/ 1916783 w 2236124"/>
              <a:gd name="connsiteY11" fmla="*/ 3687394 h 4006735"/>
              <a:gd name="connsiteX12" fmla="*/ 1597442 w 2236124"/>
              <a:gd name="connsiteY12"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14" fmla="*/ 638682 w 2236124"/>
              <a:gd name="connsiteY14"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1916783 w 2236124"/>
              <a:gd name="connsiteY8" fmla="*/ 1684027 h 4006735"/>
              <a:gd name="connsiteX9" fmla="*/ 2236124 w 2236124"/>
              <a:gd name="connsiteY9" fmla="*/ 2003368 h 4006735"/>
              <a:gd name="connsiteX10" fmla="*/ 1916783 w 2236124"/>
              <a:gd name="connsiteY10" fmla="*/ 2322709 h 4006735"/>
              <a:gd name="connsiteX11" fmla="*/ 1916783 w 2236124"/>
              <a:gd name="connsiteY11" fmla="*/ 3687394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14" fmla="*/ 638682 w 2236124"/>
              <a:gd name="connsiteY14"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1916783 w 2236124"/>
              <a:gd name="connsiteY8" fmla="*/ 1684027 h 4006735"/>
              <a:gd name="connsiteX9" fmla="*/ 2236124 w 2236124"/>
              <a:gd name="connsiteY9" fmla="*/ 2003368 h 4006735"/>
              <a:gd name="connsiteX10" fmla="*/ 1916783 w 2236124"/>
              <a:gd name="connsiteY10" fmla="*/ 3687394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597442 w 2236124"/>
              <a:gd name="connsiteY7" fmla="*/ 0 h 4006735"/>
              <a:gd name="connsiteX8" fmla="*/ 1916783 w 2236124"/>
              <a:gd name="connsiteY8" fmla="*/ 319341 h 4006735"/>
              <a:gd name="connsiteX9" fmla="*/ 1916783 w 2236124"/>
              <a:gd name="connsiteY9" fmla="*/ 1684027 h 4006735"/>
              <a:gd name="connsiteX10" fmla="*/ 2236124 w 2236124"/>
              <a:gd name="connsiteY10" fmla="*/ 2003368 h 4006735"/>
              <a:gd name="connsiteX11" fmla="*/ 1916783 w 2236124"/>
              <a:gd name="connsiteY11" fmla="*/ 2322709 h 4006735"/>
              <a:gd name="connsiteX12" fmla="*/ 1916783 w 2236124"/>
              <a:gd name="connsiteY12" fmla="*/ 3687394 h 4006735"/>
              <a:gd name="connsiteX13" fmla="*/ 1597442 w 2236124"/>
              <a:gd name="connsiteY13" fmla="*/ 4006735 h 4006735"/>
              <a:gd name="connsiteX14" fmla="*/ 638682 w 2236124"/>
              <a:gd name="connsiteY14" fmla="*/ 4006735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2236124 w 2236124"/>
              <a:gd name="connsiteY8" fmla="*/ 2003368 h 4006735"/>
              <a:gd name="connsiteX9" fmla="*/ 1916783 w 2236124"/>
              <a:gd name="connsiteY9" fmla="*/ 3687394 h 4006735"/>
              <a:gd name="connsiteX0" fmla="*/ 1597442 w 2236124"/>
              <a:gd name="connsiteY0" fmla="*/ 0 h 4006735"/>
              <a:gd name="connsiteX1" fmla="*/ 1916783 w 2236124"/>
              <a:gd name="connsiteY1" fmla="*/ 319341 h 4006735"/>
              <a:gd name="connsiteX2" fmla="*/ 1916783 w 2236124"/>
              <a:gd name="connsiteY2" fmla="*/ 1684027 h 4006735"/>
              <a:gd name="connsiteX3" fmla="*/ 2236124 w 2236124"/>
              <a:gd name="connsiteY3" fmla="*/ 2003368 h 4006735"/>
              <a:gd name="connsiteX4" fmla="*/ 1916783 w 2236124"/>
              <a:gd name="connsiteY4" fmla="*/ 2322709 h 4006735"/>
              <a:gd name="connsiteX5" fmla="*/ 1916783 w 2236124"/>
              <a:gd name="connsiteY5" fmla="*/ 3687394 h 4006735"/>
              <a:gd name="connsiteX6" fmla="*/ 1597442 w 2236124"/>
              <a:gd name="connsiteY6" fmla="*/ 4006735 h 4006735"/>
              <a:gd name="connsiteX7" fmla="*/ 638682 w 2236124"/>
              <a:gd name="connsiteY7" fmla="*/ 4006735 h 4006735"/>
              <a:gd name="connsiteX8" fmla="*/ 319341 w 2236124"/>
              <a:gd name="connsiteY8" fmla="*/ 3687394 h 4006735"/>
              <a:gd name="connsiteX9" fmla="*/ 319341 w 2236124"/>
              <a:gd name="connsiteY9" fmla="*/ 2322708 h 4006735"/>
              <a:gd name="connsiteX10" fmla="*/ 0 w 2236124"/>
              <a:gd name="connsiteY10" fmla="*/ 2003367 h 4006735"/>
              <a:gd name="connsiteX11" fmla="*/ 319341 w 2236124"/>
              <a:gd name="connsiteY11" fmla="*/ 1684026 h 4006735"/>
              <a:gd name="connsiteX12" fmla="*/ 319341 w 2236124"/>
              <a:gd name="connsiteY12" fmla="*/ 319341 h 4006735"/>
              <a:gd name="connsiteX13" fmla="*/ 638682 w 2236124"/>
              <a:gd name="connsiteY13" fmla="*/ 0 h 4006735"/>
              <a:gd name="connsiteX14" fmla="*/ 1688882 w 2236124"/>
              <a:gd name="connsiteY14" fmla="*/ 91440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2236124 w 2236124"/>
              <a:gd name="connsiteY8" fmla="*/ 2003368 h 4006735"/>
              <a:gd name="connsiteX9" fmla="*/ 1916783 w 2236124"/>
              <a:gd name="connsiteY9" fmla="*/ 3687394 h 4006735"/>
              <a:gd name="connsiteX0" fmla="*/ 1597442 w 2236124"/>
              <a:gd name="connsiteY0" fmla="*/ 0 h 4006735"/>
              <a:gd name="connsiteX1" fmla="*/ 1916783 w 2236124"/>
              <a:gd name="connsiteY1" fmla="*/ 319341 h 4006735"/>
              <a:gd name="connsiteX2" fmla="*/ 1916783 w 2236124"/>
              <a:gd name="connsiteY2" fmla="*/ 1684027 h 4006735"/>
              <a:gd name="connsiteX3" fmla="*/ 2236124 w 2236124"/>
              <a:gd name="connsiteY3" fmla="*/ 2003368 h 4006735"/>
              <a:gd name="connsiteX4" fmla="*/ 1916783 w 2236124"/>
              <a:gd name="connsiteY4" fmla="*/ 2322709 h 4006735"/>
              <a:gd name="connsiteX5" fmla="*/ 1916783 w 2236124"/>
              <a:gd name="connsiteY5" fmla="*/ 3687394 h 4006735"/>
              <a:gd name="connsiteX6" fmla="*/ 1597442 w 2236124"/>
              <a:gd name="connsiteY6" fmla="*/ 4006735 h 4006735"/>
              <a:gd name="connsiteX7" fmla="*/ 638682 w 2236124"/>
              <a:gd name="connsiteY7" fmla="*/ 4006735 h 4006735"/>
              <a:gd name="connsiteX8" fmla="*/ 319341 w 2236124"/>
              <a:gd name="connsiteY8" fmla="*/ 3687394 h 4006735"/>
              <a:gd name="connsiteX9" fmla="*/ 319341 w 2236124"/>
              <a:gd name="connsiteY9" fmla="*/ 2322708 h 4006735"/>
              <a:gd name="connsiteX10" fmla="*/ 0 w 2236124"/>
              <a:gd name="connsiteY10" fmla="*/ 2003367 h 4006735"/>
              <a:gd name="connsiteX11" fmla="*/ 319341 w 2236124"/>
              <a:gd name="connsiteY11" fmla="*/ 1684026 h 4006735"/>
              <a:gd name="connsiteX12" fmla="*/ 319341 w 2236124"/>
              <a:gd name="connsiteY12" fmla="*/ 319341 h 4006735"/>
              <a:gd name="connsiteX13" fmla="*/ 638682 w 2236124"/>
              <a:gd name="connsiteY13" fmla="*/ 0 h 4006735"/>
              <a:gd name="connsiteX14" fmla="*/ 1688882 w 2236124"/>
              <a:gd name="connsiteY14" fmla="*/ 91440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2236124 w 2236124"/>
              <a:gd name="connsiteY8" fmla="*/ 2003368 h 4006735"/>
              <a:gd name="connsiteX9" fmla="*/ 1916783 w 2236124"/>
              <a:gd name="connsiteY9" fmla="*/ 3687394 h 4006735"/>
              <a:gd name="connsiteX10" fmla="*/ 638682 w 2236124"/>
              <a:gd name="connsiteY10" fmla="*/ 4006735 h 4006735"/>
              <a:gd name="connsiteX0" fmla="*/ 1597442 w 2236124"/>
              <a:gd name="connsiteY0" fmla="*/ 0 h 4006735"/>
              <a:gd name="connsiteX1" fmla="*/ 1916783 w 2236124"/>
              <a:gd name="connsiteY1" fmla="*/ 319341 h 4006735"/>
              <a:gd name="connsiteX2" fmla="*/ 1916783 w 2236124"/>
              <a:gd name="connsiteY2" fmla="*/ 1684027 h 4006735"/>
              <a:gd name="connsiteX3" fmla="*/ 2236124 w 2236124"/>
              <a:gd name="connsiteY3" fmla="*/ 2003368 h 4006735"/>
              <a:gd name="connsiteX4" fmla="*/ 1916783 w 2236124"/>
              <a:gd name="connsiteY4" fmla="*/ 2322709 h 4006735"/>
              <a:gd name="connsiteX5" fmla="*/ 1916783 w 2236124"/>
              <a:gd name="connsiteY5" fmla="*/ 3687394 h 4006735"/>
              <a:gd name="connsiteX6" fmla="*/ 1597442 w 2236124"/>
              <a:gd name="connsiteY6" fmla="*/ 4006735 h 4006735"/>
              <a:gd name="connsiteX7" fmla="*/ 638682 w 2236124"/>
              <a:gd name="connsiteY7" fmla="*/ 4006735 h 4006735"/>
              <a:gd name="connsiteX8" fmla="*/ 319341 w 2236124"/>
              <a:gd name="connsiteY8" fmla="*/ 3687394 h 4006735"/>
              <a:gd name="connsiteX9" fmla="*/ 319341 w 2236124"/>
              <a:gd name="connsiteY9" fmla="*/ 2322708 h 4006735"/>
              <a:gd name="connsiteX10" fmla="*/ 0 w 2236124"/>
              <a:gd name="connsiteY10" fmla="*/ 2003367 h 4006735"/>
              <a:gd name="connsiteX11" fmla="*/ 319341 w 2236124"/>
              <a:gd name="connsiteY11" fmla="*/ 1684026 h 4006735"/>
              <a:gd name="connsiteX12" fmla="*/ 319341 w 2236124"/>
              <a:gd name="connsiteY12" fmla="*/ 319341 h 4006735"/>
              <a:gd name="connsiteX13" fmla="*/ 638682 w 2236124"/>
              <a:gd name="connsiteY13" fmla="*/ 0 h 4006735"/>
              <a:gd name="connsiteX14" fmla="*/ 1688882 w 2236124"/>
              <a:gd name="connsiteY14" fmla="*/ 91440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1916783 w 2236124"/>
              <a:gd name="connsiteY8" fmla="*/ 3687394 h 4006735"/>
              <a:gd name="connsiteX9" fmla="*/ 638682 w 2236124"/>
              <a:gd name="connsiteY9" fmla="*/ 4006735 h 4006735"/>
              <a:gd name="connsiteX10" fmla="*/ 1916783 w 2236124"/>
              <a:gd name="connsiteY10" fmla="*/ 319341 h 4006735"/>
              <a:gd name="connsiteX0" fmla="*/ 1597442 w 2236124"/>
              <a:gd name="connsiteY0" fmla="*/ 0 h 4006735"/>
              <a:gd name="connsiteX1" fmla="*/ 1916783 w 2236124"/>
              <a:gd name="connsiteY1" fmla="*/ 319341 h 4006735"/>
              <a:gd name="connsiteX2" fmla="*/ 2236124 w 2236124"/>
              <a:gd name="connsiteY2" fmla="*/ 2003368 h 4006735"/>
              <a:gd name="connsiteX3" fmla="*/ 1916783 w 2236124"/>
              <a:gd name="connsiteY3" fmla="*/ 2322709 h 4006735"/>
              <a:gd name="connsiteX4" fmla="*/ 1916783 w 2236124"/>
              <a:gd name="connsiteY4" fmla="*/ 3687394 h 4006735"/>
              <a:gd name="connsiteX5" fmla="*/ 1597442 w 2236124"/>
              <a:gd name="connsiteY5" fmla="*/ 4006735 h 4006735"/>
              <a:gd name="connsiteX6" fmla="*/ 638682 w 2236124"/>
              <a:gd name="connsiteY6" fmla="*/ 4006735 h 4006735"/>
              <a:gd name="connsiteX7" fmla="*/ 319341 w 2236124"/>
              <a:gd name="connsiteY7" fmla="*/ 3687394 h 4006735"/>
              <a:gd name="connsiteX8" fmla="*/ 319341 w 2236124"/>
              <a:gd name="connsiteY8" fmla="*/ 2322708 h 4006735"/>
              <a:gd name="connsiteX9" fmla="*/ 0 w 2236124"/>
              <a:gd name="connsiteY9" fmla="*/ 2003367 h 4006735"/>
              <a:gd name="connsiteX10" fmla="*/ 319341 w 2236124"/>
              <a:gd name="connsiteY10" fmla="*/ 1684026 h 4006735"/>
              <a:gd name="connsiteX11" fmla="*/ 319341 w 2236124"/>
              <a:gd name="connsiteY11" fmla="*/ 319341 h 4006735"/>
              <a:gd name="connsiteX12" fmla="*/ 638682 w 2236124"/>
              <a:gd name="connsiteY12" fmla="*/ 0 h 4006735"/>
              <a:gd name="connsiteX13" fmla="*/ 1688882 w 2236124"/>
              <a:gd name="connsiteY13" fmla="*/ 91440 h 4006735"/>
              <a:gd name="connsiteX0" fmla="*/ 638682 w 2236124"/>
              <a:gd name="connsiteY0" fmla="*/ 4006735 h 4006735"/>
              <a:gd name="connsiteX1" fmla="*/ 319341 w 2236124"/>
              <a:gd name="connsiteY1" fmla="*/ 3687394 h 4006735"/>
              <a:gd name="connsiteX2" fmla="*/ 319341 w 2236124"/>
              <a:gd name="connsiteY2" fmla="*/ 2322708 h 4006735"/>
              <a:gd name="connsiteX3" fmla="*/ 0 w 2236124"/>
              <a:gd name="connsiteY3" fmla="*/ 2003367 h 4006735"/>
              <a:gd name="connsiteX4" fmla="*/ 319341 w 2236124"/>
              <a:gd name="connsiteY4" fmla="*/ 1684026 h 4006735"/>
              <a:gd name="connsiteX5" fmla="*/ 319341 w 2236124"/>
              <a:gd name="connsiteY5" fmla="*/ 319341 h 4006735"/>
              <a:gd name="connsiteX6" fmla="*/ 638682 w 2236124"/>
              <a:gd name="connsiteY6" fmla="*/ 0 h 4006735"/>
              <a:gd name="connsiteX7" fmla="*/ 1916783 w 2236124"/>
              <a:gd name="connsiteY7" fmla="*/ 319341 h 4006735"/>
              <a:gd name="connsiteX8" fmla="*/ 1916783 w 2236124"/>
              <a:gd name="connsiteY8" fmla="*/ 3687394 h 4006735"/>
              <a:gd name="connsiteX9" fmla="*/ 638682 w 2236124"/>
              <a:gd name="connsiteY9" fmla="*/ 4006735 h 4006735"/>
              <a:gd name="connsiteX10" fmla="*/ 1916783 w 2236124"/>
              <a:gd name="connsiteY10" fmla="*/ 319341 h 4006735"/>
              <a:gd name="connsiteX0" fmla="*/ 1597442 w 1916783"/>
              <a:gd name="connsiteY0" fmla="*/ 0 h 4006735"/>
              <a:gd name="connsiteX1" fmla="*/ 1916783 w 1916783"/>
              <a:gd name="connsiteY1" fmla="*/ 319341 h 4006735"/>
              <a:gd name="connsiteX2" fmla="*/ 1916783 w 1916783"/>
              <a:gd name="connsiteY2" fmla="*/ 2322709 h 4006735"/>
              <a:gd name="connsiteX3" fmla="*/ 1916783 w 1916783"/>
              <a:gd name="connsiteY3" fmla="*/ 3687394 h 4006735"/>
              <a:gd name="connsiteX4" fmla="*/ 1597442 w 1916783"/>
              <a:gd name="connsiteY4" fmla="*/ 4006735 h 4006735"/>
              <a:gd name="connsiteX5" fmla="*/ 638682 w 1916783"/>
              <a:gd name="connsiteY5" fmla="*/ 4006735 h 4006735"/>
              <a:gd name="connsiteX6" fmla="*/ 319341 w 1916783"/>
              <a:gd name="connsiteY6" fmla="*/ 3687394 h 4006735"/>
              <a:gd name="connsiteX7" fmla="*/ 319341 w 1916783"/>
              <a:gd name="connsiteY7" fmla="*/ 2322708 h 4006735"/>
              <a:gd name="connsiteX8" fmla="*/ 0 w 1916783"/>
              <a:gd name="connsiteY8" fmla="*/ 2003367 h 4006735"/>
              <a:gd name="connsiteX9" fmla="*/ 319341 w 1916783"/>
              <a:gd name="connsiteY9" fmla="*/ 1684026 h 4006735"/>
              <a:gd name="connsiteX10" fmla="*/ 319341 w 1916783"/>
              <a:gd name="connsiteY10" fmla="*/ 319341 h 4006735"/>
              <a:gd name="connsiteX11" fmla="*/ 638682 w 1916783"/>
              <a:gd name="connsiteY11" fmla="*/ 0 h 4006735"/>
              <a:gd name="connsiteX12" fmla="*/ 1688882 w 1916783"/>
              <a:gd name="connsiteY12" fmla="*/ 9144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7" fmla="*/ 1916783 w 1916783"/>
              <a:gd name="connsiteY7" fmla="*/ 319341 h 4006735"/>
              <a:gd name="connsiteX8" fmla="*/ 1916783 w 1916783"/>
              <a:gd name="connsiteY8" fmla="*/ 3687394 h 4006735"/>
              <a:gd name="connsiteX9" fmla="*/ 638682 w 1916783"/>
              <a:gd name="connsiteY9" fmla="*/ 4006735 h 4006735"/>
              <a:gd name="connsiteX10" fmla="*/ 1916783 w 1916783"/>
              <a:gd name="connsiteY10" fmla="*/ 319341 h 4006735"/>
              <a:gd name="connsiteX0" fmla="*/ 1597442 w 1916783"/>
              <a:gd name="connsiteY0" fmla="*/ 0 h 4006735"/>
              <a:gd name="connsiteX1" fmla="*/ 1916783 w 1916783"/>
              <a:gd name="connsiteY1" fmla="*/ 319341 h 4006735"/>
              <a:gd name="connsiteX2" fmla="*/ 1916783 w 1916783"/>
              <a:gd name="connsiteY2" fmla="*/ 3687394 h 4006735"/>
              <a:gd name="connsiteX3" fmla="*/ 1597442 w 1916783"/>
              <a:gd name="connsiteY3" fmla="*/ 4006735 h 4006735"/>
              <a:gd name="connsiteX4" fmla="*/ 638682 w 1916783"/>
              <a:gd name="connsiteY4" fmla="*/ 4006735 h 4006735"/>
              <a:gd name="connsiteX5" fmla="*/ 319341 w 1916783"/>
              <a:gd name="connsiteY5" fmla="*/ 3687394 h 4006735"/>
              <a:gd name="connsiteX6" fmla="*/ 319341 w 1916783"/>
              <a:gd name="connsiteY6" fmla="*/ 2322708 h 4006735"/>
              <a:gd name="connsiteX7" fmla="*/ 0 w 1916783"/>
              <a:gd name="connsiteY7" fmla="*/ 2003367 h 4006735"/>
              <a:gd name="connsiteX8" fmla="*/ 319341 w 1916783"/>
              <a:gd name="connsiteY8" fmla="*/ 1684026 h 4006735"/>
              <a:gd name="connsiteX9" fmla="*/ 319341 w 1916783"/>
              <a:gd name="connsiteY9" fmla="*/ 319341 h 4006735"/>
              <a:gd name="connsiteX10" fmla="*/ 638682 w 1916783"/>
              <a:gd name="connsiteY10" fmla="*/ 0 h 4006735"/>
              <a:gd name="connsiteX11" fmla="*/ 1688882 w 1916783"/>
              <a:gd name="connsiteY11" fmla="*/ 9144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7" fmla="*/ 1916783 w 1916783"/>
              <a:gd name="connsiteY7" fmla="*/ 319341 h 4006735"/>
              <a:gd name="connsiteX8" fmla="*/ 1916783 w 1916783"/>
              <a:gd name="connsiteY8" fmla="*/ 3687394 h 4006735"/>
              <a:gd name="connsiteX9" fmla="*/ 638682 w 1916783"/>
              <a:gd name="connsiteY9" fmla="*/ 4006735 h 4006735"/>
              <a:gd name="connsiteX10" fmla="*/ 1916783 w 1916783"/>
              <a:gd name="connsiteY10" fmla="*/ 319341 h 4006735"/>
              <a:gd name="connsiteX0" fmla="*/ 1597442 w 1916783"/>
              <a:gd name="connsiteY0" fmla="*/ 0 h 4006735"/>
              <a:gd name="connsiteX1" fmla="*/ 1916783 w 1916783"/>
              <a:gd name="connsiteY1" fmla="*/ 319341 h 4006735"/>
              <a:gd name="connsiteX2" fmla="*/ 1916783 w 1916783"/>
              <a:gd name="connsiteY2" fmla="*/ 3687394 h 4006735"/>
              <a:gd name="connsiteX3" fmla="*/ 1597442 w 1916783"/>
              <a:gd name="connsiteY3" fmla="*/ 4006735 h 4006735"/>
              <a:gd name="connsiteX4" fmla="*/ 638682 w 1916783"/>
              <a:gd name="connsiteY4" fmla="*/ 4006735 h 4006735"/>
              <a:gd name="connsiteX5" fmla="*/ 319341 w 1916783"/>
              <a:gd name="connsiteY5" fmla="*/ 3687394 h 4006735"/>
              <a:gd name="connsiteX6" fmla="*/ 319341 w 1916783"/>
              <a:gd name="connsiteY6" fmla="*/ 2322708 h 4006735"/>
              <a:gd name="connsiteX7" fmla="*/ 0 w 1916783"/>
              <a:gd name="connsiteY7" fmla="*/ 2003367 h 4006735"/>
              <a:gd name="connsiteX8" fmla="*/ 319341 w 1916783"/>
              <a:gd name="connsiteY8" fmla="*/ 1684026 h 4006735"/>
              <a:gd name="connsiteX9" fmla="*/ 319341 w 1916783"/>
              <a:gd name="connsiteY9" fmla="*/ 319341 h 4006735"/>
              <a:gd name="connsiteX10" fmla="*/ 638682 w 1916783"/>
              <a:gd name="connsiteY10" fmla="*/ 0 h 4006735"/>
              <a:gd name="connsiteX11" fmla="*/ 1688882 w 1916783"/>
              <a:gd name="connsiteY11" fmla="*/ 9144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7" fmla="*/ 1916783 w 1916783"/>
              <a:gd name="connsiteY7" fmla="*/ 319341 h 4006735"/>
              <a:gd name="connsiteX8" fmla="*/ 638682 w 1916783"/>
              <a:gd name="connsiteY8" fmla="*/ 4006735 h 4006735"/>
              <a:gd name="connsiteX9" fmla="*/ 1916783 w 1916783"/>
              <a:gd name="connsiteY9" fmla="*/ 319341 h 4006735"/>
              <a:gd name="connsiteX0" fmla="*/ 1597442 w 1916783"/>
              <a:gd name="connsiteY0" fmla="*/ 0 h 4077616"/>
              <a:gd name="connsiteX1" fmla="*/ 1916783 w 1916783"/>
              <a:gd name="connsiteY1" fmla="*/ 319341 h 4077616"/>
              <a:gd name="connsiteX2" fmla="*/ 1916783 w 1916783"/>
              <a:gd name="connsiteY2" fmla="*/ 3687394 h 4077616"/>
              <a:gd name="connsiteX3" fmla="*/ 638682 w 1916783"/>
              <a:gd name="connsiteY3" fmla="*/ 4006735 h 4077616"/>
              <a:gd name="connsiteX4" fmla="*/ 319341 w 1916783"/>
              <a:gd name="connsiteY4" fmla="*/ 3687394 h 4077616"/>
              <a:gd name="connsiteX5" fmla="*/ 319341 w 1916783"/>
              <a:gd name="connsiteY5" fmla="*/ 2322708 h 4077616"/>
              <a:gd name="connsiteX6" fmla="*/ 0 w 1916783"/>
              <a:gd name="connsiteY6" fmla="*/ 2003367 h 4077616"/>
              <a:gd name="connsiteX7" fmla="*/ 319341 w 1916783"/>
              <a:gd name="connsiteY7" fmla="*/ 1684026 h 4077616"/>
              <a:gd name="connsiteX8" fmla="*/ 319341 w 1916783"/>
              <a:gd name="connsiteY8" fmla="*/ 319341 h 4077616"/>
              <a:gd name="connsiteX9" fmla="*/ 638682 w 1916783"/>
              <a:gd name="connsiteY9" fmla="*/ 0 h 4077616"/>
              <a:gd name="connsiteX10" fmla="*/ 1688882 w 1916783"/>
              <a:gd name="connsiteY10" fmla="*/ 91440 h 4077616"/>
              <a:gd name="connsiteX0" fmla="*/ 638682 w 1916783"/>
              <a:gd name="connsiteY0" fmla="*/ 4006735 h 4077616"/>
              <a:gd name="connsiteX1" fmla="*/ 319341 w 1916783"/>
              <a:gd name="connsiteY1" fmla="*/ 3687394 h 4077616"/>
              <a:gd name="connsiteX2" fmla="*/ 319341 w 1916783"/>
              <a:gd name="connsiteY2" fmla="*/ 2322708 h 4077616"/>
              <a:gd name="connsiteX3" fmla="*/ 0 w 1916783"/>
              <a:gd name="connsiteY3" fmla="*/ 2003367 h 4077616"/>
              <a:gd name="connsiteX4" fmla="*/ 319341 w 1916783"/>
              <a:gd name="connsiteY4" fmla="*/ 1684026 h 4077616"/>
              <a:gd name="connsiteX5" fmla="*/ 319341 w 1916783"/>
              <a:gd name="connsiteY5" fmla="*/ 319341 h 4077616"/>
              <a:gd name="connsiteX6" fmla="*/ 638682 w 1916783"/>
              <a:gd name="connsiteY6" fmla="*/ 0 h 4077616"/>
              <a:gd name="connsiteX7" fmla="*/ 1916783 w 1916783"/>
              <a:gd name="connsiteY7" fmla="*/ 319341 h 4077616"/>
              <a:gd name="connsiteX8" fmla="*/ 638682 w 1916783"/>
              <a:gd name="connsiteY8" fmla="*/ 4006735 h 4077616"/>
              <a:gd name="connsiteX9" fmla="*/ 1916783 w 1916783"/>
              <a:gd name="connsiteY9" fmla="*/ 319341 h 4077616"/>
              <a:gd name="connsiteX0" fmla="*/ 1597442 w 1916783"/>
              <a:gd name="connsiteY0" fmla="*/ 0 h 4077616"/>
              <a:gd name="connsiteX1" fmla="*/ 1916783 w 1916783"/>
              <a:gd name="connsiteY1" fmla="*/ 319341 h 4077616"/>
              <a:gd name="connsiteX2" fmla="*/ 1916783 w 1916783"/>
              <a:gd name="connsiteY2" fmla="*/ 3687394 h 4077616"/>
              <a:gd name="connsiteX3" fmla="*/ 638682 w 1916783"/>
              <a:gd name="connsiteY3" fmla="*/ 4006735 h 4077616"/>
              <a:gd name="connsiteX4" fmla="*/ 319341 w 1916783"/>
              <a:gd name="connsiteY4" fmla="*/ 3687394 h 4077616"/>
              <a:gd name="connsiteX5" fmla="*/ 319341 w 1916783"/>
              <a:gd name="connsiteY5" fmla="*/ 2322708 h 4077616"/>
              <a:gd name="connsiteX6" fmla="*/ 0 w 1916783"/>
              <a:gd name="connsiteY6" fmla="*/ 2003367 h 4077616"/>
              <a:gd name="connsiteX7" fmla="*/ 319341 w 1916783"/>
              <a:gd name="connsiteY7" fmla="*/ 1684026 h 4077616"/>
              <a:gd name="connsiteX8" fmla="*/ 319341 w 1916783"/>
              <a:gd name="connsiteY8" fmla="*/ 319341 h 4077616"/>
              <a:gd name="connsiteX9" fmla="*/ 638682 w 1916783"/>
              <a:gd name="connsiteY9" fmla="*/ 0 h 4077616"/>
              <a:gd name="connsiteX10" fmla="*/ 1688882 w 1916783"/>
              <a:gd name="connsiteY10" fmla="*/ 91440 h 4077616"/>
              <a:gd name="connsiteX0" fmla="*/ 638682 w 1916783"/>
              <a:gd name="connsiteY0" fmla="*/ 4006735 h 4077616"/>
              <a:gd name="connsiteX1" fmla="*/ 319341 w 1916783"/>
              <a:gd name="connsiteY1" fmla="*/ 3687394 h 4077616"/>
              <a:gd name="connsiteX2" fmla="*/ 319341 w 1916783"/>
              <a:gd name="connsiteY2" fmla="*/ 2322708 h 4077616"/>
              <a:gd name="connsiteX3" fmla="*/ 0 w 1916783"/>
              <a:gd name="connsiteY3" fmla="*/ 2003367 h 4077616"/>
              <a:gd name="connsiteX4" fmla="*/ 319341 w 1916783"/>
              <a:gd name="connsiteY4" fmla="*/ 1684026 h 4077616"/>
              <a:gd name="connsiteX5" fmla="*/ 319341 w 1916783"/>
              <a:gd name="connsiteY5" fmla="*/ 319341 h 4077616"/>
              <a:gd name="connsiteX6" fmla="*/ 638682 w 1916783"/>
              <a:gd name="connsiteY6" fmla="*/ 0 h 4077616"/>
              <a:gd name="connsiteX7" fmla="*/ 1916783 w 1916783"/>
              <a:gd name="connsiteY7" fmla="*/ 319341 h 4077616"/>
              <a:gd name="connsiteX8" fmla="*/ 638682 w 1916783"/>
              <a:gd name="connsiteY8" fmla="*/ 4006735 h 4077616"/>
              <a:gd name="connsiteX9" fmla="*/ 1916783 w 1916783"/>
              <a:gd name="connsiteY9" fmla="*/ 319341 h 4077616"/>
              <a:gd name="connsiteX0" fmla="*/ 1597442 w 1916783"/>
              <a:gd name="connsiteY0" fmla="*/ 0 h 4006735"/>
              <a:gd name="connsiteX1" fmla="*/ 1916783 w 1916783"/>
              <a:gd name="connsiteY1" fmla="*/ 319341 h 4006735"/>
              <a:gd name="connsiteX2" fmla="*/ 638682 w 1916783"/>
              <a:gd name="connsiteY2" fmla="*/ 4006735 h 4006735"/>
              <a:gd name="connsiteX3" fmla="*/ 319341 w 1916783"/>
              <a:gd name="connsiteY3" fmla="*/ 3687394 h 4006735"/>
              <a:gd name="connsiteX4" fmla="*/ 319341 w 1916783"/>
              <a:gd name="connsiteY4" fmla="*/ 2322708 h 4006735"/>
              <a:gd name="connsiteX5" fmla="*/ 0 w 1916783"/>
              <a:gd name="connsiteY5" fmla="*/ 2003367 h 4006735"/>
              <a:gd name="connsiteX6" fmla="*/ 319341 w 1916783"/>
              <a:gd name="connsiteY6" fmla="*/ 1684026 h 4006735"/>
              <a:gd name="connsiteX7" fmla="*/ 319341 w 1916783"/>
              <a:gd name="connsiteY7" fmla="*/ 319341 h 4006735"/>
              <a:gd name="connsiteX8" fmla="*/ 638682 w 1916783"/>
              <a:gd name="connsiteY8" fmla="*/ 0 h 4006735"/>
              <a:gd name="connsiteX9" fmla="*/ 1688882 w 1916783"/>
              <a:gd name="connsiteY9" fmla="*/ 9144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7" fmla="*/ 1916783 w 1916783"/>
              <a:gd name="connsiteY7" fmla="*/ 319341 h 4006735"/>
              <a:gd name="connsiteX8" fmla="*/ 638682 w 1916783"/>
              <a:gd name="connsiteY8" fmla="*/ 4006735 h 4006735"/>
              <a:gd name="connsiteX9" fmla="*/ 1916783 w 1916783"/>
              <a:gd name="connsiteY9" fmla="*/ 319341 h 4006735"/>
              <a:gd name="connsiteX0" fmla="*/ 1597442 w 1916783"/>
              <a:gd name="connsiteY0" fmla="*/ 0 h 4006735"/>
              <a:gd name="connsiteX1" fmla="*/ 1916783 w 1916783"/>
              <a:gd name="connsiteY1" fmla="*/ 319341 h 4006735"/>
              <a:gd name="connsiteX2" fmla="*/ 638682 w 1916783"/>
              <a:gd name="connsiteY2" fmla="*/ 4006735 h 4006735"/>
              <a:gd name="connsiteX3" fmla="*/ 319341 w 1916783"/>
              <a:gd name="connsiteY3" fmla="*/ 3687394 h 4006735"/>
              <a:gd name="connsiteX4" fmla="*/ 319341 w 1916783"/>
              <a:gd name="connsiteY4" fmla="*/ 2322708 h 4006735"/>
              <a:gd name="connsiteX5" fmla="*/ 0 w 1916783"/>
              <a:gd name="connsiteY5" fmla="*/ 2003367 h 4006735"/>
              <a:gd name="connsiteX6" fmla="*/ 319341 w 1916783"/>
              <a:gd name="connsiteY6" fmla="*/ 1684026 h 4006735"/>
              <a:gd name="connsiteX7" fmla="*/ 319341 w 1916783"/>
              <a:gd name="connsiteY7" fmla="*/ 319341 h 4006735"/>
              <a:gd name="connsiteX8" fmla="*/ 638682 w 1916783"/>
              <a:gd name="connsiteY8" fmla="*/ 0 h 4006735"/>
              <a:gd name="connsiteX9" fmla="*/ 1688882 w 1916783"/>
              <a:gd name="connsiteY9" fmla="*/ 9144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0" fmla="*/ 1597442 w 1916783"/>
              <a:gd name="connsiteY0" fmla="*/ 0 h 4006735"/>
              <a:gd name="connsiteX1" fmla="*/ 1916783 w 1916783"/>
              <a:gd name="connsiteY1" fmla="*/ 319341 h 4006735"/>
              <a:gd name="connsiteX2" fmla="*/ 638682 w 1916783"/>
              <a:gd name="connsiteY2" fmla="*/ 4006735 h 4006735"/>
              <a:gd name="connsiteX3" fmla="*/ 319341 w 1916783"/>
              <a:gd name="connsiteY3" fmla="*/ 3687394 h 4006735"/>
              <a:gd name="connsiteX4" fmla="*/ 319341 w 1916783"/>
              <a:gd name="connsiteY4" fmla="*/ 2322708 h 4006735"/>
              <a:gd name="connsiteX5" fmla="*/ 0 w 1916783"/>
              <a:gd name="connsiteY5" fmla="*/ 2003367 h 4006735"/>
              <a:gd name="connsiteX6" fmla="*/ 319341 w 1916783"/>
              <a:gd name="connsiteY6" fmla="*/ 1684026 h 4006735"/>
              <a:gd name="connsiteX7" fmla="*/ 319341 w 1916783"/>
              <a:gd name="connsiteY7" fmla="*/ 319341 h 4006735"/>
              <a:gd name="connsiteX8" fmla="*/ 638682 w 1916783"/>
              <a:gd name="connsiteY8" fmla="*/ 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0" fmla="*/ 1916783 w 1916783"/>
              <a:gd name="connsiteY0" fmla="*/ 319341 h 4006735"/>
              <a:gd name="connsiteX1" fmla="*/ 638682 w 1916783"/>
              <a:gd name="connsiteY1" fmla="*/ 4006735 h 4006735"/>
              <a:gd name="connsiteX2" fmla="*/ 319341 w 1916783"/>
              <a:gd name="connsiteY2" fmla="*/ 3687394 h 4006735"/>
              <a:gd name="connsiteX3" fmla="*/ 319341 w 1916783"/>
              <a:gd name="connsiteY3" fmla="*/ 2322708 h 4006735"/>
              <a:gd name="connsiteX4" fmla="*/ 0 w 1916783"/>
              <a:gd name="connsiteY4" fmla="*/ 2003367 h 4006735"/>
              <a:gd name="connsiteX5" fmla="*/ 319341 w 1916783"/>
              <a:gd name="connsiteY5" fmla="*/ 1684026 h 4006735"/>
              <a:gd name="connsiteX6" fmla="*/ 319341 w 1916783"/>
              <a:gd name="connsiteY6" fmla="*/ 319341 h 4006735"/>
              <a:gd name="connsiteX7" fmla="*/ 638682 w 1916783"/>
              <a:gd name="connsiteY7" fmla="*/ 0 h 4006735"/>
              <a:gd name="connsiteX0" fmla="*/ 638682 w 1916783"/>
              <a:gd name="connsiteY0" fmla="*/ 4006735 h 4006735"/>
              <a:gd name="connsiteX1" fmla="*/ 319341 w 1916783"/>
              <a:gd name="connsiteY1" fmla="*/ 3687394 h 4006735"/>
              <a:gd name="connsiteX2" fmla="*/ 319341 w 1916783"/>
              <a:gd name="connsiteY2" fmla="*/ 2322708 h 4006735"/>
              <a:gd name="connsiteX3" fmla="*/ 0 w 1916783"/>
              <a:gd name="connsiteY3" fmla="*/ 2003367 h 4006735"/>
              <a:gd name="connsiteX4" fmla="*/ 319341 w 1916783"/>
              <a:gd name="connsiteY4" fmla="*/ 1684026 h 4006735"/>
              <a:gd name="connsiteX5" fmla="*/ 319341 w 1916783"/>
              <a:gd name="connsiteY5" fmla="*/ 319341 h 4006735"/>
              <a:gd name="connsiteX6" fmla="*/ 638682 w 1916783"/>
              <a:gd name="connsiteY6" fmla="*/ 0 h 4006735"/>
              <a:gd name="connsiteX0" fmla="*/ 638682 w 638682"/>
              <a:gd name="connsiteY0" fmla="*/ 4006735 h 4006735"/>
              <a:gd name="connsiteX1" fmla="*/ 319341 w 638682"/>
              <a:gd name="connsiteY1" fmla="*/ 3687394 h 4006735"/>
              <a:gd name="connsiteX2" fmla="*/ 319341 w 638682"/>
              <a:gd name="connsiteY2" fmla="*/ 2322708 h 4006735"/>
              <a:gd name="connsiteX3" fmla="*/ 0 w 638682"/>
              <a:gd name="connsiteY3" fmla="*/ 2003367 h 4006735"/>
              <a:gd name="connsiteX4" fmla="*/ 319341 w 638682"/>
              <a:gd name="connsiteY4" fmla="*/ 1684026 h 4006735"/>
              <a:gd name="connsiteX5" fmla="*/ 319341 w 638682"/>
              <a:gd name="connsiteY5" fmla="*/ 319341 h 4006735"/>
              <a:gd name="connsiteX6" fmla="*/ 638682 w 638682"/>
              <a:gd name="connsiteY6" fmla="*/ 0 h 4006735"/>
              <a:gd name="connsiteX0" fmla="*/ 638682 w 638682"/>
              <a:gd name="connsiteY0" fmla="*/ 4006735 h 4006735"/>
              <a:gd name="connsiteX1" fmla="*/ 319341 w 638682"/>
              <a:gd name="connsiteY1" fmla="*/ 3687394 h 4006735"/>
              <a:gd name="connsiteX2" fmla="*/ 319341 w 638682"/>
              <a:gd name="connsiteY2" fmla="*/ 2322708 h 4006735"/>
              <a:gd name="connsiteX3" fmla="*/ 0 w 638682"/>
              <a:gd name="connsiteY3" fmla="*/ 2003367 h 4006735"/>
              <a:gd name="connsiteX4" fmla="*/ 319341 w 638682"/>
              <a:gd name="connsiteY4" fmla="*/ 1684026 h 4006735"/>
              <a:gd name="connsiteX5" fmla="*/ 319341 w 638682"/>
              <a:gd name="connsiteY5" fmla="*/ 319341 h 4006735"/>
              <a:gd name="connsiteX6" fmla="*/ 638682 w 638682"/>
              <a:gd name="connsiteY6" fmla="*/ 0 h 400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8682" h="4006735" stroke="0" extrusionOk="0">
                <a:moveTo>
                  <a:pt x="638682" y="4006735"/>
                </a:moveTo>
                <a:cubicBezTo>
                  <a:pt x="462315" y="4006735"/>
                  <a:pt x="319341" y="3863761"/>
                  <a:pt x="319341" y="3687394"/>
                </a:cubicBezTo>
                <a:lnTo>
                  <a:pt x="319341" y="2322708"/>
                </a:lnTo>
                <a:cubicBezTo>
                  <a:pt x="319341" y="2146341"/>
                  <a:pt x="176367" y="2003367"/>
                  <a:pt x="0" y="2003367"/>
                </a:cubicBezTo>
                <a:cubicBezTo>
                  <a:pt x="176367" y="2003367"/>
                  <a:pt x="319341" y="1860393"/>
                  <a:pt x="319341" y="1684026"/>
                </a:cubicBezTo>
                <a:lnTo>
                  <a:pt x="319341" y="319341"/>
                </a:lnTo>
                <a:cubicBezTo>
                  <a:pt x="319341" y="142974"/>
                  <a:pt x="462315" y="0"/>
                  <a:pt x="638682" y="0"/>
                </a:cubicBezTo>
              </a:path>
              <a:path w="638682" h="4006735" fill="none">
                <a:moveTo>
                  <a:pt x="638682" y="4006735"/>
                </a:moveTo>
                <a:cubicBezTo>
                  <a:pt x="462315" y="4006735"/>
                  <a:pt x="319341" y="3863761"/>
                  <a:pt x="319341" y="3687394"/>
                </a:cubicBezTo>
                <a:lnTo>
                  <a:pt x="319341" y="2322708"/>
                </a:lnTo>
                <a:cubicBezTo>
                  <a:pt x="319341" y="2146341"/>
                  <a:pt x="176367" y="2003367"/>
                  <a:pt x="0" y="2003367"/>
                </a:cubicBezTo>
                <a:cubicBezTo>
                  <a:pt x="176367" y="2003367"/>
                  <a:pt x="319341" y="1860393"/>
                  <a:pt x="319341" y="1684026"/>
                </a:cubicBezTo>
                <a:lnTo>
                  <a:pt x="319341" y="319341"/>
                </a:lnTo>
                <a:cubicBezTo>
                  <a:pt x="319341" y="142974"/>
                  <a:pt x="462315" y="0"/>
                  <a:pt x="638682" y="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0" name="Rounded Rectangle 9"/>
          <p:cNvSpPr/>
          <p:nvPr/>
        </p:nvSpPr>
        <p:spPr>
          <a:xfrm>
            <a:off x="7349847" y="3045175"/>
            <a:ext cx="1695797" cy="1014153"/>
          </a:xfrm>
          <a:prstGeom prst="round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MSY reference points</a:t>
            </a:r>
            <a:endParaRPr lang="en-CA" dirty="0"/>
          </a:p>
        </p:txBody>
      </p:sp>
      <p:sp>
        <p:nvSpPr>
          <p:cNvPr id="11" name="Rounded Rectangle 10"/>
          <p:cNvSpPr/>
          <p:nvPr/>
        </p:nvSpPr>
        <p:spPr>
          <a:xfrm>
            <a:off x="2244435" y="3668683"/>
            <a:ext cx="1695797" cy="1014153"/>
          </a:xfrm>
          <a:prstGeom prst="round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Per-recruit calculations</a:t>
            </a:r>
            <a:endParaRPr lang="en-CA" dirty="0"/>
          </a:p>
        </p:txBody>
      </p:sp>
      <mc:AlternateContent xmlns:mc="http://schemas.openxmlformats.org/markup-compatibility/2006" xmlns:a14="http://schemas.microsoft.com/office/drawing/2010/main">
        <mc:Choice Requires="a14">
          <p:sp>
            <p:nvSpPr>
              <p:cNvPr id="12" name="Rounded Rectangle 11"/>
              <p:cNvSpPr/>
              <p:nvPr/>
            </p:nvSpPr>
            <p:spPr>
              <a:xfrm>
                <a:off x="4796442" y="629919"/>
                <a:ext cx="1695797" cy="10141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SRR</a:t>
                </a:r>
              </a:p>
              <a:p>
                <a:pPr algn="ctr"/>
                <a:r>
                  <a:rPr lang="en-US" dirty="0"/>
                  <a:t>(</a:t>
                </a:r>
                <a14:m>
                  <m:oMath xmlns:m="http://schemas.openxmlformats.org/officeDocument/2006/math">
                    <m:r>
                      <a:rPr lang="en-US" i="1" dirty="0" smtClean="0">
                        <a:latin typeface="Cambria Math" panose="02040503050406030204" pitchFamily="18" charset="0"/>
                      </a:rPr>
                      <m:t>𝑅</m:t>
                    </m:r>
                    <m:r>
                      <a:rPr lang="en-US" i="1" baseline="-25000" dirty="0">
                        <a:latin typeface="Cambria Math" panose="02040503050406030204" pitchFamily="18" charset="0"/>
                      </a:rPr>
                      <m:t>0</m:t>
                    </m:r>
                  </m:oMath>
                </a14:m>
                <a:r>
                  <a:rPr lang="en-US" dirty="0"/>
                  <a:t>, </a:t>
                </a:r>
                <a14:m>
                  <m:oMath xmlns:m="http://schemas.openxmlformats.org/officeDocument/2006/math">
                    <m:r>
                      <a:rPr lang="en-US" i="1" dirty="0" smtClean="0">
                        <a:latin typeface="Cambria Math" panose="02040503050406030204" pitchFamily="18" charset="0"/>
                      </a:rPr>
                      <m:t>ℎ</m:t>
                    </m:r>
                  </m:oMath>
                </a14:m>
                <a:r>
                  <a:rPr lang="en-US" dirty="0"/>
                  <a:t>, and </a:t>
                </a:r>
                <a14:m>
                  <m:oMath xmlns:m="http://schemas.openxmlformats.org/officeDocument/2006/math">
                    <m:r>
                      <a:rPr lang="el-GR" i="1" dirty="0" smtClean="0">
                        <a:latin typeface="Cambria Math" panose="02040503050406030204" pitchFamily="18" charset="0"/>
                      </a:rPr>
                      <m:t>𝜑</m:t>
                    </m:r>
                    <m:r>
                      <a:rPr lang="en-US" i="1" baseline="-25000" dirty="0">
                        <a:latin typeface="Cambria Math" panose="02040503050406030204" pitchFamily="18" charset="0"/>
                      </a:rPr>
                      <m:t>0</m:t>
                    </m:r>
                  </m:oMath>
                </a14:m>
                <a:r>
                  <a:rPr lang="en-US" dirty="0"/>
                  <a:t>) or (</a:t>
                </a:r>
                <a14:m>
                  <m:oMath xmlns:m="http://schemas.openxmlformats.org/officeDocument/2006/math">
                    <m:r>
                      <a:rPr lang="el-GR" i="1" dirty="0" smtClean="0">
                        <a:latin typeface="Cambria Math" panose="02040503050406030204" pitchFamily="18" charset="0"/>
                      </a:rPr>
                      <m:t>𝛼</m:t>
                    </m:r>
                  </m:oMath>
                </a14:m>
                <a:r>
                  <a:rPr lang="en-US" dirty="0"/>
                  <a:t> and </a:t>
                </a:r>
                <a14:m>
                  <m:oMath xmlns:m="http://schemas.openxmlformats.org/officeDocument/2006/math">
                    <m:r>
                      <a:rPr lang="el-GR" i="1" dirty="0" smtClean="0">
                        <a:latin typeface="Cambria Math" panose="02040503050406030204" pitchFamily="18" charset="0"/>
                      </a:rPr>
                      <m:t>𝛽</m:t>
                    </m:r>
                  </m:oMath>
                </a14:m>
                <a:r>
                  <a:rPr lang="en-US" dirty="0"/>
                  <a:t>)</a:t>
                </a:r>
                <a:endParaRPr lang="en-CA" dirty="0"/>
              </a:p>
            </p:txBody>
          </p:sp>
        </mc:Choice>
        <mc:Fallback xmlns="">
          <p:sp>
            <p:nvSpPr>
              <p:cNvPr id="12" name="Rounded Rectangle 11"/>
              <p:cNvSpPr>
                <a:spLocks noRot="1" noChangeAspect="1" noMove="1" noResize="1" noEditPoints="1" noAdjustHandles="1" noChangeArrowheads="1" noChangeShapeType="1" noTextEdit="1"/>
              </p:cNvSpPr>
              <p:nvPr/>
            </p:nvSpPr>
            <p:spPr>
              <a:xfrm>
                <a:off x="4796442" y="629919"/>
                <a:ext cx="1695797" cy="1014153"/>
              </a:xfrm>
              <a:prstGeom prst="roundRect">
                <a:avLst/>
              </a:prstGeom>
              <a:blipFill>
                <a:blip r:embed="rId4"/>
                <a:stretch>
                  <a:fillRect r="-1429" b="-4142"/>
                </a:stretch>
              </a:blipFill>
            </p:spPr>
            <p:txBody>
              <a:bodyPr/>
              <a:lstStyle/>
              <a:p>
                <a:r>
                  <a:rPr lang="en-US">
                    <a:noFill/>
                  </a:rPr>
                  <a:t> </a:t>
                </a:r>
              </a:p>
            </p:txBody>
          </p:sp>
        </mc:Fallback>
      </mc:AlternateContent>
      <p:sp>
        <p:nvSpPr>
          <p:cNvPr id="3" name="TextBox 2"/>
          <p:cNvSpPr txBox="1"/>
          <p:nvPr/>
        </p:nvSpPr>
        <p:spPr>
          <a:xfrm>
            <a:off x="346619" y="328495"/>
            <a:ext cx="3356943" cy="1200329"/>
          </a:xfrm>
          <a:prstGeom prst="rect">
            <a:avLst/>
          </a:prstGeom>
          <a:noFill/>
        </p:spPr>
        <p:txBody>
          <a:bodyPr wrap="square" rtlCol="0">
            <a:spAutoFit/>
          </a:bodyPr>
          <a:lstStyle/>
          <a:p>
            <a:r>
              <a:rPr lang="en-US" sz="2400" dirty="0"/>
              <a:t>Data Requirements for Reference Points for Age- Structured Models</a:t>
            </a:r>
            <a:endParaRPr lang="en-CA" sz="2400" dirty="0"/>
          </a:p>
        </p:txBody>
      </p:sp>
      <p:cxnSp>
        <p:nvCxnSpPr>
          <p:cNvPr id="13" name="Straight Arrow Connector 12">
            <a:extLst>
              <a:ext uri="{FF2B5EF4-FFF2-40B4-BE49-F238E27FC236}">
                <a16:creationId xmlns:a16="http://schemas.microsoft.com/office/drawing/2014/main" id="{FA2709EA-7C39-456D-BB50-1DE668444C4B}"/>
              </a:ext>
            </a:extLst>
          </p:cNvPr>
          <p:cNvCxnSpPr/>
          <p:nvPr/>
        </p:nvCxnSpPr>
        <p:spPr>
          <a:xfrm flipH="1">
            <a:off x="6709766" y="879755"/>
            <a:ext cx="1305099" cy="30650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26A523D-F996-47E3-B853-DC689BF8969E}"/>
              </a:ext>
            </a:extLst>
          </p:cNvPr>
          <p:cNvSpPr txBox="1"/>
          <p:nvPr/>
        </p:nvSpPr>
        <p:spPr>
          <a:xfrm>
            <a:off x="8014864" y="598408"/>
            <a:ext cx="3516284" cy="369332"/>
          </a:xfrm>
          <a:prstGeom prst="rect">
            <a:avLst/>
          </a:prstGeom>
          <a:noFill/>
          <a:ln>
            <a:noFill/>
          </a:ln>
        </p:spPr>
        <p:txBody>
          <a:bodyPr wrap="square" rtlCol="0">
            <a:spAutoFit/>
          </a:bodyPr>
          <a:lstStyle/>
          <a:p>
            <a:r>
              <a:rPr lang="en-US" dirty="0">
                <a:solidFill>
                  <a:srgbClr val="C00000"/>
                </a:solidFill>
              </a:rPr>
              <a:t>To get “number of recruits”</a:t>
            </a:r>
            <a:endParaRPr lang="en-CA" dirty="0">
              <a:solidFill>
                <a:srgbClr val="C00000"/>
              </a:solidFill>
            </a:endParaRPr>
          </a:p>
        </p:txBody>
      </p:sp>
      <p:cxnSp>
        <p:nvCxnSpPr>
          <p:cNvPr id="15" name="Straight Arrow Connector 14">
            <a:extLst>
              <a:ext uri="{FF2B5EF4-FFF2-40B4-BE49-F238E27FC236}">
                <a16:creationId xmlns:a16="http://schemas.microsoft.com/office/drawing/2014/main" id="{562EC373-EE9D-407F-9F3C-E120F381DB63}"/>
              </a:ext>
            </a:extLst>
          </p:cNvPr>
          <p:cNvCxnSpPr>
            <a:cxnSpLocks/>
          </p:cNvCxnSpPr>
          <p:nvPr/>
        </p:nvCxnSpPr>
        <p:spPr>
          <a:xfrm>
            <a:off x="1371740" y="2696549"/>
            <a:ext cx="1392725" cy="886623"/>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5C864F3-66CD-4626-9B1F-0D347F598E8F}"/>
              </a:ext>
            </a:extLst>
          </p:cNvPr>
          <p:cNvSpPr txBox="1"/>
          <p:nvPr/>
        </p:nvSpPr>
        <p:spPr>
          <a:xfrm>
            <a:off x="720060" y="2327217"/>
            <a:ext cx="3516284" cy="369332"/>
          </a:xfrm>
          <a:prstGeom prst="rect">
            <a:avLst/>
          </a:prstGeom>
          <a:noFill/>
          <a:ln>
            <a:noFill/>
          </a:ln>
        </p:spPr>
        <p:txBody>
          <a:bodyPr wrap="square" rtlCol="0">
            <a:spAutoFit/>
          </a:bodyPr>
          <a:lstStyle/>
          <a:p>
            <a:r>
              <a:rPr lang="en-US" dirty="0">
                <a:solidFill>
                  <a:srgbClr val="C00000"/>
                </a:solidFill>
              </a:rPr>
              <a:t>Per-recruit</a:t>
            </a:r>
            <a:endParaRPr lang="en-CA" dirty="0">
              <a:solidFill>
                <a:srgbClr val="C00000"/>
              </a:solidFill>
            </a:endParaRPr>
          </a:p>
        </p:txBody>
      </p:sp>
      <p:sp>
        <p:nvSpPr>
          <p:cNvPr id="2" name="Slide Number Placeholder 1"/>
          <p:cNvSpPr>
            <a:spLocks noGrp="1"/>
          </p:cNvSpPr>
          <p:nvPr>
            <p:ph type="sldNum" sz="quarter" idx="12"/>
          </p:nvPr>
        </p:nvSpPr>
        <p:spPr/>
        <p:txBody>
          <a:bodyPr/>
          <a:lstStyle/>
          <a:p>
            <a:fld id="{EEDFA2F9-C25F-4A63-B46B-7B5C200A39D1}" type="slidenum">
              <a:rPr lang="en-CA" smtClean="0"/>
              <a:t>81</a:t>
            </a:fld>
            <a:endParaRPr lang="en-CA"/>
          </a:p>
        </p:txBody>
      </p:sp>
    </p:spTree>
    <p:extLst>
      <p:ext uri="{BB962C8B-B14F-4D97-AF65-F5344CB8AC3E}">
        <p14:creationId xmlns:p14="http://schemas.microsoft.com/office/powerpoint/2010/main" val="3809135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Points</a:t>
            </a:r>
            <a:endParaRPr lang="en-CA"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514350" indent="-514350">
                  <a:buFont typeface="Arial" panose="020B0604020202020204" pitchFamily="34" charset="0"/>
                  <a:buAutoNum type="arabicPeriod"/>
                </a:pPr>
                <a:r>
                  <a:rPr lang="en-US" dirty="0"/>
                  <a:t>Unfished Equilibrium Biomass </a:t>
                </a:r>
                <a14:m>
                  <m:oMath xmlns:m="http://schemas.openxmlformats.org/officeDocument/2006/math">
                    <m:r>
                      <a:rPr lang="en-US" i="1" dirty="0">
                        <a:latin typeface="Cambria Math" panose="02040503050406030204" pitchFamily="18" charset="0"/>
                      </a:rPr>
                      <m:t>𝐵</m:t>
                    </m:r>
                    <m:r>
                      <a:rPr lang="en-US" i="1" baseline="-25000" dirty="0">
                        <a:latin typeface="Cambria Math" panose="02040503050406030204" pitchFamily="18" charset="0"/>
                      </a:rPr>
                      <m:t>0</m:t>
                    </m:r>
                  </m:oMath>
                </a14:m>
                <a:endParaRPr lang="en-US" dirty="0"/>
              </a:p>
              <a:p>
                <a:pPr marL="514350" indent="-514350">
                  <a:buFont typeface="Arial" panose="020B0604020202020204" pitchFamily="34" charset="0"/>
                  <a:buAutoNum type="arabicPeriod"/>
                </a:pPr>
                <a:r>
                  <a:rPr lang="en-US" dirty="0"/>
                  <a:t>Equilibrium Biomass and Recruitment when fishing at </a:t>
                </a:r>
                <a14:m>
                  <m:oMath xmlns:m="http://schemas.openxmlformats.org/officeDocument/2006/math">
                    <m:r>
                      <a:rPr lang="en-US" i="1" dirty="0" smtClean="0">
                        <a:latin typeface="Cambria Math" panose="02040503050406030204" pitchFamily="18" charset="0"/>
                      </a:rPr>
                      <m:t>𝐹</m:t>
                    </m:r>
                  </m:oMath>
                </a14:m>
                <a:endParaRPr lang="en-US" dirty="0"/>
              </a:p>
              <a:p>
                <a:pPr marL="514350" indent="-514350">
                  <a:buFont typeface="Arial" panose="020B0604020202020204" pitchFamily="34" charset="0"/>
                  <a:buAutoNum type="arabicPeriod"/>
                </a:pPr>
                <a:r>
                  <a:rPr lang="en-US" dirty="0"/>
                  <a:t>MSY reference points</a:t>
                </a:r>
              </a:p>
              <a:p>
                <a:pPr marL="514350" indent="-514350">
                  <a:buAutoNum type="arabicPeriod"/>
                </a:pPr>
                <a:r>
                  <a:rPr lang="en-US" dirty="0"/>
                  <a:t>SPR reference points</a:t>
                </a:r>
              </a:p>
              <a:p>
                <a:endParaRPr lang="en-CA" dirty="0"/>
              </a:p>
              <a:p>
                <a:pPr lvl="1"/>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82</a:t>
            </a:fld>
            <a:endParaRPr lang="en-CA"/>
          </a:p>
        </p:txBody>
      </p:sp>
    </p:spTree>
    <p:extLst>
      <p:ext uri="{BB962C8B-B14F-4D97-AF65-F5344CB8AC3E}">
        <p14:creationId xmlns:p14="http://schemas.microsoft.com/office/powerpoint/2010/main" val="23289844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𝐵</m:t>
                        </m:r>
                      </m:e>
                      <m:sub>
                        <m:r>
                          <a:rPr lang="en-US" i="1">
                            <a:latin typeface="Cambria Math" panose="02040503050406030204" pitchFamily="18" charset="0"/>
                          </a:rPr>
                          <m:t>0</m:t>
                        </m:r>
                      </m:sub>
                    </m:sSub>
                  </m:oMath>
                </a14:m>
                <a:r>
                  <a:rPr lang="en-CA" i="1" dirty="0"/>
                  <a:t> </a:t>
                </a:r>
                <a:r>
                  <a:rPr lang="en-CA" dirty="0"/>
                  <a:t>is the equilibrium </a:t>
                </a:r>
                <a:r>
                  <a:rPr lang="en-CA" u="sng" dirty="0"/>
                  <a:t>unfished</a:t>
                </a:r>
                <a:r>
                  <a:rPr lang="en-CA" dirty="0"/>
                  <a:t> biomass, here we will use SSB</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𝑆𝑆</m:t>
                        </m:r>
                        <m:r>
                          <a:rPr lang="en-US" b="0" i="1" smtClean="0">
                            <a:latin typeface="Cambria Math" panose="02040503050406030204" pitchFamily="18" charset="0"/>
                            <a:ea typeface="Cambria Math" panose="02040503050406030204" pitchFamily="18" charset="0"/>
                          </a:rPr>
                          <m:t>𝐵</m:t>
                        </m:r>
                      </m:e>
                      <m:sub>
                        <m:r>
                          <a:rPr lang="en-US" i="1">
                            <a:latin typeface="Cambria Math" panose="02040503050406030204" pitchFamily="18" charset="0"/>
                          </a:rPr>
                          <m:t>0</m:t>
                        </m:r>
                      </m:sub>
                    </m:sSub>
                  </m:oMath>
                </a14:m>
                <a:r>
                  <a:rPr lang="en-CA" dirty="0">
                    <a:latin typeface="Cambria Math" panose="02040503050406030204" pitchFamily="18" charset="0"/>
                  </a:rPr>
                  <a:t> </a:t>
                </a:r>
                <a:r>
                  <a:rPr lang="en-CA" dirty="0"/>
                  <a:t>is estimated from two pieces of information</a:t>
                </a:r>
              </a:p>
              <a:p>
                <a:pPr marL="914400" lvl="1" indent="-457200">
                  <a:buFont typeface="+mj-lt"/>
                  <a:buAutoNum type="alphaLcParenR"/>
                </a:pPr>
                <a:r>
                  <a:rPr lang="en-CA" dirty="0"/>
                  <a:t>the unfished SSB-</a:t>
                </a:r>
                <a:r>
                  <a:rPr lang="en-CA" b="1" dirty="0"/>
                  <a:t>per-recruit</a:t>
                </a:r>
                <a:r>
                  <a:rPr lang="en-CA" dirty="0"/>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𝐸</m:t>
                        </m:r>
                        <m:r>
                          <a:rPr lang="en-US" i="1">
                            <a:latin typeface="Cambria Math" panose="02040503050406030204" pitchFamily="18" charset="0"/>
                          </a:rPr>
                          <m:t>0</m:t>
                        </m:r>
                      </m:sub>
                    </m:sSub>
                  </m:oMath>
                </a14:m>
                <a:r>
                  <a:rPr lang="en-CA" dirty="0"/>
                  <a:t>) </a:t>
                </a:r>
              </a:p>
              <a:p>
                <a:pPr marL="914400" lvl="1" indent="-457200">
                  <a:buFont typeface="+mj-lt"/>
                  <a:buAutoNum type="alphaLcParenR"/>
                </a:pPr>
                <a:r>
                  <a:rPr lang="en-CA" dirty="0"/>
                  <a:t>Number of recruits, from the SRR (here we will use the BH SRR)</a:t>
                </a:r>
              </a:p>
              <a:p>
                <a:pPr marL="0"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2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sz="3600" dirty="0"/>
                  <a:t>Reference Points </a:t>
                </a:r>
                <a:r>
                  <a:rPr lang="en-US" sz="3600" b="1" dirty="0">
                    <a:solidFill>
                      <a:schemeClr val="accent6">
                        <a:lumMod val="75000"/>
                      </a:schemeClr>
                    </a:solidFill>
                  </a:rPr>
                  <a:t>1. Unfished Equilibrium Biomass </a:t>
                </a:r>
                <a14:m>
                  <m:oMath xmlns:m="http://schemas.openxmlformats.org/officeDocument/2006/math">
                    <m:r>
                      <a:rPr lang="en-US" sz="3600" b="1" i="1" dirty="0" smtClean="0">
                        <a:solidFill>
                          <a:schemeClr val="accent6">
                            <a:lumMod val="75000"/>
                          </a:schemeClr>
                        </a:solidFill>
                        <a:latin typeface="Cambria Math" panose="02040503050406030204" pitchFamily="18" charset="0"/>
                      </a:rPr>
                      <m:t>𝑩</m:t>
                    </m:r>
                    <m:r>
                      <a:rPr lang="en-US" sz="3600" b="1" i="1" baseline="-25000" dirty="0" smtClean="0">
                        <a:solidFill>
                          <a:schemeClr val="accent6">
                            <a:lumMod val="75000"/>
                          </a:schemeClr>
                        </a:solidFill>
                        <a:latin typeface="Cambria Math" panose="02040503050406030204" pitchFamily="18" charset="0"/>
                      </a:rPr>
                      <m:t>𝟎</m:t>
                    </m:r>
                  </m:oMath>
                </a14:m>
                <a:endParaRPr lang="en-CA" sz="3600" b="1" baseline="-25000" dirty="0">
                  <a:solidFill>
                    <a:schemeClr val="accent6">
                      <a:lumMod val="75000"/>
                    </a:schemeClr>
                  </a:solidFill>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17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E8C9376-0743-42CE-BAEF-6FC7D39B5B32}"/>
                  </a:ext>
                </a:extLst>
              </p:cNvPr>
              <p:cNvSpPr txBox="1"/>
              <p:nvPr/>
            </p:nvSpPr>
            <p:spPr>
              <a:xfrm>
                <a:off x="1606502" y="3792480"/>
                <a:ext cx="3434017" cy="1229504"/>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
                      <m:sSub>
                        <m:sSubPr>
                          <m:ctrlPr>
                            <a:rPr lang="en-US" sz="2800" i="1" smtClean="0">
                              <a:solidFill>
                                <a:schemeClr val="tx1"/>
                              </a:solidFill>
                              <a:effectLst/>
                              <a:latin typeface="Cambria Math" panose="02040503050406030204" pitchFamily="18" charset="0"/>
                              <a:ea typeface="Cambria Math" panose="02040503050406030204" pitchFamily="18" charset="0"/>
                            </a:rPr>
                          </m:ctrlPr>
                        </m:sSubPr>
                        <m:e>
                          <m:r>
                            <a:rPr lang="en-US" sz="2800" i="1" smtClean="0">
                              <a:solidFill>
                                <a:schemeClr val="tx1"/>
                              </a:solidFill>
                              <a:effectLst/>
                              <a:latin typeface="Cambria Math" panose="02040503050406030204" pitchFamily="18" charset="0"/>
                              <a:ea typeface="Cambria Math" panose="02040503050406030204" pitchFamily="18" charset="0"/>
                            </a:rPr>
                            <m:t>𝜑</m:t>
                          </m:r>
                        </m:e>
                        <m:sub>
                          <m:r>
                            <a:rPr lang="en-US" sz="2800" b="0" i="1" smtClean="0">
                              <a:solidFill>
                                <a:schemeClr val="tx1"/>
                              </a:solidFill>
                              <a:effectLst/>
                              <a:latin typeface="Cambria Math" panose="02040503050406030204" pitchFamily="18" charset="0"/>
                              <a:ea typeface="Cambria Math" panose="02040503050406030204" pitchFamily="18" charset="0"/>
                            </a:rPr>
                            <m:t>𝐸</m:t>
                          </m:r>
                          <m:r>
                            <a:rPr lang="en-US" sz="2800" b="0" i="1" smtClean="0">
                              <a:solidFill>
                                <a:schemeClr val="tx1"/>
                              </a:solidFill>
                              <a:effectLst/>
                              <a:latin typeface="Cambria Math" panose="02040503050406030204" pitchFamily="18" charset="0"/>
                              <a:ea typeface="Cambria Math" panose="02040503050406030204" pitchFamily="18" charset="0"/>
                            </a:rPr>
                            <m:t>0</m:t>
                          </m:r>
                        </m:sub>
                      </m:sSub>
                      <m:r>
                        <a:rPr lang="en-US" sz="2800" b="0" i="1" smtClean="0">
                          <a:solidFill>
                            <a:schemeClr val="tx1"/>
                          </a:solidFill>
                          <a:effectLst/>
                          <a:latin typeface="Cambria Math" panose="02040503050406030204" pitchFamily="18" charset="0"/>
                        </a:rPr>
                        <m:t>=</m:t>
                      </m:r>
                      <m:nary>
                        <m:naryPr>
                          <m:chr m:val="∑"/>
                          <m:ctrlPr>
                            <a:rPr lang="en-US" sz="2800" i="1">
                              <a:latin typeface="Cambria Math" panose="02040503050406030204" pitchFamily="18" charset="0"/>
                            </a:rPr>
                          </m:ctrlPr>
                        </m:naryPr>
                        <m: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𝑎</m:t>
                              </m:r>
                              <m:r>
                                <a:rPr lang="en-US" sz="2800" b="0" i="1" smtClean="0">
                                  <a:latin typeface="Cambria Math" panose="02040503050406030204" pitchFamily="18" charset="0"/>
                                </a:rPr>
                                <m:t>=</m:t>
                              </m:r>
                              <m:r>
                                <a:rPr lang="en-US" sz="2800" i="1">
                                  <a:latin typeface="Cambria Math" panose="02040503050406030204" pitchFamily="18" charset="0"/>
                                </a:rPr>
                                <m:t>𝑎</m:t>
                              </m:r>
                            </m:e>
                            <m:sub>
                              <m:r>
                                <a:rPr lang="en-US" sz="2800" b="0" i="1" smtClean="0">
                                  <a:latin typeface="Cambria Math" panose="02040503050406030204" pitchFamily="18" charset="0"/>
                                </a:rPr>
                                <m:t>𝑟𝑒𝑐</m:t>
                              </m:r>
                            </m:sub>
                          </m:sSub>
                        </m:sub>
                        <m:sup>
                          <m:sSub>
                            <m:sSubPr>
                              <m:ctrlPr>
                                <a:rPr lang="en-US" sz="2800" b="0" i="1" smtClean="0">
                                  <a:solidFill>
                                    <a:schemeClr val="tx1"/>
                                  </a:solidFill>
                                  <a:effectLst/>
                                  <a:latin typeface="Cambria Math" panose="02040503050406030204" pitchFamily="18" charset="0"/>
                                </a:rPr>
                              </m:ctrlPr>
                            </m:sSubPr>
                            <m:e>
                              <m:r>
                                <a:rPr lang="en-US" sz="2800" b="0" i="1" smtClean="0">
                                  <a:solidFill>
                                    <a:schemeClr val="tx1"/>
                                  </a:solidFill>
                                  <a:effectLst/>
                                  <a:latin typeface="Cambria Math" panose="02040503050406030204" pitchFamily="18" charset="0"/>
                                </a:rPr>
                                <m:t>𝑎</m:t>
                              </m:r>
                            </m:e>
                            <m:sub>
                              <m:r>
                                <a:rPr lang="en-US" sz="2800" b="0" i="1" smtClean="0">
                                  <a:solidFill>
                                    <a:schemeClr val="tx1"/>
                                  </a:solidFill>
                                  <a:effectLst/>
                                  <a:latin typeface="Cambria Math" panose="02040503050406030204" pitchFamily="18" charset="0"/>
                                </a:rPr>
                                <m:t>𝑚𝑎𝑥</m:t>
                              </m:r>
                            </m:sub>
                          </m:sSub>
                        </m:sup>
                        <m:e>
                          <m:sSub>
                            <m:sSubPr>
                              <m:ctrlPr>
                                <a:rPr lang="en-US" sz="2800" b="0" i="1" smtClean="0">
                                  <a:solidFill>
                                    <a:srgbClr val="0000FF"/>
                                  </a:solidFill>
                                  <a:effectLst/>
                                  <a:latin typeface="Cambria Math" panose="02040503050406030204" pitchFamily="18" charset="0"/>
                                </a:rPr>
                              </m:ctrlPr>
                            </m:sSubPr>
                            <m:e>
                              <m:r>
                                <a:rPr lang="en-US" sz="2800" b="0" i="1" smtClean="0">
                                  <a:solidFill>
                                    <a:srgbClr val="0000FF"/>
                                  </a:solidFill>
                                  <a:effectLst/>
                                  <a:latin typeface="Cambria Math" panose="02040503050406030204" pitchFamily="18" charset="0"/>
                                </a:rPr>
                                <m:t>𝑙</m:t>
                              </m:r>
                            </m:e>
                            <m:sub>
                              <m:sSub>
                                <m:sSubPr>
                                  <m:ctrlPr>
                                    <a:rPr lang="en-US" sz="2800" b="0" i="1" smtClean="0">
                                      <a:solidFill>
                                        <a:srgbClr val="0000FF"/>
                                      </a:solidFill>
                                      <a:effectLst/>
                                      <a:latin typeface="Cambria Math" panose="02040503050406030204" pitchFamily="18" charset="0"/>
                                    </a:rPr>
                                  </m:ctrlPr>
                                </m:sSubPr>
                                <m:e>
                                  <m:r>
                                    <a:rPr lang="en-US" sz="2800" b="0" i="1" smtClean="0">
                                      <a:solidFill>
                                        <a:srgbClr val="0000FF"/>
                                      </a:solidFill>
                                      <a:effectLst/>
                                      <a:latin typeface="Cambria Math" panose="02040503050406030204" pitchFamily="18" charset="0"/>
                                    </a:rPr>
                                    <m:t>0</m:t>
                                  </m:r>
                                </m:e>
                                <m:sub>
                                  <m:r>
                                    <a:rPr lang="en-US" sz="2800" b="0" i="1" smtClean="0">
                                      <a:solidFill>
                                        <a:srgbClr val="0000FF"/>
                                      </a:solidFill>
                                      <a:effectLst/>
                                      <a:latin typeface="Cambria Math" panose="02040503050406030204" pitchFamily="18" charset="0"/>
                                    </a:rPr>
                                    <m:t>𝑎</m:t>
                                  </m:r>
                                </m:sub>
                              </m:sSub>
                            </m:sub>
                          </m:sSub>
                          <m:sSub>
                            <m:sSubPr>
                              <m:ctrlPr>
                                <a:rPr lang="en-US" sz="2800" b="0" i="1" smtClean="0">
                                  <a:solidFill>
                                    <a:srgbClr val="C00000"/>
                                  </a:solidFill>
                                  <a:latin typeface="Cambria Math" panose="02040503050406030204" pitchFamily="18" charset="0"/>
                                </a:rPr>
                              </m:ctrlPr>
                            </m:sSubPr>
                            <m:e>
                              <m:r>
                                <a:rPr lang="en-US" sz="2800" b="0" i="1" smtClean="0">
                                  <a:solidFill>
                                    <a:srgbClr val="C00000"/>
                                  </a:solidFill>
                                  <a:latin typeface="Cambria Math" panose="02040503050406030204" pitchFamily="18" charset="0"/>
                                </a:rPr>
                                <m:t>𝑤</m:t>
                              </m:r>
                            </m:e>
                            <m:sub>
                              <m:r>
                                <a:rPr lang="en-US" sz="2800" i="1">
                                  <a:solidFill>
                                    <a:srgbClr val="C00000"/>
                                  </a:solidFill>
                                  <a:latin typeface="Cambria Math" panose="02040503050406030204" pitchFamily="18" charset="0"/>
                                </a:rPr>
                                <m:t>𝑎</m:t>
                              </m:r>
                            </m:sub>
                          </m:sSub>
                          <m:sSub>
                            <m:sSubPr>
                              <m:ctrlPr>
                                <a:rPr lang="en-US" sz="2800" b="0" i="1" smtClean="0">
                                  <a:solidFill>
                                    <a:srgbClr val="7030A0"/>
                                  </a:solidFill>
                                  <a:latin typeface="Cambria Math" panose="02040503050406030204" pitchFamily="18" charset="0"/>
                                </a:rPr>
                              </m:ctrlPr>
                            </m:sSubPr>
                            <m:e>
                              <m:r>
                                <a:rPr lang="en-US" sz="2800" b="0" i="1" smtClean="0">
                                  <a:solidFill>
                                    <a:srgbClr val="7030A0"/>
                                  </a:solidFill>
                                  <a:latin typeface="Cambria Math" panose="02040503050406030204" pitchFamily="18" charset="0"/>
                                </a:rPr>
                                <m:t>𝑚</m:t>
                              </m:r>
                            </m:e>
                            <m:sub>
                              <m:r>
                                <a:rPr lang="en-US" sz="2800" i="1">
                                  <a:solidFill>
                                    <a:srgbClr val="7030A0"/>
                                  </a:solidFill>
                                  <a:latin typeface="Cambria Math" panose="02040503050406030204" pitchFamily="18" charset="0"/>
                                </a:rPr>
                                <m:t>𝑎</m:t>
                              </m:r>
                            </m:sub>
                          </m:sSub>
                        </m:e>
                      </m:nary>
                    </m:oMath>
                  </m:oMathPara>
                </a14:m>
                <a:endParaRPr lang="en-CA" sz="2400" dirty="0"/>
              </a:p>
            </p:txBody>
          </p:sp>
        </mc:Choice>
        <mc:Fallback xmlns="">
          <p:sp>
            <p:nvSpPr>
              <p:cNvPr id="9" name="TextBox 8">
                <a:extLst>
                  <a:ext uri="{FF2B5EF4-FFF2-40B4-BE49-F238E27FC236}">
                    <a16:creationId xmlns:a16="http://schemas.microsoft.com/office/drawing/2014/main" id="{0E8C9376-0743-42CE-BAEF-6FC7D39B5B32}"/>
                  </a:ext>
                </a:extLst>
              </p:cNvPr>
              <p:cNvSpPr txBox="1">
                <a:spLocks noRot="1" noChangeAspect="1" noMove="1" noResize="1" noEditPoints="1" noAdjustHandles="1" noChangeArrowheads="1" noChangeShapeType="1" noTextEdit="1"/>
              </p:cNvSpPr>
              <p:nvPr/>
            </p:nvSpPr>
            <p:spPr>
              <a:xfrm>
                <a:off x="1606502" y="3792480"/>
                <a:ext cx="3434017" cy="1229504"/>
              </a:xfrm>
              <a:prstGeom prst="rect">
                <a:avLst/>
              </a:prstGeom>
              <a:blipFill>
                <a:blip r:embed="rId4"/>
                <a:stretch>
                  <a:fillRect/>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738CB284-1BB1-4A0D-B3F7-D73773006F29}"/>
              </a:ext>
            </a:extLst>
          </p:cNvPr>
          <p:cNvPicPr>
            <a:picLocks noChangeAspect="1"/>
          </p:cNvPicPr>
          <p:nvPr/>
        </p:nvPicPr>
        <p:blipFill>
          <a:blip r:embed="rId5"/>
          <a:stretch>
            <a:fillRect/>
          </a:stretch>
        </p:blipFill>
        <p:spPr>
          <a:xfrm>
            <a:off x="6153461" y="3645477"/>
            <a:ext cx="5200339" cy="291414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6CB469A-E1DC-4B26-89D8-01FAA6922494}"/>
                  </a:ext>
                </a:extLst>
              </p:cNvPr>
              <p:cNvSpPr txBox="1"/>
              <p:nvPr/>
            </p:nvSpPr>
            <p:spPr>
              <a:xfrm>
                <a:off x="0" y="5530781"/>
                <a:ext cx="3551806" cy="369332"/>
              </a:xfrm>
              <a:prstGeom prst="rect">
                <a:avLst/>
              </a:prstGeom>
              <a:noFill/>
            </p:spPr>
            <p:txBody>
              <a:bodyPr wrap="none" rtlCol="0">
                <a:spAutoFit/>
              </a:bodyPr>
              <a:lstStyle/>
              <a:p>
                <a:r>
                  <a:rPr lang="en-US" dirty="0">
                    <a:solidFill>
                      <a:srgbClr val="0000FF"/>
                    </a:solidFill>
                  </a:rPr>
                  <a:t>Survivorship-at-age (depends on </a:t>
                </a:r>
                <a14:m>
                  <m:oMath xmlns:m="http://schemas.openxmlformats.org/officeDocument/2006/math">
                    <m:r>
                      <a:rPr lang="en-US" i="1" dirty="0" smtClean="0">
                        <a:solidFill>
                          <a:srgbClr val="0000FF"/>
                        </a:solidFill>
                        <a:latin typeface="Cambria Math" panose="02040503050406030204" pitchFamily="18" charset="0"/>
                      </a:rPr>
                      <m:t>𝑀</m:t>
                    </m:r>
                  </m:oMath>
                </a14:m>
                <a:r>
                  <a:rPr lang="en-US" dirty="0">
                    <a:solidFill>
                      <a:srgbClr val="0000FF"/>
                    </a:solidFill>
                  </a:rPr>
                  <a:t>)</a:t>
                </a:r>
              </a:p>
            </p:txBody>
          </p:sp>
        </mc:Choice>
        <mc:Fallback xmlns="">
          <p:sp>
            <p:nvSpPr>
              <p:cNvPr id="6" name="TextBox 5">
                <a:extLst>
                  <a:ext uri="{FF2B5EF4-FFF2-40B4-BE49-F238E27FC236}">
                    <a16:creationId xmlns:a16="http://schemas.microsoft.com/office/drawing/2014/main" id="{76CB469A-E1DC-4B26-89D8-01FAA6922494}"/>
                  </a:ext>
                </a:extLst>
              </p:cNvPr>
              <p:cNvSpPr txBox="1">
                <a:spLocks noRot="1" noChangeAspect="1" noMove="1" noResize="1" noEditPoints="1" noAdjustHandles="1" noChangeArrowheads="1" noChangeShapeType="1" noTextEdit="1"/>
              </p:cNvSpPr>
              <p:nvPr/>
            </p:nvSpPr>
            <p:spPr>
              <a:xfrm>
                <a:off x="0" y="5530781"/>
                <a:ext cx="3551806" cy="369332"/>
              </a:xfrm>
              <a:prstGeom prst="rect">
                <a:avLst/>
              </a:prstGeom>
              <a:blipFill>
                <a:blip r:embed="rId6"/>
                <a:stretch>
                  <a:fillRect l="-1372" t="-8197" r="-515" b="-24590"/>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E3640CD8-ED92-4F6C-860D-635745DD0E06}"/>
              </a:ext>
            </a:extLst>
          </p:cNvPr>
          <p:cNvSpPr txBox="1"/>
          <p:nvPr/>
        </p:nvSpPr>
        <p:spPr>
          <a:xfrm>
            <a:off x="2412611" y="5853872"/>
            <a:ext cx="1514967" cy="369332"/>
          </a:xfrm>
          <a:prstGeom prst="rect">
            <a:avLst/>
          </a:prstGeom>
          <a:noFill/>
        </p:spPr>
        <p:txBody>
          <a:bodyPr wrap="none" rtlCol="0">
            <a:spAutoFit/>
          </a:bodyPr>
          <a:lstStyle/>
          <a:p>
            <a:r>
              <a:rPr lang="en-US" dirty="0">
                <a:solidFill>
                  <a:srgbClr val="C00000"/>
                </a:solidFill>
              </a:rPr>
              <a:t>weight-at-age</a:t>
            </a:r>
          </a:p>
        </p:txBody>
      </p:sp>
      <p:sp>
        <p:nvSpPr>
          <p:cNvPr id="17" name="TextBox 16">
            <a:extLst>
              <a:ext uri="{FF2B5EF4-FFF2-40B4-BE49-F238E27FC236}">
                <a16:creationId xmlns:a16="http://schemas.microsoft.com/office/drawing/2014/main" id="{F1A213CF-60EB-4626-9027-7EE79A6CEB2F}"/>
              </a:ext>
            </a:extLst>
          </p:cNvPr>
          <p:cNvSpPr txBox="1"/>
          <p:nvPr/>
        </p:nvSpPr>
        <p:spPr>
          <a:xfrm>
            <a:off x="2655660" y="6190286"/>
            <a:ext cx="1650067" cy="369332"/>
          </a:xfrm>
          <a:prstGeom prst="rect">
            <a:avLst/>
          </a:prstGeom>
          <a:noFill/>
        </p:spPr>
        <p:txBody>
          <a:bodyPr wrap="none" rtlCol="0">
            <a:spAutoFit/>
          </a:bodyPr>
          <a:lstStyle/>
          <a:p>
            <a:r>
              <a:rPr lang="en-US" dirty="0">
                <a:solidFill>
                  <a:srgbClr val="7030A0"/>
                </a:solidFill>
              </a:rPr>
              <a:t>maturity-at-age</a:t>
            </a:r>
          </a:p>
        </p:txBody>
      </p:sp>
      <p:sp>
        <p:nvSpPr>
          <p:cNvPr id="8" name="TextBox 7">
            <a:extLst>
              <a:ext uri="{FF2B5EF4-FFF2-40B4-BE49-F238E27FC236}">
                <a16:creationId xmlns:a16="http://schemas.microsoft.com/office/drawing/2014/main" id="{87B678C8-A75C-4BA6-8051-0D2696084A18}"/>
              </a:ext>
            </a:extLst>
          </p:cNvPr>
          <p:cNvSpPr txBox="1"/>
          <p:nvPr/>
        </p:nvSpPr>
        <p:spPr>
          <a:xfrm>
            <a:off x="9656466" y="3898760"/>
            <a:ext cx="1385957" cy="369332"/>
          </a:xfrm>
          <a:prstGeom prst="rect">
            <a:avLst/>
          </a:prstGeom>
          <a:noFill/>
        </p:spPr>
        <p:txBody>
          <a:bodyPr wrap="none" rtlCol="0">
            <a:spAutoFit/>
          </a:bodyPr>
          <a:lstStyle/>
          <a:p>
            <a:r>
              <a:rPr lang="en-US" dirty="0"/>
              <a:t>Example SRR</a:t>
            </a:r>
          </a:p>
        </p:txBody>
      </p:sp>
      <p:sp>
        <p:nvSpPr>
          <p:cNvPr id="4" name="Slide Number Placeholder 3"/>
          <p:cNvSpPr>
            <a:spLocks noGrp="1"/>
          </p:cNvSpPr>
          <p:nvPr>
            <p:ph type="sldNum" sz="quarter" idx="12"/>
          </p:nvPr>
        </p:nvSpPr>
        <p:spPr/>
        <p:txBody>
          <a:bodyPr/>
          <a:lstStyle/>
          <a:p>
            <a:fld id="{EEDFA2F9-C25F-4A63-B46B-7B5C200A39D1}" type="slidenum">
              <a:rPr lang="en-CA" smtClean="0"/>
              <a:t>83</a:t>
            </a:fld>
            <a:endParaRPr lang="en-CA"/>
          </a:p>
        </p:txBody>
      </p:sp>
    </p:spTree>
    <p:extLst>
      <p:ext uri="{BB962C8B-B14F-4D97-AF65-F5344CB8AC3E}">
        <p14:creationId xmlns:p14="http://schemas.microsoft.com/office/powerpoint/2010/main" val="3118902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6" grpId="0"/>
      <p:bldP spid="16" grpId="0"/>
      <p:bldP spid="17" grpId="0"/>
      <p:bldP spid="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56B773-E5A1-4091-941D-549FE91D2B74}"/>
              </a:ext>
            </a:extLst>
          </p:cNvPr>
          <p:cNvPicPr>
            <a:picLocks noChangeAspect="1"/>
          </p:cNvPicPr>
          <p:nvPr/>
        </p:nvPicPr>
        <p:blipFill>
          <a:blip r:embed="rId2"/>
          <a:stretch>
            <a:fillRect/>
          </a:stretch>
        </p:blipFill>
        <p:spPr>
          <a:xfrm>
            <a:off x="6153461" y="1243921"/>
            <a:ext cx="5200339" cy="2914141"/>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4756045"/>
              </a:xfrm>
            </p:spPr>
            <p:txBody>
              <a:bodyPr>
                <a:normAutofit/>
              </a:bodyPr>
              <a:lstStyle/>
              <a:p>
                <a:endParaRPr lang="en-CA" dirty="0"/>
              </a:p>
              <a:p>
                <a:endParaRPr lang="en-CA" dirty="0"/>
              </a:p>
              <a:p>
                <a:endParaRPr lang="en-CA" dirty="0"/>
              </a:p>
              <a:p>
                <a:endParaRPr lang="en-CA" dirty="0"/>
              </a:p>
              <a:p>
                <a:pPr marL="0" indent="0">
                  <a:buNone/>
                </a:pPr>
                <a:r>
                  <a:rPr lang="en-CA" dirty="0"/>
                  <a:t>We can also express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𝐸</m:t>
                        </m:r>
                        <m:r>
                          <a:rPr lang="en-US" i="1">
                            <a:latin typeface="Cambria Math" panose="02040503050406030204" pitchFamily="18" charset="0"/>
                          </a:rPr>
                          <m:t>0</m:t>
                        </m:r>
                      </m:sub>
                    </m:sSub>
                    <m:r>
                      <a:rPr lang="en-US" b="0" i="1" smtClean="0">
                        <a:latin typeface="Cambria Math" panose="02040503050406030204" pitchFamily="18" charset="0"/>
                      </a:rPr>
                      <m:t>=</m:t>
                    </m:r>
                    <m:f>
                      <m:fPr>
                        <m:ctrlPr>
                          <a:rPr lang="en-CA" i="1">
                            <a:latin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𝑆𝑆𝐵</m:t>
                            </m:r>
                          </m:e>
                          <m:sub>
                            <m:r>
                              <a:rPr lang="en-US" i="1">
                                <a:latin typeface="Cambria Math" panose="02040503050406030204" pitchFamily="18" charset="0"/>
                              </a:rPr>
                              <m:t>0</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i="1">
                                <a:latin typeface="Cambria Math" panose="02040503050406030204" pitchFamily="18" charset="0"/>
                              </a:rPr>
                              <m:t>0</m:t>
                            </m:r>
                          </m:sub>
                        </m:sSub>
                      </m:den>
                    </m:f>
                  </m:oMath>
                </a14:m>
                <a:r>
                  <a:rPr lang="en-CA" dirty="0"/>
                  <a:t> </a:t>
                </a:r>
                <a:r>
                  <a:rPr lang="en-CA" sz="2000" dirty="0"/>
                  <a:t>	</a:t>
                </a:r>
                <a:endParaRPr lang="en-CA" dirty="0"/>
              </a:p>
              <a:p>
                <a:pPr marL="0" indent="0">
                  <a:buNone/>
                </a:pPr>
                <a:r>
                  <a:rPr lang="en-CA" dirty="0"/>
                  <a:t>The point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𝑆𝑆𝐵</m:t>
                        </m:r>
                      </m:e>
                      <m:sub>
                        <m:r>
                          <a:rPr lang="en-US" i="1">
                            <a:latin typeface="Cambria Math" panose="02040503050406030204" pitchFamily="18" charset="0"/>
                          </a:rPr>
                          <m:t>0</m:t>
                        </m:r>
                      </m:sub>
                    </m:sSub>
                  </m:oMath>
                </a14:m>
                <a:r>
                  <a:rPr lang="en-CA" dirty="0"/>
                  <a:t>, </a:t>
                </a:r>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i="1">
                            <a:latin typeface="Cambria Math" panose="02040503050406030204" pitchFamily="18" charset="0"/>
                          </a:rPr>
                          <m:t>0</m:t>
                        </m:r>
                      </m:sub>
                    </m:sSub>
                  </m:oMath>
                </a14:m>
                <a:r>
                  <a:rPr lang="en-CA" dirty="0"/>
                  <a:t>) lies on the SRR so we know:</a:t>
                </a:r>
              </a:p>
              <a:p>
                <a:pPr marL="0" indent="0" algn="r">
                  <a:buNone/>
                </a:pPr>
                <a14:m>
                  <m:oMath xmlns:m="http://schemas.openxmlformats.org/officeDocument/2006/math">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𝑅</m:t>
                        </m:r>
                      </m:e>
                      <m:sub>
                        <m:r>
                          <a:rPr lang="en-US" sz="3200" i="1">
                            <a:latin typeface="Cambria Math" panose="02040503050406030204" pitchFamily="18" charset="0"/>
                          </a:rPr>
                          <m:t>0</m:t>
                        </m:r>
                      </m:sub>
                    </m:sSub>
                    <m:r>
                      <a:rPr lang="en-US" sz="3200" i="1">
                        <a:latin typeface="Cambria Math" panose="02040503050406030204" pitchFamily="18" charset="0"/>
                      </a:rPr>
                      <m:t>=</m:t>
                    </m:r>
                    <m:f>
                      <m:fPr>
                        <m:ctrlPr>
                          <a:rPr lang="en-US" sz="3200" i="1" smtClean="0">
                            <a:latin typeface="Cambria Math" panose="02040503050406030204" pitchFamily="18" charset="0"/>
                            <a:ea typeface="Cambria Math" panose="02040503050406030204" pitchFamily="18" charset="0"/>
                          </a:rPr>
                        </m:ctrlPr>
                      </m:fPr>
                      <m:num>
                        <m:r>
                          <a:rPr lang="en-US" sz="3200" i="1" smtClean="0">
                            <a:latin typeface="Cambria Math" panose="02040503050406030204" pitchFamily="18" charset="0"/>
                            <a:ea typeface="Cambria Math" panose="02040503050406030204" pitchFamily="18" charset="0"/>
                          </a:rPr>
                          <m:t>𝛼</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𝑆𝑆𝐵</m:t>
                            </m:r>
                          </m:e>
                          <m:sub>
                            <m:r>
                              <a:rPr lang="en-US" sz="3200" i="1">
                                <a:latin typeface="Cambria Math" panose="02040503050406030204" pitchFamily="18" charset="0"/>
                              </a:rPr>
                              <m:t>0</m:t>
                            </m:r>
                          </m:sub>
                        </m:sSub>
                      </m:num>
                      <m:den>
                        <m:r>
                          <a:rPr lang="en-US" sz="3200" i="1">
                            <a:latin typeface="Cambria Math" panose="02040503050406030204" pitchFamily="18" charset="0"/>
                          </a:rPr>
                          <m:t>1+</m:t>
                        </m:r>
                        <m:r>
                          <a:rPr lang="en-US" sz="3200" i="1" smtClean="0">
                            <a:latin typeface="Cambria Math" panose="02040503050406030204" pitchFamily="18" charset="0"/>
                            <a:ea typeface="Cambria Math" panose="02040503050406030204" pitchFamily="18" charset="0"/>
                          </a:rPr>
                          <m:t>𝛽</m:t>
                        </m:r>
                        <m:sSub>
                          <m:sSubPr>
                            <m:ctrlPr>
                              <a:rPr lang="en-US" sz="3200" i="1">
                                <a:latin typeface="Cambria Math" panose="02040503050406030204" pitchFamily="18" charset="0"/>
                                <a:ea typeface="Cambria Math" panose="02040503050406030204" pitchFamily="18" charset="0"/>
                              </a:rPr>
                            </m:ctrlPr>
                          </m:sSubPr>
                          <m:e>
                            <m:r>
                              <a:rPr lang="en-US" sz="3200" i="1">
                                <a:latin typeface="Cambria Math" panose="02040503050406030204" pitchFamily="18" charset="0"/>
                                <a:ea typeface="Cambria Math" panose="02040503050406030204" pitchFamily="18" charset="0"/>
                              </a:rPr>
                              <m:t>𝑆𝑆𝐵</m:t>
                            </m:r>
                          </m:e>
                          <m:sub>
                            <m:r>
                              <a:rPr lang="en-US" sz="3200" i="1">
                                <a:latin typeface="Cambria Math" panose="02040503050406030204" pitchFamily="18" charset="0"/>
                              </a:rPr>
                              <m:t>0</m:t>
                            </m:r>
                          </m:sub>
                        </m:sSub>
                      </m:den>
                    </m:f>
                  </m:oMath>
                </a14:m>
                <a:r>
                  <a:rPr lang="en-CA" sz="3200" dirty="0"/>
                  <a:t> 	</a:t>
                </a:r>
                <a:r>
                  <a:rPr lang="en-CA" dirty="0"/>
                  <a:t>			</a:t>
                </a:r>
              </a:p>
              <a:p>
                <a:pPr marL="0" indent="0">
                  <a:buNone/>
                </a:pPr>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4756045"/>
              </a:xfrm>
              <a:blipFill>
                <a:blip r:embed="rId3"/>
                <a:stretch>
                  <a:fillRect l="-1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120909"/>
                <a:ext cx="10515600" cy="1325563"/>
              </a:xfrm>
            </p:spPr>
            <p:txBody>
              <a:bodyPr>
                <a:normAutofit/>
              </a:bodyPr>
              <a:lstStyle/>
              <a:p>
                <a:r>
                  <a:rPr lang="en-US" sz="3600" dirty="0"/>
                  <a:t>Reference Points </a:t>
                </a:r>
                <a:r>
                  <a:rPr lang="en-US" sz="3600" b="1" dirty="0">
                    <a:solidFill>
                      <a:schemeClr val="accent6">
                        <a:lumMod val="75000"/>
                      </a:schemeClr>
                    </a:solidFill>
                  </a:rPr>
                  <a:t>1. Unfished Equilibrium Biomass </a:t>
                </a:r>
                <a14:m>
                  <m:oMath xmlns:m="http://schemas.openxmlformats.org/officeDocument/2006/math">
                    <m:r>
                      <a:rPr lang="en-US" sz="3600" b="1" i="1" dirty="0" smtClean="0">
                        <a:solidFill>
                          <a:schemeClr val="accent6">
                            <a:lumMod val="75000"/>
                          </a:schemeClr>
                        </a:solidFill>
                        <a:latin typeface="Cambria Math" panose="02040503050406030204" pitchFamily="18" charset="0"/>
                      </a:rPr>
                      <m:t>𝑩</m:t>
                    </m:r>
                    <m:r>
                      <a:rPr lang="en-US" sz="3600" b="1" i="1" baseline="-25000" dirty="0" smtClean="0">
                        <a:solidFill>
                          <a:schemeClr val="accent6">
                            <a:lumMod val="75000"/>
                          </a:schemeClr>
                        </a:solidFill>
                        <a:latin typeface="Cambria Math" panose="02040503050406030204" pitchFamily="18" charset="0"/>
                      </a:rPr>
                      <m:t>𝟎</m:t>
                    </m:r>
                  </m:oMath>
                </a14:m>
                <a:endParaRPr lang="en-CA" sz="3600" b="1" baseline="-25000" dirty="0">
                  <a:solidFill>
                    <a:schemeClr val="accent6">
                      <a:lumMod val="75000"/>
                    </a:schemeClr>
                  </a:solidFill>
                </a:endParaRP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120909"/>
                <a:ext cx="10515600" cy="1325563"/>
              </a:xfrm>
              <a:blipFill>
                <a:blip r:embed="rId4"/>
                <a:stretch>
                  <a:fillRect l="-17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4D13486-321C-40C4-BB62-DF840DD4E6E5}"/>
                  </a:ext>
                </a:extLst>
              </p:cNvPr>
              <p:cNvSpPr txBox="1"/>
              <p:nvPr/>
            </p:nvSpPr>
            <p:spPr>
              <a:xfrm>
                <a:off x="1739246" y="1973993"/>
                <a:ext cx="3434017" cy="1229504"/>
              </a:xfrm>
              <a:prstGeom prst="rect">
                <a:avLst/>
              </a:prstGeom>
              <a:noFill/>
            </p:spPr>
            <p:style>
              <a:lnRef idx="0">
                <a:scrgbClr r="0" g="0" b="0"/>
              </a:lnRef>
              <a:fillRef idx="0">
                <a:scrgbClr r="0" g="0" b="0"/>
              </a:fillRef>
              <a:effectRef idx="0">
                <a:scrgbClr r="0" g="0" b="0"/>
              </a:effectRef>
              <a:fontRef idx="minor">
                <a:schemeClr val="tx1"/>
              </a:fontRef>
            </p:style>
            <p:txBody>
              <a:bodyPr wrap="none" lIns="0" tIns="0" rIns="0" bIns="0" rtlCol="0"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14:m>
                  <m:oMathPara xmlns:m="http://schemas.openxmlformats.org/officeDocument/2006/math">
                    <m:oMath>
                      <m:sSub>
                        <m:sSubPr>
                          <m:ctrlPr>
                            <a:rPr lang="en-US" sz="2800" i="1" smtClean="0">
                              <a:solidFill>
                                <a:schemeClr val="tx1"/>
                              </a:solidFill>
                              <a:effectLst/>
                              <a:latin typeface="Cambria Math" panose="02040503050406030204" pitchFamily="18" charset="0"/>
                              <a:ea typeface="Cambria Math" panose="02040503050406030204" pitchFamily="18" charset="0"/>
                            </a:rPr>
                          </m:ctrlPr>
                        </m:sSubPr>
                        <m:e>
                          <m:r>
                            <a:rPr lang="en-US" sz="2800" i="1" smtClean="0">
                              <a:solidFill>
                                <a:schemeClr val="tx1"/>
                              </a:solidFill>
                              <a:effectLst/>
                              <a:latin typeface="Cambria Math" panose="02040503050406030204" pitchFamily="18" charset="0"/>
                              <a:ea typeface="Cambria Math" panose="02040503050406030204" pitchFamily="18" charset="0"/>
                            </a:rPr>
                            <m:t>𝜑</m:t>
                          </m:r>
                        </m:e>
                        <m:sub>
                          <m:r>
                            <a:rPr lang="en-US" sz="2800" b="0" i="1" smtClean="0">
                              <a:solidFill>
                                <a:schemeClr val="tx1"/>
                              </a:solidFill>
                              <a:effectLst/>
                              <a:latin typeface="Cambria Math" panose="02040503050406030204" pitchFamily="18" charset="0"/>
                              <a:ea typeface="Cambria Math" panose="02040503050406030204" pitchFamily="18" charset="0"/>
                            </a:rPr>
                            <m:t>𝐸</m:t>
                          </m:r>
                          <m:r>
                            <a:rPr lang="en-US" sz="2800" b="0" i="1" smtClean="0">
                              <a:solidFill>
                                <a:schemeClr val="tx1"/>
                              </a:solidFill>
                              <a:effectLst/>
                              <a:latin typeface="Cambria Math" panose="02040503050406030204" pitchFamily="18" charset="0"/>
                              <a:ea typeface="Cambria Math" panose="02040503050406030204" pitchFamily="18" charset="0"/>
                            </a:rPr>
                            <m:t>0</m:t>
                          </m:r>
                        </m:sub>
                      </m:sSub>
                      <m:r>
                        <a:rPr lang="en-US" sz="2800" b="0" i="1" smtClean="0">
                          <a:solidFill>
                            <a:schemeClr val="tx1"/>
                          </a:solidFill>
                          <a:effectLst/>
                          <a:latin typeface="Cambria Math" panose="02040503050406030204" pitchFamily="18" charset="0"/>
                        </a:rPr>
                        <m:t>=</m:t>
                      </m:r>
                      <m:nary>
                        <m:naryPr>
                          <m:chr m:val="∑"/>
                          <m:ctrlPr>
                            <a:rPr lang="en-US" sz="2800" i="1">
                              <a:latin typeface="Cambria Math" panose="02040503050406030204" pitchFamily="18" charset="0"/>
                            </a:rPr>
                          </m:ctrlPr>
                        </m:naryPr>
                        <m:sub>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𝑎</m:t>
                              </m:r>
                              <m:r>
                                <a:rPr lang="en-US" sz="2800" b="0" i="1" smtClean="0">
                                  <a:latin typeface="Cambria Math" panose="02040503050406030204" pitchFamily="18" charset="0"/>
                                </a:rPr>
                                <m:t>=</m:t>
                              </m:r>
                              <m:r>
                                <a:rPr lang="en-US" sz="2800" i="1">
                                  <a:latin typeface="Cambria Math" panose="02040503050406030204" pitchFamily="18" charset="0"/>
                                </a:rPr>
                                <m:t>𝑎</m:t>
                              </m:r>
                            </m:e>
                            <m:sub>
                              <m:r>
                                <a:rPr lang="en-US" sz="2800" b="0" i="1" smtClean="0">
                                  <a:latin typeface="Cambria Math" panose="02040503050406030204" pitchFamily="18" charset="0"/>
                                </a:rPr>
                                <m:t>𝑟𝑒𝑐</m:t>
                              </m:r>
                            </m:sub>
                          </m:sSub>
                        </m:sub>
                        <m:sup>
                          <m:sSub>
                            <m:sSubPr>
                              <m:ctrlPr>
                                <a:rPr lang="en-US" sz="2800" b="0" i="1" smtClean="0">
                                  <a:solidFill>
                                    <a:schemeClr val="tx1"/>
                                  </a:solidFill>
                                  <a:effectLst/>
                                  <a:latin typeface="Cambria Math" panose="02040503050406030204" pitchFamily="18" charset="0"/>
                                </a:rPr>
                              </m:ctrlPr>
                            </m:sSubPr>
                            <m:e>
                              <m:r>
                                <a:rPr lang="en-US" sz="2800" b="0" i="1" smtClean="0">
                                  <a:solidFill>
                                    <a:schemeClr val="tx1"/>
                                  </a:solidFill>
                                  <a:effectLst/>
                                  <a:latin typeface="Cambria Math" panose="02040503050406030204" pitchFamily="18" charset="0"/>
                                </a:rPr>
                                <m:t>𝑎</m:t>
                              </m:r>
                            </m:e>
                            <m:sub>
                              <m:r>
                                <a:rPr lang="en-US" sz="2800" b="0" i="1" smtClean="0">
                                  <a:solidFill>
                                    <a:schemeClr val="tx1"/>
                                  </a:solidFill>
                                  <a:effectLst/>
                                  <a:latin typeface="Cambria Math" panose="02040503050406030204" pitchFamily="18" charset="0"/>
                                </a:rPr>
                                <m:t>𝑚𝑎𝑥</m:t>
                              </m:r>
                            </m:sub>
                          </m:sSub>
                        </m:sup>
                        <m:e>
                          <m:sSub>
                            <m:sSubPr>
                              <m:ctrlPr>
                                <a:rPr lang="en-US" sz="2800" b="0" i="1" smtClean="0">
                                  <a:solidFill>
                                    <a:srgbClr val="0000FF"/>
                                  </a:solidFill>
                                  <a:effectLst/>
                                  <a:latin typeface="Cambria Math" panose="02040503050406030204" pitchFamily="18" charset="0"/>
                                </a:rPr>
                              </m:ctrlPr>
                            </m:sSubPr>
                            <m:e>
                              <m:r>
                                <a:rPr lang="en-US" sz="2800" b="0" i="1" smtClean="0">
                                  <a:solidFill>
                                    <a:srgbClr val="0000FF"/>
                                  </a:solidFill>
                                  <a:effectLst/>
                                  <a:latin typeface="Cambria Math" panose="02040503050406030204" pitchFamily="18" charset="0"/>
                                </a:rPr>
                                <m:t>𝑙</m:t>
                              </m:r>
                            </m:e>
                            <m:sub>
                              <m:sSub>
                                <m:sSubPr>
                                  <m:ctrlPr>
                                    <a:rPr lang="en-US" sz="2800" b="0" i="1" smtClean="0">
                                      <a:solidFill>
                                        <a:srgbClr val="0000FF"/>
                                      </a:solidFill>
                                      <a:effectLst/>
                                      <a:latin typeface="Cambria Math" panose="02040503050406030204" pitchFamily="18" charset="0"/>
                                    </a:rPr>
                                  </m:ctrlPr>
                                </m:sSubPr>
                                <m:e>
                                  <m:r>
                                    <a:rPr lang="en-US" sz="2800" b="0" i="1" smtClean="0">
                                      <a:solidFill>
                                        <a:srgbClr val="0000FF"/>
                                      </a:solidFill>
                                      <a:effectLst/>
                                      <a:latin typeface="Cambria Math" panose="02040503050406030204" pitchFamily="18" charset="0"/>
                                    </a:rPr>
                                    <m:t>0</m:t>
                                  </m:r>
                                </m:e>
                                <m:sub>
                                  <m:r>
                                    <a:rPr lang="en-US" sz="2800" b="0" i="1" smtClean="0">
                                      <a:solidFill>
                                        <a:srgbClr val="0000FF"/>
                                      </a:solidFill>
                                      <a:effectLst/>
                                      <a:latin typeface="Cambria Math" panose="02040503050406030204" pitchFamily="18" charset="0"/>
                                    </a:rPr>
                                    <m:t>𝑎</m:t>
                                  </m:r>
                                </m:sub>
                              </m:sSub>
                            </m:sub>
                          </m:sSub>
                          <m:sSub>
                            <m:sSubPr>
                              <m:ctrlPr>
                                <a:rPr lang="en-US" sz="2800" b="0" i="1" smtClean="0">
                                  <a:solidFill>
                                    <a:srgbClr val="C00000"/>
                                  </a:solidFill>
                                  <a:latin typeface="Cambria Math" panose="02040503050406030204" pitchFamily="18" charset="0"/>
                                </a:rPr>
                              </m:ctrlPr>
                            </m:sSubPr>
                            <m:e>
                              <m:r>
                                <a:rPr lang="en-US" sz="2800" b="0" i="1" smtClean="0">
                                  <a:solidFill>
                                    <a:srgbClr val="C00000"/>
                                  </a:solidFill>
                                  <a:latin typeface="Cambria Math" panose="02040503050406030204" pitchFamily="18" charset="0"/>
                                </a:rPr>
                                <m:t>𝑤</m:t>
                              </m:r>
                            </m:e>
                            <m:sub>
                              <m:r>
                                <a:rPr lang="en-US" sz="2800" i="1">
                                  <a:solidFill>
                                    <a:srgbClr val="C00000"/>
                                  </a:solidFill>
                                  <a:latin typeface="Cambria Math" panose="02040503050406030204" pitchFamily="18" charset="0"/>
                                </a:rPr>
                                <m:t>𝑎</m:t>
                              </m:r>
                            </m:sub>
                          </m:sSub>
                          <m:sSub>
                            <m:sSubPr>
                              <m:ctrlPr>
                                <a:rPr lang="en-US" sz="2800" b="0" i="1" smtClean="0">
                                  <a:solidFill>
                                    <a:srgbClr val="7030A0"/>
                                  </a:solidFill>
                                  <a:latin typeface="Cambria Math" panose="02040503050406030204" pitchFamily="18" charset="0"/>
                                </a:rPr>
                              </m:ctrlPr>
                            </m:sSubPr>
                            <m:e>
                              <m:r>
                                <a:rPr lang="en-US" sz="2800" b="0" i="1" smtClean="0">
                                  <a:solidFill>
                                    <a:srgbClr val="7030A0"/>
                                  </a:solidFill>
                                  <a:latin typeface="Cambria Math" panose="02040503050406030204" pitchFamily="18" charset="0"/>
                                </a:rPr>
                                <m:t>𝑚</m:t>
                              </m:r>
                            </m:e>
                            <m:sub>
                              <m:r>
                                <a:rPr lang="en-US" sz="2800" i="1">
                                  <a:solidFill>
                                    <a:srgbClr val="7030A0"/>
                                  </a:solidFill>
                                  <a:latin typeface="Cambria Math" panose="02040503050406030204" pitchFamily="18" charset="0"/>
                                </a:rPr>
                                <m:t>𝑎</m:t>
                              </m:r>
                            </m:sub>
                          </m:sSub>
                        </m:e>
                      </m:nary>
                    </m:oMath>
                  </m:oMathPara>
                </a14:m>
                <a:endParaRPr lang="en-CA" sz="2800" dirty="0"/>
              </a:p>
            </p:txBody>
          </p:sp>
        </mc:Choice>
        <mc:Fallback xmlns="">
          <p:sp>
            <p:nvSpPr>
              <p:cNvPr id="4" name="TextBox 3">
                <a:extLst>
                  <a:ext uri="{FF2B5EF4-FFF2-40B4-BE49-F238E27FC236}">
                    <a16:creationId xmlns:a16="http://schemas.microsoft.com/office/drawing/2014/main" id="{D4D13486-321C-40C4-BB62-DF840DD4E6E5}"/>
                  </a:ext>
                </a:extLst>
              </p:cNvPr>
              <p:cNvSpPr txBox="1">
                <a:spLocks noRot="1" noChangeAspect="1" noMove="1" noResize="1" noEditPoints="1" noAdjustHandles="1" noChangeArrowheads="1" noChangeShapeType="1" noTextEdit="1"/>
              </p:cNvSpPr>
              <p:nvPr/>
            </p:nvSpPr>
            <p:spPr>
              <a:xfrm>
                <a:off x="1739246" y="1973993"/>
                <a:ext cx="3434017" cy="122950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BC85535-5B60-41FC-A1EB-CEE1E4AE646A}"/>
                  </a:ext>
                </a:extLst>
              </p:cNvPr>
              <p:cNvSpPr txBox="1"/>
              <p:nvPr/>
            </p:nvSpPr>
            <p:spPr>
              <a:xfrm>
                <a:off x="8749145" y="4537214"/>
                <a:ext cx="2604655" cy="1569660"/>
              </a:xfrm>
              <a:prstGeom prst="rect">
                <a:avLst/>
              </a:prstGeom>
              <a:solidFill>
                <a:schemeClr val="accent1">
                  <a:lumMod val="60000"/>
                  <a:lumOff val="40000"/>
                </a:schemeClr>
              </a:solidFill>
              <a:ln>
                <a:solidFill>
                  <a:schemeClr val="tx1"/>
                </a:solidFill>
              </a:ln>
            </p:spPr>
            <p:txBody>
              <a:bodyPr wrap="square" rtlCol="0">
                <a:spAutoFit/>
              </a:bodyPr>
              <a:lstStyle/>
              <a:p>
                <a:pPr algn="ctr"/>
                <a:r>
                  <a:rPr lang="en-CA" sz="2400" dirty="0"/>
                  <a:t>We have 2 equations and two unknowns (</a:t>
                </a:r>
                <a14:m>
                  <m:oMath xmlns:m="http://schemas.openxmlformats.org/officeDocument/2006/math">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𝑅</m:t>
                        </m:r>
                      </m:e>
                      <m:sub>
                        <m:r>
                          <a:rPr lang="en-US" sz="2400" i="1">
                            <a:latin typeface="Cambria Math" panose="02040503050406030204" pitchFamily="18" charset="0"/>
                          </a:rPr>
                          <m:t>0</m:t>
                        </m:r>
                      </m:sub>
                    </m:sSub>
                  </m:oMath>
                </a14:m>
                <a:r>
                  <a:rPr lang="en-CA" sz="2400" dirty="0"/>
                  <a:t> and </a:t>
                </a:r>
                <a14:m>
                  <m:oMath xmlns:m="http://schemas.openxmlformats.org/officeDocument/2006/math">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𝑆𝑆𝐵</m:t>
                        </m:r>
                      </m:e>
                      <m:sub>
                        <m:r>
                          <a:rPr lang="en-US" sz="2400" i="1">
                            <a:latin typeface="Cambria Math" panose="02040503050406030204" pitchFamily="18" charset="0"/>
                          </a:rPr>
                          <m:t>0</m:t>
                        </m:r>
                      </m:sub>
                    </m:sSub>
                  </m:oMath>
                </a14:m>
                <a:r>
                  <a:rPr lang="en-CA" sz="2400" dirty="0"/>
                  <a:t>)</a:t>
                </a:r>
              </a:p>
            </p:txBody>
          </p:sp>
        </mc:Choice>
        <mc:Fallback xmlns="">
          <p:sp>
            <p:nvSpPr>
              <p:cNvPr id="6" name="TextBox 5">
                <a:extLst>
                  <a:ext uri="{FF2B5EF4-FFF2-40B4-BE49-F238E27FC236}">
                    <a16:creationId xmlns:a16="http://schemas.microsoft.com/office/drawing/2014/main" id="{3BC85535-5B60-41FC-A1EB-CEE1E4AE646A}"/>
                  </a:ext>
                </a:extLst>
              </p:cNvPr>
              <p:cNvSpPr txBox="1">
                <a:spLocks noRot="1" noChangeAspect="1" noMove="1" noResize="1" noEditPoints="1" noAdjustHandles="1" noChangeArrowheads="1" noChangeShapeType="1" noTextEdit="1"/>
              </p:cNvSpPr>
              <p:nvPr/>
            </p:nvSpPr>
            <p:spPr>
              <a:xfrm>
                <a:off x="8749145" y="4537214"/>
                <a:ext cx="2604655" cy="1569660"/>
              </a:xfrm>
              <a:prstGeom prst="rect">
                <a:avLst/>
              </a:prstGeom>
              <a:blipFill>
                <a:blip r:embed="rId6"/>
                <a:stretch>
                  <a:fillRect l="-1163" t="-2692" r="-3721" b="-7308"/>
                </a:stretch>
              </a:blipFill>
              <a:ln>
                <a:solidFill>
                  <a:schemeClr val="tx1"/>
                </a:solidFill>
              </a:ln>
            </p:spPr>
            <p:txBody>
              <a:bodyPr/>
              <a:lstStyle/>
              <a:p>
                <a:r>
                  <a:rPr lang="en-US">
                    <a:noFill/>
                  </a:rPr>
                  <a:t> </a:t>
                </a:r>
              </a:p>
            </p:txBody>
          </p:sp>
        </mc:Fallback>
      </mc:AlternateContent>
      <p:sp>
        <p:nvSpPr>
          <p:cNvPr id="7" name="Slide Number Placeholder 6"/>
          <p:cNvSpPr>
            <a:spLocks noGrp="1"/>
          </p:cNvSpPr>
          <p:nvPr>
            <p:ph type="sldNum" sz="quarter" idx="12"/>
          </p:nvPr>
        </p:nvSpPr>
        <p:spPr/>
        <p:txBody>
          <a:bodyPr/>
          <a:lstStyle/>
          <a:p>
            <a:fld id="{EEDFA2F9-C25F-4A63-B46B-7B5C200A39D1}" type="slidenum">
              <a:rPr lang="en-CA" smtClean="0"/>
              <a:t>84</a:t>
            </a:fld>
            <a:endParaRPr lang="en-CA"/>
          </a:p>
        </p:txBody>
      </p:sp>
    </p:spTree>
    <p:extLst>
      <p:ext uri="{BB962C8B-B14F-4D97-AF65-F5344CB8AC3E}">
        <p14:creationId xmlns:p14="http://schemas.microsoft.com/office/powerpoint/2010/main" val="1926916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49037" y="1624305"/>
                <a:ext cx="10515600" cy="4667250"/>
              </a:xfrm>
            </p:spPr>
            <p:txBody>
              <a:bodyPr>
                <a:normAutofit/>
              </a:bodyPr>
              <a:lstStyle/>
              <a:p>
                <a:r>
                  <a:rPr lang="en-CA" dirty="0"/>
                  <a:t>Equation 1: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𝐸</m:t>
                        </m:r>
                        <m:r>
                          <a:rPr lang="en-US" i="1">
                            <a:latin typeface="Cambria Math" panose="02040503050406030204" pitchFamily="18" charset="0"/>
                          </a:rPr>
                          <m:t>0</m:t>
                        </m:r>
                      </m:sub>
                    </m:sSub>
                    <m:r>
                      <a:rPr lang="en-US" b="0" i="1" smtClean="0">
                        <a:latin typeface="Cambria Math" panose="02040503050406030204" pitchFamily="18" charset="0"/>
                      </a:rPr>
                      <m:t>=</m:t>
                    </m:r>
                    <m:f>
                      <m:fPr>
                        <m:ctrlPr>
                          <a:rPr lang="en-CA" i="1">
                            <a:latin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𝑆𝑆𝐵</m:t>
                            </m:r>
                          </m:e>
                          <m:sub>
                            <m:r>
                              <a:rPr lang="en-US" i="1">
                                <a:latin typeface="Cambria Math" panose="02040503050406030204" pitchFamily="18" charset="0"/>
                              </a:rPr>
                              <m:t>0</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𝑅</m:t>
                            </m:r>
                          </m:e>
                          <m:sub>
                            <m:r>
                              <a:rPr lang="en-US" i="1">
                                <a:latin typeface="Cambria Math" panose="02040503050406030204" pitchFamily="18" charset="0"/>
                              </a:rPr>
                              <m:t>0</m:t>
                            </m:r>
                          </m:sub>
                        </m:sSub>
                      </m:den>
                    </m:f>
                  </m:oMath>
                </a14:m>
                <a:r>
                  <a:rPr lang="en-CA" dirty="0"/>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rPr>
                          <m:t>0</m:t>
                        </m:r>
                      </m:sub>
                    </m:sSub>
                    <m:r>
                      <a:rPr lang="en-US" i="1">
                        <a:latin typeface="Cambria Math" panose="02040503050406030204" pitchFamily="18" charset="0"/>
                      </a:rPr>
                      <m:t>=</m:t>
                    </m:r>
                    <m:f>
                      <m:fPr>
                        <m:ctrlPr>
                          <a:rPr lang="en-CA" i="1">
                            <a:latin typeface="Cambria Math" panose="02040503050406030204" pitchFamily="18" charset="0"/>
                          </a:rPr>
                        </m:ctrlPr>
                      </m:fPr>
                      <m:num>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𝑆𝑆𝐵</m:t>
                            </m:r>
                          </m:e>
                          <m:sub>
                            <m:r>
                              <a:rPr lang="en-US" i="1">
                                <a:latin typeface="Cambria Math" panose="02040503050406030204" pitchFamily="18" charset="0"/>
                              </a:rPr>
                              <m:t>0</m:t>
                            </m:r>
                          </m:sub>
                        </m:sSub>
                      </m:num>
                      <m:den>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0</m:t>
                            </m:r>
                          </m:sub>
                        </m:sSub>
                      </m:den>
                    </m:f>
                  </m:oMath>
                </a14:m>
                <a:r>
                  <a:rPr lang="en-CA" dirty="0"/>
                  <a:t>		</a:t>
                </a:r>
                <a:r>
                  <a:rPr lang="en-US" dirty="0"/>
                  <a:t> </a:t>
                </a:r>
                <a:r>
                  <a:rPr lang="en-CA" dirty="0"/>
                  <a:t>				     </a:t>
                </a:r>
              </a:p>
              <a:p>
                <a:r>
                  <a:rPr lang="en-CA" dirty="0"/>
                  <a:t>Equation 2:</a:t>
                </a:r>
                <a:r>
                  <a:rPr lang="en-US" dirty="0"/>
                  <a: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rPr>
                          <m:t>0</m:t>
                        </m:r>
                      </m:sub>
                    </m:sSub>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𝛼</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𝑆𝑆𝐵</m:t>
                            </m:r>
                          </m:e>
                          <m:sub>
                            <m:r>
                              <a:rPr lang="en-US" i="1">
                                <a:latin typeface="Cambria Math" panose="02040503050406030204" pitchFamily="18" charset="0"/>
                              </a:rPr>
                              <m:t>0</m:t>
                            </m:r>
                          </m:sub>
                        </m:sSub>
                      </m:num>
                      <m:den>
                        <m:r>
                          <a:rPr lang="en-US" i="1">
                            <a:latin typeface="Cambria Math" panose="02040503050406030204" pitchFamily="18" charset="0"/>
                          </a:rPr>
                          <m:t>1+</m:t>
                        </m:r>
                        <m:r>
                          <a:rPr lang="en-US" i="1">
                            <a:latin typeface="Cambria Math" panose="02040503050406030204" pitchFamily="18" charset="0"/>
                            <a:ea typeface="Cambria Math" panose="02040503050406030204" pitchFamily="18" charset="0"/>
                          </a:rPr>
                          <m:t>𝛽</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𝑆𝑆𝐵</m:t>
                            </m:r>
                          </m:e>
                          <m:sub>
                            <m:r>
                              <a:rPr lang="en-US" i="1">
                                <a:latin typeface="Cambria Math" panose="02040503050406030204" pitchFamily="18" charset="0"/>
                              </a:rPr>
                              <m:t>0</m:t>
                            </m:r>
                          </m:sub>
                        </m:sSub>
                      </m:den>
                    </m:f>
                  </m:oMath>
                </a14:m>
                <a:r>
                  <a:rPr lang="en-CA" dirty="0"/>
                  <a:t> </a:t>
                </a:r>
              </a:p>
              <a:p>
                <a:endParaRPr lang="en-CA" dirty="0"/>
              </a:p>
              <a:p>
                <a:endParaRPr lang="en-CA" dirty="0"/>
              </a:p>
              <a:p>
                <a:endParaRPr lang="en-CA" dirty="0"/>
              </a:p>
              <a:p>
                <a:pPr marL="0" indent="0">
                  <a:buNone/>
                </a:pPr>
                <a:endParaRPr lang="en-CA" dirty="0"/>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49037" y="1624305"/>
                <a:ext cx="10515600" cy="4667250"/>
              </a:xfrm>
              <a:blipFill>
                <a:blip r:embed="rId2"/>
                <a:stretch>
                  <a:fillRect l="-1043" t="-2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sz="3600" dirty="0"/>
                  <a:t>Reference Points </a:t>
                </a:r>
                <a:r>
                  <a:rPr lang="en-US" sz="3600" b="1" dirty="0">
                    <a:solidFill>
                      <a:schemeClr val="accent6">
                        <a:lumMod val="75000"/>
                      </a:schemeClr>
                    </a:solidFill>
                  </a:rPr>
                  <a:t>1. Unfished Equilibrium Biomass </a:t>
                </a:r>
                <a14:m>
                  <m:oMath xmlns:m="http://schemas.openxmlformats.org/officeDocument/2006/math">
                    <m:r>
                      <a:rPr lang="en-US" sz="3600" b="1" i="1" dirty="0">
                        <a:solidFill>
                          <a:schemeClr val="accent6">
                            <a:lumMod val="75000"/>
                          </a:schemeClr>
                        </a:solidFill>
                        <a:latin typeface="Cambria Math" panose="02040503050406030204" pitchFamily="18" charset="0"/>
                      </a:rPr>
                      <m:t>𝑩</m:t>
                    </m:r>
                    <m:r>
                      <a:rPr lang="en-US" sz="3600" b="1" i="1" baseline="-25000" dirty="0">
                        <a:solidFill>
                          <a:schemeClr val="accent6">
                            <a:lumMod val="75000"/>
                          </a:schemeClr>
                        </a:solidFill>
                        <a:latin typeface="Cambria Math" panose="02040503050406030204" pitchFamily="18" charset="0"/>
                      </a:rPr>
                      <m:t>𝟎</m:t>
                    </m:r>
                  </m:oMath>
                </a14:m>
                <a:endParaRPr lang="en-CA" sz="3600" b="1"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1797"/>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49464A8E-261E-4C0D-B13E-254B2F12E63E}"/>
              </a:ext>
            </a:extLst>
          </p:cNvPr>
          <p:cNvCxnSpPr/>
          <p:nvPr/>
        </p:nvCxnSpPr>
        <p:spPr>
          <a:xfrm>
            <a:off x="4837842" y="1919177"/>
            <a:ext cx="453005"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E844A98E-8995-4E45-9E36-03D02A337A45}"/>
              </a:ext>
            </a:extLst>
          </p:cNvPr>
          <p:cNvCxnSpPr/>
          <p:nvPr/>
        </p:nvCxnSpPr>
        <p:spPr>
          <a:xfrm>
            <a:off x="7228704" y="1919177"/>
            <a:ext cx="713064" cy="55367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DB6D541-A281-4316-99EA-E403A94598E3}"/>
              </a:ext>
            </a:extLst>
          </p:cNvPr>
          <p:cNvCxnSpPr>
            <a:cxnSpLocks/>
          </p:cNvCxnSpPr>
          <p:nvPr/>
        </p:nvCxnSpPr>
        <p:spPr>
          <a:xfrm flipV="1">
            <a:off x="5366348" y="2539962"/>
            <a:ext cx="2575420" cy="50334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CE00C02-011A-43FB-9ED7-A0A0DDA9929E}"/>
                  </a:ext>
                </a:extLst>
              </p:cNvPr>
              <p:cNvSpPr txBox="1"/>
              <p:nvPr/>
            </p:nvSpPr>
            <p:spPr>
              <a:xfrm>
                <a:off x="8042628" y="2239876"/>
                <a:ext cx="2424418" cy="760144"/>
              </a:xfrm>
              <a:prstGeom prst="rect">
                <a:avLst/>
              </a:prstGeom>
              <a:noFill/>
            </p:spPr>
            <p:txBody>
              <a:bodyPr wrap="square" rtlCol="0">
                <a:spAutoFit/>
              </a:bodyPr>
              <a:lstStyle/>
              <a:p>
                <a14:m>
                  <m:oMath xmlns:m="http://schemas.openxmlformats.org/officeDocument/2006/math">
                    <m:f>
                      <m:fPr>
                        <m:ctrlPr>
                          <a:rPr lang="en-CA" sz="2800" i="1">
                            <a:latin typeface="Cambria Math" panose="02040503050406030204" pitchFamily="18" charset="0"/>
                          </a:rPr>
                        </m:ctrlPr>
                      </m:fPr>
                      <m:num>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𝑆𝑆𝐵</m:t>
                            </m:r>
                          </m:e>
                          <m:sub>
                            <m:r>
                              <a:rPr lang="en-US" sz="2800" i="1">
                                <a:latin typeface="Cambria Math" panose="02040503050406030204" pitchFamily="18" charset="0"/>
                              </a:rPr>
                              <m:t>0</m:t>
                            </m:r>
                          </m:sub>
                        </m:sSub>
                      </m:num>
                      <m:den>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𝜑</m:t>
                            </m:r>
                          </m:e>
                          <m:sub>
                            <m:r>
                              <a:rPr lang="en-US" sz="2800" i="1">
                                <a:latin typeface="Cambria Math" panose="02040503050406030204" pitchFamily="18" charset="0"/>
                              </a:rPr>
                              <m:t>0</m:t>
                            </m:r>
                          </m:sub>
                        </m:sSub>
                      </m:den>
                    </m:f>
                    <m:r>
                      <a:rPr lang="en-US" sz="2800" b="0" i="1" smtClean="0">
                        <a:latin typeface="Cambria Math" panose="02040503050406030204" pitchFamily="18" charset="0"/>
                      </a:rPr>
                      <m:t>=</m:t>
                    </m:r>
                  </m:oMath>
                </a14:m>
                <a:r>
                  <a:rPr lang="en-US" sz="2800" dirty="0"/>
                  <a:t> </a:t>
                </a:r>
                <a14:m>
                  <m:oMath xmlns:m="http://schemas.openxmlformats.org/officeDocument/2006/math">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𝛼</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𝑆𝑆𝐵</m:t>
                            </m:r>
                          </m:e>
                          <m:sub>
                            <m:r>
                              <a:rPr lang="en-US" sz="2800" i="1">
                                <a:latin typeface="Cambria Math" panose="02040503050406030204" pitchFamily="18" charset="0"/>
                              </a:rPr>
                              <m:t>0</m:t>
                            </m:r>
                          </m:sub>
                        </m:sSub>
                      </m:num>
                      <m:den>
                        <m:r>
                          <a:rPr lang="en-US" sz="2800" i="1">
                            <a:latin typeface="Cambria Math" panose="02040503050406030204" pitchFamily="18" charset="0"/>
                          </a:rPr>
                          <m:t>1+</m:t>
                        </m:r>
                        <m:r>
                          <a:rPr lang="en-US" sz="2800" i="1">
                            <a:latin typeface="Cambria Math" panose="02040503050406030204" pitchFamily="18" charset="0"/>
                            <a:ea typeface="Cambria Math" panose="02040503050406030204" pitchFamily="18" charset="0"/>
                          </a:rPr>
                          <m:t>𝛽</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𝑆𝑆𝐵</m:t>
                            </m:r>
                          </m:e>
                          <m:sub>
                            <m:r>
                              <a:rPr lang="en-US" sz="2800" i="1">
                                <a:latin typeface="Cambria Math" panose="02040503050406030204" pitchFamily="18" charset="0"/>
                              </a:rPr>
                              <m:t>0</m:t>
                            </m:r>
                          </m:sub>
                        </m:sSub>
                      </m:den>
                    </m:f>
                  </m:oMath>
                </a14:m>
                <a:endParaRPr lang="en-US" sz="2800" dirty="0"/>
              </a:p>
            </p:txBody>
          </p:sp>
        </mc:Choice>
        <mc:Fallback xmlns="">
          <p:sp>
            <p:nvSpPr>
              <p:cNvPr id="11" name="TextBox 10">
                <a:extLst>
                  <a:ext uri="{FF2B5EF4-FFF2-40B4-BE49-F238E27FC236}">
                    <a16:creationId xmlns:a16="http://schemas.microsoft.com/office/drawing/2014/main" id="{7CE00C02-011A-43FB-9ED7-A0A0DDA9929E}"/>
                  </a:ext>
                </a:extLst>
              </p:cNvPr>
              <p:cNvSpPr txBox="1">
                <a:spLocks noRot="1" noChangeAspect="1" noMove="1" noResize="1" noEditPoints="1" noAdjustHandles="1" noChangeArrowheads="1" noChangeShapeType="1" noTextEdit="1"/>
              </p:cNvSpPr>
              <p:nvPr/>
            </p:nvSpPr>
            <p:spPr>
              <a:xfrm>
                <a:off x="8042628" y="2239876"/>
                <a:ext cx="2424418" cy="76014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08508E5-82AA-4A5B-B062-B2753693E76C}"/>
                  </a:ext>
                </a:extLst>
              </p:cNvPr>
              <p:cNvSpPr txBox="1"/>
              <p:nvPr/>
            </p:nvSpPr>
            <p:spPr>
              <a:xfrm>
                <a:off x="8277520" y="3039830"/>
                <a:ext cx="2424418" cy="760144"/>
              </a:xfrm>
              <a:prstGeom prst="rect">
                <a:avLst/>
              </a:prstGeom>
              <a:noFill/>
            </p:spPr>
            <p:txBody>
              <a:bodyPr wrap="square" rtlCol="0">
                <a:spAutoFit/>
              </a:bodyPr>
              <a:lstStyle/>
              <a:p>
                <a14:m>
                  <m:oMath xmlns:m="http://schemas.openxmlformats.org/officeDocument/2006/math">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𝜑</m:t>
                            </m:r>
                          </m:e>
                          <m:sub>
                            <m:r>
                              <a:rPr lang="en-US" sz="2800" i="1">
                                <a:latin typeface="Cambria Math" panose="02040503050406030204" pitchFamily="18" charset="0"/>
                              </a:rPr>
                              <m:t>0</m:t>
                            </m:r>
                          </m:sub>
                        </m:sSub>
                      </m:den>
                    </m:f>
                    <m:r>
                      <a:rPr lang="en-US" sz="2800" b="0" i="1" smtClean="0">
                        <a:latin typeface="Cambria Math" panose="02040503050406030204" pitchFamily="18" charset="0"/>
                      </a:rPr>
                      <m:t>=</m:t>
                    </m:r>
                  </m:oMath>
                </a14:m>
                <a:r>
                  <a:rPr lang="en-US" sz="2800" dirty="0"/>
                  <a:t> </a:t>
                </a:r>
                <a14:m>
                  <m:oMath xmlns:m="http://schemas.openxmlformats.org/officeDocument/2006/math">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𝛼</m:t>
                        </m:r>
                      </m:num>
                      <m:den>
                        <m:r>
                          <a:rPr lang="en-US" sz="2800" i="1">
                            <a:latin typeface="Cambria Math" panose="02040503050406030204" pitchFamily="18" charset="0"/>
                          </a:rPr>
                          <m:t>1+</m:t>
                        </m:r>
                        <m:r>
                          <a:rPr lang="en-US" sz="2800" i="1">
                            <a:latin typeface="Cambria Math" panose="02040503050406030204" pitchFamily="18" charset="0"/>
                            <a:ea typeface="Cambria Math" panose="02040503050406030204" pitchFamily="18" charset="0"/>
                          </a:rPr>
                          <m:t>𝛽</m:t>
                        </m:r>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𝑆𝑆𝐵</m:t>
                            </m:r>
                          </m:e>
                          <m:sub>
                            <m:r>
                              <a:rPr lang="en-US" sz="2800" i="1">
                                <a:latin typeface="Cambria Math" panose="02040503050406030204" pitchFamily="18" charset="0"/>
                              </a:rPr>
                              <m:t>0</m:t>
                            </m:r>
                          </m:sub>
                        </m:sSub>
                      </m:den>
                    </m:f>
                  </m:oMath>
                </a14:m>
                <a:endParaRPr lang="en-US" sz="2800" dirty="0"/>
              </a:p>
            </p:txBody>
          </p:sp>
        </mc:Choice>
        <mc:Fallback xmlns="">
          <p:sp>
            <p:nvSpPr>
              <p:cNvPr id="12" name="TextBox 11">
                <a:extLst>
                  <a:ext uri="{FF2B5EF4-FFF2-40B4-BE49-F238E27FC236}">
                    <a16:creationId xmlns:a16="http://schemas.microsoft.com/office/drawing/2014/main" id="{F08508E5-82AA-4A5B-B062-B2753693E76C}"/>
                  </a:ext>
                </a:extLst>
              </p:cNvPr>
              <p:cNvSpPr txBox="1">
                <a:spLocks noRot="1" noChangeAspect="1" noMove="1" noResize="1" noEditPoints="1" noAdjustHandles="1" noChangeArrowheads="1" noChangeShapeType="1" noTextEdit="1"/>
              </p:cNvSpPr>
              <p:nvPr/>
            </p:nvSpPr>
            <p:spPr>
              <a:xfrm>
                <a:off x="8277520" y="3039830"/>
                <a:ext cx="2424418" cy="76014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201DA531-27FB-4E5D-A9E5-07D7D1BFAD59}"/>
                  </a:ext>
                </a:extLst>
              </p:cNvPr>
              <p:cNvSpPr txBox="1"/>
              <p:nvPr/>
            </p:nvSpPr>
            <p:spPr>
              <a:xfrm>
                <a:off x="8101351" y="3942268"/>
                <a:ext cx="2424418" cy="400110"/>
              </a:xfrm>
              <a:prstGeom prst="rect">
                <a:avLst/>
              </a:prstGeom>
              <a:noFill/>
            </p:spPr>
            <p:txBody>
              <a:bodyPr wrap="square" rtlCol="0">
                <a:spAutoFit/>
              </a:bodyPr>
              <a:lstStyle/>
              <a:p>
                <a:pPr/>
                <a14:m>
                  <m:oMathPara xmlns:m="http://schemas.openxmlformats.org/officeDocument/2006/math">
                    <m:oMath>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𝛽</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𝑆𝑆𝐵</m:t>
                          </m:r>
                        </m:e>
                        <m:sub>
                          <m:r>
                            <a:rPr lang="en-US" sz="2000" i="1">
                              <a:latin typeface="Cambria Math" panose="02040503050406030204" pitchFamily="18" charset="0"/>
                            </a:rPr>
                            <m:t>0</m:t>
                          </m:r>
                        </m:sub>
                      </m:sSub>
                      <m:r>
                        <a:rPr lang="en-US" sz="2000" b="0" i="1" smtClean="0">
                          <a:latin typeface="Cambria Math" panose="02040503050406030204" pitchFamily="18" charset="0"/>
                        </a:rPr>
                        <m:t>=</m:t>
                      </m:r>
                      <m:r>
                        <a:rPr lang="en-US" sz="2000" i="1">
                          <a:latin typeface="Cambria Math" panose="02040503050406030204" pitchFamily="18" charset="0"/>
                          <a:ea typeface="Cambria Math" panose="02040503050406030204" pitchFamily="18" charset="0"/>
                        </a:rPr>
                        <m:t>𝛼</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𝜑</m:t>
                          </m:r>
                        </m:e>
                        <m:sub>
                          <m:r>
                            <a:rPr lang="en-US" sz="2000" i="1">
                              <a:latin typeface="Cambria Math" panose="02040503050406030204" pitchFamily="18" charset="0"/>
                            </a:rPr>
                            <m:t>0</m:t>
                          </m:r>
                        </m:sub>
                      </m:sSub>
                    </m:oMath>
                  </m:oMathPara>
                </a14:m>
                <a:endParaRPr lang="en-US" sz="2000" dirty="0"/>
              </a:p>
            </p:txBody>
          </p:sp>
        </mc:Choice>
        <mc:Fallback xmlns="">
          <p:sp>
            <p:nvSpPr>
              <p:cNvPr id="13" name="TextBox 12">
                <a:extLst>
                  <a:ext uri="{FF2B5EF4-FFF2-40B4-BE49-F238E27FC236}">
                    <a16:creationId xmlns:a16="http://schemas.microsoft.com/office/drawing/2014/main" id="{201DA531-27FB-4E5D-A9E5-07D7D1BFAD59}"/>
                  </a:ext>
                </a:extLst>
              </p:cNvPr>
              <p:cNvSpPr txBox="1">
                <a:spLocks noRot="1" noChangeAspect="1" noMove="1" noResize="1" noEditPoints="1" noAdjustHandles="1" noChangeArrowheads="1" noChangeShapeType="1" noTextEdit="1"/>
              </p:cNvSpPr>
              <p:nvPr/>
            </p:nvSpPr>
            <p:spPr>
              <a:xfrm>
                <a:off x="8101351" y="3942268"/>
                <a:ext cx="2424418" cy="400110"/>
              </a:xfrm>
              <a:prstGeom prst="rect">
                <a:avLst/>
              </a:prstGeom>
              <a:blipFill>
                <a:blip r:embed="rId6"/>
                <a:stretch>
                  <a:fillRect b="-153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4F39F49-E8AE-42AB-A3B7-AF494B975353}"/>
                  </a:ext>
                </a:extLst>
              </p:cNvPr>
              <p:cNvSpPr txBox="1"/>
              <p:nvPr/>
            </p:nvSpPr>
            <p:spPr>
              <a:xfrm>
                <a:off x="7941769" y="4443516"/>
                <a:ext cx="2879936" cy="945067"/>
              </a:xfrm>
              <a:prstGeom prst="rect">
                <a:avLst/>
              </a:prstGeom>
              <a:solidFill>
                <a:schemeClr val="accent1">
                  <a:lumMod val="60000"/>
                  <a:lumOff val="40000"/>
                </a:schemeClr>
              </a:solidFill>
              <a:ln>
                <a:solidFill>
                  <a:schemeClr val="tx1"/>
                </a:solidFill>
              </a:ln>
            </p:spPr>
            <p:txBody>
              <a:bodyPr wrap="square" rtlCol="0">
                <a:spAutoFit/>
              </a:bodyPr>
              <a:lstStyle/>
              <a:p>
                <a14:m>
                  <m:oMath xmlns:m="http://schemas.openxmlformats.org/officeDocument/2006/math">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𝑆𝑆𝐵</m:t>
                        </m:r>
                      </m:e>
                      <m:sub>
                        <m:r>
                          <a:rPr lang="en-US" sz="2800" i="1">
                            <a:latin typeface="Cambria Math" panose="02040503050406030204" pitchFamily="18" charset="0"/>
                          </a:rPr>
                          <m:t>0</m:t>
                        </m:r>
                      </m:sub>
                    </m:sSub>
                    <m:r>
                      <a:rPr lang="en-US" sz="2800" b="0" i="1" smtClean="0">
                        <a:latin typeface="Cambria Math" panose="02040503050406030204" pitchFamily="18" charset="0"/>
                      </a:rPr>
                      <m:t>=</m:t>
                    </m:r>
                  </m:oMath>
                </a14:m>
                <a:r>
                  <a:rPr lang="en-US" sz="3600" dirty="0"/>
                  <a:t> </a:t>
                </a:r>
                <a14:m>
                  <m:oMath xmlns:m="http://schemas.openxmlformats.org/officeDocument/2006/math">
                    <m:f>
                      <m:fPr>
                        <m:ctrlPr>
                          <a:rPr lang="en-US" sz="3600" i="1">
                            <a:latin typeface="Cambria Math" panose="02040503050406030204" pitchFamily="18" charset="0"/>
                            <a:ea typeface="Cambria Math" panose="02040503050406030204" pitchFamily="18" charset="0"/>
                          </a:rPr>
                        </m:ctrlPr>
                      </m:fPr>
                      <m:num>
                        <m:r>
                          <a:rPr lang="en-US" sz="3600" i="1">
                            <a:latin typeface="Cambria Math" panose="02040503050406030204" pitchFamily="18" charset="0"/>
                            <a:ea typeface="Cambria Math" panose="02040503050406030204" pitchFamily="18" charset="0"/>
                          </a:rPr>
                          <m:t>𝛼</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𝜑</m:t>
                            </m:r>
                          </m:e>
                          <m:sub>
                            <m:r>
                              <a:rPr lang="en-US" sz="3600" b="0" i="1" smtClean="0">
                                <a:latin typeface="Cambria Math" panose="02040503050406030204" pitchFamily="18" charset="0"/>
                                <a:ea typeface="Cambria Math" panose="02040503050406030204" pitchFamily="18" charset="0"/>
                              </a:rPr>
                              <m:t>𝐸</m:t>
                            </m:r>
                            <m:r>
                              <a:rPr lang="en-US" sz="3600" i="1">
                                <a:latin typeface="Cambria Math" panose="02040503050406030204" pitchFamily="18" charset="0"/>
                              </a:rPr>
                              <m:t>0</m:t>
                            </m:r>
                          </m:sub>
                        </m:sSub>
                        <m:r>
                          <a:rPr lang="en-US" sz="3600" b="0" i="1" smtClean="0">
                            <a:latin typeface="Cambria Math" panose="02040503050406030204" pitchFamily="18" charset="0"/>
                          </a:rPr>
                          <m:t>−1</m:t>
                        </m:r>
                      </m:num>
                      <m:den>
                        <m:r>
                          <a:rPr lang="en-US" sz="3600" i="1">
                            <a:latin typeface="Cambria Math" panose="02040503050406030204" pitchFamily="18" charset="0"/>
                            <a:ea typeface="Cambria Math" panose="02040503050406030204" pitchFamily="18" charset="0"/>
                          </a:rPr>
                          <m:t>𝛽</m:t>
                        </m:r>
                      </m:den>
                    </m:f>
                  </m:oMath>
                </a14:m>
                <a:endParaRPr lang="en-US" sz="3600" dirty="0"/>
              </a:p>
            </p:txBody>
          </p:sp>
        </mc:Choice>
        <mc:Fallback xmlns="">
          <p:sp>
            <p:nvSpPr>
              <p:cNvPr id="15" name="TextBox 14">
                <a:extLst>
                  <a:ext uri="{FF2B5EF4-FFF2-40B4-BE49-F238E27FC236}">
                    <a16:creationId xmlns:a16="http://schemas.microsoft.com/office/drawing/2014/main" id="{64F39F49-E8AE-42AB-A3B7-AF494B975353}"/>
                  </a:ext>
                </a:extLst>
              </p:cNvPr>
              <p:cNvSpPr txBox="1">
                <a:spLocks noRot="1" noChangeAspect="1" noMove="1" noResize="1" noEditPoints="1" noAdjustHandles="1" noChangeArrowheads="1" noChangeShapeType="1" noTextEdit="1"/>
              </p:cNvSpPr>
              <p:nvPr/>
            </p:nvSpPr>
            <p:spPr>
              <a:xfrm>
                <a:off x="7941769" y="4443516"/>
                <a:ext cx="2879936" cy="945067"/>
              </a:xfrm>
              <a:prstGeom prst="rect">
                <a:avLst/>
              </a:prstGeom>
              <a:blipFill>
                <a:blip r:embed="rId7"/>
                <a:stretch>
                  <a:fillRect/>
                </a:stretch>
              </a:blipFill>
              <a:ln>
                <a:solidFill>
                  <a:schemeClr val="tx1"/>
                </a:solidFill>
              </a:ln>
            </p:spPr>
            <p:txBody>
              <a:bodyPr/>
              <a:lstStyle/>
              <a:p>
                <a:r>
                  <a:rPr lang="en-US">
                    <a:noFill/>
                  </a:rPr>
                  <a:t> </a:t>
                </a:r>
              </a:p>
            </p:txBody>
          </p:sp>
        </mc:Fallback>
      </mc:AlternateContent>
      <p:sp>
        <p:nvSpPr>
          <p:cNvPr id="16" name="TextBox 15">
            <a:extLst>
              <a:ext uri="{FF2B5EF4-FFF2-40B4-BE49-F238E27FC236}">
                <a16:creationId xmlns:a16="http://schemas.microsoft.com/office/drawing/2014/main" id="{6A298449-63A8-441F-99D7-5EC7D15187F6}"/>
              </a:ext>
            </a:extLst>
          </p:cNvPr>
          <p:cNvSpPr txBox="1"/>
          <p:nvPr/>
        </p:nvSpPr>
        <p:spPr>
          <a:xfrm>
            <a:off x="10932541" y="4663695"/>
            <a:ext cx="642933" cy="369332"/>
          </a:xfrm>
          <a:prstGeom prst="rect">
            <a:avLst/>
          </a:prstGeom>
          <a:noFill/>
        </p:spPr>
        <p:txBody>
          <a:bodyPr wrap="none" rtlCol="0">
            <a:spAutoFit/>
          </a:bodyPr>
          <a:lstStyle/>
          <a:p>
            <a:r>
              <a:rPr lang="en-US" dirty="0"/>
              <a:t>Eq. 3</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95A4248-A773-4DAC-A4F9-A80E9E10D1A8}"/>
                  </a:ext>
                </a:extLst>
              </p:cNvPr>
              <p:cNvSpPr txBox="1"/>
              <p:nvPr/>
            </p:nvSpPr>
            <p:spPr>
              <a:xfrm>
                <a:off x="318251" y="5445857"/>
                <a:ext cx="11555497" cy="1384995"/>
              </a:xfrm>
              <a:prstGeom prst="rect">
                <a:avLst/>
              </a:prstGeom>
              <a:noFill/>
              <a:ln w="19050">
                <a:solidFill>
                  <a:schemeClr val="tx2"/>
                </a:solidFill>
              </a:ln>
            </p:spPr>
            <p:txBody>
              <a:bodyPr wrap="square" rtlCol="0">
                <a:spAutoFit/>
              </a:bodyPr>
              <a:lstStyle/>
              <a:p>
                <a:pPr marL="0" indent="0">
                  <a:buNone/>
                </a:pPr>
                <a14:m>
                  <m:oMath xmlns:m="http://schemas.openxmlformats.org/officeDocument/2006/math">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𝐵</m:t>
                        </m:r>
                      </m:e>
                      <m:sub>
                        <m:r>
                          <a:rPr lang="en-US" sz="2800" i="1">
                            <a:latin typeface="Cambria Math" panose="02040503050406030204" pitchFamily="18" charset="0"/>
                          </a:rPr>
                          <m:t>0</m:t>
                        </m:r>
                      </m:sub>
                    </m:sSub>
                  </m:oMath>
                </a14:m>
                <a:r>
                  <a:rPr lang="en-CA" sz="2800" dirty="0"/>
                  <a:t> therefore depends on:</a:t>
                </a:r>
              </a:p>
              <a:p>
                <a:pPr marL="285750" indent="-285750">
                  <a:buFont typeface="Arial" panose="020B0604020202020204" pitchFamily="34" charset="0"/>
                  <a:buChar char="•"/>
                </a:pPr>
                <a:r>
                  <a:rPr lang="en-CA" sz="2800" dirty="0"/>
                  <a:t>SRR parameters </a:t>
                </a:r>
                <a14:m>
                  <m:oMath xmlns:m="http://schemas.openxmlformats.org/officeDocument/2006/math">
                    <m:r>
                      <a:rPr lang="en-US" sz="2800" i="1">
                        <a:latin typeface="Cambria Math" panose="02040503050406030204" pitchFamily="18" charset="0"/>
                        <a:ea typeface="Cambria Math" panose="02040503050406030204" pitchFamily="18" charset="0"/>
                      </a:rPr>
                      <m:t>𝛼</m:t>
                    </m:r>
                  </m:oMath>
                </a14:m>
                <a:r>
                  <a:rPr lang="en-CA" sz="2800" dirty="0"/>
                  <a:t> and </a:t>
                </a:r>
                <a14:m>
                  <m:oMath xmlns:m="http://schemas.openxmlformats.org/officeDocument/2006/math">
                    <m:r>
                      <a:rPr lang="en-US" sz="2800" i="1">
                        <a:latin typeface="Cambria Math" panose="02040503050406030204" pitchFamily="18" charset="0"/>
                        <a:ea typeface="Cambria Math" panose="02040503050406030204" pitchFamily="18" charset="0"/>
                      </a:rPr>
                      <m:t>𝛽</m:t>
                    </m:r>
                  </m:oMath>
                </a14:m>
                <a:r>
                  <a:rPr lang="en-US" sz="2800" dirty="0">
                    <a:ea typeface="Cambria Math" panose="02040503050406030204" pitchFamily="18" charset="0"/>
                  </a:rPr>
                  <a:t> </a:t>
                </a:r>
                <a:r>
                  <a:rPr lang="en-US" sz="2800" dirty="0">
                    <a:solidFill>
                      <a:schemeClr val="tx1"/>
                    </a:solidFill>
                    <a:ea typeface="Cambria Math" panose="02040503050406030204" pitchFamily="18" charset="0"/>
                  </a:rPr>
                  <a:t>(derived from </a:t>
                </a:r>
                <a14:m>
                  <m:oMath xmlns:m="http://schemas.openxmlformats.org/officeDocument/2006/math">
                    <m:r>
                      <a:rPr lang="en-US" sz="2800" i="1" dirty="0" smtClean="0">
                        <a:solidFill>
                          <a:schemeClr val="tx1"/>
                        </a:solidFill>
                        <a:latin typeface="Cambria Math" panose="02040503050406030204" pitchFamily="18" charset="0"/>
                        <a:ea typeface="Cambria Math" panose="02040503050406030204" pitchFamily="18" charset="0"/>
                      </a:rPr>
                      <m:t>ℎ</m:t>
                    </m:r>
                  </m:oMath>
                </a14:m>
                <a:r>
                  <a:rPr lang="en-US" sz="2800" dirty="0">
                    <a:solidFill>
                      <a:schemeClr val="tx1"/>
                    </a:solidFill>
                    <a:ea typeface="Cambria Math" panose="02040503050406030204" pitchFamily="18" charset="0"/>
                  </a:rPr>
                  <a:t> and </a:t>
                </a:r>
                <a14:m>
                  <m:oMath xmlns:m="http://schemas.openxmlformats.org/officeDocument/2006/math">
                    <m:r>
                      <a:rPr lang="en-US" sz="2800" i="1" dirty="0" smtClean="0">
                        <a:solidFill>
                          <a:schemeClr val="tx1"/>
                        </a:solidFill>
                        <a:latin typeface="Cambria Math" panose="02040503050406030204" pitchFamily="18" charset="0"/>
                        <a:ea typeface="Cambria Math" panose="02040503050406030204" pitchFamily="18" charset="0"/>
                      </a:rPr>
                      <m:t>𝑅</m:t>
                    </m:r>
                    <m:r>
                      <a:rPr lang="en-US" sz="2800" i="1" baseline="-25000" dirty="0" smtClean="0">
                        <a:solidFill>
                          <a:schemeClr val="tx1"/>
                        </a:solidFill>
                        <a:latin typeface="Cambria Math" panose="02040503050406030204" pitchFamily="18" charset="0"/>
                        <a:ea typeface="Cambria Math" panose="02040503050406030204" pitchFamily="18" charset="0"/>
                      </a:rPr>
                      <m:t>0</m:t>
                    </m:r>
                  </m:oMath>
                </a14:m>
                <a:r>
                  <a:rPr lang="en-US" sz="2800" dirty="0">
                    <a:solidFill>
                      <a:schemeClr val="tx1"/>
                    </a:solidFill>
                    <a:ea typeface="Cambria Math" panose="02040503050406030204" pitchFamily="18" charset="0"/>
                  </a:rPr>
                  <a:t>)</a:t>
                </a:r>
              </a:p>
              <a:p>
                <a:pPr marL="285750" indent="-285750">
                  <a:buFont typeface="Arial" panose="020B0604020202020204" pitchFamily="34" charset="0"/>
                  <a:buChar char="•"/>
                </a:pPr>
                <a14:m>
                  <m:oMath xmlns:m="http://schemas.openxmlformats.org/officeDocument/2006/math">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𝜑</m:t>
                        </m:r>
                      </m:e>
                      <m:sub>
                        <m:r>
                          <a:rPr lang="en-US" sz="2800" b="0" i="1" smtClean="0">
                            <a:latin typeface="Cambria Math" panose="02040503050406030204" pitchFamily="18" charset="0"/>
                            <a:ea typeface="Cambria Math" panose="02040503050406030204" pitchFamily="18" charset="0"/>
                          </a:rPr>
                          <m:t>𝐸</m:t>
                        </m:r>
                        <m:r>
                          <a:rPr lang="en-US" sz="2800" i="1">
                            <a:latin typeface="Cambria Math" panose="02040503050406030204" pitchFamily="18" charset="0"/>
                          </a:rPr>
                          <m:t>0</m:t>
                        </m:r>
                      </m:sub>
                    </m:sSub>
                  </m:oMath>
                </a14:m>
                <a:r>
                  <a:rPr lang="en-CA" sz="2800" dirty="0"/>
                  <a:t> (determined by </a:t>
                </a:r>
                <a14:m>
                  <m:oMath xmlns:m="http://schemas.openxmlformats.org/officeDocument/2006/math">
                    <m:r>
                      <a:rPr lang="en-CA" sz="2800" i="1" dirty="0" smtClean="0">
                        <a:latin typeface="Cambria Math" panose="02040503050406030204" pitchFamily="18" charset="0"/>
                      </a:rPr>
                      <m:t>𝑀</m:t>
                    </m:r>
                  </m:oMath>
                </a14:m>
                <a:r>
                  <a:rPr lang="en-CA" sz="2800" dirty="0"/>
                  <a:t>, </a:t>
                </a:r>
                <a14:m>
                  <m:oMath xmlns:m="http://schemas.openxmlformats.org/officeDocument/2006/math">
                    <m:r>
                      <a:rPr lang="en-CA" sz="2800" i="1" dirty="0" smtClean="0">
                        <a:latin typeface="Cambria Math" panose="02040503050406030204" pitchFamily="18" charset="0"/>
                      </a:rPr>
                      <m:t>𝑤𝑒𝑖𝑔ℎ𝑡</m:t>
                    </m:r>
                  </m:oMath>
                </a14:m>
                <a:r>
                  <a:rPr lang="en-CA" sz="2800" i="0" dirty="0">
                    <a:latin typeface="+mj-lt"/>
                  </a:rPr>
                  <a:t>-</a:t>
                </a:r>
                <a14:m>
                  <m:oMath xmlns:m="http://schemas.openxmlformats.org/officeDocument/2006/math">
                    <m:r>
                      <a:rPr lang="en-CA" sz="2800" i="1" dirty="0" smtClean="0">
                        <a:latin typeface="Cambria Math" panose="02040503050406030204" pitchFamily="18" charset="0"/>
                      </a:rPr>
                      <m:t>𝑎𝑡</m:t>
                    </m:r>
                  </m:oMath>
                </a14:m>
                <a:r>
                  <a:rPr lang="en-CA" sz="2800" i="0" dirty="0">
                    <a:latin typeface="+mj-lt"/>
                  </a:rPr>
                  <a:t>-</a:t>
                </a:r>
                <a14:m>
                  <m:oMath xmlns:m="http://schemas.openxmlformats.org/officeDocument/2006/math">
                    <m:r>
                      <a:rPr lang="en-CA" sz="2800" i="1" dirty="0" smtClean="0">
                        <a:latin typeface="Cambria Math" panose="02040503050406030204" pitchFamily="18" charset="0"/>
                      </a:rPr>
                      <m:t>𝑎𝑔𝑒</m:t>
                    </m:r>
                  </m:oMath>
                </a14:m>
                <a:r>
                  <a:rPr lang="en-CA" sz="2800" dirty="0"/>
                  <a:t>, and </a:t>
                </a:r>
                <a14:m>
                  <m:oMath xmlns:m="http://schemas.openxmlformats.org/officeDocument/2006/math">
                    <m:r>
                      <a:rPr lang="en-CA" sz="2800" i="1" dirty="0" smtClean="0">
                        <a:latin typeface="Cambria Math" panose="02040503050406030204" pitchFamily="18" charset="0"/>
                      </a:rPr>
                      <m:t>𝑚𝑎𝑡𝑢𝑟𝑖𝑡𝑦</m:t>
                    </m:r>
                  </m:oMath>
                </a14:m>
                <a:r>
                  <a:rPr lang="en-CA" sz="2800" dirty="0"/>
                  <a:t>-</a:t>
                </a:r>
                <a14:m>
                  <m:oMath xmlns:m="http://schemas.openxmlformats.org/officeDocument/2006/math">
                    <m:r>
                      <a:rPr lang="en-CA" sz="2800" i="1" dirty="0" smtClean="0">
                        <a:latin typeface="Cambria Math" panose="02040503050406030204" pitchFamily="18" charset="0"/>
                      </a:rPr>
                      <m:t>𝑎𝑡</m:t>
                    </m:r>
                  </m:oMath>
                </a14:m>
                <a:r>
                  <a:rPr lang="en-CA" sz="2800" dirty="0"/>
                  <a:t>-</a:t>
                </a:r>
                <a14:m>
                  <m:oMath xmlns:m="http://schemas.openxmlformats.org/officeDocument/2006/math">
                    <m:r>
                      <a:rPr lang="en-CA" sz="2800" i="1" dirty="0" smtClean="0">
                        <a:latin typeface="Cambria Math" panose="02040503050406030204" pitchFamily="18" charset="0"/>
                      </a:rPr>
                      <m:t>𝑎𝑔𝑒</m:t>
                    </m:r>
                  </m:oMath>
                </a14:m>
                <a:r>
                  <a:rPr lang="en-CA" sz="2800" dirty="0"/>
                  <a:t>)</a:t>
                </a:r>
              </a:p>
            </p:txBody>
          </p:sp>
        </mc:Choice>
        <mc:Fallback xmlns="">
          <p:sp>
            <p:nvSpPr>
              <p:cNvPr id="4" name="TextBox 3">
                <a:extLst>
                  <a:ext uri="{FF2B5EF4-FFF2-40B4-BE49-F238E27FC236}">
                    <a16:creationId xmlns:a16="http://schemas.microsoft.com/office/drawing/2014/main" id="{095A4248-A773-4DAC-A4F9-A80E9E10D1A8}"/>
                  </a:ext>
                </a:extLst>
              </p:cNvPr>
              <p:cNvSpPr txBox="1">
                <a:spLocks noRot="1" noChangeAspect="1" noMove="1" noResize="1" noEditPoints="1" noAdjustHandles="1" noChangeArrowheads="1" noChangeShapeType="1" noTextEdit="1"/>
              </p:cNvSpPr>
              <p:nvPr/>
            </p:nvSpPr>
            <p:spPr>
              <a:xfrm>
                <a:off x="318251" y="5445857"/>
                <a:ext cx="11555497" cy="1384995"/>
              </a:xfrm>
              <a:prstGeom prst="rect">
                <a:avLst/>
              </a:prstGeom>
              <a:blipFill>
                <a:blip r:embed="rId8"/>
                <a:stretch>
                  <a:fillRect l="-895" t="-3463" b="-10390"/>
                </a:stretch>
              </a:blipFill>
              <a:ln w="19050">
                <a:solidFill>
                  <a:schemeClr val="tx2"/>
                </a:solidFill>
              </a:ln>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EEDFA2F9-C25F-4A63-B46B-7B5C200A39D1}" type="slidenum">
              <a:rPr lang="en-CA" smtClean="0"/>
              <a:t>85</a:t>
            </a:fld>
            <a:endParaRPr lang="en-CA"/>
          </a:p>
        </p:txBody>
      </p:sp>
    </p:spTree>
    <p:extLst>
      <p:ext uri="{BB962C8B-B14F-4D97-AF65-F5344CB8AC3E}">
        <p14:creationId xmlns:p14="http://schemas.microsoft.com/office/powerpoint/2010/main" val="15233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49037" y="1624305"/>
                <a:ext cx="10515600" cy="4667250"/>
              </a:xfrm>
            </p:spPr>
            <p:txBody>
              <a:bodyPr>
                <a:normAutofit/>
              </a:bodyPr>
              <a:lstStyle/>
              <a:p>
                <a:r>
                  <a:rPr lang="en-CA" dirty="0"/>
                  <a:t>From Equation 1 and 2 we can also get an expression for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rPr>
                          <m:t>0</m:t>
                        </m:r>
                      </m:sub>
                    </m:sSub>
                    <m:r>
                      <a:rPr lang="en-US" i="1">
                        <a:latin typeface="Cambria Math" panose="02040503050406030204" pitchFamily="18" charset="0"/>
                      </a:rPr>
                      <m:t> </m:t>
                    </m:r>
                  </m:oMath>
                </a14:m>
                <a:r>
                  <a:rPr lang="en-CA" dirty="0"/>
                  <a:t>in terms of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ea typeface="Cambria Math" panose="02040503050406030204" pitchFamily="18" charset="0"/>
                          </a:rPr>
                          <m:t>𝐸</m:t>
                        </m:r>
                        <m:r>
                          <a:rPr lang="en-US" i="1">
                            <a:latin typeface="Cambria Math" panose="02040503050406030204" pitchFamily="18" charset="0"/>
                          </a:rPr>
                          <m:t>0</m:t>
                        </m:r>
                      </m:sub>
                    </m:sSub>
                  </m:oMath>
                </a14:m>
                <a:r>
                  <a:rPr lang="en-CA" dirty="0"/>
                  <a:t>, </a:t>
                </a:r>
                <a14:m>
                  <m:oMath xmlns:m="http://schemas.openxmlformats.org/officeDocument/2006/math">
                    <m:r>
                      <a:rPr lang="en-US" i="1">
                        <a:latin typeface="Cambria Math" panose="02040503050406030204" pitchFamily="18" charset="0"/>
                        <a:ea typeface="Cambria Math" panose="02040503050406030204" pitchFamily="18" charset="0"/>
                      </a:rPr>
                      <m:t>𝛼</m:t>
                    </m:r>
                  </m:oMath>
                </a14:m>
                <a:r>
                  <a:rPr lang="en-CA" dirty="0"/>
                  <a:t>, and </a:t>
                </a:r>
                <a14:m>
                  <m:oMath xmlns:m="http://schemas.openxmlformats.org/officeDocument/2006/math">
                    <m:r>
                      <a:rPr lang="en-US" i="1">
                        <a:latin typeface="Cambria Math" panose="02040503050406030204" pitchFamily="18" charset="0"/>
                        <a:ea typeface="Cambria Math" panose="02040503050406030204" pitchFamily="18" charset="0"/>
                      </a:rPr>
                      <m:t>𝛽</m:t>
                    </m:r>
                  </m:oMath>
                </a14:m>
                <a:r>
                  <a:rPr lang="en-CA" dirty="0"/>
                  <a:t>:</a:t>
                </a:r>
              </a:p>
              <a:p>
                <a:pPr marL="0" indent="0" algn="ctr">
                  <a:buNone/>
                </a:pP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rPr>
                          <m:t>0</m:t>
                        </m:r>
                      </m:sub>
                    </m:sSub>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𝛼</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0</m:t>
                            </m:r>
                          </m:sub>
                        </m:sSub>
                        <m:r>
                          <a:rPr lang="en-US" b="0" i="1" smtClean="0">
                            <a:latin typeface="Cambria Math" panose="02040503050406030204" pitchFamily="18" charset="0"/>
                          </a:rPr>
                          <m:t>−1</m:t>
                        </m:r>
                      </m:num>
                      <m:den>
                        <m:r>
                          <a:rPr lang="en-US" i="1">
                            <a:latin typeface="Cambria Math" panose="02040503050406030204" pitchFamily="18" charset="0"/>
                            <a:ea typeface="Cambria Math" panose="02040503050406030204" pitchFamily="18" charset="0"/>
                          </a:rPr>
                          <m:t>𝛽</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0</m:t>
                            </m:r>
                          </m:sub>
                        </m:sSub>
                      </m:den>
                    </m:f>
                  </m:oMath>
                </a14:m>
                <a:r>
                  <a:rPr lang="en-CA" dirty="0"/>
                  <a:t> </a:t>
                </a:r>
              </a:p>
              <a:p>
                <a:endParaRPr lang="en-CA" dirty="0"/>
              </a:p>
              <a:p>
                <a:r>
                  <a:rPr lang="en-CA" dirty="0"/>
                  <a:t>So that </a:t>
                </a:r>
                <a14:m>
                  <m:oMath xmlns:m="http://schemas.openxmlformats.org/officeDocument/2006/math">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𝑆𝑆𝐵</m:t>
                        </m:r>
                      </m:e>
                      <m:sub>
                        <m:r>
                          <a:rPr lang="en-US" sz="2800" i="1">
                            <a:latin typeface="Cambria Math" panose="02040503050406030204" pitchFamily="18" charset="0"/>
                          </a:rPr>
                          <m:t>0</m:t>
                        </m:r>
                      </m:sub>
                    </m:sSub>
                  </m:oMath>
                </a14:m>
                <a:r>
                  <a:rPr lang="en-CA" dirty="0"/>
                  <a:t> = unfished SSB-per-recruit × unfished number of recruits</a:t>
                </a:r>
              </a:p>
              <a:p>
                <a:endParaRPr lang="en-CA" dirty="0"/>
              </a:p>
              <a:p>
                <a:pPr marL="0" indent="0">
                  <a:buNone/>
                </a:pPr>
                <a:endParaRPr lang="en-CA" dirty="0"/>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49037" y="1624305"/>
                <a:ext cx="10515600" cy="4667250"/>
              </a:xfrm>
              <a:blipFill>
                <a:blip r:embed="rId2"/>
                <a:stretch>
                  <a:fillRect l="-1043" t="-2089" r="-9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sz="3600" dirty="0"/>
                  <a:t>Reference Points </a:t>
                </a:r>
                <a:r>
                  <a:rPr lang="en-US" sz="3600" b="1" dirty="0">
                    <a:solidFill>
                      <a:schemeClr val="accent6">
                        <a:lumMod val="75000"/>
                      </a:schemeClr>
                    </a:solidFill>
                  </a:rPr>
                  <a:t>1. Unfished Equilibrium Biomass </a:t>
                </a:r>
                <a14:m>
                  <m:oMath xmlns:m="http://schemas.openxmlformats.org/officeDocument/2006/math">
                    <m:r>
                      <a:rPr lang="en-US" sz="3600" b="1" i="1" dirty="0">
                        <a:solidFill>
                          <a:schemeClr val="accent6">
                            <a:lumMod val="75000"/>
                          </a:schemeClr>
                        </a:solidFill>
                        <a:latin typeface="Cambria Math" panose="02040503050406030204" pitchFamily="18" charset="0"/>
                      </a:rPr>
                      <m:t>𝑩</m:t>
                    </m:r>
                    <m:r>
                      <a:rPr lang="en-US" sz="3600" b="1" i="1" baseline="-25000" dirty="0">
                        <a:solidFill>
                          <a:schemeClr val="accent6">
                            <a:lumMod val="75000"/>
                          </a:schemeClr>
                        </a:solidFill>
                        <a:latin typeface="Cambria Math" panose="02040503050406030204" pitchFamily="18" charset="0"/>
                      </a:rPr>
                      <m:t>𝟎</m:t>
                    </m:r>
                  </m:oMath>
                </a14:m>
                <a:endParaRPr lang="en-CA" sz="3600" b="1"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17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4F39F49-E8AE-42AB-A3B7-AF494B975353}"/>
                  </a:ext>
                </a:extLst>
              </p:cNvPr>
              <p:cNvSpPr txBox="1"/>
              <p:nvPr/>
            </p:nvSpPr>
            <p:spPr>
              <a:xfrm>
                <a:off x="4656032" y="4615657"/>
                <a:ext cx="2879936" cy="646331"/>
              </a:xfrm>
              <a:prstGeom prst="rect">
                <a:avLst/>
              </a:prstGeom>
              <a:solidFill>
                <a:schemeClr val="accent1">
                  <a:lumMod val="60000"/>
                  <a:lumOff val="40000"/>
                </a:schemeClr>
              </a:solidFill>
              <a:ln>
                <a:solidFill>
                  <a:schemeClr val="tx1"/>
                </a:solidFill>
              </a:ln>
            </p:spPr>
            <p:txBody>
              <a:bodyPr wrap="square" rtlCol="0">
                <a:spAutoFit/>
              </a:bodyPr>
              <a:lstStyle/>
              <a:p>
                <a14:m>
                  <m:oMath xmlns:m="http://schemas.openxmlformats.org/officeDocument/2006/math">
                    <m:sSub>
                      <m:sSubPr>
                        <m:ctrlPr>
                          <a:rPr lang="en-US" sz="2800" i="1">
                            <a:latin typeface="Cambria Math" panose="02040503050406030204" pitchFamily="18" charset="0"/>
                            <a:ea typeface="Cambria Math" panose="02040503050406030204" pitchFamily="18" charset="0"/>
                          </a:rPr>
                        </m:ctrlPr>
                      </m:sSubPr>
                      <m:e>
                        <m:r>
                          <a:rPr lang="en-US" sz="2800" i="1">
                            <a:latin typeface="Cambria Math" panose="02040503050406030204" pitchFamily="18" charset="0"/>
                            <a:ea typeface="Cambria Math" panose="02040503050406030204" pitchFamily="18" charset="0"/>
                          </a:rPr>
                          <m:t>𝑆𝑆𝐵</m:t>
                        </m:r>
                      </m:e>
                      <m:sub>
                        <m:r>
                          <a:rPr lang="en-US" sz="2800" i="1">
                            <a:latin typeface="Cambria Math" panose="02040503050406030204" pitchFamily="18" charset="0"/>
                          </a:rPr>
                          <m:t>0</m:t>
                        </m:r>
                      </m:sub>
                    </m:sSub>
                    <m:r>
                      <a:rPr lang="en-US" sz="2800" b="0" i="1" smtClean="0">
                        <a:latin typeface="Cambria Math" panose="02040503050406030204" pitchFamily="18" charset="0"/>
                      </a:rPr>
                      <m:t>=</m:t>
                    </m:r>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𝜑</m:t>
                        </m:r>
                      </m:e>
                      <m:sub>
                        <m:r>
                          <a:rPr lang="en-US" sz="3600" i="1">
                            <a:latin typeface="Cambria Math" panose="02040503050406030204" pitchFamily="18" charset="0"/>
                            <a:ea typeface="Cambria Math" panose="02040503050406030204" pitchFamily="18" charset="0"/>
                          </a:rPr>
                          <m:t>𝐸</m:t>
                        </m:r>
                        <m:r>
                          <a:rPr lang="en-US" sz="3600" i="1">
                            <a:latin typeface="Cambria Math" panose="02040503050406030204" pitchFamily="18" charset="0"/>
                          </a:rPr>
                          <m:t>0</m:t>
                        </m:r>
                      </m:sub>
                    </m:sSub>
                  </m:oMath>
                </a14:m>
                <a:r>
                  <a:rPr lang="en-CA" sz="3600" dirty="0"/>
                  <a:t> </a:t>
                </a:r>
                <a14:m>
                  <m:oMath xmlns:m="http://schemas.openxmlformats.org/officeDocument/2006/math">
                    <m:sSub>
                      <m:sSubPr>
                        <m:ctrlPr>
                          <a:rPr lang="en-US" sz="3600" i="1">
                            <a:latin typeface="Cambria Math" panose="02040503050406030204" pitchFamily="18" charset="0"/>
                            <a:ea typeface="Cambria Math" panose="02040503050406030204" pitchFamily="18" charset="0"/>
                          </a:rPr>
                        </m:ctrlPr>
                      </m:sSubPr>
                      <m:e>
                        <m:r>
                          <a:rPr lang="en-US" sz="3600" i="1">
                            <a:latin typeface="Cambria Math" panose="02040503050406030204" pitchFamily="18" charset="0"/>
                            <a:ea typeface="Cambria Math" panose="02040503050406030204" pitchFamily="18" charset="0"/>
                          </a:rPr>
                          <m:t>𝑅</m:t>
                        </m:r>
                      </m:e>
                      <m:sub>
                        <m:r>
                          <a:rPr lang="en-US" sz="3600" i="1">
                            <a:latin typeface="Cambria Math" panose="02040503050406030204" pitchFamily="18" charset="0"/>
                          </a:rPr>
                          <m:t>0</m:t>
                        </m:r>
                      </m:sub>
                    </m:sSub>
                  </m:oMath>
                </a14:m>
                <a:endParaRPr lang="en-US" sz="3600" dirty="0"/>
              </a:p>
            </p:txBody>
          </p:sp>
        </mc:Choice>
        <mc:Fallback xmlns="">
          <p:sp>
            <p:nvSpPr>
              <p:cNvPr id="15" name="TextBox 14">
                <a:extLst>
                  <a:ext uri="{FF2B5EF4-FFF2-40B4-BE49-F238E27FC236}">
                    <a16:creationId xmlns:a16="http://schemas.microsoft.com/office/drawing/2014/main" id="{64F39F49-E8AE-42AB-A3B7-AF494B975353}"/>
                  </a:ext>
                </a:extLst>
              </p:cNvPr>
              <p:cNvSpPr txBox="1">
                <a:spLocks noRot="1" noChangeAspect="1" noMove="1" noResize="1" noEditPoints="1" noAdjustHandles="1" noChangeArrowheads="1" noChangeShapeType="1" noTextEdit="1"/>
              </p:cNvSpPr>
              <p:nvPr/>
            </p:nvSpPr>
            <p:spPr>
              <a:xfrm>
                <a:off x="4656032" y="4615657"/>
                <a:ext cx="2879936" cy="646331"/>
              </a:xfrm>
              <a:prstGeom prst="rect">
                <a:avLst/>
              </a:prstGeom>
              <a:blipFill>
                <a:blip r:embed="rId4"/>
                <a:stretch>
                  <a:fillRect/>
                </a:stretch>
              </a:blipFill>
              <a:ln>
                <a:solidFill>
                  <a:schemeClr val="tx1"/>
                </a:solidFill>
              </a:ln>
            </p:spPr>
            <p:txBody>
              <a:bodyPr/>
              <a:lstStyle/>
              <a:p>
                <a:r>
                  <a:rPr lang="en-US">
                    <a:noFill/>
                  </a:rPr>
                  <a:t> </a:t>
                </a:r>
              </a:p>
            </p:txBody>
          </p:sp>
        </mc:Fallback>
      </mc:AlternateContent>
      <p:sp>
        <p:nvSpPr>
          <p:cNvPr id="16" name="TextBox 15">
            <a:extLst>
              <a:ext uri="{FF2B5EF4-FFF2-40B4-BE49-F238E27FC236}">
                <a16:creationId xmlns:a16="http://schemas.microsoft.com/office/drawing/2014/main" id="{6A298449-63A8-441F-99D7-5EC7D15187F6}"/>
              </a:ext>
            </a:extLst>
          </p:cNvPr>
          <p:cNvSpPr txBox="1"/>
          <p:nvPr/>
        </p:nvSpPr>
        <p:spPr>
          <a:xfrm>
            <a:off x="7721509" y="4754156"/>
            <a:ext cx="642933" cy="369332"/>
          </a:xfrm>
          <a:prstGeom prst="rect">
            <a:avLst/>
          </a:prstGeom>
          <a:noFill/>
        </p:spPr>
        <p:txBody>
          <a:bodyPr wrap="none" rtlCol="0">
            <a:spAutoFit/>
          </a:bodyPr>
          <a:lstStyle/>
          <a:p>
            <a:r>
              <a:rPr lang="en-US" dirty="0"/>
              <a:t>Eq. 6</a:t>
            </a:r>
          </a:p>
        </p:txBody>
      </p:sp>
      <p:sp>
        <p:nvSpPr>
          <p:cNvPr id="14" name="TextBox 13">
            <a:extLst>
              <a:ext uri="{FF2B5EF4-FFF2-40B4-BE49-F238E27FC236}">
                <a16:creationId xmlns:a16="http://schemas.microsoft.com/office/drawing/2014/main" id="{C6AE77BB-C22A-42C4-AD11-5E30A2A1FDF6}"/>
              </a:ext>
            </a:extLst>
          </p:cNvPr>
          <p:cNvSpPr txBox="1"/>
          <p:nvPr/>
        </p:nvSpPr>
        <p:spPr>
          <a:xfrm>
            <a:off x="7721508" y="2599174"/>
            <a:ext cx="642933" cy="369332"/>
          </a:xfrm>
          <a:prstGeom prst="rect">
            <a:avLst/>
          </a:prstGeom>
          <a:noFill/>
        </p:spPr>
        <p:txBody>
          <a:bodyPr wrap="none" rtlCol="0">
            <a:spAutoFit/>
          </a:bodyPr>
          <a:lstStyle/>
          <a:p>
            <a:r>
              <a:rPr lang="en-US" dirty="0"/>
              <a:t>Eq. 5</a:t>
            </a:r>
          </a:p>
        </p:txBody>
      </p:sp>
      <p:sp>
        <p:nvSpPr>
          <p:cNvPr id="4" name="Slide Number Placeholder 3"/>
          <p:cNvSpPr>
            <a:spLocks noGrp="1"/>
          </p:cNvSpPr>
          <p:nvPr>
            <p:ph type="sldNum" sz="quarter" idx="12"/>
          </p:nvPr>
        </p:nvSpPr>
        <p:spPr/>
        <p:txBody>
          <a:bodyPr/>
          <a:lstStyle/>
          <a:p>
            <a:fld id="{EEDFA2F9-C25F-4A63-B46B-7B5C200A39D1}" type="slidenum">
              <a:rPr lang="en-CA" smtClean="0"/>
              <a:t>86</a:t>
            </a:fld>
            <a:endParaRPr lang="en-CA"/>
          </a:p>
        </p:txBody>
      </p:sp>
    </p:spTree>
    <p:extLst>
      <p:ext uri="{BB962C8B-B14F-4D97-AF65-F5344CB8AC3E}">
        <p14:creationId xmlns:p14="http://schemas.microsoft.com/office/powerpoint/2010/main" val="323275625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a:grpSpLocks noChangeAspect="1"/>
          </p:cNvGrpSpPr>
          <p:nvPr/>
        </p:nvGrpSpPr>
        <p:grpSpPr>
          <a:xfrm>
            <a:off x="2771813" y="3069617"/>
            <a:ext cx="6760441" cy="3788383"/>
            <a:chOff x="6981249" y="3943859"/>
            <a:chExt cx="5200339" cy="2914141"/>
          </a:xfrm>
        </p:grpSpPr>
        <p:pic>
          <p:nvPicPr>
            <p:cNvPr id="5" name="Picture 4"/>
            <p:cNvPicPr>
              <a:picLocks noChangeAspect="1"/>
            </p:cNvPicPr>
            <p:nvPr/>
          </p:nvPicPr>
          <p:blipFill>
            <a:blip r:embed="rId2"/>
            <a:stretch>
              <a:fillRect/>
            </a:stretch>
          </p:blipFill>
          <p:spPr>
            <a:xfrm>
              <a:off x="6981249" y="3943859"/>
              <a:ext cx="5200339" cy="2914141"/>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0579496" y="5858123"/>
                  <a:ext cx="1185399" cy="369332"/>
                </a:xfrm>
                <a:prstGeom prst="rect">
                  <a:avLst/>
                </a:prstGeom>
                <a:noFill/>
              </p:spPr>
              <p:txBody>
                <a:bodyPr wrap="square" rtlCol="0">
                  <a:spAutoFit/>
                </a:bodyPr>
                <a:lstStyle/>
                <a:p>
                  <a:pPr/>
                  <a14:m>
                    <m:oMathPara xmlns:m="http://schemas.openxmlformats.org/officeDocument/2006/math">
                      <m:oMath>
                        <m:r>
                          <a:rPr lang="en-US" i="1" dirty="0" smtClean="0">
                            <a:latin typeface="Cambria Math" panose="02040503050406030204" pitchFamily="18" charset="0"/>
                          </a:rPr>
                          <m:t>(</m:t>
                        </m:r>
                        <m:r>
                          <a:rPr lang="en-US" i="1" dirty="0" smtClean="0">
                            <a:latin typeface="Cambria Math" panose="02040503050406030204" pitchFamily="18" charset="0"/>
                          </a:rPr>
                          <m:t>𝑆𝑆𝐵</m:t>
                        </m:r>
                        <m:r>
                          <a:rPr lang="en-US" i="1" baseline="-25000" dirty="0">
                            <a:latin typeface="Cambria Math" panose="02040503050406030204" pitchFamily="18" charset="0"/>
                          </a:rPr>
                          <m:t>0</m:t>
                        </m:r>
                        <m:r>
                          <a:rPr lang="en-US" i="1" dirty="0">
                            <a:latin typeface="Cambria Math" panose="02040503050406030204" pitchFamily="18" charset="0"/>
                          </a:rPr>
                          <m:t>,</m:t>
                        </m:r>
                        <m:r>
                          <a:rPr lang="en-US" i="1" dirty="0">
                            <a:latin typeface="Cambria Math" panose="02040503050406030204" pitchFamily="18" charset="0"/>
                          </a:rPr>
                          <m:t>𝑅</m:t>
                        </m:r>
                        <m:r>
                          <a:rPr lang="en-US" i="1" baseline="-25000" dirty="0">
                            <a:solidFill>
                              <a:schemeClr val="tx1"/>
                            </a:solidFill>
                            <a:latin typeface="Cambria Math" panose="02040503050406030204" pitchFamily="18" charset="0"/>
                          </a:rPr>
                          <m:t>0</m:t>
                        </m:r>
                        <m:r>
                          <a:rPr lang="en-US" i="1" dirty="0">
                            <a:solidFill>
                              <a:schemeClr val="tx1"/>
                            </a:solidFill>
                            <a:latin typeface="Cambria Math" panose="02040503050406030204" pitchFamily="18" charset="0"/>
                          </a:rPr>
                          <m:t>)</m:t>
                        </m:r>
                      </m:oMath>
                    </m:oMathPara>
                  </a14:m>
                  <a:endParaRPr lang="en-CA" dirty="0">
                    <a:solidFill>
                      <a:schemeClr val="tx1"/>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0579496" y="5858123"/>
                  <a:ext cx="1185399" cy="369332"/>
                </a:xfrm>
                <a:prstGeom prst="rect">
                  <a:avLst/>
                </a:prstGeom>
                <a:blipFill>
                  <a:blip r:embed="rId5"/>
                  <a:stretch>
                    <a:fillRect l="-515" r="-1031" b="-13115"/>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5"/>
                <a:ext cx="11208391" cy="4351338"/>
              </a:xfrm>
            </p:spPr>
            <p:txBody>
              <a:bodyPr/>
              <a:lstStyle/>
              <a:p>
                <a14:m>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𝑆𝑆𝐵</m:t>
                        </m:r>
                      </m:e>
                      <m:sub>
                        <m:r>
                          <a:rPr lang="en-US" i="1">
                            <a:latin typeface="Cambria Math" panose="02040503050406030204" pitchFamily="18" charset="0"/>
                          </a:rPr>
                          <m:t>0</m:t>
                        </m:r>
                      </m:sub>
                    </m:sSub>
                  </m:oMath>
                </a14:m>
                <a:r>
                  <a:rPr lang="en-CA" dirty="0"/>
                  <a:t> occurs at the intersection of the SRR and a line through the origin with slope </a:t>
                </a:r>
                <a14:m>
                  <m:oMath xmlns:m="http://schemas.openxmlformats.org/officeDocument/2006/math">
                    <m:r>
                      <a:rPr lang="en-US" i="1" dirty="0">
                        <a:solidFill>
                          <a:srgbClr val="FF0000"/>
                        </a:solidFill>
                        <a:latin typeface="Cambria Math" panose="02040503050406030204" pitchFamily="18" charset="0"/>
                      </a:rPr>
                      <m:t>1/</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𝜑</m:t>
                        </m:r>
                      </m:e>
                      <m:sub>
                        <m:r>
                          <a:rPr lang="en-US" b="0" i="1" smtClean="0">
                            <a:solidFill>
                              <a:srgbClr val="FF0000"/>
                            </a:solidFill>
                            <a:latin typeface="Cambria Math" panose="02040503050406030204" pitchFamily="18" charset="0"/>
                            <a:ea typeface="Cambria Math" panose="02040503050406030204" pitchFamily="18" charset="0"/>
                          </a:rPr>
                          <m:t>𝐸</m:t>
                        </m:r>
                        <m:r>
                          <a:rPr lang="en-US" i="1">
                            <a:solidFill>
                              <a:srgbClr val="FF0000"/>
                            </a:solidFill>
                            <a:latin typeface="Cambria Math" panose="02040503050406030204" pitchFamily="18" charset="0"/>
                          </a:rPr>
                          <m:t>0</m:t>
                        </m:r>
                      </m:sub>
                    </m:sSub>
                  </m:oMath>
                </a14:m>
                <a:r>
                  <a:rPr lang="en-CA" dirty="0"/>
                  <a:t> </a:t>
                </a:r>
              </a:p>
              <a:p>
                <a:r>
                  <a:rPr lang="en-CA" dirty="0"/>
                  <a:t>Note the inverse of </a:t>
                </a:r>
                <a14:m>
                  <m:oMath xmlns:m="http://schemas.openxmlformats.org/officeDocument/2006/math">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𝜑</m:t>
                        </m:r>
                      </m:e>
                      <m:sub>
                        <m:r>
                          <a:rPr lang="en-US" b="0" i="1" smtClean="0">
                            <a:solidFill>
                              <a:schemeClr val="tx1"/>
                            </a:solidFill>
                            <a:latin typeface="Cambria Math" panose="02040503050406030204" pitchFamily="18" charset="0"/>
                            <a:ea typeface="Cambria Math" panose="02040503050406030204" pitchFamily="18" charset="0"/>
                          </a:rPr>
                          <m:t>𝐸</m:t>
                        </m:r>
                        <m:r>
                          <a:rPr lang="en-US" i="1">
                            <a:solidFill>
                              <a:schemeClr val="tx1"/>
                            </a:solidFill>
                            <a:latin typeface="Cambria Math" panose="02040503050406030204" pitchFamily="18" charset="0"/>
                          </a:rPr>
                          <m:t>0</m:t>
                        </m:r>
                      </m:sub>
                    </m:sSub>
                  </m:oMath>
                </a14:m>
                <a:r>
                  <a:rPr lang="en-CA" dirty="0">
                    <a:solidFill>
                      <a:schemeClr val="tx1"/>
                    </a:solidFill>
                  </a:rPr>
                  <a:t> </a:t>
                </a:r>
                <a:r>
                  <a:rPr lang="en-CA" dirty="0"/>
                  <a:t>is </a:t>
                </a:r>
                <a14:m>
                  <m:oMath xmlns:m="http://schemas.openxmlformats.org/officeDocument/2006/math">
                    <m:r>
                      <a:rPr lang="en-US" b="0" i="1" dirty="0" smtClean="0">
                        <a:latin typeface="Cambria Math" panose="02040503050406030204" pitchFamily="18" charset="0"/>
                      </a:rPr>
                      <m:t>𝑅</m:t>
                    </m:r>
                    <m:r>
                      <a:rPr lang="en-US" i="1" baseline="-25000" dirty="0">
                        <a:latin typeface="Cambria Math" panose="02040503050406030204" pitchFamily="18" charset="0"/>
                      </a:rPr>
                      <m:t>0</m:t>
                    </m:r>
                    <m:r>
                      <a:rPr lang="en-US" b="0" i="1" dirty="0" smtClean="0">
                        <a:latin typeface="Cambria Math" panose="02040503050406030204" pitchFamily="18" charset="0"/>
                      </a:rPr>
                      <m:t>/</m:t>
                    </m:r>
                    <m:r>
                      <a:rPr lang="en-US" b="0" i="1" dirty="0" smtClean="0">
                        <a:latin typeface="Cambria Math" panose="02040503050406030204" pitchFamily="18" charset="0"/>
                      </a:rPr>
                      <m:t>𝑆𝑆𝐵</m:t>
                    </m:r>
                    <m:r>
                      <a:rPr lang="en-US" i="1" baseline="-25000" dirty="0">
                        <a:latin typeface="Cambria Math" panose="02040503050406030204" pitchFamily="18" charset="0"/>
                      </a:rPr>
                      <m:t>0</m:t>
                    </m:r>
                  </m:oMath>
                </a14:m>
                <a:r>
                  <a:rPr lang="en-CA" dirty="0"/>
                  <a:t> (i.e., survival rate)</a:t>
                </a:r>
                <a:endParaRPr lang="en-CA" strike="sngStrike"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5"/>
                <a:ext cx="11208391" cy="4351338"/>
              </a:xfrm>
              <a:blipFill>
                <a:blip r:embed="rId6"/>
                <a:stretch>
                  <a:fillRect l="-924" t="-2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itle 1"/>
              <p:cNvSpPr>
                <a:spLocks noGrp="1"/>
              </p:cNvSpPr>
              <p:nvPr>
                <p:ph type="title"/>
              </p:nvPr>
            </p:nvSpPr>
            <p:spPr/>
            <p:txBody>
              <a:bodyPr>
                <a:normAutofit/>
              </a:bodyPr>
              <a:lstStyle/>
              <a:p>
                <a:r>
                  <a:rPr lang="en-US" sz="3600" dirty="0"/>
                  <a:t>Reference Points </a:t>
                </a:r>
                <a:r>
                  <a:rPr lang="en-US" sz="3600" b="1" dirty="0">
                    <a:solidFill>
                      <a:schemeClr val="accent6">
                        <a:lumMod val="75000"/>
                      </a:schemeClr>
                    </a:solidFill>
                  </a:rPr>
                  <a:t>1. Unfished Equilibrium Biomass </a:t>
                </a:r>
                <a14:m>
                  <m:oMath xmlns:m="http://schemas.openxmlformats.org/officeDocument/2006/math">
                    <m:r>
                      <a:rPr lang="en-US" sz="3600" b="1" i="1" dirty="0">
                        <a:solidFill>
                          <a:schemeClr val="accent6">
                            <a:lumMod val="75000"/>
                          </a:schemeClr>
                        </a:solidFill>
                        <a:latin typeface="Cambria Math" panose="02040503050406030204" pitchFamily="18" charset="0"/>
                      </a:rPr>
                      <m:t>𝑩</m:t>
                    </m:r>
                    <m:r>
                      <a:rPr lang="en-US" sz="3600" b="1" i="1" baseline="-25000" dirty="0">
                        <a:solidFill>
                          <a:schemeClr val="accent6">
                            <a:lumMod val="75000"/>
                          </a:schemeClr>
                        </a:solidFill>
                        <a:latin typeface="Cambria Math" panose="02040503050406030204" pitchFamily="18" charset="0"/>
                      </a:rPr>
                      <m:t>𝟎</m:t>
                    </m:r>
                  </m:oMath>
                </a14:m>
                <a:endParaRPr lang="en-CA" sz="3600" b="1"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a:blip r:embed="rId3"/>
                <a:stretch>
                  <a:fillRect l="-1797"/>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83955FC7-4603-4317-B47A-24C8CA3798D1}"/>
              </a:ext>
            </a:extLst>
          </p:cNvPr>
          <p:cNvCxnSpPr>
            <a:cxnSpLocks/>
          </p:cNvCxnSpPr>
          <p:nvPr/>
        </p:nvCxnSpPr>
        <p:spPr>
          <a:xfrm flipV="1">
            <a:off x="3495107" y="5375079"/>
            <a:ext cx="5669675" cy="77895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CEAA7337-45E7-4B78-AF29-CE19215A7431}"/>
                  </a:ext>
                </a:extLst>
              </p:cNvPr>
              <p:cNvSpPr txBox="1"/>
              <p:nvPr/>
            </p:nvSpPr>
            <p:spPr>
              <a:xfrm>
                <a:off x="9329244" y="5195075"/>
                <a:ext cx="2523320" cy="369332"/>
              </a:xfrm>
              <a:prstGeom prst="rect">
                <a:avLst/>
              </a:prstGeom>
              <a:noFill/>
            </p:spPr>
            <p:txBody>
              <a:bodyPr wrap="square" rtlCol="0">
                <a:spAutoFit/>
              </a:bodyPr>
              <a:lstStyle/>
              <a:p>
                <a:r>
                  <a:rPr lang="en-US" dirty="0">
                    <a:solidFill>
                      <a:srgbClr val="FF0000"/>
                    </a:solidFill>
                  </a:rPr>
                  <a:t>Line with slope </a:t>
                </a:r>
                <a14:m>
                  <m:oMath xmlns:m="http://schemas.openxmlformats.org/officeDocument/2006/math">
                    <m:r>
                      <a:rPr lang="en-US" b="0" i="1" dirty="0" smtClean="0">
                        <a:solidFill>
                          <a:srgbClr val="FF0000"/>
                        </a:solidFill>
                        <a:latin typeface="Cambria Math" panose="02040503050406030204" pitchFamily="18" charset="0"/>
                      </a:rPr>
                      <m:t>1/</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𝜑</m:t>
                        </m:r>
                      </m:e>
                      <m:sub>
                        <m:r>
                          <a:rPr lang="en-US" b="0" i="1" smtClean="0">
                            <a:solidFill>
                              <a:srgbClr val="FF0000"/>
                            </a:solidFill>
                            <a:latin typeface="Cambria Math" panose="02040503050406030204" pitchFamily="18" charset="0"/>
                            <a:ea typeface="Cambria Math" panose="02040503050406030204" pitchFamily="18" charset="0"/>
                          </a:rPr>
                          <m:t>𝐸</m:t>
                        </m:r>
                        <m:r>
                          <a:rPr lang="en-US" i="1">
                            <a:solidFill>
                              <a:srgbClr val="FF0000"/>
                            </a:solidFill>
                            <a:latin typeface="Cambria Math" panose="02040503050406030204" pitchFamily="18" charset="0"/>
                          </a:rPr>
                          <m:t>0</m:t>
                        </m:r>
                      </m:sub>
                    </m:sSub>
                  </m:oMath>
                </a14:m>
                <a:endParaRPr lang="en-CA" dirty="0">
                  <a:solidFill>
                    <a:srgbClr val="FF0000"/>
                  </a:solidFill>
                </a:endParaRPr>
              </a:p>
            </p:txBody>
          </p:sp>
        </mc:Choice>
        <mc:Fallback xmlns="">
          <p:sp>
            <p:nvSpPr>
              <p:cNvPr id="12" name="TextBox 11">
                <a:extLst>
                  <a:ext uri="{FF2B5EF4-FFF2-40B4-BE49-F238E27FC236}">
                    <a16:creationId xmlns:a16="http://schemas.microsoft.com/office/drawing/2014/main" id="{CEAA7337-45E7-4B78-AF29-CE19215A7431}"/>
                  </a:ext>
                </a:extLst>
              </p:cNvPr>
              <p:cNvSpPr txBox="1">
                <a:spLocks noRot="1" noChangeAspect="1" noMove="1" noResize="1" noEditPoints="1" noAdjustHandles="1" noChangeArrowheads="1" noChangeShapeType="1" noTextEdit="1"/>
              </p:cNvSpPr>
              <p:nvPr/>
            </p:nvSpPr>
            <p:spPr>
              <a:xfrm>
                <a:off x="9329244" y="5195075"/>
                <a:ext cx="2523320" cy="369332"/>
              </a:xfrm>
              <a:prstGeom prst="rect">
                <a:avLst/>
              </a:prstGeom>
              <a:blipFill>
                <a:blip r:embed="rId7"/>
                <a:stretch>
                  <a:fillRect l="-1932" t="-8197" b="-24590"/>
                </a:stretch>
              </a:blipFill>
            </p:spPr>
            <p:txBody>
              <a:bodyPr/>
              <a:lstStyle/>
              <a:p>
                <a:r>
                  <a:rPr lang="en-US">
                    <a:noFill/>
                  </a:rPr>
                  <a:t> </a:t>
                </a:r>
              </a:p>
            </p:txBody>
          </p:sp>
        </mc:Fallback>
      </mc:AlternateContent>
      <p:sp>
        <p:nvSpPr>
          <p:cNvPr id="4" name="TextBox 3"/>
          <p:cNvSpPr txBox="1"/>
          <p:nvPr/>
        </p:nvSpPr>
        <p:spPr>
          <a:xfrm>
            <a:off x="9329244" y="3216464"/>
            <a:ext cx="2604655" cy="1569660"/>
          </a:xfrm>
          <a:prstGeom prst="rect">
            <a:avLst/>
          </a:prstGeom>
          <a:noFill/>
          <a:ln>
            <a:solidFill>
              <a:schemeClr val="tx2"/>
            </a:solidFill>
          </a:ln>
        </p:spPr>
        <p:txBody>
          <a:bodyPr wrap="square" rtlCol="0">
            <a:spAutoFit/>
          </a:bodyPr>
          <a:lstStyle/>
          <a:p>
            <a:pPr algn="ctr"/>
            <a:r>
              <a:rPr lang="en-US" sz="2400" dirty="0">
                <a:solidFill>
                  <a:schemeClr val="tx2"/>
                </a:solidFill>
              </a:rPr>
              <a:t>We saw this survival rate earlier in the recruitment section</a:t>
            </a:r>
          </a:p>
        </p:txBody>
      </p:sp>
      <p:sp>
        <p:nvSpPr>
          <p:cNvPr id="8" name="Slide Number Placeholder 7"/>
          <p:cNvSpPr>
            <a:spLocks noGrp="1"/>
          </p:cNvSpPr>
          <p:nvPr>
            <p:ph type="sldNum" sz="quarter" idx="12"/>
          </p:nvPr>
        </p:nvSpPr>
        <p:spPr/>
        <p:txBody>
          <a:bodyPr/>
          <a:lstStyle/>
          <a:p>
            <a:fld id="{EEDFA2F9-C25F-4A63-B46B-7B5C200A39D1}" type="slidenum">
              <a:rPr lang="en-CA" smtClean="0"/>
              <a:t>87</a:t>
            </a:fld>
            <a:endParaRPr lang="en-CA"/>
          </a:p>
        </p:txBody>
      </p:sp>
    </p:spTree>
    <p:extLst>
      <p:ext uri="{BB962C8B-B14F-4D97-AF65-F5344CB8AC3E}">
        <p14:creationId xmlns:p14="http://schemas.microsoft.com/office/powerpoint/2010/main" val="100352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30623" y="1825625"/>
                <a:ext cx="10515600" cy="4351338"/>
              </a:xfrm>
            </p:spPr>
            <p:txBody>
              <a:bodyPr>
                <a:normAutofit/>
              </a:bodyPr>
              <a:lstStyle/>
              <a:p>
                <a:r>
                  <a:rPr lang="en-US" dirty="0"/>
                  <a:t>To calculate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0</m:t>
                        </m:r>
                      </m:sub>
                    </m:sSub>
                    <m:r>
                      <a:rPr lang="en-US" i="1">
                        <a:latin typeface="Cambria Math" panose="02040503050406030204" pitchFamily="18" charset="0"/>
                      </a:rPr>
                      <m:t> </m:t>
                    </m:r>
                  </m:oMath>
                </a14:m>
                <a:r>
                  <a:rPr lang="en-US" dirty="0"/>
                  <a:t>we needed the unfished SSB-per-recruit and the SRR</a:t>
                </a:r>
              </a:p>
              <a:p>
                <a:r>
                  <a:rPr lang="en-US" dirty="0"/>
                  <a:t>To calculate an equilibrium biomass from fishing at a constant specified </a:t>
                </a:r>
                <a14:m>
                  <m:oMath xmlns:m="http://schemas.openxmlformats.org/officeDocument/2006/math">
                    <m:r>
                      <a:rPr lang="en-US" i="1" dirty="0" smtClean="0">
                        <a:latin typeface="Cambria Math" panose="02040503050406030204" pitchFamily="18" charset="0"/>
                      </a:rPr>
                      <m:t>𝐹</m:t>
                    </m:r>
                  </m:oMath>
                </a14:m>
                <a:r>
                  <a:rPr lang="en-US" dirty="0"/>
                  <a:t> (e.g.,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𝑀𝑆𝑌</m:t>
                        </m:r>
                      </m:sub>
                    </m:sSub>
                  </m:oMath>
                </a14:m>
                <a:r>
                  <a:rPr lang="en-US" dirty="0"/>
                  <a:t>) we will also use SSB-per-recruit and the SRR</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30623" y="1825625"/>
                <a:ext cx="10515600" cy="4351338"/>
              </a:xfrm>
              <a:blipFill>
                <a:blip r:embed="rId2"/>
                <a:stretch>
                  <a:fillRect l="-1043" t="-2241"/>
                </a:stretch>
              </a:blipFill>
            </p:spPr>
            <p:txBody>
              <a:bodyPr/>
              <a:lstStyle/>
              <a:p>
                <a:r>
                  <a:rPr lang="en-US">
                    <a:noFill/>
                  </a:rPr>
                  <a:t> </a:t>
                </a:r>
              </a:p>
            </p:txBody>
          </p:sp>
        </mc:Fallback>
      </mc:AlternateContent>
      <p:sp>
        <p:nvSpPr>
          <p:cNvPr id="2" name="Title 1"/>
          <p:cNvSpPr>
            <a:spLocks noGrp="1"/>
          </p:cNvSpPr>
          <p:nvPr>
            <p:ph type="title"/>
          </p:nvPr>
        </p:nvSpPr>
        <p:spPr>
          <a:xfrm>
            <a:off x="838200" y="365125"/>
            <a:ext cx="10841182" cy="1325563"/>
          </a:xfrm>
        </p:spPr>
        <p:txBody>
          <a:bodyPr>
            <a:normAutofit/>
          </a:bodyPr>
          <a:lstStyle/>
          <a:p>
            <a:r>
              <a:rPr lang="en-US" sz="3600" dirty="0"/>
              <a:t>Reference Points </a:t>
            </a:r>
            <a:r>
              <a:rPr lang="en-US" sz="3600" b="1" dirty="0">
                <a:solidFill>
                  <a:srgbClr val="0000FF"/>
                </a:solidFill>
              </a:rPr>
              <a:t>2. Equilibrium Biomass and Recruitment </a:t>
            </a:r>
            <a:endParaRPr lang="en-CA" sz="3600" b="1" dirty="0"/>
          </a:p>
        </p:txBody>
      </p:sp>
      <p:sp>
        <p:nvSpPr>
          <p:cNvPr id="5" name="TextBox 4">
            <a:extLst>
              <a:ext uri="{FF2B5EF4-FFF2-40B4-BE49-F238E27FC236}">
                <a16:creationId xmlns:a16="http://schemas.microsoft.com/office/drawing/2014/main" id="{148F10F5-EB5D-475B-9494-E59F86F15E50}"/>
              </a:ext>
            </a:extLst>
          </p:cNvPr>
          <p:cNvSpPr txBox="1"/>
          <p:nvPr/>
        </p:nvSpPr>
        <p:spPr>
          <a:xfrm>
            <a:off x="1403420" y="4143642"/>
            <a:ext cx="9119108" cy="1384995"/>
          </a:xfrm>
          <a:prstGeom prst="rect">
            <a:avLst/>
          </a:prstGeom>
          <a:solidFill>
            <a:schemeClr val="accent1">
              <a:lumMod val="60000"/>
              <a:lumOff val="40000"/>
            </a:schemeClr>
          </a:solidFill>
          <a:ln>
            <a:solidFill>
              <a:schemeClr val="accent1">
                <a:lumMod val="50000"/>
              </a:schemeClr>
            </a:solidFill>
          </a:ln>
        </p:spPr>
        <p:txBody>
          <a:bodyPr wrap="square" rtlCol="0">
            <a:spAutoFit/>
          </a:bodyPr>
          <a:lstStyle/>
          <a:p>
            <a:pPr algn="ctr"/>
            <a:endParaRPr lang="en-CA" sz="2800" dirty="0"/>
          </a:p>
          <a:p>
            <a:pPr algn="ctr"/>
            <a:r>
              <a:rPr lang="en-CA" sz="2800" dirty="0"/>
              <a:t>Equilibrium Biomass = </a:t>
            </a:r>
            <a:r>
              <a:rPr lang="en-US" sz="2800" dirty="0"/>
              <a:t>SSB-per-recruit </a:t>
            </a:r>
            <a:r>
              <a:rPr lang="en-CA" sz="2800" dirty="0"/>
              <a:t>× number of recruits</a:t>
            </a:r>
            <a:r>
              <a:rPr lang="en-US" sz="2800" dirty="0"/>
              <a:t> </a:t>
            </a:r>
            <a:endParaRPr lang="en-CA" sz="2800" dirty="0"/>
          </a:p>
          <a:p>
            <a:pPr algn="ctr"/>
            <a:endParaRPr lang="en-US" sz="2800" dirty="0"/>
          </a:p>
        </p:txBody>
      </p:sp>
      <p:sp>
        <p:nvSpPr>
          <p:cNvPr id="4" name="Slide Number Placeholder 3"/>
          <p:cNvSpPr>
            <a:spLocks noGrp="1"/>
          </p:cNvSpPr>
          <p:nvPr>
            <p:ph type="sldNum" sz="quarter" idx="12"/>
          </p:nvPr>
        </p:nvSpPr>
        <p:spPr/>
        <p:txBody>
          <a:bodyPr/>
          <a:lstStyle/>
          <a:p>
            <a:fld id="{EEDFA2F9-C25F-4A63-B46B-7B5C200A39D1}" type="slidenum">
              <a:rPr lang="en-CA" smtClean="0"/>
              <a:t>88</a:t>
            </a:fld>
            <a:endParaRPr lang="en-CA"/>
          </a:p>
        </p:txBody>
      </p:sp>
    </p:spTree>
    <p:extLst>
      <p:ext uri="{BB962C8B-B14F-4D97-AF65-F5344CB8AC3E}">
        <p14:creationId xmlns:p14="http://schemas.microsoft.com/office/powerpoint/2010/main" val="360980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30623" y="1825625"/>
                <a:ext cx="10515600" cy="4351338"/>
              </a:xfrm>
            </p:spPr>
            <p:txBody>
              <a:bodyPr>
                <a:normAutofit/>
              </a:bodyPr>
              <a:lstStyle/>
              <a:p>
                <a:r>
                  <a:rPr lang="en-US" dirty="0"/>
                  <a:t>When </a:t>
                </a:r>
                <a14:m>
                  <m:oMath xmlns:m="http://schemas.openxmlformats.org/officeDocument/2006/math">
                    <m:r>
                      <a:rPr lang="en-US" i="1" dirty="0">
                        <a:latin typeface="Cambria Math" panose="02040503050406030204" pitchFamily="18" charset="0"/>
                      </a:rPr>
                      <m:t>𝐹</m:t>
                    </m:r>
                  </m:oMath>
                </a14:m>
                <a:r>
                  <a:rPr lang="en-US" dirty="0"/>
                  <a:t> increases from 0, the SSB-per-recruit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rPr>
                          <m:t>𝐹</m:t>
                        </m:r>
                      </m:sub>
                    </m:sSub>
                  </m:oMath>
                </a14:m>
                <a:r>
                  <a:rPr lang="en-US" dirty="0"/>
                  <a:t>) decreases from the unfished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𝐸</m:t>
                        </m:r>
                        <m:r>
                          <a:rPr lang="en-US" b="0" i="1" smtClean="0">
                            <a:latin typeface="Cambria Math" panose="02040503050406030204" pitchFamily="18" charset="0"/>
                          </a:rPr>
                          <m:t>0</m:t>
                        </m:r>
                      </m:sub>
                    </m:sSub>
                  </m:oMath>
                </a14:m>
                <a:endParaRPr lang="en-US" b="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30623" y="1825625"/>
                <a:ext cx="10515600" cy="4351338"/>
              </a:xfrm>
              <a:blipFill>
                <a:blip r:embed="rId2"/>
                <a:stretch>
                  <a:fillRect l="-1043" t="-2241"/>
                </a:stretch>
              </a:blipFill>
            </p:spPr>
            <p:txBody>
              <a:bodyPr/>
              <a:lstStyle/>
              <a:p>
                <a:r>
                  <a:rPr lang="en-US">
                    <a:noFill/>
                  </a:rPr>
                  <a:t> </a:t>
                </a:r>
              </a:p>
            </p:txBody>
          </p:sp>
        </mc:Fallback>
      </mc:AlternateContent>
      <p:sp>
        <p:nvSpPr>
          <p:cNvPr id="2" name="Title 1"/>
          <p:cNvSpPr>
            <a:spLocks noGrp="1"/>
          </p:cNvSpPr>
          <p:nvPr>
            <p:ph type="title"/>
          </p:nvPr>
        </p:nvSpPr>
        <p:spPr>
          <a:xfrm>
            <a:off x="838200" y="365125"/>
            <a:ext cx="10841182" cy="1325563"/>
          </a:xfrm>
        </p:spPr>
        <p:txBody>
          <a:bodyPr>
            <a:normAutofit/>
          </a:bodyPr>
          <a:lstStyle/>
          <a:p>
            <a:r>
              <a:rPr lang="en-US" sz="3600" dirty="0"/>
              <a:t>Reference Points </a:t>
            </a:r>
            <a:r>
              <a:rPr lang="en-US" sz="3600" b="1" dirty="0">
                <a:solidFill>
                  <a:srgbClr val="0000FF"/>
                </a:solidFill>
              </a:rPr>
              <a:t>2. Equilibrium Biomass and Recruitment </a:t>
            </a:r>
            <a:endParaRPr lang="en-CA" sz="3600" b="1" dirty="0"/>
          </a:p>
        </p:txBody>
      </p:sp>
      <p:pic>
        <p:nvPicPr>
          <p:cNvPr id="7" name="Picture 6">
            <a:extLst>
              <a:ext uri="{FF2B5EF4-FFF2-40B4-BE49-F238E27FC236}">
                <a16:creationId xmlns:a16="http://schemas.microsoft.com/office/drawing/2014/main" id="{CDB265D6-CE34-43C2-BB64-149771E8A3A7}"/>
              </a:ext>
            </a:extLst>
          </p:cNvPr>
          <p:cNvPicPr>
            <a:picLocks noChangeAspect="1"/>
          </p:cNvPicPr>
          <p:nvPr/>
        </p:nvPicPr>
        <p:blipFill>
          <a:blip r:embed="rId3"/>
          <a:stretch>
            <a:fillRect/>
          </a:stretch>
        </p:blipFill>
        <p:spPr>
          <a:xfrm>
            <a:off x="2775880" y="2805546"/>
            <a:ext cx="6640240" cy="3939876"/>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5C3A88F-BDE2-4402-A460-B975E1123F7F}"/>
                  </a:ext>
                </a:extLst>
              </p:cNvPr>
              <p:cNvSpPr txBox="1"/>
              <p:nvPr/>
            </p:nvSpPr>
            <p:spPr>
              <a:xfrm>
                <a:off x="2020603" y="3096491"/>
                <a:ext cx="755277" cy="369332"/>
              </a:xfrm>
              <a:prstGeom prst="rect">
                <a:avLst/>
              </a:prstGeom>
              <a:noFill/>
            </p:spPr>
            <p:txBody>
              <a:bodyPr wrap="square" rtlCol="0">
                <a:spAutoFit/>
              </a:bodyPr>
              <a:lstStyle/>
              <a:p>
                <a:pPr/>
                <a14:m>
                  <m:oMathPara xmlns:m="http://schemas.openxmlformats.org/officeDocument/2006/math">
                    <m:oMath>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𝜑</m:t>
                          </m:r>
                        </m:e>
                        <m:sub>
                          <m:r>
                            <a:rPr lang="en-US" b="0" i="1" smtClean="0">
                              <a:solidFill>
                                <a:srgbClr val="FF0000"/>
                              </a:solidFill>
                              <a:latin typeface="Cambria Math" panose="02040503050406030204" pitchFamily="18" charset="0"/>
                              <a:ea typeface="Cambria Math" panose="02040503050406030204" pitchFamily="18" charset="0"/>
                            </a:rPr>
                            <m:t>𝐸</m:t>
                          </m:r>
                          <m:r>
                            <a:rPr lang="en-US" b="0" i="1" smtClean="0">
                              <a:solidFill>
                                <a:srgbClr val="FF0000"/>
                              </a:solidFill>
                              <a:latin typeface="Cambria Math" panose="02040503050406030204" pitchFamily="18" charset="0"/>
                            </a:rPr>
                            <m:t>0</m:t>
                          </m:r>
                        </m:sub>
                      </m:sSub>
                    </m:oMath>
                  </m:oMathPara>
                </a14:m>
                <a:endParaRPr lang="en-US" dirty="0">
                  <a:solidFill>
                    <a:srgbClr val="FF0000"/>
                  </a:solidFill>
                </a:endParaRPr>
              </a:p>
            </p:txBody>
          </p:sp>
        </mc:Choice>
        <mc:Fallback xmlns="">
          <p:sp>
            <p:nvSpPr>
              <p:cNvPr id="8" name="TextBox 7">
                <a:extLst>
                  <a:ext uri="{FF2B5EF4-FFF2-40B4-BE49-F238E27FC236}">
                    <a16:creationId xmlns:a16="http://schemas.microsoft.com/office/drawing/2014/main" id="{55C3A88F-BDE2-4402-A460-B975E1123F7F}"/>
                  </a:ext>
                </a:extLst>
              </p:cNvPr>
              <p:cNvSpPr txBox="1">
                <a:spLocks noRot="1" noChangeAspect="1" noMove="1" noResize="1" noEditPoints="1" noAdjustHandles="1" noChangeArrowheads="1" noChangeShapeType="1" noTextEdit="1"/>
              </p:cNvSpPr>
              <p:nvPr/>
            </p:nvSpPr>
            <p:spPr>
              <a:xfrm>
                <a:off x="2020603" y="3096491"/>
                <a:ext cx="755277" cy="369332"/>
              </a:xfrm>
              <a:prstGeom prst="rect">
                <a:avLst/>
              </a:prstGeom>
              <a:blipFill>
                <a:blip r:embed="rId4"/>
                <a:stretch>
                  <a:fillRect b="-4918"/>
                </a:stretch>
              </a:blipFill>
            </p:spPr>
            <p:txBody>
              <a:bodyPr/>
              <a:lstStyle/>
              <a:p>
                <a:r>
                  <a:rPr lang="en-US">
                    <a:noFill/>
                  </a:rPr>
                  <a:t> </a:t>
                </a:r>
              </a:p>
            </p:txBody>
          </p:sp>
        </mc:Fallback>
      </mc:AlternateContent>
      <p:cxnSp>
        <p:nvCxnSpPr>
          <p:cNvPr id="10" name="Straight Arrow Connector 9">
            <a:extLst>
              <a:ext uri="{FF2B5EF4-FFF2-40B4-BE49-F238E27FC236}">
                <a16:creationId xmlns:a16="http://schemas.microsoft.com/office/drawing/2014/main" id="{7F823E06-F0F1-43F7-A179-06D9D3EAEF57}"/>
              </a:ext>
            </a:extLst>
          </p:cNvPr>
          <p:cNvCxnSpPr/>
          <p:nvPr/>
        </p:nvCxnSpPr>
        <p:spPr>
          <a:xfrm>
            <a:off x="2628900" y="3283527"/>
            <a:ext cx="904009"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EDFA2F9-C25F-4A63-B46B-7B5C200A39D1}" type="slidenum">
              <a:rPr lang="en-CA" smtClean="0"/>
              <a:t>89</a:t>
            </a:fld>
            <a:endParaRPr lang="en-CA"/>
          </a:p>
        </p:txBody>
      </p:sp>
    </p:spTree>
    <p:extLst>
      <p:ext uri="{BB962C8B-B14F-4D97-AF65-F5344CB8AC3E}">
        <p14:creationId xmlns:p14="http://schemas.microsoft.com/office/powerpoint/2010/main" val="308685975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2325754" y="2632496"/>
            <a:ext cx="7540492" cy="4225504"/>
          </a:xfrm>
          <a:prstGeom prst="rect">
            <a:avLst/>
          </a:prstGeom>
        </p:spPr>
      </p:pic>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5"/>
                <a:ext cx="10687259" cy="4351338"/>
              </a:xfrm>
            </p:spPr>
            <p:txBody>
              <a:bodyPr/>
              <a:lstStyle/>
              <a:p>
                <a:r>
                  <a:rPr lang="en-US" dirty="0"/>
                  <a:t>A line with slope </a:t>
                </a:r>
                <a:r>
                  <a:rPr lang="en-US" dirty="0">
                    <a:solidFill>
                      <a:srgbClr val="0000FF"/>
                    </a:solidFill>
                  </a:rPr>
                  <a:t>1/</a:t>
                </a:r>
                <a14:m>
                  <m:oMath xmlns:m="http://schemas.openxmlformats.org/officeDocument/2006/math">
                    <m:sSub>
                      <m:sSubPr>
                        <m:ctrlPr>
                          <a:rPr lang="en-US" i="1">
                            <a:solidFill>
                              <a:srgbClr val="0000FF"/>
                            </a:solidFill>
                            <a:latin typeface="Cambria Math" panose="02040503050406030204" pitchFamily="18" charset="0"/>
                            <a:ea typeface="Cambria Math" panose="02040503050406030204" pitchFamily="18" charset="0"/>
                          </a:rPr>
                        </m:ctrlPr>
                      </m:sSubPr>
                      <m:e>
                        <m:r>
                          <a:rPr lang="en-US" i="1">
                            <a:solidFill>
                              <a:srgbClr val="0000FF"/>
                            </a:solidFill>
                            <a:latin typeface="Cambria Math" panose="02040503050406030204" pitchFamily="18" charset="0"/>
                            <a:ea typeface="Cambria Math" panose="02040503050406030204" pitchFamily="18" charset="0"/>
                          </a:rPr>
                          <m:t>𝜑</m:t>
                        </m:r>
                      </m:e>
                      <m:sub>
                        <m:r>
                          <a:rPr lang="en-US" i="1">
                            <a:solidFill>
                              <a:srgbClr val="0000FF"/>
                            </a:solidFill>
                            <a:latin typeface="Cambria Math" panose="02040503050406030204" pitchFamily="18" charset="0"/>
                          </a:rPr>
                          <m:t>𝐹</m:t>
                        </m:r>
                      </m:sub>
                    </m:sSub>
                  </m:oMath>
                </a14:m>
                <a:r>
                  <a:rPr lang="en-US" dirty="0">
                    <a:solidFill>
                      <a:srgbClr val="0000FF"/>
                    </a:solidFill>
                  </a:rPr>
                  <a:t> </a:t>
                </a:r>
                <a:r>
                  <a:rPr lang="en-US" dirty="0"/>
                  <a:t>that represents the recruits per spawning biomass (</a:t>
                </a:r>
                <a14:m>
                  <m:oMath xmlns:m="http://schemas.openxmlformats.org/officeDocument/2006/math">
                    <m:r>
                      <a:rPr lang="en-US" i="1" dirty="0">
                        <a:solidFill>
                          <a:srgbClr val="0000FF"/>
                        </a:solidFill>
                        <a:latin typeface="Cambria Math" panose="02040503050406030204" pitchFamily="18" charset="0"/>
                      </a:rPr>
                      <m:t>𝑅</m:t>
                    </m:r>
                    <m:r>
                      <a:rPr lang="en-US" i="1" baseline="-25000" dirty="0">
                        <a:solidFill>
                          <a:srgbClr val="0000FF"/>
                        </a:solidFill>
                        <a:latin typeface="Cambria Math" panose="02040503050406030204" pitchFamily="18" charset="0"/>
                      </a:rPr>
                      <m:t>𝐹</m:t>
                    </m:r>
                  </m:oMath>
                </a14:m>
                <a:r>
                  <a:rPr lang="en-US" dirty="0"/>
                  <a:t>/</a:t>
                </a:r>
                <a14:m>
                  <m:oMath xmlns:m="http://schemas.openxmlformats.org/officeDocument/2006/math">
                    <m:r>
                      <a:rPr lang="en-US" i="1" dirty="0">
                        <a:solidFill>
                          <a:srgbClr val="0000FF"/>
                        </a:solidFill>
                        <a:latin typeface="Cambria Math" panose="02040503050406030204" pitchFamily="18" charset="0"/>
                      </a:rPr>
                      <m:t>𝑆𝑆𝐵</m:t>
                    </m:r>
                    <m:r>
                      <a:rPr lang="en-US" i="1" baseline="-25000" dirty="0">
                        <a:solidFill>
                          <a:srgbClr val="0000FF"/>
                        </a:solidFill>
                        <a:latin typeface="Cambria Math" panose="02040503050406030204" pitchFamily="18" charset="0"/>
                      </a:rPr>
                      <m:t>𝐹</m:t>
                    </m:r>
                  </m:oMath>
                </a14:m>
                <a:r>
                  <a:rPr lang="en-US" dirty="0"/>
                  <a:t> or survival rate at </a:t>
                </a:r>
                <a14:m>
                  <m:oMath xmlns:m="http://schemas.openxmlformats.org/officeDocument/2006/math">
                    <m:r>
                      <a:rPr lang="en-US" i="1" dirty="0" smtClean="0">
                        <a:latin typeface="Cambria Math" panose="02040503050406030204" pitchFamily="18" charset="0"/>
                      </a:rPr>
                      <m:t>𝐹</m:t>
                    </m:r>
                  </m:oMath>
                </a14:m>
                <a:r>
                  <a:rPr lang="en-US" dirty="0"/>
                  <a:t>) and is steeper than </a:t>
                </a:r>
                <a:r>
                  <a:rPr lang="en-US" dirty="0">
                    <a:solidFill>
                      <a:srgbClr val="FF0000"/>
                    </a:solidFill>
                  </a:rPr>
                  <a:t>1/</a:t>
                </a:r>
                <a14:m>
                  <m:oMath xmlns:m="http://schemas.openxmlformats.org/officeDocument/2006/math">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𝜑</m:t>
                        </m:r>
                      </m:e>
                      <m:sub>
                        <m:r>
                          <a:rPr lang="en-US" i="1">
                            <a:solidFill>
                              <a:srgbClr val="FF0000"/>
                            </a:solidFill>
                            <a:latin typeface="Cambria Math" panose="02040503050406030204" pitchFamily="18" charset="0"/>
                            <a:ea typeface="Cambria Math" panose="02040503050406030204" pitchFamily="18" charset="0"/>
                          </a:rPr>
                          <m:t>𝐸</m:t>
                        </m:r>
                        <m:r>
                          <a:rPr lang="en-US" i="1">
                            <a:solidFill>
                              <a:srgbClr val="FF0000"/>
                            </a:solidFill>
                            <a:latin typeface="Cambria Math" panose="02040503050406030204" pitchFamily="18" charset="0"/>
                          </a:rPr>
                          <m:t>0</m:t>
                        </m:r>
                      </m:sub>
                    </m:sSub>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5"/>
                <a:ext cx="10687259" cy="4351338"/>
              </a:xfrm>
              <a:blipFill>
                <a:blip r:embed="rId3"/>
                <a:stretch>
                  <a:fillRect l="-969" t="-2241"/>
                </a:stretch>
              </a:blipFill>
            </p:spPr>
            <p:txBody>
              <a:bodyPr/>
              <a:lstStyle/>
              <a:p>
                <a:r>
                  <a:rPr lang="en-US">
                    <a:noFill/>
                  </a:rPr>
                  <a:t> </a:t>
                </a:r>
              </a:p>
            </p:txBody>
          </p:sp>
        </mc:Fallback>
      </mc:AlternateContent>
      <p:sp>
        <p:nvSpPr>
          <p:cNvPr id="2" name="Title 1"/>
          <p:cNvSpPr>
            <a:spLocks noGrp="1"/>
          </p:cNvSpPr>
          <p:nvPr>
            <p:ph type="title"/>
          </p:nvPr>
        </p:nvSpPr>
        <p:spPr>
          <a:xfrm>
            <a:off x="838199" y="365125"/>
            <a:ext cx="10827327" cy="1325563"/>
          </a:xfrm>
        </p:spPr>
        <p:txBody>
          <a:bodyPr>
            <a:normAutofit/>
          </a:bodyPr>
          <a:lstStyle/>
          <a:p>
            <a:r>
              <a:rPr lang="en-US" sz="3600" dirty="0"/>
              <a:t>Reference Points </a:t>
            </a:r>
            <a:r>
              <a:rPr lang="en-US" sz="3600" b="1" dirty="0">
                <a:solidFill>
                  <a:srgbClr val="0000FF"/>
                </a:solidFill>
              </a:rPr>
              <a:t>2. Equilibrium Biomass and Recruitment </a:t>
            </a:r>
            <a:endParaRPr lang="en-CA" sz="3600" b="1" dirty="0"/>
          </a:p>
        </p:txBody>
      </p:sp>
      <mc:AlternateContent xmlns:mc="http://schemas.openxmlformats.org/markup-compatibility/2006" xmlns:a14="http://schemas.microsoft.com/office/drawing/2010/main">
        <mc:Choice Requires="a14">
          <p:sp>
            <p:nvSpPr>
              <p:cNvPr id="13" name="TextBox 12"/>
              <p:cNvSpPr txBox="1"/>
              <p:nvPr/>
            </p:nvSpPr>
            <p:spPr>
              <a:xfrm>
                <a:off x="7814002" y="3056317"/>
                <a:ext cx="1185399" cy="369332"/>
              </a:xfrm>
              <a:prstGeom prst="rect">
                <a:avLst/>
              </a:prstGeom>
              <a:noFill/>
            </p:spPr>
            <p:txBody>
              <a:bodyPr wrap="square" rtlCol="0">
                <a:spAutoFit/>
              </a:bodyPr>
              <a:lstStyle/>
              <a:p>
                <a:r>
                  <a:rPr lang="en-US" dirty="0">
                    <a:solidFill>
                      <a:srgbClr val="FF0000"/>
                    </a:solidFill>
                  </a:rPr>
                  <a:t>(</a:t>
                </a:r>
                <a14:m>
                  <m:oMath xmlns:m="http://schemas.openxmlformats.org/officeDocument/2006/math">
                    <m:r>
                      <a:rPr lang="en-US" i="1" dirty="0" smtClean="0">
                        <a:solidFill>
                          <a:srgbClr val="FF0000"/>
                        </a:solidFill>
                        <a:latin typeface="Cambria Math" panose="02040503050406030204" pitchFamily="18" charset="0"/>
                      </a:rPr>
                      <m:t>𝑆𝑆𝐵</m:t>
                    </m:r>
                    <m:r>
                      <a:rPr lang="en-US" i="1" baseline="-25000" dirty="0" smtClean="0">
                        <a:solidFill>
                          <a:srgbClr val="FF0000"/>
                        </a:solidFill>
                        <a:latin typeface="Cambria Math" panose="02040503050406030204" pitchFamily="18" charset="0"/>
                      </a:rPr>
                      <m:t>0</m:t>
                    </m:r>
                  </m:oMath>
                </a14:m>
                <a:r>
                  <a:rPr lang="en-US" dirty="0">
                    <a:solidFill>
                      <a:srgbClr val="FF0000"/>
                    </a:solidFill>
                  </a:rPr>
                  <a:t>,</a:t>
                </a:r>
                <a14:m>
                  <m:oMath xmlns:m="http://schemas.openxmlformats.org/officeDocument/2006/math">
                    <m:r>
                      <a:rPr lang="en-US" i="1" dirty="0" smtClean="0">
                        <a:solidFill>
                          <a:srgbClr val="FF0000"/>
                        </a:solidFill>
                        <a:latin typeface="Cambria Math" panose="02040503050406030204" pitchFamily="18" charset="0"/>
                      </a:rPr>
                      <m:t>𝑅</m:t>
                    </m:r>
                    <m:r>
                      <a:rPr lang="en-US" i="1" baseline="-25000" dirty="0" smtClean="0">
                        <a:solidFill>
                          <a:srgbClr val="FF0000"/>
                        </a:solidFill>
                        <a:latin typeface="Cambria Math" panose="02040503050406030204" pitchFamily="18" charset="0"/>
                      </a:rPr>
                      <m:t>0</m:t>
                    </m:r>
                  </m:oMath>
                </a14:m>
                <a:r>
                  <a:rPr lang="en-US" dirty="0">
                    <a:solidFill>
                      <a:srgbClr val="FF0000"/>
                    </a:solidFill>
                  </a:rPr>
                  <a:t>)</a:t>
                </a:r>
                <a:endParaRPr lang="en-CA" dirty="0">
                  <a:solidFill>
                    <a:srgbClr val="FF0000"/>
                  </a:solidFill>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7814002" y="3056317"/>
                <a:ext cx="1185399" cy="369332"/>
              </a:xfrm>
              <a:prstGeom prst="rect">
                <a:avLst/>
              </a:prstGeom>
              <a:blipFill>
                <a:blip r:embed="rId4"/>
                <a:stretch>
                  <a:fillRect l="-4639" t="-8197" b="-24590"/>
                </a:stretch>
              </a:blipFill>
            </p:spPr>
            <p:txBody>
              <a:bodyPr/>
              <a:lstStyle/>
              <a:p>
                <a:r>
                  <a:rPr lang="en-US">
                    <a:noFill/>
                  </a:rPr>
                  <a:t> </a:t>
                </a:r>
              </a:p>
            </p:txBody>
          </p:sp>
        </mc:Fallback>
      </mc:AlternateContent>
      <p:cxnSp>
        <p:nvCxnSpPr>
          <p:cNvPr id="15" name="Straight Arrow Connector 14"/>
          <p:cNvCxnSpPr/>
          <p:nvPr/>
        </p:nvCxnSpPr>
        <p:spPr>
          <a:xfrm>
            <a:off x="8381337" y="3425649"/>
            <a:ext cx="1" cy="17712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2FD1728-DD8A-40A0-AFD4-1E64BF0398DA}"/>
              </a:ext>
            </a:extLst>
          </p:cNvPr>
          <p:cNvCxnSpPr>
            <a:cxnSpLocks/>
          </p:cNvCxnSpPr>
          <p:nvPr/>
        </p:nvCxnSpPr>
        <p:spPr>
          <a:xfrm flipV="1">
            <a:off x="3163475" y="5199843"/>
            <a:ext cx="6319861" cy="8682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9A62BFA-BB3D-4D10-869E-C49EDDD81EC4}"/>
              </a:ext>
            </a:extLst>
          </p:cNvPr>
          <p:cNvCxnSpPr>
            <a:cxnSpLocks/>
          </p:cNvCxnSpPr>
          <p:nvPr/>
        </p:nvCxnSpPr>
        <p:spPr>
          <a:xfrm flipV="1">
            <a:off x="3117755" y="4594836"/>
            <a:ext cx="6389388" cy="147627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0034BE5-A61D-4D88-8A54-F94B8DCCDDD7}"/>
                  </a:ext>
                </a:extLst>
              </p:cNvPr>
              <p:cNvSpPr txBox="1"/>
              <p:nvPr/>
            </p:nvSpPr>
            <p:spPr>
              <a:xfrm rot="21156675">
                <a:off x="9496608" y="4808587"/>
                <a:ext cx="2523320" cy="369332"/>
              </a:xfrm>
              <a:prstGeom prst="rect">
                <a:avLst/>
              </a:prstGeom>
              <a:noFill/>
            </p:spPr>
            <p:txBody>
              <a:bodyPr wrap="square" rtlCol="0">
                <a:spAutoFit/>
              </a:bodyPr>
              <a:lstStyle/>
              <a:p>
                <a:r>
                  <a:rPr lang="en-US" dirty="0">
                    <a:solidFill>
                      <a:srgbClr val="FF0000"/>
                    </a:solidFill>
                  </a:rPr>
                  <a:t>Line with slope </a:t>
                </a:r>
                <a14:m>
                  <m:oMath xmlns:m="http://schemas.openxmlformats.org/officeDocument/2006/math">
                    <m:r>
                      <a:rPr lang="en-US" b="0" i="1" dirty="0" smtClean="0">
                        <a:solidFill>
                          <a:srgbClr val="FF0000"/>
                        </a:solidFill>
                        <a:latin typeface="Cambria Math" panose="02040503050406030204" pitchFamily="18" charset="0"/>
                      </a:rPr>
                      <m:t>1/</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𝜑</m:t>
                        </m:r>
                      </m:e>
                      <m:sub>
                        <m:r>
                          <a:rPr lang="en-US" b="0" i="1" smtClean="0">
                            <a:solidFill>
                              <a:srgbClr val="FF0000"/>
                            </a:solidFill>
                            <a:latin typeface="Cambria Math" panose="02040503050406030204" pitchFamily="18" charset="0"/>
                            <a:ea typeface="Cambria Math" panose="02040503050406030204" pitchFamily="18" charset="0"/>
                          </a:rPr>
                          <m:t>𝐸</m:t>
                        </m:r>
                        <m:r>
                          <a:rPr lang="en-US" i="1">
                            <a:solidFill>
                              <a:srgbClr val="FF0000"/>
                            </a:solidFill>
                            <a:latin typeface="Cambria Math" panose="02040503050406030204" pitchFamily="18" charset="0"/>
                          </a:rPr>
                          <m:t>0</m:t>
                        </m:r>
                      </m:sub>
                    </m:sSub>
                  </m:oMath>
                </a14:m>
                <a:endParaRPr lang="en-CA" dirty="0">
                  <a:solidFill>
                    <a:srgbClr val="FF0000"/>
                  </a:solidFill>
                </a:endParaRPr>
              </a:p>
            </p:txBody>
          </p:sp>
        </mc:Choice>
        <mc:Fallback xmlns="">
          <p:sp>
            <p:nvSpPr>
              <p:cNvPr id="17" name="TextBox 16">
                <a:extLst>
                  <a:ext uri="{FF2B5EF4-FFF2-40B4-BE49-F238E27FC236}">
                    <a16:creationId xmlns:a16="http://schemas.microsoft.com/office/drawing/2014/main" id="{40034BE5-A61D-4D88-8A54-F94B8DCCDDD7}"/>
                  </a:ext>
                </a:extLst>
              </p:cNvPr>
              <p:cNvSpPr txBox="1">
                <a:spLocks noRot="1" noChangeAspect="1" noMove="1" noResize="1" noEditPoints="1" noAdjustHandles="1" noChangeArrowheads="1" noChangeShapeType="1" noTextEdit="1"/>
              </p:cNvSpPr>
              <p:nvPr/>
            </p:nvSpPr>
            <p:spPr>
              <a:xfrm rot="21156675">
                <a:off x="9496608" y="4808587"/>
                <a:ext cx="2523320" cy="369332"/>
              </a:xfrm>
              <a:prstGeom prst="rect">
                <a:avLst/>
              </a:prstGeom>
              <a:blipFill>
                <a:blip r:embed="rId5"/>
                <a:stretch>
                  <a:fillRect l="-1909"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B867E5C-D5DA-4D68-9785-10D97A0A3662}"/>
                  </a:ext>
                </a:extLst>
              </p:cNvPr>
              <p:cNvSpPr txBox="1"/>
              <p:nvPr/>
            </p:nvSpPr>
            <p:spPr>
              <a:xfrm rot="20786035">
                <a:off x="9515260" y="4085125"/>
                <a:ext cx="2523320" cy="369332"/>
              </a:xfrm>
              <a:prstGeom prst="rect">
                <a:avLst/>
              </a:prstGeom>
              <a:noFill/>
            </p:spPr>
            <p:txBody>
              <a:bodyPr wrap="square" rtlCol="0">
                <a:spAutoFit/>
              </a:bodyPr>
              <a:lstStyle/>
              <a:p>
                <a:r>
                  <a:rPr lang="en-US" dirty="0">
                    <a:solidFill>
                      <a:srgbClr val="0000FF"/>
                    </a:solidFill>
                  </a:rPr>
                  <a:t>Line with slope </a:t>
                </a:r>
                <a14:m>
                  <m:oMath xmlns:m="http://schemas.openxmlformats.org/officeDocument/2006/math">
                    <m:r>
                      <a:rPr lang="en-US" b="0" i="1" dirty="0" smtClean="0">
                        <a:solidFill>
                          <a:srgbClr val="0000FF"/>
                        </a:solidFill>
                        <a:latin typeface="Cambria Math" panose="02040503050406030204" pitchFamily="18" charset="0"/>
                      </a:rPr>
                      <m:t>1/</m:t>
                    </m:r>
                    <m:sSub>
                      <m:sSubPr>
                        <m:ctrlPr>
                          <a:rPr lang="en-US" i="1">
                            <a:solidFill>
                              <a:srgbClr val="0000FF"/>
                            </a:solidFill>
                            <a:latin typeface="Cambria Math" panose="02040503050406030204" pitchFamily="18" charset="0"/>
                            <a:ea typeface="Cambria Math" panose="02040503050406030204" pitchFamily="18" charset="0"/>
                          </a:rPr>
                        </m:ctrlPr>
                      </m:sSubPr>
                      <m:e>
                        <m:r>
                          <a:rPr lang="en-US" i="1">
                            <a:solidFill>
                              <a:srgbClr val="0000FF"/>
                            </a:solidFill>
                            <a:latin typeface="Cambria Math" panose="02040503050406030204" pitchFamily="18" charset="0"/>
                            <a:ea typeface="Cambria Math" panose="02040503050406030204" pitchFamily="18" charset="0"/>
                          </a:rPr>
                          <m:t>𝜑</m:t>
                        </m:r>
                      </m:e>
                      <m:sub>
                        <m:r>
                          <a:rPr lang="en-US" b="0" i="1" smtClean="0">
                            <a:solidFill>
                              <a:srgbClr val="0000FF"/>
                            </a:solidFill>
                            <a:latin typeface="Cambria Math" panose="02040503050406030204" pitchFamily="18" charset="0"/>
                            <a:ea typeface="Cambria Math" panose="02040503050406030204" pitchFamily="18" charset="0"/>
                          </a:rPr>
                          <m:t>𝐹</m:t>
                        </m:r>
                      </m:sub>
                    </m:sSub>
                  </m:oMath>
                </a14:m>
                <a:endParaRPr lang="en-CA" dirty="0">
                  <a:solidFill>
                    <a:srgbClr val="0000FF"/>
                  </a:solidFill>
                </a:endParaRPr>
              </a:p>
            </p:txBody>
          </p:sp>
        </mc:Choice>
        <mc:Fallback xmlns="">
          <p:sp>
            <p:nvSpPr>
              <p:cNvPr id="20" name="TextBox 19">
                <a:extLst>
                  <a:ext uri="{FF2B5EF4-FFF2-40B4-BE49-F238E27FC236}">
                    <a16:creationId xmlns:a16="http://schemas.microsoft.com/office/drawing/2014/main" id="{7B867E5C-D5DA-4D68-9785-10D97A0A3662}"/>
                  </a:ext>
                </a:extLst>
              </p:cNvPr>
              <p:cNvSpPr txBox="1">
                <a:spLocks noRot="1" noChangeAspect="1" noMove="1" noResize="1" noEditPoints="1" noAdjustHandles="1" noChangeArrowheads="1" noChangeShapeType="1" noTextEdit="1"/>
              </p:cNvSpPr>
              <p:nvPr/>
            </p:nvSpPr>
            <p:spPr>
              <a:xfrm rot="20786035">
                <a:off x="9515260" y="4085125"/>
                <a:ext cx="2523320" cy="369332"/>
              </a:xfrm>
              <a:prstGeom prst="rect">
                <a:avLst/>
              </a:prstGeom>
              <a:blipFill>
                <a:blip r:embed="rId6"/>
                <a:stretch>
                  <a:fillRect l="-2153" b="-1019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90</a:t>
            </a:fld>
            <a:endParaRPr lang="en-CA"/>
          </a:p>
        </p:txBody>
      </p:sp>
    </p:spTree>
    <p:extLst>
      <p:ext uri="{BB962C8B-B14F-4D97-AF65-F5344CB8AC3E}">
        <p14:creationId xmlns:p14="http://schemas.microsoft.com/office/powerpoint/2010/main" val="2061831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931F2D2C-912F-4852-A762-3082EDE60C83}"/>
              </a:ext>
            </a:extLst>
          </p:cNvPr>
          <p:cNvPicPr>
            <a:picLocks noChangeAspect="1"/>
          </p:cNvPicPr>
          <p:nvPr/>
        </p:nvPicPr>
        <p:blipFill>
          <a:blip r:embed="rId2"/>
          <a:stretch>
            <a:fillRect/>
          </a:stretch>
        </p:blipFill>
        <p:spPr>
          <a:xfrm>
            <a:off x="2325754" y="2632496"/>
            <a:ext cx="7540492" cy="4225504"/>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04714E4-FA26-4E23-A7C1-2374634CC5A0}"/>
                  </a:ext>
                </a:extLst>
              </p:cNvPr>
              <p:cNvSpPr txBox="1"/>
              <p:nvPr/>
            </p:nvSpPr>
            <p:spPr>
              <a:xfrm>
                <a:off x="7814002" y="2804183"/>
                <a:ext cx="1185399" cy="369332"/>
              </a:xfrm>
              <a:prstGeom prst="rect">
                <a:avLst/>
              </a:prstGeom>
              <a:noFill/>
            </p:spPr>
            <p:txBody>
              <a:bodyPr wrap="square" rtlCol="0">
                <a:spAutoFit/>
              </a:bodyPr>
              <a:lstStyle/>
              <a:p>
                <a:r>
                  <a:rPr lang="en-US" dirty="0">
                    <a:solidFill>
                      <a:srgbClr val="FF0000"/>
                    </a:solidFill>
                  </a:rPr>
                  <a:t>(</a:t>
                </a:r>
                <a14:m>
                  <m:oMath xmlns:m="http://schemas.openxmlformats.org/officeDocument/2006/math">
                    <m:r>
                      <a:rPr lang="en-US" i="1" dirty="0" smtClean="0">
                        <a:solidFill>
                          <a:srgbClr val="FF0000"/>
                        </a:solidFill>
                        <a:latin typeface="Cambria Math" panose="02040503050406030204" pitchFamily="18" charset="0"/>
                      </a:rPr>
                      <m:t>𝑆𝑆𝐵</m:t>
                    </m:r>
                    <m:r>
                      <a:rPr lang="en-US" i="1" baseline="-25000" dirty="0" smtClean="0">
                        <a:solidFill>
                          <a:srgbClr val="FF0000"/>
                        </a:solidFill>
                        <a:latin typeface="Cambria Math" panose="02040503050406030204" pitchFamily="18" charset="0"/>
                      </a:rPr>
                      <m:t>0</m:t>
                    </m:r>
                  </m:oMath>
                </a14:m>
                <a:r>
                  <a:rPr lang="en-US" dirty="0">
                    <a:solidFill>
                      <a:srgbClr val="FF0000"/>
                    </a:solidFill>
                  </a:rPr>
                  <a:t>,</a:t>
                </a:r>
                <a14:m>
                  <m:oMath xmlns:m="http://schemas.openxmlformats.org/officeDocument/2006/math">
                    <m:r>
                      <a:rPr lang="en-US" i="1" dirty="0" smtClean="0">
                        <a:solidFill>
                          <a:srgbClr val="FF0000"/>
                        </a:solidFill>
                        <a:latin typeface="Cambria Math" panose="02040503050406030204" pitchFamily="18" charset="0"/>
                      </a:rPr>
                      <m:t>𝑅</m:t>
                    </m:r>
                    <m:r>
                      <a:rPr lang="en-US" i="1" baseline="-25000" dirty="0" smtClean="0">
                        <a:solidFill>
                          <a:srgbClr val="FF0000"/>
                        </a:solidFill>
                        <a:latin typeface="Cambria Math" panose="02040503050406030204" pitchFamily="18" charset="0"/>
                      </a:rPr>
                      <m:t>0</m:t>
                    </m:r>
                  </m:oMath>
                </a14:m>
                <a:r>
                  <a:rPr lang="en-US" dirty="0">
                    <a:solidFill>
                      <a:srgbClr val="FF0000"/>
                    </a:solidFill>
                  </a:rPr>
                  <a:t>)</a:t>
                </a:r>
                <a:endParaRPr lang="en-CA" dirty="0">
                  <a:solidFill>
                    <a:srgbClr val="FF0000"/>
                  </a:solidFill>
                </a:endParaRPr>
              </a:p>
            </p:txBody>
          </p:sp>
        </mc:Choice>
        <mc:Fallback xmlns="">
          <p:sp>
            <p:nvSpPr>
              <p:cNvPr id="22" name="TextBox 21">
                <a:extLst>
                  <a:ext uri="{FF2B5EF4-FFF2-40B4-BE49-F238E27FC236}">
                    <a16:creationId xmlns:a16="http://schemas.microsoft.com/office/drawing/2014/main" id="{B04714E4-FA26-4E23-A7C1-2374634CC5A0}"/>
                  </a:ext>
                </a:extLst>
              </p:cNvPr>
              <p:cNvSpPr txBox="1">
                <a:spLocks noRot="1" noChangeAspect="1" noMove="1" noResize="1" noEditPoints="1" noAdjustHandles="1" noChangeArrowheads="1" noChangeShapeType="1" noTextEdit="1"/>
              </p:cNvSpPr>
              <p:nvPr/>
            </p:nvSpPr>
            <p:spPr>
              <a:xfrm>
                <a:off x="7814002" y="2804183"/>
                <a:ext cx="1185399" cy="369332"/>
              </a:xfrm>
              <a:prstGeom prst="rect">
                <a:avLst/>
              </a:prstGeom>
              <a:blipFill>
                <a:blip r:embed="rId3"/>
                <a:stretch>
                  <a:fillRect l="-4639" t="-8197" b="-24590"/>
                </a:stretch>
              </a:blipFill>
            </p:spPr>
            <p:txBody>
              <a:bodyPr/>
              <a:lstStyle/>
              <a:p>
                <a:r>
                  <a:rPr lang="en-US">
                    <a:noFill/>
                  </a:rPr>
                  <a:t> </a:t>
                </a:r>
              </a:p>
            </p:txBody>
          </p:sp>
        </mc:Fallback>
      </mc:AlternateContent>
      <p:cxnSp>
        <p:nvCxnSpPr>
          <p:cNvPr id="23" name="Straight Arrow Connector 22">
            <a:extLst>
              <a:ext uri="{FF2B5EF4-FFF2-40B4-BE49-F238E27FC236}">
                <a16:creationId xmlns:a16="http://schemas.microsoft.com/office/drawing/2014/main" id="{A59068EA-BC0C-4789-9249-93001171383C}"/>
              </a:ext>
            </a:extLst>
          </p:cNvPr>
          <p:cNvCxnSpPr>
            <a:cxnSpLocks/>
          </p:cNvCxnSpPr>
          <p:nvPr/>
        </p:nvCxnSpPr>
        <p:spPr>
          <a:xfrm>
            <a:off x="8381338" y="3240983"/>
            <a:ext cx="0" cy="19558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0015457-3814-458D-8D55-109FA3BC3B83}"/>
              </a:ext>
            </a:extLst>
          </p:cNvPr>
          <p:cNvCxnSpPr>
            <a:cxnSpLocks/>
          </p:cNvCxnSpPr>
          <p:nvPr/>
        </p:nvCxnSpPr>
        <p:spPr>
          <a:xfrm flipV="1">
            <a:off x="3163475" y="5199843"/>
            <a:ext cx="6319861" cy="8682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9391DAA-712B-47AC-8DCB-9ACEFE069D0D}"/>
              </a:ext>
            </a:extLst>
          </p:cNvPr>
          <p:cNvCxnSpPr>
            <a:cxnSpLocks/>
          </p:cNvCxnSpPr>
          <p:nvPr/>
        </p:nvCxnSpPr>
        <p:spPr>
          <a:xfrm flipV="1">
            <a:off x="3117755" y="4594836"/>
            <a:ext cx="6389388" cy="147627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368C2F1-96A5-4075-9355-6B77FA401A83}"/>
                  </a:ext>
                </a:extLst>
              </p:cNvPr>
              <p:cNvSpPr txBox="1"/>
              <p:nvPr/>
            </p:nvSpPr>
            <p:spPr>
              <a:xfrm rot="21156675">
                <a:off x="9496608" y="4808587"/>
                <a:ext cx="2523320" cy="369332"/>
              </a:xfrm>
              <a:prstGeom prst="rect">
                <a:avLst/>
              </a:prstGeom>
              <a:noFill/>
            </p:spPr>
            <p:txBody>
              <a:bodyPr wrap="square" rtlCol="0">
                <a:spAutoFit/>
              </a:bodyPr>
              <a:lstStyle/>
              <a:p>
                <a:r>
                  <a:rPr lang="en-US" dirty="0">
                    <a:solidFill>
                      <a:srgbClr val="FF0000"/>
                    </a:solidFill>
                  </a:rPr>
                  <a:t>Line with slope </a:t>
                </a:r>
                <a14:m>
                  <m:oMath xmlns:m="http://schemas.openxmlformats.org/officeDocument/2006/math">
                    <m:r>
                      <a:rPr lang="en-US" b="0" i="1" dirty="0" smtClean="0">
                        <a:solidFill>
                          <a:srgbClr val="FF0000"/>
                        </a:solidFill>
                        <a:latin typeface="Cambria Math" panose="02040503050406030204" pitchFamily="18" charset="0"/>
                      </a:rPr>
                      <m:t>1/</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𝜑</m:t>
                        </m:r>
                      </m:e>
                      <m:sub>
                        <m:r>
                          <a:rPr lang="en-US" b="0" i="1" smtClean="0">
                            <a:solidFill>
                              <a:srgbClr val="FF0000"/>
                            </a:solidFill>
                            <a:latin typeface="Cambria Math" panose="02040503050406030204" pitchFamily="18" charset="0"/>
                            <a:ea typeface="Cambria Math" panose="02040503050406030204" pitchFamily="18" charset="0"/>
                          </a:rPr>
                          <m:t>𝐸</m:t>
                        </m:r>
                        <m:r>
                          <a:rPr lang="en-US" i="1">
                            <a:solidFill>
                              <a:srgbClr val="FF0000"/>
                            </a:solidFill>
                            <a:latin typeface="Cambria Math" panose="02040503050406030204" pitchFamily="18" charset="0"/>
                          </a:rPr>
                          <m:t>0</m:t>
                        </m:r>
                      </m:sub>
                    </m:sSub>
                  </m:oMath>
                </a14:m>
                <a:endParaRPr lang="en-CA" dirty="0">
                  <a:solidFill>
                    <a:srgbClr val="FF0000"/>
                  </a:solidFill>
                </a:endParaRPr>
              </a:p>
            </p:txBody>
          </p:sp>
        </mc:Choice>
        <mc:Fallback xmlns="">
          <p:sp>
            <p:nvSpPr>
              <p:cNvPr id="26" name="TextBox 25">
                <a:extLst>
                  <a:ext uri="{FF2B5EF4-FFF2-40B4-BE49-F238E27FC236}">
                    <a16:creationId xmlns:a16="http://schemas.microsoft.com/office/drawing/2014/main" id="{A368C2F1-96A5-4075-9355-6B77FA401A83}"/>
                  </a:ext>
                </a:extLst>
              </p:cNvPr>
              <p:cNvSpPr txBox="1">
                <a:spLocks noRot="1" noChangeAspect="1" noMove="1" noResize="1" noEditPoints="1" noAdjustHandles="1" noChangeArrowheads="1" noChangeShapeType="1" noTextEdit="1"/>
              </p:cNvSpPr>
              <p:nvPr/>
            </p:nvSpPr>
            <p:spPr>
              <a:xfrm rot="21156675">
                <a:off x="9496608" y="4808587"/>
                <a:ext cx="2523320" cy="369332"/>
              </a:xfrm>
              <a:prstGeom prst="rect">
                <a:avLst/>
              </a:prstGeom>
              <a:blipFill>
                <a:blip r:embed="rId4"/>
                <a:stretch>
                  <a:fillRect l="-1909"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FAD1D3C-EAA0-4E70-8ADA-BC86D61E1AE2}"/>
                  </a:ext>
                </a:extLst>
              </p:cNvPr>
              <p:cNvSpPr txBox="1"/>
              <p:nvPr/>
            </p:nvSpPr>
            <p:spPr>
              <a:xfrm rot="20786035">
                <a:off x="9515260" y="4085125"/>
                <a:ext cx="2523320" cy="369332"/>
              </a:xfrm>
              <a:prstGeom prst="rect">
                <a:avLst/>
              </a:prstGeom>
              <a:noFill/>
            </p:spPr>
            <p:txBody>
              <a:bodyPr wrap="square" rtlCol="0">
                <a:spAutoFit/>
              </a:bodyPr>
              <a:lstStyle/>
              <a:p>
                <a:r>
                  <a:rPr lang="en-US" dirty="0">
                    <a:solidFill>
                      <a:srgbClr val="0000FF"/>
                    </a:solidFill>
                  </a:rPr>
                  <a:t>Line with slope </a:t>
                </a:r>
                <a14:m>
                  <m:oMath xmlns:m="http://schemas.openxmlformats.org/officeDocument/2006/math">
                    <m:r>
                      <a:rPr lang="en-US" b="0" i="1" dirty="0" smtClean="0">
                        <a:solidFill>
                          <a:srgbClr val="0000FF"/>
                        </a:solidFill>
                        <a:latin typeface="Cambria Math" panose="02040503050406030204" pitchFamily="18" charset="0"/>
                      </a:rPr>
                      <m:t>1/</m:t>
                    </m:r>
                    <m:sSub>
                      <m:sSubPr>
                        <m:ctrlPr>
                          <a:rPr lang="en-US" i="1">
                            <a:solidFill>
                              <a:srgbClr val="0000FF"/>
                            </a:solidFill>
                            <a:latin typeface="Cambria Math" panose="02040503050406030204" pitchFamily="18" charset="0"/>
                            <a:ea typeface="Cambria Math" panose="02040503050406030204" pitchFamily="18" charset="0"/>
                          </a:rPr>
                        </m:ctrlPr>
                      </m:sSubPr>
                      <m:e>
                        <m:r>
                          <a:rPr lang="en-US" i="1">
                            <a:solidFill>
                              <a:srgbClr val="0000FF"/>
                            </a:solidFill>
                            <a:latin typeface="Cambria Math" panose="02040503050406030204" pitchFamily="18" charset="0"/>
                            <a:ea typeface="Cambria Math" panose="02040503050406030204" pitchFamily="18" charset="0"/>
                          </a:rPr>
                          <m:t>𝜑</m:t>
                        </m:r>
                      </m:e>
                      <m:sub>
                        <m:r>
                          <a:rPr lang="en-US" b="0" i="1" smtClean="0">
                            <a:solidFill>
                              <a:srgbClr val="0000FF"/>
                            </a:solidFill>
                            <a:latin typeface="Cambria Math" panose="02040503050406030204" pitchFamily="18" charset="0"/>
                            <a:ea typeface="Cambria Math" panose="02040503050406030204" pitchFamily="18" charset="0"/>
                          </a:rPr>
                          <m:t>𝐹</m:t>
                        </m:r>
                      </m:sub>
                    </m:sSub>
                  </m:oMath>
                </a14:m>
                <a:endParaRPr lang="en-CA" dirty="0">
                  <a:solidFill>
                    <a:srgbClr val="0000FF"/>
                  </a:solidFill>
                </a:endParaRPr>
              </a:p>
            </p:txBody>
          </p:sp>
        </mc:Choice>
        <mc:Fallback xmlns="">
          <p:sp>
            <p:nvSpPr>
              <p:cNvPr id="27" name="TextBox 26">
                <a:extLst>
                  <a:ext uri="{FF2B5EF4-FFF2-40B4-BE49-F238E27FC236}">
                    <a16:creationId xmlns:a16="http://schemas.microsoft.com/office/drawing/2014/main" id="{5FAD1D3C-EAA0-4E70-8ADA-BC86D61E1AE2}"/>
                  </a:ext>
                </a:extLst>
              </p:cNvPr>
              <p:cNvSpPr txBox="1">
                <a:spLocks noRot="1" noChangeAspect="1" noMove="1" noResize="1" noEditPoints="1" noAdjustHandles="1" noChangeArrowheads="1" noChangeShapeType="1" noTextEdit="1"/>
              </p:cNvSpPr>
              <p:nvPr/>
            </p:nvSpPr>
            <p:spPr>
              <a:xfrm rot="20786035">
                <a:off x="9515260" y="4085125"/>
                <a:ext cx="2523320" cy="369332"/>
              </a:xfrm>
              <a:prstGeom prst="rect">
                <a:avLst/>
              </a:prstGeom>
              <a:blipFill>
                <a:blip r:embed="rId5"/>
                <a:stretch>
                  <a:fillRect l="-2153" b="-101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825625"/>
                <a:ext cx="10687259" cy="4351338"/>
              </a:xfrm>
            </p:spPr>
            <p:txBody>
              <a:bodyPr/>
              <a:lstStyle/>
              <a:p>
                <a:r>
                  <a:rPr lang="en-US" dirty="0"/>
                  <a:t>This line intersects the SRR at a lower biomass (</a:t>
                </a:r>
                <a14:m>
                  <m:oMath xmlns:m="http://schemas.openxmlformats.org/officeDocument/2006/math">
                    <m:r>
                      <a:rPr lang="en-US" i="1" dirty="0">
                        <a:solidFill>
                          <a:srgbClr val="0000FF"/>
                        </a:solidFill>
                        <a:latin typeface="Cambria Math" panose="02040503050406030204" pitchFamily="18" charset="0"/>
                      </a:rPr>
                      <m:t>𝑆𝑆𝐵</m:t>
                    </m:r>
                    <m:r>
                      <a:rPr lang="en-US" i="1" baseline="-25000" dirty="0">
                        <a:solidFill>
                          <a:srgbClr val="0000FF"/>
                        </a:solidFill>
                        <a:latin typeface="Cambria Math" panose="02040503050406030204" pitchFamily="18" charset="0"/>
                      </a:rPr>
                      <m:t>𝐹</m:t>
                    </m:r>
                  </m:oMath>
                </a14:m>
                <a:r>
                  <a:rPr lang="en-US" dirty="0"/>
                  <a:t>) than </a:t>
                </a:r>
                <a14:m>
                  <m:oMath xmlns:m="http://schemas.openxmlformats.org/officeDocument/2006/math">
                    <m:r>
                      <a:rPr lang="en-US" i="1" dirty="0">
                        <a:solidFill>
                          <a:srgbClr val="FF0000"/>
                        </a:solidFill>
                        <a:latin typeface="Cambria Math" panose="02040503050406030204" pitchFamily="18" charset="0"/>
                      </a:rPr>
                      <m:t>𝑆𝑆𝐵</m:t>
                    </m:r>
                    <m:r>
                      <a:rPr lang="en-US" i="1" baseline="-25000" dirty="0">
                        <a:solidFill>
                          <a:srgbClr val="FF0000"/>
                        </a:solidFill>
                        <a:latin typeface="Cambria Math" panose="02040503050406030204" pitchFamily="18" charset="0"/>
                      </a:rPr>
                      <m:t>0</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825625"/>
                <a:ext cx="10687259" cy="4351338"/>
              </a:xfrm>
              <a:blipFill>
                <a:blip r:embed="rId6"/>
                <a:stretch>
                  <a:fillRect l="-969" t="-2241"/>
                </a:stretch>
              </a:blipFill>
            </p:spPr>
            <p:txBody>
              <a:bodyPr/>
              <a:lstStyle/>
              <a:p>
                <a:r>
                  <a:rPr lang="en-US">
                    <a:noFill/>
                  </a:rPr>
                  <a:t> </a:t>
                </a:r>
              </a:p>
            </p:txBody>
          </p:sp>
        </mc:Fallback>
      </mc:AlternateContent>
      <p:sp>
        <p:nvSpPr>
          <p:cNvPr id="2" name="Title 1"/>
          <p:cNvSpPr>
            <a:spLocks noGrp="1"/>
          </p:cNvSpPr>
          <p:nvPr>
            <p:ph type="title"/>
          </p:nvPr>
        </p:nvSpPr>
        <p:spPr>
          <a:xfrm>
            <a:off x="838199" y="365125"/>
            <a:ext cx="10834255" cy="1325563"/>
          </a:xfrm>
        </p:spPr>
        <p:txBody>
          <a:bodyPr>
            <a:normAutofit/>
          </a:bodyPr>
          <a:lstStyle/>
          <a:p>
            <a:r>
              <a:rPr lang="en-US" sz="3600" dirty="0"/>
              <a:t>Reference Points </a:t>
            </a:r>
            <a:r>
              <a:rPr lang="en-US" sz="3600" b="1" dirty="0">
                <a:solidFill>
                  <a:srgbClr val="0000FF"/>
                </a:solidFill>
              </a:rPr>
              <a:t>2. Equilibrium Biomass and Recruitment </a:t>
            </a:r>
            <a:endParaRPr lang="en-CA" sz="3600" b="1"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E1B525F-F264-44B8-BB8B-E5B47407AF2C}"/>
                  </a:ext>
                </a:extLst>
              </p:cNvPr>
              <p:cNvSpPr txBox="1"/>
              <p:nvPr/>
            </p:nvSpPr>
            <p:spPr>
              <a:xfrm>
                <a:off x="5386228" y="2796762"/>
                <a:ext cx="1185399" cy="369332"/>
              </a:xfrm>
              <a:prstGeom prst="rect">
                <a:avLst/>
              </a:prstGeom>
              <a:noFill/>
            </p:spPr>
            <p:txBody>
              <a:bodyPr wrap="square" rtlCol="0">
                <a:spAutoFit/>
              </a:bodyPr>
              <a:lstStyle/>
              <a:p>
                <a:r>
                  <a:rPr lang="en-US" dirty="0">
                    <a:solidFill>
                      <a:srgbClr val="0000FF"/>
                    </a:solidFill>
                  </a:rPr>
                  <a:t>(</a:t>
                </a:r>
                <a14:m>
                  <m:oMath xmlns:m="http://schemas.openxmlformats.org/officeDocument/2006/math">
                    <m:r>
                      <a:rPr lang="en-US" i="1" dirty="0" smtClean="0">
                        <a:solidFill>
                          <a:srgbClr val="0000FF"/>
                        </a:solidFill>
                        <a:latin typeface="Cambria Math" panose="02040503050406030204" pitchFamily="18" charset="0"/>
                      </a:rPr>
                      <m:t>𝑆𝑆𝐵</m:t>
                    </m:r>
                    <m:r>
                      <a:rPr lang="en-US" b="0" i="1" baseline="-25000" dirty="0" smtClean="0">
                        <a:solidFill>
                          <a:srgbClr val="0000FF"/>
                        </a:solidFill>
                        <a:latin typeface="Cambria Math" panose="02040503050406030204" pitchFamily="18" charset="0"/>
                      </a:rPr>
                      <m:t>𝐹</m:t>
                    </m:r>
                  </m:oMath>
                </a14:m>
                <a:r>
                  <a:rPr lang="en-US" dirty="0">
                    <a:solidFill>
                      <a:srgbClr val="0000FF"/>
                    </a:solidFill>
                  </a:rPr>
                  <a:t>,</a:t>
                </a:r>
                <a14:m>
                  <m:oMath xmlns:m="http://schemas.openxmlformats.org/officeDocument/2006/math">
                    <m:r>
                      <a:rPr lang="en-US" i="1" dirty="0" smtClean="0">
                        <a:solidFill>
                          <a:srgbClr val="0000FF"/>
                        </a:solidFill>
                        <a:latin typeface="Cambria Math" panose="02040503050406030204" pitchFamily="18" charset="0"/>
                      </a:rPr>
                      <m:t>𝑅</m:t>
                    </m:r>
                    <m:r>
                      <a:rPr lang="en-US" b="0" i="1" baseline="-25000" dirty="0" smtClean="0">
                        <a:solidFill>
                          <a:srgbClr val="0000FF"/>
                        </a:solidFill>
                        <a:latin typeface="Cambria Math" panose="02040503050406030204" pitchFamily="18" charset="0"/>
                      </a:rPr>
                      <m:t>𝐹</m:t>
                    </m:r>
                  </m:oMath>
                </a14:m>
                <a:r>
                  <a:rPr lang="en-US" dirty="0">
                    <a:solidFill>
                      <a:srgbClr val="0000FF"/>
                    </a:solidFill>
                  </a:rPr>
                  <a:t>)</a:t>
                </a:r>
                <a:endParaRPr lang="en-CA" dirty="0">
                  <a:solidFill>
                    <a:srgbClr val="0000FF"/>
                  </a:solidFill>
                </a:endParaRPr>
              </a:p>
            </p:txBody>
          </p:sp>
        </mc:Choice>
        <mc:Fallback xmlns="">
          <p:sp>
            <p:nvSpPr>
              <p:cNvPr id="16" name="TextBox 15">
                <a:extLst>
                  <a:ext uri="{FF2B5EF4-FFF2-40B4-BE49-F238E27FC236}">
                    <a16:creationId xmlns:a16="http://schemas.microsoft.com/office/drawing/2014/main" id="{AE1B525F-F264-44B8-BB8B-E5B47407AF2C}"/>
                  </a:ext>
                </a:extLst>
              </p:cNvPr>
              <p:cNvSpPr txBox="1">
                <a:spLocks noRot="1" noChangeAspect="1" noMove="1" noResize="1" noEditPoints="1" noAdjustHandles="1" noChangeArrowheads="1" noChangeShapeType="1" noTextEdit="1"/>
              </p:cNvSpPr>
              <p:nvPr/>
            </p:nvSpPr>
            <p:spPr>
              <a:xfrm>
                <a:off x="5386228" y="2796762"/>
                <a:ext cx="1185399" cy="369332"/>
              </a:xfrm>
              <a:prstGeom prst="rect">
                <a:avLst/>
              </a:prstGeom>
              <a:blipFill>
                <a:blip r:embed="rId7"/>
                <a:stretch>
                  <a:fillRect l="-4639" t="-10000" b="-26667"/>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E574C9EE-B5BC-439E-86F5-BAB7E634CC7A}"/>
              </a:ext>
            </a:extLst>
          </p:cNvPr>
          <p:cNvSpPr/>
          <p:nvPr/>
        </p:nvSpPr>
        <p:spPr>
          <a:xfrm>
            <a:off x="5933208" y="5367207"/>
            <a:ext cx="91440" cy="91440"/>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6ED18BAD-0AD3-4D85-977B-751562D8D2BF}"/>
              </a:ext>
            </a:extLst>
          </p:cNvPr>
          <p:cNvCxnSpPr>
            <a:cxnSpLocks/>
          </p:cNvCxnSpPr>
          <p:nvPr/>
        </p:nvCxnSpPr>
        <p:spPr>
          <a:xfrm>
            <a:off x="5978929" y="3240983"/>
            <a:ext cx="0" cy="2020375"/>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EEDFA2F9-C25F-4A63-B46B-7B5C200A39D1}" type="slidenum">
              <a:rPr lang="en-CA" smtClean="0"/>
              <a:t>91</a:t>
            </a:fld>
            <a:endParaRPr lang="en-CA"/>
          </a:p>
        </p:txBody>
      </p:sp>
    </p:spTree>
    <p:extLst>
      <p:ext uri="{BB962C8B-B14F-4D97-AF65-F5344CB8AC3E}">
        <p14:creationId xmlns:p14="http://schemas.microsoft.com/office/powerpoint/2010/main" val="39941235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931F2D2C-912F-4852-A762-3082EDE60C83}"/>
              </a:ext>
            </a:extLst>
          </p:cNvPr>
          <p:cNvPicPr>
            <a:picLocks noChangeAspect="1"/>
          </p:cNvPicPr>
          <p:nvPr/>
        </p:nvPicPr>
        <p:blipFill>
          <a:blip r:embed="rId2"/>
          <a:stretch>
            <a:fillRect/>
          </a:stretch>
        </p:blipFill>
        <p:spPr>
          <a:xfrm>
            <a:off x="2325754" y="2632496"/>
            <a:ext cx="7540492" cy="4225504"/>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04714E4-FA26-4E23-A7C1-2374634CC5A0}"/>
                  </a:ext>
                </a:extLst>
              </p:cNvPr>
              <p:cNvSpPr txBox="1"/>
              <p:nvPr/>
            </p:nvSpPr>
            <p:spPr>
              <a:xfrm>
                <a:off x="7814002" y="2804183"/>
                <a:ext cx="1185399" cy="369332"/>
              </a:xfrm>
              <a:prstGeom prst="rect">
                <a:avLst/>
              </a:prstGeom>
              <a:noFill/>
            </p:spPr>
            <p:txBody>
              <a:bodyPr wrap="square" rtlCol="0">
                <a:spAutoFit/>
              </a:bodyPr>
              <a:lstStyle/>
              <a:p>
                <a:r>
                  <a:rPr lang="en-US" dirty="0">
                    <a:solidFill>
                      <a:srgbClr val="FF0000"/>
                    </a:solidFill>
                  </a:rPr>
                  <a:t>(</a:t>
                </a:r>
                <a14:m>
                  <m:oMath xmlns:m="http://schemas.openxmlformats.org/officeDocument/2006/math">
                    <m:r>
                      <a:rPr lang="en-US" i="1" dirty="0" smtClean="0">
                        <a:solidFill>
                          <a:srgbClr val="FF0000"/>
                        </a:solidFill>
                        <a:latin typeface="Cambria Math" panose="02040503050406030204" pitchFamily="18" charset="0"/>
                      </a:rPr>
                      <m:t>𝑆𝑆𝐵</m:t>
                    </m:r>
                    <m:r>
                      <a:rPr lang="en-US" i="1" baseline="-25000" dirty="0" smtClean="0">
                        <a:solidFill>
                          <a:srgbClr val="FF0000"/>
                        </a:solidFill>
                        <a:latin typeface="Cambria Math" panose="02040503050406030204" pitchFamily="18" charset="0"/>
                      </a:rPr>
                      <m:t>0</m:t>
                    </m:r>
                  </m:oMath>
                </a14:m>
                <a:r>
                  <a:rPr lang="en-US" dirty="0">
                    <a:solidFill>
                      <a:srgbClr val="FF0000"/>
                    </a:solidFill>
                  </a:rPr>
                  <a:t>,</a:t>
                </a:r>
                <a14:m>
                  <m:oMath xmlns:m="http://schemas.openxmlformats.org/officeDocument/2006/math">
                    <m:r>
                      <a:rPr lang="en-US" i="1" dirty="0" smtClean="0">
                        <a:solidFill>
                          <a:srgbClr val="FF0000"/>
                        </a:solidFill>
                        <a:latin typeface="Cambria Math" panose="02040503050406030204" pitchFamily="18" charset="0"/>
                      </a:rPr>
                      <m:t>𝑅</m:t>
                    </m:r>
                    <m:r>
                      <a:rPr lang="en-US" i="1" baseline="-25000" dirty="0" smtClean="0">
                        <a:solidFill>
                          <a:srgbClr val="FF0000"/>
                        </a:solidFill>
                        <a:latin typeface="Cambria Math" panose="02040503050406030204" pitchFamily="18" charset="0"/>
                      </a:rPr>
                      <m:t>0</m:t>
                    </m:r>
                  </m:oMath>
                </a14:m>
                <a:r>
                  <a:rPr lang="en-US" dirty="0">
                    <a:solidFill>
                      <a:srgbClr val="FF0000"/>
                    </a:solidFill>
                  </a:rPr>
                  <a:t>)</a:t>
                </a:r>
                <a:endParaRPr lang="en-CA" dirty="0">
                  <a:solidFill>
                    <a:srgbClr val="FF0000"/>
                  </a:solidFill>
                </a:endParaRPr>
              </a:p>
            </p:txBody>
          </p:sp>
        </mc:Choice>
        <mc:Fallback xmlns="">
          <p:sp>
            <p:nvSpPr>
              <p:cNvPr id="22" name="TextBox 21">
                <a:extLst>
                  <a:ext uri="{FF2B5EF4-FFF2-40B4-BE49-F238E27FC236}">
                    <a16:creationId xmlns:a16="http://schemas.microsoft.com/office/drawing/2014/main" id="{B04714E4-FA26-4E23-A7C1-2374634CC5A0}"/>
                  </a:ext>
                </a:extLst>
              </p:cNvPr>
              <p:cNvSpPr txBox="1">
                <a:spLocks noRot="1" noChangeAspect="1" noMove="1" noResize="1" noEditPoints="1" noAdjustHandles="1" noChangeArrowheads="1" noChangeShapeType="1" noTextEdit="1"/>
              </p:cNvSpPr>
              <p:nvPr/>
            </p:nvSpPr>
            <p:spPr>
              <a:xfrm>
                <a:off x="7814002" y="2804183"/>
                <a:ext cx="1185399" cy="369332"/>
              </a:xfrm>
              <a:prstGeom prst="rect">
                <a:avLst/>
              </a:prstGeom>
              <a:blipFill>
                <a:blip r:embed="rId3"/>
                <a:stretch>
                  <a:fillRect l="-4639" t="-8197" b="-24590"/>
                </a:stretch>
              </a:blipFill>
            </p:spPr>
            <p:txBody>
              <a:bodyPr/>
              <a:lstStyle/>
              <a:p>
                <a:r>
                  <a:rPr lang="en-US">
                    <a:noFill/>
                  </a:rPr>
                  <a:t> </a:t>
                </a:r>
              </a:p>
            </p:txBody>
          </p:sp>
        </mc:Fallback>
      </mc:AlternateContent>
      <p:cxnSp>
        <p:nvCxnSpPr>
          <p:cNvPr id="23" name="Straight Arrow Connector 22">
            <a:extLst>
              <a:ext uri="{FF2B5EF4-FFF2-40B4-BE49-F238E27FC236}">
                <a16:creationId xmlns:a16="http://schemas.microsoft.com/office/drawing/2014/main" id="{A59068EA-BC0C-4789-9249-93001171383C}"/>
              </a:ext>
            </a:extLst>
          </p:cNvPr>
          <p:cNvCxnSpPr>
            <a:cxnSpLocks/>
          </p:cNvCxnSpPr>
          <p:nvPr/>
        </p:nvCxnSpPr>
        <p:spPr>
          <a:xfrm>
            <a:off x="8381338" y="3240983"/>
            <a:ext cx="0" cy="19558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0015457-3814-458D-8D55-109FA3BC3B83}"/>
              </a:ext>
            </a:extLst>
          </p:cNvPr>
          <p:cNvCxnSpPr>
            <a:cxnSpLocks/>
          </p:cNvCxnSpPr>
          <p:nvPr/>
        </p:nvCxnSpPr>
        <p:spPr>
          <a:xfrm flipV="1">
            <a:off x="3163475" y="5199843"/>
            <a:ext cx="6319861" cy="8682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9391DAA-712B-47AC-8DCB-9ACEFE069D0D}"/>
              </a:ext>
            </a:extLst>
          </p:cNvPr>
          <p:cNvCxnSpPr>
            <a:cxnSpLocks/>
          </p:cNvCxnSpPr>
          <p:nvPr/>
        </p:nvCxnSpPr>
        <p:spPr>
          <a:xfrm flipV="1">
            <a:off x="3117755" y="4594836"/>
            <a:ext cx="6389388" cy="147627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368C2F1-96A5-4075-9355-6B77FA401A83}"/>
                  </a:ext>
                </a:extLst>
              </p:cNvPr>
              <p:cNvSpPr txBox="1"/>
              <p:nvPr/>
            </p:nvSpPr>
            <p:spPr>
              <a:xfrm rot="21156675">
                <a:off x="9496608" y="4808587"/>
                <a:ext cx="2523320" cy="369332"/>
              </a:xfrm>
              <a:prstGeom prst="rect">
                <a:avLst/>
              </a:prstGeom>
              <a:noFill/>
            </p:spPr>
            <p:txBody>
              <a:bodyPr wrap="square" rtlCol="0">
                <a:spAutoFit/>
              </a:bodyPr>
              <a:lstStyle/>
              <a:p>
                <a:r>
                  <a:rPr lang="en-US" dirty="0">
                    <a:solidFill>
                      <a:srgbClr val="FF0000"/>
                    </a:solidFill>
                  </a:rPr>
                  <a:t>Line with slope </a:t>
                </a:r>
                <a14:m>
                  <m:oMath xmlns:m="http://schemas.openxmlformats.org/officeDocument/2006/math">
                    <m:r>
                      <a:rPr lang="en-US" b="0" i="1" dirty="0" smtClean="0">
                        <a:solidFill>
                          <a:srgbClr val="FF0000"/>
                        </a:solidFill>
                        <a:latin typeface="Cambria Math" panose="02040503050406030204" pitchFamily="18" charset="0"/>
                      </a:rPr>
                      <m:t>1/</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𝜑</m:t>
                        </m:r>
                      </m:e>
                      <m:sub>
                        <m:r>
                          <a:rPr lang="en-US" b="0" i="1" smtClean="0">
                            <a:solidFill>
                              <a:srgbClr val="FF0000"/>
                            </a:solidFill>
                            <a:latin typeface="Cambria Math" panose="02040503050406030204" pitchFamily="18" charset="0"/>
                            <a:ea typeface="Cambria Math" panose="02040503050406030204" pitchFamily="18" charset="0"/>
                          </a:rPr>
                          <m:t>𝐸</m:t>
                        </m:r>
                        <m:r>
                          <a:rPr lang="en-US" i="1">
                            <a:solidFill>
                              <a:srgbClr val="FF0000"/>
                            </a:solidFill>
                            <a:latin typeface="Cambria Math" panose="02040503050406030204" pitchFamily="18" charset="0"/>
                          </a:rPr>
                          <m:t>0</m:t>
                        </m:r>
                      </m:sub>
                    </m:sSub>
                  </m:oMath>
                </a14:m>
                <a:endParaRPr lang="en-CA" dirty="0">
                  <a:solidFill>
                    <a:srgbClr val="FF0000"/>
                  </a:solidFill>
                </a:endParaRPr>
              </a:p>
            </p:txBody>
          </p:sp>
        </mc:Choice>
        <mc:Fallback xmlns="">
          <p:sp>
            <p:nvSpPr>
              <p:cNvPr id="26" name="TextBox 25">
                <a:extLst>
                  <a:ext uri="{FF2B5EF4-FFF2-40B4-BE49-F238E27FC236}">
                    <a16:creationId xmlns:a16="http://schemas.microsoft.com/office/drawing/2014/main" id="{A368C2F1-96A5-4075-9355-6B77FA401A83}"/>
                  </a:ext>
                </a:extLst>
              </p:cNvPr>
              <p:cNvSpPr txBox="1">
                <a:spLocks noRot="1" noChangeAspect="1" noMove="1" noResize="1" noEditPoints="1" noAdjustHandles="1" noChangeArrowheads="1" noChangeShapeType="1" noTextEdit="1"/>
              </p:cNvSpPr>
              <p:nvPr/>
            </p:nvSpPr>
            <p:spPr>
              <a:xfrm rot="21156675">
                <a:off x="9496608" y="4808587"/>
                <a:ext cx="2523320" cy="369332"/>
              </a:xfrm>
              <a:prstGeom prst="rect">
                <a:avLst/>
              </a:prstGeom>
              <a:blipFill>
                <a:blip r:embed="rId4"/>
                <a:stretch>
                  <a:fillRect l="-1909"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FAD1D3C-EAA0-4E70-8ADA-BC86D61E1AE2}"/>
                  </a:ext>
                </a:extLst>
              </p:cNvPr>
              <p:cNvSpPr txBox="1"/>
              <p:nvPr/>
            </p:nvSpPr>
            <p:spPr>
              <a:xfrm rot="20786035">
                <a:off x="9515260" y="4085125"/>
                <a:ext cx="2523320" cy="369332"/>
              </a:xfrm>
              <a:prstGeom prst="rect">
                <a:avLst/>
              </a:prstGeom>
              <a:noFill/>
            </p:spPr>
            <p:txBody>
              <a:bodyPr wrap="square" rtlCol="0">
                <a:spAutoFit/>
              </a:bodyPr>
              <a:lstStyle/>
              <a:p>
                <a:r>
                  <a:rPr lang="en-US" dirty="0">
                    <a:solidFill>
                      <a:srgbClr val="0000FF"/>
                    </a:solidFill>
                  </a:rPr>
                  <a:t>Line with slope </a:t>
                </a:r>
                <a14:m>
                  <m:oMath xmlns:m="http://schemas.openxmlformats.org/officeDocument/2006/math">
                    <m:r>
                      <a:rPr lang="en-US" b="0" i="1" dirty="0" smtClean="0">
                        <a:solidFill>
                          <a:srgbClr val="0000FF"/>
                        </a:solidFill>
                        <a:latin typeface="Cambria Math" panose="02040503050406030204" pitchFamily="18" charset="0"/>
                      </a:rPr>
                      <m:t>1/</m:t>
                    </m:r>
                    <m:sSub>
                      <m:sSubPr>
                        <m:ctrlPr>
                          <a:rPr lang="en-US" i="1">
                            <a:solidFill>
                              <a:srgbClr val="0000FF"/>
                            </a:solidFill>
                            <a:latin typeface="Cambria Math" panose="02040503050406030204" pitchFamily="18" charset="0"/>
                            <a:ea typeface="Cambria Math" panose="02040503050406030204" pitchFamily="18" charset="0"/>
                          </a:rPr>
                        </m:ctrlPr>
                      </m:sSubPr>
                      <m:e>
                        <m:r>
                          <a:rPr lang="en-US" i="1">
                            <a:solidFill>
                              <a:srgbClr val="0000FF"/>
                            </a:solidFill>
                            <a:latin typeface="Cambria Math" panose="02040503050406030204" pitchFamily="18" charset="0"/>
                            <a:ea typeface="Cambria Math" panose="02040503050406030204" pitchFamily="18" charset="0"/>
                          </a:rPr>
                          <m:t>𝜑</m:t>
                        </m:r>
                      </m:e>
                      <m:sub>
                        <m:r>
                          <a:rPr lang="en-US" b="0" i="1" smtClean="0">
                            <a:solidFill>
                              <a:srgbClr val="0000FF"/>
                            </a:solidFill>
                            <a:latin typeface="Cambria Math" panose="02040503050406030204" pitchFamily="18" charset="0"/>
                            <a:ea typeface="Cambria Math" panose="02040503050406030204" pitchFamily="18" charset="0"/>
                          </a:rPr>
                          <m:t>𝐹</m:t>
                        </m:r>
                      </m:sub>
                    </m:sSub>
                  </m:oMath>
                </a14:m>
                <a:endParaRPr lang="en-CA" dirty="0">
                  <a:solidFill>
                    <a:srgbClr val="0000FF"/>
                  </a:solidFill>
                </a:endParaRPr>
              </a:p>
            </p:txBody>
          </p:sp>
        </mc:Choice>
        <mc:Fallback xmlns="">
          <p:sp>
            <p:nvSpPr>
              <p:cNvPr id="27" name="TextBox 26">
                <a:extLst>
                  <a:ext uri="{FF2B5EF4-FFF2-40B4-BE49-F238E27FC236}">
                    <a16:creationId xmlns:a16="http://schemas.microsoft.com/office/drawing/2014/main" id="{5FAD1D3C-EAA0-4E70-8ADA-BC86D61E1AE2}"/>
                  </a:ext>
                </a:extLst>
              </p:cNvPr>
              <p:cNvSpPr txBox="1">
                <a:spLocks noRot="1" noChangeAspect="1" noMove="1" noResize="1" noEditPoints="1" noAdjustHandles="1" noChangeArrowheads="1" noChangeShapeType="1" noTextEdit="1"/>
              </p:cNvSpPr>
              <p:nvPr/>
            </p:nvSpPr>
            <p:spPr>
              <a:xfrm rot="20786035">
                <a:off x="9515260" y="4085125"/>
                <a:ext cx="2523320" cy="369332"/>
              </a:xfrm>
              <a:prstGeom prst="rect">
                <a:avLst/>
              </a:prstGeom>
              <a:blipFill>
                <a:blip r:embed="rId5"/>
                <a:stretch>
                  <a:fillRect l="-2153" b="-101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618664"/>
                <a:ext cx="10687259" cy="4351338"/>
              </a:xfrm>
            </p:spPr>
            <p:txBody>
              <a:bodyPr/>
              <a:lstStyle/>
              <a:p>
                <a:r>
                  <a:rPr lang="en-US" dirty="0"/>
                  <a:t>The equilibrium SSB at </a:t>
                </a:r>
                <a14:m>
                  <m:oMath xmlns:m="http://schemas.openxmlformats.org/officeDocument/2006/math">
                    <m:r>
                      <a:rPr lang="en-US" i="1" dirty="0">
                        <a:latin typeface="Cambria Math" panose="02040503050406030204" pitchFamily="18" charset="0"/>
                      </a:rPr>
                      <m:t>𝐹</m:t>
                    </m:r>
                    <m:r>
                      <a:rPr lang="en-US" i="1" dirty="0">
                        <a:latin typeface="Cambria Math" panose="02040503050406030204" pitchFamily="18" charset="0"/>
                      </a:rPr>
                      <m:t> </m:t>
                    </m:r>
                  </m:oMath>
                </a14:m>
                <a:r>
                  <a:rPr lang="en-US" dirty="0"/>
                  <a:t>is </a:t>
                </a:r>
                <a14:m>
                  <m:oMath xmlns:m="http://schemas.openxmlformats.org/officeDocument/2006/math">
                    <m:r>
                      <a:rPr lang="en-US" i="1" dirty="0">
                        <a:solidFill>
                          <a:srgbClr val="0000FF"/>
                        </a:solidFill>
                        <a:latin typeface="Cambria Math" panose="02040503050406030204" pitchFamily="18" charset="0"/>
                      </a:rPr>
                      <m:t>𝑆𝑆𝐵</m:t>
                    </m:r>
                    <m:r>
                      <a:rPr lang="en-US" i="1" baseline="-25000" dirty="0">
                        <a:solidFill>
                          <a:srgbClr val="0000FF"/>
                        </a:solidFill>
                        <a:latin typeface="Cambria Math" panose="02040503050406030204" pitchFamily="18" charset="0"/>
                      </a:rPr>
                      <m:t>𝐹</m:t>
                    </m:r>
                  </m:oMath>
                </a14:m>
                <a:endParaRPr lang="en-US" baseline="-25000" dirty="0">
                  <a:solidFill>
                    <a:srgbClr val="0000FF"/>
                  </a:solidFill>
                </a:endParaRPr>
              </a:p>
              <a:p>
                <a:r>
                  <a:rPr lang="en-US" dirty="0"/>
                  <a:t>The equilibrium recruitment at </a:t>
                </a:r>
                <a14:m>
                  <m:oMath xmlns:m="http://schemas.openxmlformats.org/officeDocument/2006/math">
                    <m:r>
                      <a:rPr lang="en-US" i="1" dirty="0">
                        <a:latin typeface="Cambria Math" panose="02040503050406030204" pitchFamily="18" charset="0"/>
                      </a:rPr>
                      <m:t>𝐹</m:t>
                    </m:r>
                    <m:r>
                      <a:rPr lang="en-US" i="1" dirty="0">
                        <a:latin typeface="Cambria Math" panose="02040503050406030204" pitchFamily="18" charset="0"/>
                      </a:rPr>
                      <m:t> </m:t>
                    </m:r>
                  </m:oMath>
                </a14:m>
                <a:r>
                  <a:rPr lang="en-US" dirty="0"/>
                  <a:t>is </a:t>
                </a:r>
                <a14:m>
                  <m:oMath xmlns:m="http://schemas.openxmlformats.org/officeDocument/2006/math">
                    <m:r>
                      <a:rPr lang="en-US" i="1" dirty="0">
                        <a:solidFill>
                          <a:srgbClr val="0000FF"/>
                        </a:solidFill>
                        <a:latin typeface="Cambria Math" panose="02040503050406030204" pitchFamily="18" charset="0"/>
                      </a:rPr>
                      <m:t>𝑅</m:t>
                    </m:r>
                    <m:r>
                      <a:rPr lang="en-US" i="1" baseline="-25000" dirty="0">
                        <a:solidFill>
                          <a:srgbClr val="0000FF"/>
                        </a:solidFill>
                        <a:latin typeface="Cambria Math" panose="02040503050406030204" pitchFamily="18" charset="0"/>
                      </a:rPr>
                      <m:t>𝐹</m:t>
                    </m:r>
                  </m:oMath>
                </a14:m>
                <a:endParaRPr lang="en-US" baseline="-25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618664"/>
                <a:ext cx="10687259" cy="4351338"/>
              </a:xfrm>
              <a:blipFill>
                <a:blip r:embed="rId6"/>
                <a:stretch>
                  <a:fillRect l="-969" t="-2384"/>
                </a:stretch>
              </a:blipFill>
            </p:spPr>
            <p:txBody>
              <a:bodyPr/>
              <a:lstStyle/>
              <a:p>
                <a:r>
                  <a:rPr lang="en-US">
                    <a:noFill/>
                  </a:rPr>
                  <a:t> </a:t>
                </a:r>
              </a:p>
            </p:txBody>
          </p:sp>
        </mc:Fallback>
      </mc:AlternateContent>
      <p:sp>
        <p:nvSpPr>
          <p:cNvPr id="2" name="Title 1"/>
          <p:cNvSpPr>
            <a:spLocks noGrp="1"/>
          </p:cNvSpPr>
          <p:nvPr>
            <p:ph type="title"/>
          </p:nvPr>
        </p:nvSpPr>
        <p:spPr>
          <a:xfrm>
            <a:off x="838199" y="365125"/>
            <a:ext cx="10834255" cy="1325563"/>
          </a:xfrm>
        </p:spPr>
        <p:txBody>
          <a:bodyPr>
            <a:normAutofit/>
          </a:bodyPr>
          <a:lstStyle/>
          <a:p>
            <a:r>
              <a:rPr lang="en-US" sz="3600" dirty="0"/>
              <a:t>Reference Points </a:t>
            </a:r>
            <a:r>
              <a:rPr lang="en-US" sz="3600" b="1" dirty="0">
                <a:solidFill>
                  <a:srgbClr val="0000FF"/>
                </a:solidFill>
              </a:rPr>
              <a:t>2. Equilibrium Biomass and Recruitment </a:t>
            </a:r>
            <a:endParaRPr lang="en-CA" sz="3600" b="1"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E1B525F-F264-44B8-BB8B-E5B47407AF2C}"/>
                  </a:ext>
                </a:extLst>
              </p:cNvPr>
              <p:cNvSpPr txBox="1"/>
              <p:nvPr/>
            </p:nvSpPr>
            <p:spPr>
              <a:xfrm>
                <a:off x="5386228" y="2796762"/>
                <a:ext cx="1185399" cy="369332"/>
              </a:xfrm>
              <a:prstGeom prst="rect">
                <a:avLst/>
              </a:prstGeom>
              <a:noFill/>
            </p:spPr>
            <p:txBody>
              <a:bodyPr wrap="square" rtlCol="0">
                <a:spAutoFit/>
              </a:bodyPr>
              <a:lstStyle/>
              <a:p>
                <a:r>
                  <a:rPr lang="en-US" dirty="0">
                    <a:solidFill>
                      <a:srgbClr val="0000FF"/>
                    </a:solidFill>
                  </a:rPr>
                  <a:t>(</a:t>
                </a:r>
                <a14:m>
                  <m:oMath xmlns:m="http://schemas.openxmlformats.org/officeDocument/2006/math">
                    <m:r>
                      <a:rPr lang="en-US" i="1" dirty="0" smtClean="0">
                        <a:solidFill>
                          <a:srgbClr val="0000FF"/>
                        </a:solidFill>
                        <a:latin typeface="Cambria Math" panose="02040503050406030204" pitchFamily="18" charset="0"/>
                      </a:rPr>
                      <m:t>𝑆𝑆𝐵</m:t>
                    </m:r>
                    <m:r>
                      <a:rPr lang="en-US" b="0" i="1" baseline="-25000" dirty="0" smtClean="0">
                        <a:solidFill>
                          <a:srgbClr val="0000FF"/>
                        </a:solidFill>
                        <a:latin typeface="Cambria Math" panose="02040503050406030204" pitchFamily="18" charset="0"/>
                      </a:rPr>
                      <m:t>𝐹</m:t>
                    </m:r>
                  </m:oMath>
                </a14:m>
                <a:r>
                  <a:rPr lang="en-US" dirty="0">
                    <a:solidFill>
                      <a:srgbClr val="0000FF"/>
                    </a:solidFill>
                  </a:rPr>
                  <a:t>,</a:t>
                </a:r>
                <a14:m>
                  <m:oMath xmlns:m="http://schemas.openxmlformats.org/officeDocument/2006/math">
                    <m:r>
                      <a:rPr lang="en-US" i="1" dirty="0" smtClean="0">
                        <a:solidFill>
                          <a:srgbClr val="0000FF"/>
                        </a:solidFill>
                        <a:latin typeface="Cambria Math" panose="02040503050406030204" pitchFamily="18" charset="0"/>
                      </a:rPr>
                      <m:t>𝑅</m:t>
                    </m:r>
                    <m:r>
                      <a:rPr lang="en-US" b="0" i="1" baseline="-25000" dirty="0" smtClean="0">
                        <a:solidFill>
                          <a:srgbClr val="0000FF"/>
                        </a:solidFill>
                        <a:latin typeface="Cambria Math" panose="02040503050406030204" pitchFamily="18" charset="0"/>
                      </a:rPr>
                      <m:t>𝐹</m:t>
                    </m:r>
                  </m:oMath>
                </a14:m>
                <a:r>
                  <a:rPr lang="en-US" dirty="0">
                    <a:solidFill>
                      <a:srgbClr val="0000FF"/>
                    </a:solidFill>
                  </a:rPr>
                  <a:t>)</a:t>
                </a:r>
                <a:endParaRPr lang="en-CA" dirty="0">
                  <a:solidFill>
                    <a:srgbClr val="0000FF"/>
                  </a:solidFill>
                </a:endParaRPr>
              </a:p>
            </p:txBody>
          </p:sp>
        </mc:Choice>
        <mc:Fallback xmlns="">
          <p:sp>
            <p:nvSpPr>
              <p:cNvPr id="16" name="TextBox 15">
                <a:extLst>
                  <a:ext uri="{FF2B5EF4-FFF2-40B4-BE49-F238E27FC236}">
                    <a16:creationId xmlns:a16="http://schemas.microsoft.com/office/drawing/2014/main" id="{AE1B525F-F264-44B8-BB8B-E5B47407AF2C}"/>
                  </a:ext>
                </a:extLst>
              </p:cNvPr>
              <p:cNvSpPr txBox="1">
                <a:spLocks noRot="1" noChangeAspect="1" noMove="1" noResize="1" noEditPoints="1" noAdjustHandles="1" noChangeArrowheads="1" noChangeShapeType="1" noTextEdit="1"/>
              </p:cNvSpPr>
              <p:nvPr/>
            </p:nvSpPr>
            <p:spPr>
              <a:xfrm>
                <a:off x="5386228" y="2796762"/>
                <a:ext cx="1185399" cy="369332"/>
              </a:xfrm>
              <a:prstGeom prst="rect">
                <a:avLst/>
              </a:prstGeom>
              <a:blipFill>
                <a:blip r:embed="rId7"/>
                <a:stretch>
                  <a:fillRect l="-4639" t="-10000" b="-26667"/>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E574C9EE-B5BC-439E-86F5-BAB7E634CC7A}"/>
              </a:ext>
            </a:extLst>
          </p:cNvPr>
          <p:cNvSpPr/>
          <p:nvPr/>
        </p:nvSpPr>
        <p:spPr>
          <a:xfrm>
            <a:off x="5933208" y="5367207"/>
            <a:ext cx="91440" cy="91440"/>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6ED18BAD-0AD3-4D85-977B-751562D8D2BF}"/>
              </a:ext>
            </a:extLst>
          </p:cNvPr>
          <p:cNvCxnSpPr>
            <a:cxnSpLocks/>
          </p:cNvCxnSpPr>
          <p:nvPr/>
        </p:nvCxnSpPr>
        <p:spPr>
          <a:xfrm>
            <a:off x="5978929" y="3240983"/>
            <a:ext cx="0" cy="2020375"/>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E9B5B1C-6477-4E2F-96E7-8E4232584987}"/>
                  </a:ext>
                </a:extLst>
              </p:cNvPr>
              <p:cNvSpPr txBox="1"/>
              <p:nvPr/>
            </p:nvSpPr>
            <p:spPr>
              <a:xfrm>
                <a:off x="7532046" y="1802511"/>
                <a:ext cx="4247283" cy="369332"/>
              </a:xfrm>
              <a:prstGeom prst="rect">
                <a:avLst/>
              </a:prstGeom>
              <a:solidFill>
                <a:schemeClr val="accent1"/>
              </a:solidFill>
              <a:ln>
                <a:solidFill>
                  <a:schemeClr val="tx1"/>
                </a:solidFill>
              </a:ln>
            </p:spPr>
            <p:txBody>
              <a:bodyPr wrap="square">
                <a:spAutoFit/>
              </a:bodyPr>
              <a:lstStyle/>
              <a:p>
                <a:pPr algn="ctr"/>
                <a14:m>
                  <m:oMath xmlns:m="http://schemas.openxmlformats.org/officeDocument/2006/math">
                    <m:r>
                      <a:rPr lang="en-US" i="1" dirty="0" smtClean="0">
                        <a:solidFill>
                          <a:schemeClr val="tx1"/>
                        </a:solidFill>
                        <a:latin typeface="Cambria Math" panose="02040503050406030204" pitchFamily="18" charset="0"/>
                      </a:rPr>
                      <m:t>𝑆𝑆𝐵</m:t>
                    </m:r>
                    <m:r>
                      <a:rPr lang="en-US" i="1" baseline="-25000" dirty="0" smtClean="0">
                        <a:solidFill>
                          <a:schemeClr val="tx1"/>
                        </a:solidFill>
                        <a:latin typeface="Cambria Math" panose="02040503050406030204" pitchFamily="18" charset="0"/>
                      </a:rPr>
                      <m:t>𝐹</m:t>
                    </m:r>
                  </m:oMath>
                </a14:m>
                <a:r>
                  <a:rPr lang="en-US" baseline="-25000" dirty="0">
                    <a:solidFill>
                      <a:schemeClr val="tx1"/>
                    </a:solidFill>
                  </a:rPr>
                  <a:t> </a:t>
                </a:r>
                <a:r>
                  <a:rPr lang="en-US" dirty="0">
                    <a:solidFill>
                      <a:schemeClr val="tx1"/>
                    </a:solidFill>
                  </a:rPr>
                  <a:t>and</a:t>
                </a:r>
                <a:r>
                  <a:rPr lang="en-US" baseline="-25000" dirty="0">
                    <a:solidFill>
                      <a:schemeClr val="tx1"/>
                    </a:solidFill>
                  </a:rPr>
                  <a:t> </a:t>
                </a:r>
                <a14:m>
                  <m:oMath xmlns:m="http://schemas.openxmlformats.org/officeDocument/2006/math">
                    <m:r>
                      <a:rPr lang="en-US" i="1" dirty="0">
                        <a:solidFill>
                          <a:schemeClr val="tx1"/>
                        </a:solidFill>
                        <a:latin typeface="Cambria Math" panose="02040503050406030204" pitchFamily="18" charset="0"/>
                      </a:rPr>
                      <m:t>𝑅</m:t>
                    </m:r>
                    <m:r>
                      <a:rPr lang="en-US" i="1" baseline="-25000" dirty="0">
                        <a:solidFill>
                          <a:schemeClr val="tx1"/>
                        </a:solidFill>
                        <a:latin typeface="Cambria Math" panose="02040503050406030204" pitchFamily="18" charset="0"/>
                      </a:rPr>
                      <m:t>𝐹</m:t>
                    </m:r>
                  </m:oMath>
                </a14:m>
                <a:r>
                  <a:rPr lang="en-US" baseline="-25000" dirty="0">
                    <a:solidFill>
                      <a:schemeClr val="tx1"/>
                    </a:solidFill>
                  </a:rPr>
                  <a:t> </a:t>
                </a:r>
                <a:r>
                  <a:rPr lang="en-US" dirty="0">
                    <a:solidFill>
                      <a:schemeClr val="tx1"/>
                    </a:solidFill>
                  </a:rPr>
                  <a:t>can be calculated for any </a:t>
                </a:r>
                <a14:m>
                  <m:oMath xmlns:m="http://schemas.openxmlformats.org/officeDocument/2006/math">
                    <m:r>
                      <a:rPr lang="en-US" i="1" dirty="0" smtClean="0">
                        <a:solidFill>
                          <a:schemeClr val="tx1"/>
                        </a:solidFill>
                        <a:latin typeface="Cambria Math" panose="02040503050406030204" pitchFamily="18" charset="0"/>
                      </a:rPr>
                      <m:t>𝐹</m:t>
                    </m:r>
                  </m:oMath>
                </a14:m>
                <a:endParaRPr lang="en-US" baseline="-25000" dirty="0">
                  <a:solidFill>
                    <a:schemeClr val="tx1"/>
                  </a:solidFill>
                </a:endParaRPr>
              </a:p>
            </p:txBody>
          </p:sp>
        </mc:Choice>
        <mc:Fallback xmlns="">
          <p:sp>
            <p:nvSpPr>
              <p:cNvPr id="15" name="TextBox 14">
                <a:extLst>
                  <a:ext uri="{FF2B5EF4-FFF2-40B4-BE49-F238E27FC236}">
                    <a16:creationId xmlns:a16="http://schemas.microsoft.com/office/drawing/2014/main" id="{5E9B5B1C-6477-4E2F-96E7-8E4232584987}"/>
                  </a:ext>
                </a:extLst>
              </p:cNvPr>
              <p:cNvSpPr txBox="1">
                <a:spLocks noRot="1" noChangeAspect="1" noMove="1" noResize="1" noEditPoints="1" noAdjustHandles="1" noChangeArrowheads="1" noChangeShapeType="1" noTextEdit="1"/>
              </p:cNvSpPr>
              <p:nvPr/>
            </p:nvSpPr>
            <p:spPr>
              <a:xfrm>
                <a:off x="7532046" y="1802511"/>
                <a:ext cx="4247283" cy="369332"/>
              </a:xfrm>
              <a:prstGeom prst="rect">
                <a:avLst/>
              </a:prstGeom>
              <a:blipFill>
                <a:blip r:embed="rId8"/>
                <a:stretch>
                  <a:fillRect t="-8065" b="-24194"/>
                </a:stretch>
              </a:blipFill>
              <a:ln>
                <a:solidFill>
                  <a:schemeClr val="tx1"/>
                </a:solidFill>
              </a:ln>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EEDFA2F9-C25F-4A63-B46B-7B5C200A39D1}" type="slidenum">
              <a:rPr lang="en-CA" smtClean="0"/>
              <a:t>92</a:t>
            </a:fld>
            <a:endParaRPr lang="en-CA"/>
          </a:p>
        </p:txBody>
      </p:sp>
    </p:spTree>
    <p:extLst>
      <p:ext uri="{BB962C8B-B14F-4D97-AF65-F5344CB8AC3E}">
        <p14:creationId xmlns:p14="http://schemas.microsoft.com/office/powerpoint/2010/main" val="26344107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931F2D2C-912F-4852-A762-3082EDE60C83}"/>
              </a:ext>
            </a:extLst>
          </p:cNvPr>
          <p:cNvPicPr>
            <a:picLocks noChangeAspect="1"/>
          </p:cNvPicPr>
          <p:nvPr/>
        </p:nvPicPr>
        <p:blipFill>
          <a:blip r:embed="rId2"/>
          <a:stretch>
            <a:fillRect/>
          </a:stretch>
        </p:blipFill>
        <p:spPr>
          <a:xfrm>
            <a:off x="2325754" y="2632496"/>
            <a:ext cx="7540492" cy="4225504"/>
          </a:xfrm>
          <a:prstGeom prst="rect">
            <a:avLst/>
          </a:prstGeom>
        </p:spPr>
      </p:pic>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04714E4-FA26-4E23-A7C1-2374634CC5A0}"/>
                  </a:ext>
                </a:extLst>
              </p:cNvPr>
              <p:cNvSpPr txBox="1"/>
              <p:nvPr/>
            </p:nvSpPr>
            <p:spPr>
              <a:xfrm>
                <a:off x="7814002" y="2804183"/>
                <a:ext cx="1185399" cy="369332"/>
              </a:xfrm>
              <a:prstGeom prst="rect">
                <a:avLst/>
              </a:prstGeom>
              <a:noFill/>
            </p:spPr>
            <p:txBody>
              <a:bodyPr wrap="square" rtlCol="0">
                <a:spAutoFit/>
              </a:bodyPr>
              <a:lstStyle/>
              <a:p>
                <a:r>
                  <a:rPr lang="en-US" dirty="0">
                    <a:solidFill>
                      <a:srgbClr val="FF0000"/>
                    </a:solidFill>
                  </a:rPr>
                  <a:t>(</a:t>
                </a:r>
                <a14:m>
                  <m:oMath xmlns:m="http://schemas.openxmlformats.org/officeDocument/2006/math">
                    <m:r>
                      <a:rPr lang="en-US" i="1" dirty="0" smtClean="0">
                        <a:solidFill>
                          <a:srgbClr val="FF0000"/>
                        </a:solidFill>
                        <a:latin typeface="Cambria Math" panose="02040503050406030204" pitchFamily="18" charset="0"/>
                      </a:rPr>
                      <m:t>𝑆𝑆𝐵</m:t>
                    </m:r>
                    <m:r>
                      <a:rPr lang="en-US" i="1" baseline="-25000" dirty="0" smtClean="0">
                        <a:solidFill>
                          <a:srgbClr val="FF0000"/>
                        </a:solidFill>
                        <a:latin typeface="Cambria Math" panose="02040503050406030204" pitchFamily="18" charset="0"/>
                      </a:rPr>
                      <m:t>0</m:t>
                    </m:r>
                  </m:oMath>
                </a14:m>
                <a:r>
                  <a:rPr lang="en-US" dirty="0">
                    <a:solidFill>
                      <a:srgbClr val="FF0000"/>
                    </a:solidFill>
                  </a:rPr>
                  <a:t>,</a:t>
                </a:r>
                <a14:m>
                  <m:oMath xmlns:m="http://schemas.openxmlformats.org/officeDocument/2006/math">
                    <m:r>
                      <a:rPr lang="en-US" i="1" dirty="0" smtClean="0">
                        <a:solidFill>
                          <a:srgbClr val="FF0000"/>
                        </a:solidFill>
                        <a:latin typeface="Cambria Math" panose="02040503050406030204" pitchFamily="18" charset="0"/>
                      </a:rPr>
                      <m:t>𝑅</m:t>
                    </m:r>
                    <m:r>
                      <a:rPr lang="en-US" i="1" baseline="-25000" dirty="0" smtClean="0">
                        <a:solidFill>
                          <a:srgbClr val="FF0000"/>
                        </a:solidFill>
                        <a:latin typeface="Cambria Math" panose="02040503050406030204" pitchFamily="18" charset="0"/>
                      </a:rPr>
                      <m:t>0</m:t>
                    </m:r>
                  </m:oMath>
                </a14:m>
                <a:r>
                  <a:rPr lang="en-US" dirty="0">
                    <a:solidFill>
                      <a:srgbClr val="FF0000"/>
                    </a:solidFill>
                  </a:rPr>
                  <a:t>)</a:t>
                </a:r>
                <a:endParaRPr lang="en-CA" dirty="0">
                  <a:solidFill>
                    <a:srgbClr val="FF0000"/>
                  </a:solidFill>
                </a:endParaRPr>
              </a:p>
            </p:txBody>
          </p:sp>
        </mc:Choice>
        <mc:Fallback xmlns="">
          <p:sp>
            <p:nvSpPr>
              <p:cNvPr id="22" name="TextBox 21">
                <a:extLst>
                  <a:ext uri="{FF2B5EF4-FFF2-40B4-BE49-F238E27FC236}">
                    <a16:creationId xmlns:a16="http://schemas.microsoft.com/office/drawing/2014/main" id="{B04714E4-FA26-4E23-A7C1-2374634CC5A0}"/>
                  </a:ext>
                </a:extLst>
              </p:cNvPr>
              <p:cNvSpPr txBox="1">
                <a:spLocks noRot="1" noChangeAspect="1" noMove="1" noResize="1" noEditPoints="1" noAdjustHandles="1" noChangeArrowheads="1" noChangeShapeType="1" noTextEdit="1"/>
              </p:cNvSpPr>
              <p:nvPr/>
            </p:nvSpPr>
            <p:spPr>
              <a:xfrm>
                <a:off x="7814002" y="2804183"/>
                <a:ext cx="1185399" cy="369332"/>
              </a:xfrm>
              <a:prstGeom prst="rect">
                <a:avLst/>
              </a:prstGeom>
              <a:blipFill>
                <a:blip r:embed="rId3"/>
                <a:stretch>
                  <a:fillRect l="-4639" t="-8197" b="-24590"/>
                </a:stretch>
              </a:blipFill>
            </p:spPr>
            <p:txBody>
              <a:bodyPr/>
              <a:lstStyle/>
              <a:p>
                <a:r>
                  <a:rPr lang="en-US">
                    <a:noFill/>
                  </a:rPr>
                  <a:t> </a:t>
                </a:r>
              </a:p>
            </p:txBody>
          </p:sp>
        </mc:Fallback>
      </mc:AlternateContent>
      <p:cxnSp>
        <p:nvCxnSpPr>
          <p:cNvPr id="23" name="Straight Arrow Connector 22">
            <a:extLst>
              <a:ext uri="{FF2B5EF4-FFF2-40B4-BE49-F238E27FC236}">
                <a16:creationId xmlns:a16="http://schemas.microsoft.com/office/drawing/2014/main" id="{A59068EA-BC0C-4789-9249-93001171383C}"/>
              </a:ext>
            </a:extLst>
          </p:cNvPr>
          <p:cNvCxnSpPr>
            <a:cxnSpLocks/>
          </p:cNvCxnSpPr>
          <p:nvPr/>
        </p:nvCxnSpPr>
        <p:spPr>
          <a:xfrm>
            <a:off x="8381338" y="3240983"/>
            <a:ext cx="0" cy="195587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0015457-3814-458D-8D55-109FA3BC3B83}"/>
              </a:ext>
            </a:extLst>
          </p:cNvPr>
          <p:cNvCxnSpPr>
            <a:cxnSpLocks/>
          </p:cNvCxnSpPr>
          <p:nvPr/>
        </p:nvCxnSpPr>
        <p:spPr>
          <a:xfrm flipV="1">
            <a:off x="3163475" y="5199843"/>
            <a:ext cx="6319861" cy="86828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9391DAA-712B-47AC-8DCB-9ACEFE069D0D}"/>
              </a:ext>
            </a:extLst>
          </p:cNvPr>
          <p:cNvCxnSpPr>
            <a:cxnSpLocks/>
          </p:cNvCxnSpPr>
          <p:nvPr/>
        </p:nvCxnSpPr>
        <p:spPr>
          <a:xfrm flipV="1">
            <a:off x="3117755" y="4594836"/>
            <a:ext cx="6389388" cy="147627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A368C2F1-96A5-4075-9355-6B77FA401A83}"/>
                  </a:ext>
                </a:extLst>
              </p:cNvPr>
              <p:cNvSpPr txBox="1"/>
              <p:nvPr/>
            </p:nvSpPr>
            <p:spPr>
              <a:xfrm rot="21156675">
                <a:off x="9496608" y="4808587"/>
                <a:ext cx="2523320" cy="369332"/>
              </a:xfrm>
              <a:prstGeom prst="rect">
                <a:avLst/>
              </a:prstGeom>
              <a:noFill/>
            </p:spPr>
            <p:txBody>
              <a:bodyPr wrap="square" rtlCol="0">
                <a:spAutoFit/>
              </a:bodyPr>
              <a:lstStyle/>
              <a:p>
                <a:r>
                  <a:rPr lang="en-US" dirty="0">
                    <a:solidFill>
                      <a:srgbClr val="FF0000"/>
                    </a:solidFill>
                  </a:rPr>
                  <a:t>Line with slope </a:t>
                </a:r>
                <a14:m>
                  <m:oMath xmlns:m="http://schemas.openxmlformats.org/officeDocument/2006/math">
                    <m:r>
                      <a:rPr lang="en-US" b="0" i="1" dirty="0" smtClean="0">
                        <a:solidFill>
                          <a:srgbClr val="FF0000"/>
                        </a:solidFill>
                        <a:latin typeface="Cambria Math" panose="02040503050406030204" pitchFamily="18" charset="0"/>
                      </a:rPr>
                      <m:t>1/</m:t>
                    </m:r>
                    <m:sSub>
                      <m:sSubPr>
                        <m:ctrlPr>
                          <a:rPr lang="en-US" i="1">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𝜑</m:t>
                        </m:r>
                      </m:e>
                      <m:sub>
                        <m:r>
                          <a:rPr lang="en-US" b="0" i="1" smtClean="0">
                            <a:solidFill>
                              <a:srgbClr val="FF0000"/>
                            </a:solidFill>
                            <a:latin typeface="Cambria Math" panose="02040503050406030204" pitchFamily="18" charset="0"/>
                            <a:ea typeface="Cambria Math" panose="02040503050406030204" pitchFamily="18" charset="0"/>
                          </a:rPr>
                          <m:t>𝐸</m:t>
                        </m:r>
                        <m:r>
                          <a:rPr lang="en-US" i="1">
                            <a:solidFill>
                              <a:srgbClr val="FF0000"/>
                            </a:solidFill>
                            <a:latin typeface="Cambria Math" panose="02040503050406030204" pitchFamily="18" charset="0"/>
                          </a:rPr>
                          <m:t>0</m:t>
                        </m:r>
                      </m:sub>
                    </m:sSub>
                  </m:oMath>
                </a14:m>
                <a:endParaRPr lang="en-CA" dirty="0">
                  <a:solidFill>
                    <a:srgbClr val="FF0000"/>
                  </a:solidFill>
                </a:endParaRPr>
              </a:p>
            </p:txBody>
          </p:sp>
        </mc:Choice>
        <mc:Fallback xmlns="">
          <p:sp>
            <p:nvSpPr>
              <p:cNvPr id="26" name="TextBox 25">
                <a:extLst>
                  <a:ext uri="{FF2B5EF4-FFF2-40B4-BE49-F238E27FC236}">
                    <a16:creationId xmlns:a16="http://schemas.microsoft.com/office/drawing/2014/main" id="{A368C2F1-96A5-4075-9355-6B77FA401A83}"/>
                  </a:ext>
                </a:extLst>
              </p:cNvPr>
              <p:cNvSpPr txBox="1">
                <a:spLocks noRot="1" noChangeAspect="1" noMove="1" noResize="1" noEditPoints="1" noAdjustHandles="1" noChangeArrowheads="1" noChangeShapeType="1" noTextEdit="1"/>
              </p:cNvSpPr>
              <p:nvPr/>
            </p:nvSpPr>
            <p:spPr>
              <a:xfrm rot="21156675">
                <a:off x="9496608" y="4808587"/>
                <a:ext cx="2523320" cy="369332"/>
              </a:xfrm>
              <a:prstGeom prst="rect">
                <a:avLst/>
              </a:prstGeom>
              <a:blipFill>
                <a:blip r:embed="rId4"/>
                <a:stretch>
                  <a:fillRect l="-1909"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FAD1D3C-EAA0-4E70-8ADA-BC86D61E1AE2}"/>
                  </a:ext>
                </a:extLst>
              </p:cNvPr>
              <p:cNvSpPr txBox="1"/>
              <p:nvPr/>
            </p:nvSpPr>
            <p:spPr>
              <a:xfrm rot="20786035">
                <a:off x="9515260" y="4085125"/>
                <a:ext cx="2523320" cy="369332"/>
              </a:xfrm>
              <a:prstGeom prst="rect">
                <a:avLst/>
              </a:prstGeom>
              <a:noFill/>
            </p:spPr>
            <p:txBody>
              <a:bodyPr wrap="square" rtlCol="0">
                <a:spAutoFit/>
              </a:bodyPr>
              <a:lstStyle/>
              <a:p>
                <a:r>
                  <a:rPr lang="en-US" dirty="0">
                    <a:solidFill>
                      <a:srgbClr val="0000FF"/>
                    </a:solidFill>
                  </a:rPr>
                  <a:t>Line with slope </a:t>
                </a:r>
                <a14:m>
                  <m:oMath xmlns:m="http://schemas.openxmlformats.org/officeDocument/2006/math">
                    <m:r>
                      <a:rPr lang="en-US" b="0" i="1" dirty="0" smtClean="0">
                        <a:solidFill>
                          <a:srgbClr val="0000FF"/>
                        </a:solidFill>
                        <a:latin typeface="Cambria Math" panose="02040503050406030204" pitchFamily="18" charset="0"/>
                      </a:rPr>
                      <m:t>1/</m:t>
                    </m:r>
                    <m:sSub>
                      <m:sSubPr>
                        <m:ctrlPr>
                          <a:rPr lang="en-US" i="1">
                            <a:solidFill>
                              <a:srgbClr val="0000FF"/>
                            </a:solidFill>
                            <a:latin typeface="Cambria Math" panose="02040503050406030204" pitchFamily="18" charset="0"/>
                            <a:ea typeface="Cambria Math" panose="02040503050406030204" pitchFamily="18" charset="0"/>
                          </a:rPr>
                        </m:ctrlPr>
                      </m:sSubPr>
                      <m:e>
                        <m:r>
                          <a:rPr lang="en-US" i="1">
                            <a:solidFill>
                              <a:srgbClr val="0000FF"/>
                            </a:solidFill>
                            <a:latin typeface="Cambria Math" panose="02040503050406030204" pitchFamily="18" charset="0"/>
                            <a:ea typeface="Cambria Math" panose="02040503050406030204" pitchFamily="18" charset="0"/>
                          </a:rPr>
                          <m:t>𝜑</m:t>
                        </m:r>
                      </m:e>
                      <m:sub>
                        <m:r>
                          <a:rPr lang="en-US" b="0" i="1" smtClean="0">
                            <a:solidFill>
                              <a:srgbClr val="0000FF"/>
                            </a:solidFill>
                            <a:latin typeface="Cambria Math" panose="02040503050406030204" pitchFamily="18" charset="0"/>
                            <a:ea typeface="Cambria Math" panose="02040503050406030204" pitchFamily="18" charset="0"/>
                          </a:rPr>
                          <m:t>𝐹</m:t>
                        </m:r>
                      </m:sub>
                    </m:sSub>
                  </m:oMath>
                </a14:m>
                <a:endParaRPr lang="en-CA" dirty="0">
                  <a:solidFill>
                    <a:srgbClr val="0000FF"/>
                  </a:solidFill>
                </a:endParaRPr>
              </a:p>
            </p:txBody>
          </p:sp>
        </mc:Choice>
        <mc:Fallback xmlns="">
          <p:sp>
            <p:nvSpPr>
              <p:cNvPr id="27" name="TextBox 26">
                <a:extLst>
                  <a:ext uri="{FF2B5EF4-FFF2-40B4-BE49-F238E27FC236}">
                    <a16:creationId xmlns:a16="http://schemas.microsoft.com/office/drawing/2014/main" id="{5FAD1D3C-EAA0-4E70-8ADA-BC86D61E1AE2}"/>
                  </a:ext>
                </a:extLst>
              </p:cNvPr>
              <p:cNvSpPr txBox="1">
                <a:spLocks noRot="1" noChangeAspect="1" noMove="1" noResize="1" noEditPoints="1" noAdjustHandles="1" noChangeArrowheads="1" noChangeShapeType="1" noTextEdit="1"/>
              </p:cNvSpPr>
              <p:nvPr/>
            </p:nvSpPr>
            <p:spPr>
              <a:xfrm rot="20786035">
                <a:off x="9515260" y="4085125"/>
                <a:ext cx="2523320" cy="369332"/>
              </a:xfrm>
              <a:prstGeom prst="rect">
                <a:avLst/>
              </a:prstGeom>
              <a:blipFill>
                <a:blip r:embed="rId5"/>
                <a:stretch>
                  <a:fillRect l="-2153" b="-101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199" y="1596642"/>
                <a:ext cx="10687259" cy="4351338"/>
              </a:xfrm>
            </p:spPr>
            <p:txBody>
              <a:bodyPr/>
              <a:lstStyle/>
              <a:p>
                <a:r>
                  <a:rPr lang="en-US" dirty="0">
                    <a:solidFill>
                      <a:schemeClr val="accent2"/>
                    </a:solidFill>
                  </a:rPr>
                  <a:t>Line with slope </a:t>
                </a:r>
                <a14:m>
                  <m:oMath xmlns:m="http://schemas.openxmlformats.org/officeDocument/2006/math">
                    <m:r>
                      <a:rPr lang="en-US" i="1" dirty="0">
                        <a:solidFill>
                          <a:schemeClr val="accent2"/>
                        </a:solidFill>
                        <a:latin typeface="Cambria Math" panose="02040503050406030204" pitchFamily="18" charset="0"/>
                      </a:rPr>
                      <m:t>1/</m:t>
                    </m:r>
                    <m:r>
                      <a:rPr lang="en-US" i="1" dirty="0">
                        <a:solidFill>
                          <a:schemeClr val="accent2"/>
                        </a:solidFill>
                        <a:latin typeface="Cambria Math" panose="02040503050406030204" pitchFamily="18" charset="0"/>
                        <a:ea typeface="Cambria Math" panose="02040503050406030204" pitchFamily="18" charset="0"/>
                      </a:rPr>
                      <m:t>𝛼</m:t>
                    </m:r>
                  </m:oMath>
                </a14:m>
                <a:r>
                  <a:rPr lang="en-CA" dirty="0">
                    <a:solidFill>
                      <a:schemeClr val="accent2"/>
                    </a:solidFill>
                  </a:rPr>
                  <a:t> that intersects the SRR at the origin corresponds to </a:t>
                </a:r>
                <a14:m>
                  <m:oMath xmlns:m="http://schemas.openxmlformats.org/officeDocument/2006/math">
                    <m:r>
                      <a:rPr lang="en-CA" i="1" dirty="0">
                        <a:solidFill>
                          <a:schemeClr val="accent2"/>
                        </a:solidFill>
                        <a:latin typeface="Cambria Math" panose="02040503050406030204" pitchFamily="18" charset="0"/>
                      </a:rPr>
                      <m:t>𝐹</m:t>
                    </m:r>
                    <m:r>
                      <a:rPr lang="en-CA" i="1" baseline="-25000" dirty="0" err="1">
                        <a:solidFill>
                          <a:schemeClr val="accent2"/>
                        </a:solidFill>
                        <a:latin typeface="Cambria Math" panose="02040503050406030204" pitchFamily="18" charset="0"/>
                      </a:rPr>
                      <m:t>𝑐𝑟𝑎𝑠ℎ</m:t>
                    </m:r>
                  </m:oMath>
                </a14:m>
                <a:r>
                  <a:rPr lang="en-CA" dirty="0">
                    <a:solidFill>
                      <a:schemeClr val="accent2"/>
                    </a:solidFill>
                  </a:rPr>
                  <a:t> (i.e., </a:t>
                </a:r>
                <a14:m>
                  <m:oMath xmlns:m="http://schemas.openxmlformats.org/officeDocument/2006/math">
                    <m:r>
                      <a:rPr lang="en-US" i="1" dirty="0" smtClean="0">
                        <a:solidFill>
                          <a:schemeClr val="accent2"/>
                        </a:solidFill>
                        <a:latin typeface="Cambria Math" panose="02040503050406030204" pitchFamily="18" charset="0"/>
                      </a:rPr>
                      <m:t>𝑆𝑆𝐵</m:t>
                    </m:r>
                    <m:r>
                      <a:rPr lang="en-US" i="1" baseline="-25000" dirty="0">
                        <a:solidFill>
                          <a:schemeClr val="accent2"/>
                        </a:solidFill>
                        <a:latin typeface="Cambria Math" panose="02040503050406030204" pitchFamily="18" charset="0"/>
                      </a:rPr>
                      <m:t>𝐹</m:t>
                    </m:r>
                  </m:oMath>
                </a14:m>
                <a:r>
                  <a:rPr lang="en-CA" dirty="0">
                    <a:solidFill>
                      <a:schemeClr val="accent2"/>
                    </a:solidFill>
                  </a:rPr>
                  <a:t> = 0)</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199" y="1596642"/>
                <a:ext cx="10687259" cy="4351338"/>
              </a:xfrm>
              <a:blipFill>
                <a:blip r:embed="rId6"/>
                <a:stretch>
                  <a:fillRect l="-969" t="-2381"/>
                </a:stretch>
              </a:blipFill>
            </p:spPr>
            <p:txBody>
              <a:bodyPr/>
              <a:lstStyle/>
              <a:p>
                <a:r>
                  <a:rPr lang="en-US">
                    <a:noFill/>
                  </a:rPr>
                  <a:t> </a:t>
                </a:r>
              </a:p>
            </p:txBody>
          </p:sp>
        </mc:Fallback>
      </mc:AlternateContent>
      <p:sp>
        <p:nvSpPr>
          <p:cNvPr id="2" name="Title 1"/>
          <p:cNvSpPr>
            <a:spLocks noGrp="1"/>
          </p:cNvSpPr>
          <p:nvPr>
            <p:ph type="title"/>
          </p:nvPr>
        </p:nvSpPr>
        <p:spPr>
          <a:xfrm>
            <a:off x="838199" y="365125"/>
            <a:ext cx="10834255" cy="1325563"/>
          </a:xfrm>
        </p:spPr>
        <p:txBody>
          <a:bodyPr>
            <a:normAutofit/>
          </a:bodyPr>
          <a:lstStyle/>
          <a:p>
            <a:r>
              <a:rPr lang="en-US" sz="3600" dirty="0"/>
              <a:t>Reference Points </a:t>
            </a:r>
            <a:r>
              <a:rPr lang="en-US" sz="3600" b="1" dirty="0">
                <a:solidFill>
                  <a:srgbClr val="0000FF"/>
                </a:solidFill>
              </a:rPr>
              <a:t>2. Equilibrium Biomass and Recruitment </a:t>
            </a:r>
            <a:endParaRPr lang="en-CA" sz="3600" b="1"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AE1B525F-F264-44B8-BB8B-E5B47407AF2C}"/>
                  </a:ext>
                </a:extLst>
              </p:cNvPr>
              <p:cNvSpPr txBox="1"/>
              <p:nvPr/>
            </p:nvSpPr>
            <p:spPr>
              <a:xfrm>
                <a:off x="5386228" y="2796762"/>
                <a:ext cx="1185399" cy="369332"/>
              </a:xfrm>
              <a:prstGeom prst="rect">
                <a:avLst/>
              </a:prstGeom>
              <a:noFill/>
            </p:spPr>
            <p:txBody>
              <a:bodyPr wrap="square" rtlCol="0">
                <a:spAutoFit/>
              </a:bodyPr>
              <a:lstStyle/>
              <a:p>
                <a:r>
                  <a:rPr lang="en-US" dirty="0">
                    <a:solidFill>
                      <a:srgbClr val="0000FF"/>
                    </a:solidFill>
                  </a:rPr>
                  <a:t>(</a:t>
                </a:r>
                <a14:m>
                  <m:oMath xmlns:m="http://schemas.openxmlformats.org/officeDocument/2006/math">
                    <m:r>
                      <a:rPr lang="en-US" i="1" dirty="0" smtClean="0">
                        <a:solidFill>
                          <a:srgbClr val="0000FF"/>
                        </a:solidFill>
                        <a:latin typeface="Cambria Math" panose="02040503050406030204" pitchFamily="18" charset="0"/>
                      </a:rPr>
                      <m:t>𝑆𝑆𝐵</m:t>
                    </m:r>
                    <m:r>
                      <a:rPr lang="en-US" b="0" i="1" baseline="-25000" dirty="0" smtClean="0">
                        <a:solidFill>
                          <a:srgbClr val="0000FF"/>
                        </a:solidFill>
                        <a:latin typeface="Cambria Math" panose="02040503050406030204" pitchFamily="18" charset="0"/>
                      </a:rPr>
                      <m:t>𝐹</m:t>
                    </m:r>
                  </m:oMath>
                </a14:m>
                <a:r>
                  <a:rPr lang="en-US" dirty="0">
                    <a:solidFill>
                      <a:srgbClr val="0000FF"/>
                    </a:solidFill>
                  </a:rPr>
                  <a:t>,</a:t>
                </a:r>
                <a14:m>
                  <m:oMath xmlns:m="http://schemas.openxmlformats.org/officeDocument/2006/math">
                    <m:r>
                      <a:rPr lang="en-US" i="1" dirty="0" smtClean="0">
                        <a:solidFill>
                          <a:srgbClr val="0000FF"/>
                        </a:solidFill>
                        <a:latin typeface="Cambria Math" panose="02040503050406030204" pitchFamily="18" charset="0"/>
                      </a:rPr>
                      <m:t>𝑅</m:t>
                    </m:r>
                    <m:r>
                      <a:rPr lang="en-US" b="0" i="1" baseline="-25000" dirty="0" smtClean="0">
                        <a:solidFill>
                          <a:srgbClr val="0000FF"/>
                        </a:solidFill>
                        <a:latin typeface="Cambria Math" panose="02040503050406030204" pitchFamily="18" charset="0"/>
                      </a:rPr>
                      <m:t>𝐹</m:t>
                    </m:r>
                  </m:oMath>
                </a14:m>
                <a:r>
                  <a:rPr lang="en-US" dirty="0">
                    <a:solidFill>
                      <a:srgbClr val="0000FF"/>
                    </a:solidFill>
                  </a:rPr>
                  <a:t>)</a:t>
                </a:r>
                <a:endParaRPr lang="en-CA" dirty="0">
                  <a:solidFill>
                    <a:srgbClr val="0000FF"/>
                  </a:solidFill>
                </a:endParaRPr>
              </a:p>
            </p:txBody>
          </p:sp>
        </mc:Choice>
        <mc:Fallback xmlns="">
          <p:sp>
            <p:nvSpPr>
              <p:cNvPr id="16" name="TextBox 15">
                <a:extLst>
                  <a:ext uri="{FF2B5EF4-FFF2-40B4-BE49-F238E27FC236}">
                    <a16:creationId xmlns:a16="http://schemas.microsoft.com/office/drawing/2014/main" id="{AE1B525F-F264-44B8-BB8B-E5B47407AF2C}"/>
                  </a:ext>
                </a:extLst>
              </p:cNvPr>
              <p:cNvSpPr txBox="1">
                <a:spLocks noRot="1" noChangeAspect="1" noMove="1" noResize="1" noEditPoints="1" noAdjustHandles="1" noChangeArrowheads="1" noChangeShapeType="1" noTextEdit="1"/>
              </p:cNvSpPr>
              <p:nvPr/>
            </p:nvSpPr>
            <p:spPr>
              <a:xfrm>
                <a:off x="5386228" y="2796762"/>
                <a:ext cx="1185399" cy="369332"/>
              </a:xfrm>
              <a:prstGeom prst="rect">
                <a:avLst/>
              </a:prstGeom>
              <a:blipFill>
                <a:blip r:embed="rId7"/>
                <a:stretch>
                  <a:fillRect l="-4639" t="-10000" b="-26667"/>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E574C9EE-B5BC-439E-86F5-BAB7E634CC7A}"/>
              </a:ext>
            </a:extLst>
          </p:cNvPr>
          <p:cNvSpPr/>
          <p:nvPr/>
        </p:nvSpPr>
        <p:spPr>
          <a:xfrm>
            <a:off x="5933208" y="5367207"/>
            <a:ext cx="91440" cy="91440"/>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6ED18BAD-0AD3-4D85-977B-751562D8D2BF}"/>
              </a:ext>
            </a:extLst>
          </p:cNvPr>
          <p:cNvCxnSpPr>
            <a:cxnSpLocks/>
          </p:cNvCxnSpPr>
          <p:nvPr/>
        </p:nvCxnSpPr>
        <p:spPr>
          <a:xfrm>
            <a:off x="5978929" y="3240983"/>
            <a:ext cx="0" cy="2020375"/>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CF251AF-73D9-4D5E-AEE6-BF5B26C71DF1}"/>
              </a:ext>
            </a:extLst>
          </p:cNvPr>
          <p:cNvCxnSpPr>
            <a:cxnSpLocks/>
          </p:cNvCxnSpPr>
          <p:nvPr/>
        </p:nvCxnSpPr>
        <p:spPr>
          <a:xfrm flipV="1">
            <a:off x="3146443" y="2858790"/>
            <a:ext cx="2341114" cy="3209336"/>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p:txBody>
          <a:bodyPr/>
          <a:lstStyle/>
          <a:p>
            <a:fld id="{EEDFA2F9-C25F-4A63-B46B-7B5C200A39D1}" type="slidenum">
              <a:rPr lang="en-CA" smtClean="0"/>
              <a:t>93</a:t>
            </a:fld>
            <a:endParaRPr lang="en-CA"/>
          </a:p>
        </p:txBody>
      </p:sp>
    </p:spTree>
    <p:extLst>
      <p:ext uri="{BB962C8B-B14F-4D97-AF65-F5344CB8AC3E}">
        <p14:creationId xmlns:p14="http://schemas.microsoft.com/office/powerpoint/2010/main" val="237132390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30623" y="1825625"/>
                <a:ext cx="11025948" cy="4351338"/>
              </a:xfrm>
            </p:spPr>
            <p:txBody>
              <a:bodyPr>
                <a:normAutofit/>
              </a:bodyPr>
              <a:lstStyle/>
              <a:p>
                <a:r>
                  <a:rPr lang="en-US" dirty="0"/>
                  <a:t>The equilibrium recruitment (</a:t>
                </a:r>
                <a14:m>
                  <m:oMath xmlns:m="http://schemas.openxmlformats.org/officeDocument/2006/math">
                    <m:r>
                      <a:rPr lang="en-US" b="0" i="1" dirty="0" smtClean="0">
                        <a:solidFill>
                          <a:srgbClr val="0000FF"/>
                        </a:solidFill>
                        <a:latin typeface="Cambria Math" panose="02040503050406030204" pitchFamily="18" charset="0"/>
                      </a:rPr>
                      <m:t>𝑅</m:t>
                    </m:r>
                    <m:r>
                      <a:rPr lang="en-US" i="1" baseline="-25000" dirty="0">
                        <a:solidFill>
                          <a:srgbClr val="0000FF"/>
                        </a:solidFill>
                        <a:latin typeface="Cambria Math" panose="02040503050406030204" pitchFamily="18" charset="0"/>
                      </a:rPr>
                      <m:t>𝐹</m:t>
                    </m:r>
                  </m:oMath>
                </a14:m>
                <a:r>
                  <a:rPr lang="en-US" dirty="0"/>
                  <a:t>) for </a:t>
                </a:r>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𝐹</m:t>
                        </m:r>
                      </m:sub>
                    </m:sSub>
                  </m:oMath>
                </a14:m>
                <a:r>
                  <a:rPr lang="en-CA" dirty="0"/>
                  <a:t> is: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𝐹</m:t>
                        </m:r>
                      </m:sub>
                    </m:sSub>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𝛼</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b="0" i="1" smtClean="0">
                                <a:latin typeface="Cambria Math" panose="02040503050406030204" pitchFamily="18" charset="0"/>
                                <a:ea typeface="Cambria Math" panose="02040503050406030204" pitchFamily="18" charset="0"/>
                              </a:rPr>
                              <m:t>𝐹</m:t>
                            </m:r>
                          </m:sub>
                        </m:sSub>
                        <m:r>
                          <a:rPr lang="en-US" i="1">
                            <a:latin typeface="Cambria Math" panose="02040503050406030204" pitchFamily="18" charset="0"/>
                          </a:rPr>
                          <m:t>−1</m:t>
                        </m:r>
                      </m:num>
                      <m:den>
                        <m:r>
                          <a:rPr lang="en-US" i="1">
                            <a:latin typeface="Cambria Math" panose="02040503050406030204" pitchFamily="18" charset="0"/>
                            <a:ea typeface="Cambria Math" panose="02040503050406030204" pitchFamily="18" charset="0"/>
                          </a:rPr>
                          <m:t>𝛽</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ea typeface="Cambria Math" panose="02040503050406030204" pitchFamily="18" charset="0"/>
                              </a:rPr>
                              <m:t>𝐹</m:t>
                            </m:r>
                          </m:sub>
                        </m:sSub>
                      </m:den>
                    </m:f>
                  </m:oMath>
                </a14:m>
                <a:r>
                  <a:rPr lang="en-US" dirty="0"/>
                  <a:t>  [from Eqn. 5] </a:t>
                </a:r>
              </a:p>
              <a:p>
                <a:endParaRPr lang="en-US" dirty="0"/>
              </a:p>
              <a:p>
                <a:r>
                  <a:rPr lang="en-US" dirty="0"/>
                  <a:t>The equilibrium SSB (</a:t>
                </a:r>
                <a14:m>
                  <m:oMath xmlns:m="http://schemas.openxmlformats.org/officeDocument/2006/math">
                    <m:r>
                      <a:rPr lang="en-US" b="0" i="1" dirty="0" smtClean="0">
                        <a:solidFill>
                          <a:srgbClr val="0000FF"/>
                        </a:solidFill>
                        <a:latin typeface="Cambria Math" panose="02040503050406030204" pitchFamily="18" charset="0"/>
                      </a:rPr>
                      <m:t>𝑆𝑆𝐵</m:t>
                    </m:r>
                    <m:r>
                      <a:rPr lang="en-US" i="1" baseline="-25000" dirty="0">
                        <a:solidFill>
                          <a:srgbClr val="0000FF"/>
                        </a:solidFill>
                        <a:latin typeface="Cambria Math" panose="02040503050406030204" pitchFamily="18" charset="0"/>
                      </a:rPr>
                      <m:t>𝐹</m:t>
                    </m:r>
                  </m:oMath>
                </a14:m>
                <a:r>
                  <a:rPr lang="en-US" dirty="0"/>
                  <a:t>) </a:t>
                </a:r>
                <a:r>
                  <a:rPr lang="en-CA" dirty="0"/>
                  <a:t>is then: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𝑆𝑆𝐵</m:t>
                        </m:r>
                      </m:e>
                      <m:sub>
                        <m:r>
                          <a:rPr lang="en-US" i="1">
                            <a:latin typeface="Cambria Math" panose="02040503050406030204" pitchFamily="18" charset="0"/>
                          </a:rPr>
                          <m:t>𝐹</m:t>
                        </m:r>
                      </m:sub>
                    </m:sSub>
                    <m:r>
                      <a:rPr lang="en-US" i="1">
                        <a:latin typeface="Cambria Math" panose="02040503050406030204" pitchFamily="18" charset="0"/>
                      </a:rPr>
                      <m:t>=</m:t>
                    </m:r>
                    <m:sSub>
                      <m:sSubPr>
                        <m:ctrlPr>
                          <a:rPr lang="en-CA" i="1">
                            <a:latin typeface="Cambria Math" panose="02040503050406030204" pitchFamily="18" charset="0"/>
                          </a:rPr>
                        </m:ctrlPr>
                      </m:sSub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𝜑</m:t>
                            </m:r>
                          </m:e>
                          <m:sub>
                            <m:r>
                              <a:rPr lang="en-US" i="1">
                                <a:latin typeface="Cambria Math" panose="02040503050406030204" pitchFamily="18" charset="0"/>
                              </a:rPr>
                              <m:t>𝐹</m:t>
                            </m:r>
                          </m:sub>
                        </m:sSub>
                        <m:r>
                          <a:rPr lang="en-US" i="1">
                            <a:latin typeface="Cambria Math" panose="02040503050406030204" pitchFamily="18" charset="0"/>
                          </a:rPr>
                          <m:t>𝑅</m:t>
                        </m:r>
                      </m:e>
                      <m:sub>
                        <m:r>
                          <a:rPr lang="en-US" i="1">
                            <a:latin typeface="Cambria Math" panose="02040503050406030204" pitchFamily="18" charset="0"/>
                          </a:rPr>
                          <m:t>𝐹</m:t>
                        </m:r>
                      </m:sub>
                    </m:sSub>
                    <m:r>
                      <a:rPr lang="en-CA" i="1" smtClean="0">
                        <a:latin typeface="Cambria Math" panose="02040503050406030204" pitchFamily="18" charset="0"/>
                      </a:rPr>
                      <m:t> </m:t>
                    </m:r>
                  </m:oMath>
                </a14:m>
                <a:r>
                  <a:rPr lang="en-US" dirty="0"/>
                  <a:t>[from Eqn. 6] </a:t>
                </a:r>
                <a:endParaRPr lang="en-CA" dirty="0"/>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30623" y="1825625"/>
                <a:ext cx="11025948" cy="4351338"/>
              </a:xfrm>
              <a:blipFill>
                <a:blip r:embed="rId2"/>
                <a:stretch>
                  <a:fillRect l="-995" t="-420"/>
                </a:stretch>
              </a:blipFill>
            </p:spPr>
            <p:txBody>
              <a:bodyPr/>
              <a:lstStyle/>
              <a:p>
                <a:r>
                  <a:rPr lang="en-US">
                    <a:noFill/>
                  </a:rPr>
                  <a:t> </a:t>
                </a:r>
              </a:p>
            </p:txBody>
          </p:sp>
        </mc:Fallback>
      </mc:AlternateContent>
      <p:sp>
        <p:nvSpPr>
          <p:cNvPr id="2" name="Title 1"/>
          <p:cNvSpPr>
            <a:spLocks noGrp="1"/>
          </p:cNvSpPr>
          <p:nvPr>
            <p:ph type="title"/>
          </p:nvPr>
        </p:nvSpPr>
        <p:spPr>
          <a:xfrm>
            <a:off x="838199" y="365125"/>
            <a:ext cx="10792691" cy="1325563"/>
          </a:xfrm>
        </p:spPr>
        <p:txBody>
          <a:bodyPr>
            <a:normAutofit/>
          </a:bodyPr>
          <a:lstStyle/>
          <a:p>
            <a:r>
              <a:rPr lang="en-US" sz="3600" dirty="0"/>
              <a:t>Reference Points </a:t>
            </a:r>
            <a:r>
              <a:rPr lang="en-US" sz="3600" b="1" dirty="0">
                <a:solidFill>
                  <a:srgbClr val="0000FF"/>
                </a:solidFill>
              </a:rPr>
              <a:t>2. Equilibrium Biomass and Recruitment </a:t>
            </a:r>
            <a:endParaRPr lang="en-CA" sz="3600" b="1"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FDCB193-92AE-478B-93E6-5073A9DD598C}"/>
                  </a:ext>
                </a:extLst>
              </p:cNvPr>
              <p:cNvSpPr txBox="1"/>
              <p:nvPr/>
            </p:nvSpPr>
            <p:spPr>
              <a:xfrm>
                <a:off x="1698629" y="4482631"/>
                <a:ext cx="8681776" cy="1077218"/>
              </a:xfrm>
              <a:prstGeom prst="rect">
                <a:avLst/>
              </a:prstGeom>
              <a:solidFill>
                <a:schemeClr val="accent1">
                  <a:lumMod val="40000"/>
                  <a:lumOff val="60000"/>
                </a:schemeClr>
              </a:solidFill>
              <a:ln>
                <a:solidFill>
                  <a:schemeClr val="tx1"/>
                </a:solidFill>
              </a:ln>
            </p:spPr>
            <p:txBody>
              <a:bodyPr wrap="square" rtlCol="0">
                <a:spAutoFit/>
              </a:bodyPr>
              <a:lstStyle/>
              <a:p>
                <a:pPr algn="ctr"/>
                <a:r>
                  <a:rPr lang="en-CA" sz="3200" dirty="0"/>
                  <a:t>Now that we can calculate the </a:t>
                </a:r>
                <a:r>
                  <a:rPr lang="en-US" sz="3200" dirty="0"/>
                  <a:t>equilibrium SSB for any </a:t>
                </a:r>
                <a14:m>
                  <m:oMath xmlns:m="http://schemas.openxmlformats.org/officeDocument/2006/math">
                    <m:r>
                      <a:rPr lang="en-US" sz="3200" i="1" dirty="0" smtClean="0">
                        <a:latin typeface="Cambria Math" panose="02040503050406030204" pitchFamily="18" charset="0"/>
                      </a:rPr>
                      <m:t>𝐹</m:t>
                    </m:r>
                  </m:oMath>
                </a14:m>
                <a:r>
                  <a:rPr lang="en-US" sz="3200" dirty="0"/>
                  <a:t>, we can calculate the MSY reference points</a:t>
                </a:r>
                <a:endParaRPr lang="en-CA" sz="3200" dirty="0"/>
              </a:p>
            </p:txBody>
          </p:sp>
        </mc:Choice>
        <mc:Fallback xmlns="">
          <p:sp>
            <p:nvSpPr>
              <p:cNvPr id="4" name="TextBox 3">
                <a:extLst>
                  <a:ext uri="{FF2B5EF4-FFF2-40B4-BE49-F238E27FC236}">
                    <a16:creationId xmlns:a16="http://schemas.microsoft.com/office/drawing/2014/main" id="{0FDCB193-92AE-478B-93E6-5073A9DD598C}"/>
                  </a:ext>
                </a:extLst>
              </p:cNvPr>
              <p:cNvSpPr txBox="1">
                <a:spLocks noRot="1" noChangeAspect="1" noMove="1" noResize="1" noEditPoints="1" noAdjustHandles="1" noChangeArrowheads="1" noChangeShapeType="1" noTextEdit="1"/>
              </p:cNvSpPr>
              <p:nvPr/>
            </p:nvSpPr>
            <p:spPr>
              <a:xfrm>
                <a:off x="1698629" y="4482631"/>
                <a:ext cx="8681776" cy="1077218"/>
              </a:xfrm>
              <a:prstGeom prst="rect">
                <a:avLst/>
              </a:prstGeom>
              <a:blipFill>
                <a:blip r:embed="rId3"/>
                <a:stretch>
                  <a:fillRect l="-210" t="-6704" r="-1192" b="-17318"/>
                </a:stretch>
              </a:blipFill>
              <a:ln>
                <a:solidFill>
                  <a:schemeClr val="tx1"/>
                </a:solidFill>
              </a:ln>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EEDFA2F9-C25F-4A63-B46B-7B5C200A39D1}" type="slidenum">
              <a:rPr lang="en-CA" smtClean="0"/>
              <a:t>94</a:t>
            </a:fld>
            <a:endParaRPr lang="en-CA"/>
          </a:p>
        </p:txBody>
      </p:sp>
    </p:spTree>
    <p:extLst>
      <p:ext uri="{BB962C8B-B14F-4D97-AF65-F5344CB8AC3E}">
        <p14:creationId xmlns:p14="http://schemas.microsoft.com/office/powerpoint/2010/main" val="3733407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Reference Points </a:t>
            </a:r>
            <a:r>
              <a:rPr lang="en-US" sz="3600" b="1" dirty="0">
                <a:solidFill>
                  <a:srgbClr val="C00000"/>
                </a:solidFill>
              </a:rPr>
              <a:t>3. MSY</a:t>
            </a:r>
            <a:endParaRPr lang="en-CA" sz="3600" b="1"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82782" y="1389206"/>
                <a:ext cx="10875818" cy="1931728"/>
              </a:xfrm>
            </p:spPr>
            <p:txBody>
              <a:bodyPr>
                <a:noAutofit/>
              </a:bodyPr>
              <a:lstStyle/>
              <a:p>
                <a:r>
                  <a:rPr lang="en-US" dirty="0"/>
                  <a:t>Equilibrium MSY reference points can be determined from calculating: </a:t>
                </a:r>
              </a:p>
              <a:p>
                <a:pPr lvl="1"/>
                <a:r>
                  <a:rPr lang="en-US" u="sng" dirty="0"/>
                  <a:t>Yield</a:t>
                </a:r>
                <a:r>
                  <a:rPr lang="en-US" dirty="0"/>
                  <a:t> = YPR × Equilibrium Recruitment, and </a:t>
                </a:r>
              </a:p>
              <a:p>
                <a:pPr lvl="1"/>
                <a:r>
                  <a:rPr lang="en-US" u="sng" dirty="0"/>
                  <a:t>Equilibrium SSB</a:t>
                </a:r>
                <a:r>
                  <a:rPr lang="en-US" dirty="0"/>
                  <a:t> </a:t>
                </a:r>
              </a:p>
              <a:p>
                <a:pPr marL="0" indent="0">
                  <a:buNone/>
                </a:pPr>
                <a:r>
                  <a:rPr lang="en-US" dirty="0"/>
                  <a:t>over a range of </a:t>
                </a:r>
                <a14:m>
                  <m:oMath xmlns:m="http://schemas.openxmlformats.org/officeDocument/2006/math">
                    <m:r>
                      <a:rPr lang="en-US" i="1" dirty="0" smtClean="0">
                        <a:latin typeface="Cambria Math" panose="02040503050406030204" pitchFamily="18" charset="0"/>
                      </a:rPr>
                      <m:t>𝐹</m:t>
                    </m:r>
                  </m:oMath>
                </a14:m>
                <a:r>
                  <a:rPr lang="en-US" dirty="0"/>
                  <a:t> values using the formulas presented on previous slides.</a:t>
                </a:r>
              </a:p>
              <a:p>
                <a:endParaRPr lang="en-CA" baseline="-25000" dirty="0"/>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82782" y="1389206"/>
                <a:ext cx="10875818" cy="1931728"/>
              </a:xfrm>
              <a:blipFill>
                <a:blip r:embed="rId2"/>
                <a:stretch>
                  <a:fillRect l="-1120" t="-5363" b="-631"/>
                </a:stretch>
              </a:blipFill>
            </p:spPr>
            <p:txBody>
              <a:bodyPr/>
              <a:lstStyle/>
              <a:p>
                <a:r>
                  <a:rPr lang="en-US">
                    <a:noFill/>
                  </a:rPr>
                  <a:t> </a:t>
                </a:r>
              </a:p>
            </p:txBody>
          </p:sp>
        </mc:Fallback>
      </mc:AlternateContent>
      <p:pic>
        <p:nvPicPr>
          <p:cNvPr id="7" name="Picture 6"/>
          <p:cNvPicPr>
            <a:picLocks noChangeAspect="1"/>
          </p:cNvPicPr>
          <p:nvPr/>
        </p:nvPicPr>
        <p:blipFill>
          <a:blip r:embed="rId3"/>
          <a:stretch>
            <a:fillRect/>
          </a:stretch>
        </p:blipFill>
        <p:spPr>
          <a:xfrm>
            <a:off x="838200" y="3892290"/>
            <a:ext cx="4572396" cy="2712955"/>
          </a:xfrm>
          <a:prstGeom prst="rect">
            <a:avLst/>
          </a:prstGeom>
        </p:spPr>
      </p:pic>
      <p:pic>
        <p:nvPicPr>
          <p:cNvPr id="25" name="Picture 24"/>
          <p:cNvPicPr>
            <a:picLocks noChangeAspect="1"/>
          </p:cNvPicPr>
          <p:nvPr/>
        </p:nvPicPr>
        <p:blipFill>
          <a:blip r:embed="rId4"/>
          <a:stretch>
            <a:fillRect/>
          </a:stretch>
        </p:blipFill>
        <p:spPr>
          <a:xfrm>
            <a:off x="6781404" y="3892289"/>
            <a:ext cx="4572396" cy="2712955"/>
          </a:xfrm>
          <a:prstGeom prst="rect">
            <a:avLst/>
          </a:prstGeom>
        </p:spPr>
      </p:pic>
      <p:sp>
        <p:nvSpPr>
          <p:cNvPr id="4" name="Slide Number Placeholder 3"/>
          <p:cNvSpPr>
            <a:spLocks noGrp="1"/>
          </p:cNvSpPr>
          <p:nvPr>
            <p:ph type="sldNum" sz="quarter" idx="12"/>
          </p:nvPr>
        </p:nvSpPr>
        <p:spPr/>
        <p:txBody>
          <a:bodyPr/>
          <a:lstStyle/>
          <a:p>
            <a:fld id="{EEDFA2F9-C25F-4A63-B46B-7B5C200A39D1}" type="slidenum">
              <a:rPr lang="en-CA" smtClean="0"/>
              <a:t>95</a:t>
            </a:fld>
            <a:endParaRPr lang="en-CA"/>
          </a:p>
        </p:txBody>
      </p:sp>
    </p:spTree>
    <p:extLst>
      <p:ext uri="{BB962C8B-B14F-4D97-AF65-F5344CB8AC3E}">
        <p14:creationId xmlns:p14="http://schemas.microsoft.com/office/powerpoint/2010/main" val="299432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Reference Points </a:t>
            </a:r>
            <a:r>
              <a:rPr lang="en-US" sz="3600" b="1" dirty="0">
                <a:solidFill>
                  <a:srgbClr val="C00000"/>
                </a:solidFill>
              </a:rPr>
              <a:t>3. MSY</a:t>
            </a:r>
            <a:endParaRPr lang="en-CA" sz="3600"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89709" y="1435096"/>
                <a:ext cx="10515600" cy="1931728"/>
              </a:xfrm>
            </p:spPr>
            <p:txBody>
              <a:bodyPr>
                <a:normAutofit fontScale="85000" lnSpcReduction="10000"/>
              </a:bodyPr>
              <a:lstStyle/>
              <a:p>
                <a14:m>
                  <m:oMath xmlns:m="http://schemas.openxmlformats.org/officeDocument/2006/math">
                    <m:r>
                      <a:rPr lang="en-CA" i="1" dirty="0" smtClean="0">
                        <a:solidFill>
                          <a:schemeClr val="accent2"/>
                        </a:solidFill>
                        <a:latin typeface="Cambria Math" panose="02040503050406030204" pitchFamily="18" charset="0"/>
                      </a:rPr>
                      <m:t>𝐹</m:t>
                    </m:r>
                    <m:r>
                      <a:rPr lang="en-CA" i="1" baseline="-25000" dirty="0">
                        <a:solidFill>
                          <a:schemeClr val="accent2"/>
                        </a:solidFill>
                        <a:latin typeface="Cambria Math" panose="02040503050406030204" pitchFamily="18" charset="0"/>
                      </a:rPr>
                      <m:t>𝑀𝑆𝑌</m:t>
                    </m:r>
                    <m:r>
                      <m:rPr>
                        <m:nor/>
                      </m:rPr>
                      <a:rPr lang="en-CA" i="0" baseline="-25000" dirty="0"/>
                      <m:t> </m:t>
                    </m:r>
                    <m:r>
                      <m:rPr>
                        <m:nor/>
                      </m:rPr>
                      <a:rPr lang="en-CA" i="0" dirty="0"/>
                      <m:t>= Fishing mortality rate that results in </m:t>
                    </m:r>
                    <m:r>
                      <m:rPr>
                        <m:nor/>
                      </m:rPr>
                      <a:rPr lang="en-US" i="0" dirty="0"/>
                      <m:t>maximum yield</m:t>
                    </m:r>
                    <m:r>
                      <m:rPr>
                        <m:nor/>
                      </m:rPr>
                      <a:rPr lang="en-CA" i="0" dirty="0"/>
                      <m:t> over the long term</m:t>
                    </m:r>
                  </m:oMath>
                </a14:m>
                <a:endParaRPr lang="en-US" baseline="-25000" dirty="0"/>
              </a:p>
              <a:p>
                <a14:m>
                  <m:oMath xmlns:m="http://schemas.openxmlformats.org/officeDocument/2006/math">
                    <m:r>
                      <a:rPr lang="en-CA" i="1" dirty="0">
                        <a:solidFill>
                          <a:srgbClr val="C00000"/>
                        </a:solidFill>
                        <a:latin typeface="Cambria Math" panose="02040503050406030204" pitchFamily="18" charset="0"/>
                      </a:rPr>
                      <m:t>𝑀𝑆𝑌</m:t>
                    </m:r>
                    <m:r>
                      <m:rPr>
                        <m:nor/>
                      </m:rPr>
                      <a:rPr lang="en-CA" i="0" dirty="0"/>
                      <m:t> = the largest catch </m:t>
                    </m:r>
                    <m:r>
                      <m:rPr>
                        <m:nor/>
                      </m:rPr>
                      <a:rPr lang="en-US" b="0" i="0" dirty="0" smtClean="0"/>
                      <m:t>(yield) </m:t>
                    </m:r>
                    <m:r>
                      <m:rPr>
                        <m:nor/>
                      </m:rPr>
                      <a:rPr lang="en-CA" i="0" dirty="0"/>
                      <m:t>that can be continuously removed from the stock assuming constant environmental conditions (equilibrium)</m:t>
                    </m:r>
                  </m:oMath>
                </a14:m>
                <a:endParaRPr lang="en-CA" dirty="0"/>
              </a:p>
              <a:p>
                <a14:m>
                  <m:oMath xmlns:m="http://schemas.openxmlformats.org/officeDocument/2006/math">
                    <m:r>
                      <a:rPr lang="en-CA" i="1" dirty="0" smtClean="0">
                        <a:solidFill>
                          <a:srgbClr val="0000FF"/>
                        </a:solidFill>
                        <a:latin typeface="Cambria Math" panose="02040503050406030204" pitchFamily="18" charset="0"/>
                      </a:rPr>
                      <m:t>𝐵</m:t>
                    </m:r>
                    <m:r>
                      <a:rPr lang="en-CA" i="1" baseline="-25000" dirty="0">
                        <a:solidFill>
                          <a:srgbClr val="0000FF"/>
                        </a:solidFill>
                        <a:latin typeface="Cambria Math" panose="02040503050406030204" pitchFamily="18" charset="0"/>
                      </a:rPr>
                      <m:t>𝑀𝑆𝑌</m:t>
                    </m:r>
                  </m:oMath>
                </a14:m>
                <a:r>
                  <a:rPr lang="en-CA" dirty="0"/>
                  <a:t> = average long-term biomass (SSB) from fishing at a constant </a:t>
                </a:r>
                <a14:m>
                  <m:oMath xmlns:m="http://schemas.openxmlformats.org/officeDocument/2006/math">
                    <m:r>
                      <a:rPr lang="en-CA" i="1" dirty="0" smtClean="0">
                        <a:solidFill>
                          <a:schemeClr val="accent2"/>
                        </a:solidFill>
                        <a:latin typeface="Cambria Math" panose="02040503050406030204" pitchFamily="18" charset="0"/>
                      </a:rPr>
                      <m:t>𝐹</m:t>
                    </m:r>
                    <m:r>
                      <a:rPr lang="en-CA" i="1" baseline="-25000" dirty="0">
                        <a:solidFill>
                          <a:schemeClr val="accent2"/>
                        </a:solidFill>
                        <a:latin typeface="Cambria Math" panose="02040503050406030204" pitchFamily="18" charset="0"/>
                      </a:rPr>
                      <m:t>𝑀𝑆𝑌</m:t>
                    </m:r>
                  </m:oMath>
                </a14:m>
                <a:r>
                  <a:rPr lang="en-CA" dirty="0"/>
                  <a:t> over the long term</a:t>
                </a:r>
              </a:p>
              <a:p>
                <a:endParaRPr lang="en-US" dirty="0"/>
              </a:p>
              <a:p>
                <a:endParaRPr lang="en-CA" baseline="-25000" dirty="0"/>
              </a:p>
              <a:p>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89709" y="1435096"/>
                <a:ext cx="10515600" cy="1931728"/>
              </a:xfrm>
              <a:blipFill>
                <a:blip r:embed="rId2"/>
                <a:stretch>
                  <a:fillRect l="-812" t="-3155" b="-5994"/>
                </a:stretch>
              </a:blipFill>
            </p:spPr>
            <p:txBody>
              <a:bodyPr/>
              <a:lstStyle/>
              <a:p>
                <a:r>
                  <a:rPr lang="en-US">
                    <a:noFill/>
                  </a:rPr>
                  <a:t> </a:t>
                </a:r>
              </a:p>
            </p:txBody>
          </p:sp>
        </mc:Fallback>
      </mc:AlternateContent>
      <p:pic>
        <p:nvPicPr>
          <p:cNvPr id="7" name="Picture 6"/>
          <p:cNvPicPr>
            <a:picLocks noChangeAspect="1"/>
          </p:cNvPicPr>
          <p:nvPr/>
        </p:nvPicPr>
        <p:blipFill>
          <a:blip r:embed="rId3"/>
          <a:stretch>
            <a:fillRect/>
          </a:stretch>
        </p:blipFill>
        <p:spPr>
          <a:xfrm>
            <a:off x="838200" y="3892290"/>
            <a:ext cx="4572396" cy="2712955"/>
          </a:xfrm>
          <a:prstGeom prst="rect">
            <a:avLst/>
          </a:prstGeom>
        </p:spPr>
      </p:pic>
      <p:cxnSp>
        <p:nvCxnSpPr>
          <p:cNvPr id="9" name="Straight Arrow Connector 8"/>
          <p:cNvCxnSpPr/>
          <p:nvPr/>
        </p:nvCxnSpPr>
        <p:spPr>
          <a:xfrm flipH="1">
            <a:off x="1392580" y="4148051"/>
            <a:ext cx="266009"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5" name="Picture 24"/>
          <p:cNvPicPr>
            <a:picLocks noChangeAspect="1"/>
          </p:cNvPicPr>
          <p:nvPr/>
        </p:nvPicPr>
        <p:blipFill>
          <a:blip r:embed="rId4"/>
          <a:stretch>
            <a:fillRect/>
          </a:stretch>
        </p:blipFill>
        <p:spPr>
          <a:xfrm>
            <a:off x="6781404" y="3892289"/>
            <a:ext cx="4572396" cy="2712955"/>
          </a:xfrm>
          <a:prstGeom prst="rect">
            <a:avLst/>
          </a:prstGeom>
        </p:spPr>
      </p:pic>
      <p:cxnSp>
        <p:nvCxnSpPr>
          <p:cNvPr id="28" name="Straight Arrow Connector 27"/>
          <p:cNvCxnSpPr/>
          <p:nvPr/>
        </p:nvCxnSpPr>
        <p:spPr>
          <a:xfrm flipH="1">
            <a:off x="7314013" y="5497484"/>
            <a:ext cx="266009"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EDFA2F9-C25F-4A63-B46B-7B5C200A39D1}" type="slidenum">
              <a:rPr lang="en-CA" smtClean="0"/>
              <a:t>96</a:t>
            </a:fld>
            <a:endParaRPr lang="en-CA"/>
          </a:p>
        </p:txBody>
      </p:sp>
    </p:spTree>
    <p:extLst>
      <p:ext uri="{BB962C8B-B14F-4D97-AF65-F5344CB8AC3E}">
        <p14:creationId xmlns:p14="http://schemas.microsoft.com/office/powerpoint/2010/main" val="130454872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838200" y="367829"/>
            <a:ext cx="10540943" cy="1325563"/>
          </a:xfrm>
          <a:prstGeom prst="rect">
            <a:avLst/>
          </a:prstGeom>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Reference Points </a:t>
            </a:r>
            <a:r>
              <a:rPr lang="en-US" sz="3600" b="1" dirty="0">
                <a:solidFill>
                  <a:srgbClr val="C00000"/>
                </a:solidFill>
              </a:rPr>
              <a:t>3. MSY</a:t>
            </a:r>
            <a:endParaRPr lang="en-CA" sz="36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07473" y="1628486"/>
                <a:ext cx="11112062" cy="1931728"/>
              </a:xfrm>
            </p:spPr>
            <p:txBody>
              <a:bodyPr>
                <a:normAutofit fontScale="85000" lnSpcReduction="20000"/>
              </a:bodyPr>
              <a:lstStyle/>
              <a:p>
                <a:endParaRPr lang="en-US" dirty="0"/>
              </a:p>
              <a:p>
                <a14:m>
                  <m:oMath xmlns:m="http://schemas.openxmlformats.org/officeDocument/2006/math">
                    <m:r>
                      <a:rPr lang="en-US" sz="3000" i="1" dirty="0" smtClean="0">
                        <a:solidFill>
                          <a:srgbClr val="C00000"/>
                        </a:solidFill>
                        <a:latin typeface="Cambria Math" panose="02040503050406030204" pitchFamily="18" charset="0"/>
                      </a:rPr>
                      <m:t>𝑌𝑖𝑒𝑙𝑑</m:t>
                    </m:r>
                    <m:r>
                      <a:rPr lang="en-US" sz="3000" i="1" baseline="-25000" dirty="0" err="1">
                        <a:solidFill>
                          <a:srgbClr val="C00000"/>
                        </a:solidFill>
                        <a:latin typeface="Cambria Math" panose="02040503050406030204" pitchFamily="18" charset="0"/>
                      </a:rPr>
                      <m:t>𝐹</m:t>
                    </m:r>
                    <m:r>
                      <a:rPr lang="en-US" sz="3000" i="1" dirty="0">
                        <a:latin typeface="Cambria Math" panose="02040503050406030204" pitchFamily="18" charset="0"/>
                      </a:rPr>
                      <m:t> = </m:t>
                    </m:r>
                    <m:r>
                      <a:rPr lang="en-US" sz="3000" i="1" dirty="0">
                        <a:solidFill>
                          <a:schemeClr val="accent6">
                            <a:lumMod val="75000"/>
                          </a:schemeClr>
                        </a:solidFill>
                        <a:latin typeface="Cambria Math" panose="02040503050406030204" pitchFamily="18" charset="0"/>
                      </a:rPr>
                      <m:t>𝑌𝑃𝑅</m:t>
                    </m:r>
                    <m:r>
                      <a:rPr lang="en-US" sz="3000" i="1" baseline="-25000" dirty="0">
                        <a:solidFill>
                          <a:schemeClr val="accent6">
                            <a:lumMod val="75000"/>
                          </a:schemeClr>
                        </a:solidFill>
                        <a:latin typeface="Cambria Math" panose="02040503050406030204" pitchFamily="18" charset="0"/>
                      </a:rPr>
                      <m:t>𝐹</m:t>
                    </m:r>
                    <m:r>
                      <a:rPr lang="en-US" sz="3000" i="1" dirty="0">
                        <a:solidFill>
                          <a:schemeClr val="accent6">
                            <a:lumMod val="75000"/>
                          </a:schemeClr>
                        </a:solidFill>
                        <a:latin typeface="Cambria Math" panose="02040503050406030204" pitchFamily="18" charset="0"/>
                      </a:rPr>
                      <m:t> </m:t>
                    </m:r>
                    <m:r>
                      <a:rPr lang="en-US" sz="3000" i="1" dirty="0">
                        <a:latin typeface="Cambria Math" panose="02040503050406030204" pitchFamily="18" charset="0"/>
                      </a:rPr>
                      <m:t>× </m:t>
                    </m:r>
                    <m:r>
                      <a:rPr lang="en-US" sz="3000" i="1" dirty="0">
                        <a:solidFill>
                          <a:srgbClr val="7030A0"/>
                        </a:solidFill>
                        <a:latin typeface="Cambria Math" panose="02040503050406030204" pitchFamily="18" charset="0"/>
                      </a:rPr>
                      <m:t>𝑅</m:t>
                    </m:r>
                    <m:r>
                      <a:rPr lang="en-US" sz="3000" i="1" baseline="-25000" dirty="0">
                        <a:solidFill>
                          <a:srgbClr val="7030A0"/>
                        </a:solidFill>
                        <a:latin typeface="Cambria Math" panose="02040503050406030204" pitchFamily="18" charset="0"/>
                      </a:rPr>
                      <m:t>𝐹</m:t>
                    </m:r>
                  </m:oMath>
                </a14:m>
                <a:endParaRPr lang="en-US" sz="3000" baseline="-25000" dirty="0">
                  <a:solidFill>
                    <a:srgbClr val="7030A0"/>
                  </a:solidFill>
                </a:endParaRPr>
              </a:p>
              <a:p>
                <a:endParaRPr lang="en-US" sz="3000" baseline="-25000" dirty="0">
                  <a:solidFill>
                    <a:srgbClr val="7030A0"/>
                  </a:solidFill>
                </a:endParaRPr>
              </a:p>
              <a:p>
                <a14:m>
                  <m:oMath xmlns:m="http://schemas.openxmlformats.org/officeDocument/2006/math">
                    <m:r>
                      <a:rPr lang="en-CA" sz="3000" i="1" dirty="0">
                        <a:solidFill>
                          <a:schemeClr val="accent2"/>
                        </a:solidFill>
                        <a:latin typeface="Cambria Math" panose="02040503050406030204" pitchFamily="18" charset="0"/>
                      </a:rPr>
                      <m:t>𝐹</m:t>
                    </m:r>
                    <m:r>
                      <a:rPr lang="en-CA" sz="3000" i="1" baseline="-25000" dirty="0">
                        <a:solidFill>
                          <a:schemeClr val="accent2"/>
                        </a:solidFill>
                        <a:latin typeface="Cambria Math" panose="02040503050406030204" pitchFamily="18" charset="0"/>
                      </a:rPr>
                      <m:t>𝑀𝑆𝑌</m:t>
                    </m:r>
                    <m:r>
                      <m:rPr>
                        <m:nor/>
                      </m:rPr>
                      <a:rPr lang="en-CA" sz="3000" i="0" baseline="-25000" dirty="0"/>
                      <m:t> </m:t>
                    </m:r>
                  </m:oMath>
                </a14:m>
                <a:r>
                  <a:rPr lang="en-US" sz="3000" dirty="0"/>
                  <a:t>: calculate yield for various </a:t>
                </a:r>
                <a14:m>
                  <m:oMath xmlns:m="http://schemas.openxmlformats.org/officeDocument/2006/math">
                    <m:r>
                      <a:rPr lang="en-US" sz="3000" i="1" dirty="0" smtClean="0">
                        <a:latin typeface="Cambria Math" panose="02040503050406030204" pitchFamily="18" charset="0"/>
                      </a:rPr>
                      <m:t>𝐹</m:t>
                    </m:r>
                  </m:oMath>
                </a14:m>
                <a:r>
                  <a:rPr lang="en-US" sz="3000" dirty="0"/>
                  <a:t> and identify the </a:t>
                </a:r>
                <a14:m>
                  <m:oMath xmlns:m="http://schemas.openxmlformats.org/officeDocument/2006/math">
                    <m:r>
                      <a:rPr lang="en-US" sz="3000" i="1" dirty="0">
                        <a:latin typeface="Cambria Math" panose="02040503050406030204" pitchFamily="18" charset="0"/>
                      </a:rPr>
                      <m:t>𝐹</m:t>
                    </m:r>
                  </m:oMath>
                </a14:m>
                <a:r>
                  <a:rPr lang="en-US" sz="3000" dirty="0"/>
                  <a:t> where yield is at its maximum</a:t>
                </a:r>
                <a:endParaRPr lang="en-CA" sz="3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07473" y="1628486"/>
                <a:ext cx="11112062" cy="1931728"/>
              </a:xfrm>
              <a:blipFill>
                <a:blip r:embed="rId2"/>
                <a:stretch>
                  <a:fillRect b="-3470"/>
                </a:stretch>
              </a:blipFill>
            </p:spPr>
            <p:txBody>
              <a:bodyPr/>
              <a:lstStyle/>
              <a:p>
                <a:r>
                  <a:rPr lang="en-US">
                    <a:noFill/>
                  </a:rPr>
                  <a:t> </a:t>
                </a:r>
              </a:p>
            </p:txBody>
          </p:sp>
        </mc:Fallback>
      </mc:AlternateContent>
      <p:pic>
        <p:nvPicPr>
          <p:cNvPr id="7" name="Picture 6"/>
          <p:cNvPicPr>
            <a:picLocks noChangeAspect="1"/>
          </p:cNvPicPr>
          <p:nvPr/>
        </p:nvPicPr>
        <p:blipFill>
          <a:blip r:embed="rId3"/>
          <a:stretch>
            <a:fillRect/>
          </a:stretch>
        </p:blipFill>
        <p:spPr>
          <a:xfrm>
            <a:off x="838200" y="3892290"/>
            <a:ext cx="4572396" cy="2712955"/>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5410596" y="1296410"/>
                <a:ext cx="4987240" cy="461665"/>
              </a:xfrm>
              <a:prstGeom prst="rect">
                <a:avLst/>
              </a:prstGeom>
              <a:noFill/>
            </p:spPr>
            <p:txBody>
              <a:bodyPr wrap="square" rtlCol="0">
                <a:spAutoFit/>
              </a:bodyPr>
              <a:lstStyle/>
              <a:p>
                <a:r>
                  <a:rPr lang="en-US" sz="2400" dirty="0">
                    <a:solidFill>
                      <a:srgbClr val="C00000"/>
                    </a:solidFill>
                  </a:rPr>
                  <a:t>Equilibrium Yield at a specified </a:t>
                </a:r>
                <a14:m>
                  <m:oMath xmlns:m="http://schemas.openxmlformats.org/officeDocument/2006/math">
                    <m:r>
                      <a:rPr lang="en-US" sz="2400" i="1" dirty="0" smtClean="0">
                        <a:solidFill>
                          <a:srgbClr val="C00000"/>
                        </a:solidFill>
                        <a:latin typeface="Cambria Math" panose="02040503050406030204" pitchFamily="18" charset="0"/>
                      </a:rPr>
                      <m:t>𝐹</m:t>
                    </m:r>
                  </m:oMath>
                </a14:m>
                <a:endParaRPr lang="en-CA" sz="2400" dirty="0">
                  <a:solidFill>
                    <a:srgbClr val="C00000"/>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5410596" y="1296410"/>
                <a:ext cx="4987240" cy="461665"/>
              </a:xfrm>
              <a:prstGeom prst="rect">
                <a:avLst/>
              </a:prstGeom>
              <a:blipFill>
                <a:blip r:embed="rId4"/>
                <a:stretch>
                  <a:fillRect l="-1956" t="-10667"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5410596" y="1695803"/>
                <a:ext cx="4987240" cy="461665"/>
              </a:xfrm>
              <a:prstGeom prst="rect">
                <a:avLst/>
              </a:prstGeom>
              <a:noFill/>
            </p:spPr>
            <p:txBody>
              <a:bodyPr wrap="square" rtlCol="0">
                <a:spAutoFit/>
              </a:bodyPr>
              <a:lstStyle/>
              <a:p>
                <a:r>
                  <a:rPr lang="en-US" sz="2400" dirty="0">
                    <a:solidFill>
                      <a:schemeClr val="accent6">
                        <a:lumMod val="75000"/>
                      </a:schemeClr>
                    </a:solidFill>
                  </a:rPr>
                  <a:t>Yield-per-recruit at a specified </a:t>
                </a:r>
                <a14:m>
                  <m:oMath xmlns:m="http://schemas.openxmlformats.org/officeDocument/2006/math">
                    <m:r>
                      <a:rPr lang="en-US" sz="2400" i="1" dirty="0" smtClean="0">
                        <a:solidFill>
                          <a:schemeClr val="accent6">
                            <a:lumMod val="75000"/>
                          </a:schemeClr>
                        </a:solidFill>
                        <a:latin typeface="Cambria Math" panose="02040503050406030204" pitchFamily="18" charset="0"/>
                      </a:rPr>
                      <m:t>𝐹</m:t>
                    </m:r>
                  </m:oMath>
                </a14:m>
                <a:endParaRPr lang="en-CA" sz="2400" dirty="0">
                  <a:solidFill>
                    <a:schemeClr val="accent6">
                      <a:lumMod val="75000"/>
                    </a:schemeClr>
                  </a:solidFill>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5410596" y="1695803"/>
                <a:ext cx="4987240" cy="461665"/>
              </a:xfrm>
              <a:prstGeom prst="rect">
                <a:avLst/>
              </a:prstGeom>
              <a:blipFill>
                <a:blip r:embed="rId5"/>
                <a:stretch>
                  <a:fillRect l="-1956"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5170069" y="2154558"/>
                <a:ext cx="5306953" cy="461665"/>
              </a:xfrm>
              <a:prstGeom prst="rect">
                <a:avLst/>
              </a:prstGeom>
              <a:noFill/>
            </p:spPr>
            <p:txBody>
              <a:bodyPr wrap="square" rtlCol="0">
                <a:spAutoFit/>
              </a:bodyPr>
              <a:lstStyle/>
              <a:p>
                <a:r>
                  <a:rPr lang="en-US" sz="2400" dirty="0">
                    <a:solidFill>
                      <a:srgbClr val="7030A0"/>
                    </a:solidFill>
                  </a:rPr>
                  <a:t>Equilibrium Recruitment at a specified </a:t>
                </a:r>
                <a14:m>
                  <m:oMath xmlns:m="http://schemas.openxmlformats.org/officeDocument/2006/math">
                    <m:r>
                      <a:rPr lang="en-US" sz="2400" i="1" dirty="0" smtClean="0">
                        <a:solidFill>
                          <a:srgbClr val="7030A0"/>
                        </a:solidFill>
                        <a:latin typeface="Cambria Math" panose="02040503050406030204" pitchFamily="18" charset="0"/>
                      </a:rPr>
                      <m:t>𝐹</m:t>
                    </m:r>
                  </m:oMath>
                </a14:m>
                <a:endParaRPr lang="en-CA" sz="2400" dirty="0">
                  <a:solidFill>
                    <a:srgbClr val="7030A0"/>
                  </a:solidFill>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5170069" y="2154558"/>
                <a:ext cx="5306953" cy="461665"/>
              </a:xfrm>
              <a:prstGeom prst="rect">
                <a:avLst/>
              </a:prstGeom>
              <a:blipFill>
                <a:blip r:embed="rId6"/>
                <a:stretch>
                  <a:fillRect l="-1722" t="-10526" b="-289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EB33063-9281-4394-9697-76A6095A8767}"/>
                  </a:ext>
                </a:extLst>
              </p:cNvPr>
              <p:cNvSpPr txBox="1"/>
              <p:nvPr/>
            </p:nvSpPr>
            <p:spPr>
              <a:xfrm>
                <a:off x="1392580" y="6103222"/>
                <a:ext cx="588442" cy="369332"/>
              </a:xfrm>
              <a:prstGeom prst="rect">
                <a:avLst/>
              </a:prstGeom>
              <a:noFill/>
            </p:spPr>
            <p:txBody>
              <a:bodyPr wrap="square" rtlCol="0">
                <a:spAutoFit/>
              </a:bodyPr>
              <a:lstStyle/>
              <a:p>
                <a:pPr/>
                <a14:m>
                  <m:oMathPara xmlns:m="http://schemas.openxmlformats.org/officeDocument/2006/math">
                    <m:oMath>
                      <m:sSub>
                        <m:sSubPr>
                          <m:ctrlPr>
                            <a:rPr lang="en-US" b="0" i="1" dirty="0" smtClean="0">
                              <a:solidFill>
                                <a:schemeClr val="accent2"/>
                              </a:solidFill>
                              <a:latin typeface="Cambria Math" panose="02040503050406030204" pitchFamily="18" charset="0"/>
                            </a:rPr>
                          </m:ctrlPr>
                        </m:sSubPr>
                        <m:e>
                          <m:r>
                            <a:rPr lang="en-US" b="0" i="1" dirty="0" smtClean="0">
                              <a:solidFill>
                                <a:schemeClr val="accent2"/>
                              </a:solidFill>
                              <a:latin typeface="Cambria Math" panose="02040503050406030204" pitchFamily="18" charset="0"/>
                            </a:rPr>
                            <m:t>𝐹</m:t>
                          </m:r>
                        </m:e>
                        <m:sub>
                          <m:r>
                            <a:rPr lang="en-US" b="0" i="1" dirty="0" smtClean="0">
                              <a:solidFill>
                                <a:schemeClr val="accent2"/>
                              </a:solidFill>
                              <a:latin typeface="Cambria Math" panose="02040503050406030204" pitchFamily="18" charset="0"/>
                            </a:rPr>
                            <m:t>𝑀𝑆𝑌</m:t>
                          </m:r>
                        </m:sub>
                      </m:sSub>
                    </m:oMath>
                  </m:oMathPara>
                </a14:m>
                <a:endParaRPr lang="en-CA" dirty="0">
                  <a:solidFill>
                    <a:schemeClr val="accent2"/>
                  </a:solidFill>
                </a:endParaRPr>
              </a:p>
            </p:txBody>
          </p:sp>
        </mc:Choice>
        <mc:Fallback xmlns="">
          <p:sp>
            <p:nvSpPr>
              <p:cNvPr id="14" name="TextBox 13">
                <a:extLst>
                  <a:ext uri="{FF2B5EF4-FFF2-40B4-BE49-F238E27FC236}">
                    <a16:creationId xmlns:a16="http://schemas.microsoft.com/office/drawing/2014/main" id="{FEB33063-9281-4394-9697-76A6095A8767}"/>
                  </a:ext>
                </a:extLst>
              </p:cNvPr>
              <p:cNvSpPr txBox="1">
                <a:spLocks noRot="1" noChangeAspect="1" noMove="1" noResize="1" noEditPoints="1" noAdjustHandles="1" noChangeArrowheads="1" noChangeShapeType="1" noTextEdit="1"/>
              </p:cNvSpPr>
              <p:nvPr/>
            </p:nvSpPr>
            <p:spPr>
              <a:xfrm>
                <a:off x="1392580" y="6103222"/>
                <a:ext cx="588442" cy="369332"/>
              </a:xfrm>
              <a:prstGeom prst="rect">
                <a:avLst/>
              </a:prstGeom>
              <a:blipFill>
                <a:blip r:embed="rId9"/>
                <a:stretch>
                  <a:fillRect r="-4124"/>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EEDFA2F9-C25F-4A63-B46B-7B5C200A39D1}" type="slidenum">
              <a:rPr lang="en-CA" smtClean="0"/>
              <a:t>97</a:t>
            </a:fld>
            <a:endParaRPr lang="en-CA"/>
          </a:p>
        </p:txBody>
      </p:sp>
    </p:spTree>
    <p:extLst>
      <p:ext uri="{BB962C8B-B14F-4D97-AF65-F5344CB8AC3E}">
        <p14:creationId xmlns:p14="http://schemas.microsoft.com/office/powerpoint/2010/main" val="1871620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838200" y="367829"/>
            <a:ext cx="10540943" cy="1325563"/>
          </a:xfrm>
          <a:prstGeom prst="rect">
            <a:avLst/>
          </a:prstGeom>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t>Reference Points </a:t>
            </a:r>
            <a:r>
              <a:rPr lang="en-US" sz="3600" b="1" dirty="0">
                <a:solidFill>
                  <a:srgbClr val="C00000"/>
                </a:solidFill>
              </a:rPr>
              <a:t>3. MSY</a:t>
            </a:r>
            <a:endParaRPr lang="en-CA" sz="36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1931728"/>
              </a:xfrm>
            </p:spPr>
            <p:txBody>
              <a:bodyPr>
                <a:normAutofit/>
              </a:bodyPr>
              <a:lstStyle/>
              <a:p>
                <a14:m>
                  <m:oMath xmlns:m="http://schemas.openxmlformats.org/officeDocument/2006/math">
                    <m:r>
                      <m:rPr>
                        <m:sty m:val="p"/>
                      </m:rPr>
                      <a:rPr lang="en-US" sz="3200" i="0" dirty="0" smtClean="0">
                        <a:solidFill>
                          <a:srgbClr val="C00000"/>
                        </a:solidFill>
                        <a:latin typeface="Cambria Math" panose="02040503050406030204" pitchFamily="18" charset="0"/>
                      </a:rPr>
                      <m:t>MSY</m:t>
                    </m:r>
                    <m:r>
                      <a:rPr lang="en-US" sz="3200" b="0" i="0" dirty="0" smtClean="0">
                        <a:solidFill>
                          <a:schemeClr val="tx1"/>
                        </a:solidFill>
                        <a:latin typeface="Cambria Math" panose="02040503050406030204" pitchFamily="18" charset="0"/>
                      </a:rPr>
                      <m:t>=</m:t>
                    </m:r>
                  </m:oMath>
                </a14:m>
                <a:r>
                  <a:rPr lang="en-US" sz="3200" dirty="0"/>
                  <a:t> yield at </a:t>
                </a:r>
                <a14:m>
                  <m:oMath xmlns:m="http://schemas.openxmlformats.org/officeDocument/2006/math">
                    <m:r>
                      <a:rPr lang="en-CA" sz="3200" i="1" dirty="0" smtClean="0">
                        <a:solidFill>
                          <a:schemeClr val="accent2"/>
                        </a:solidFill>
                        <a:latin typeface="Cambria Math" panose="02040503050406030204" pitchFamily="18" charset="0"/>
                      </a:rPr>
                      <m:t>𝐹</m:t>
                    </m:r>
                    <m:r>
                      <a:rPr lang="en-CA" sz="3200" i="1" baseline="-25000" dirty="0">
                        <a:solidFill>
                          <a:schemeClr val="accent2"/>
                        </a:solidFill>
                        <a:latin typeface="Cambria Math" panose="02040503050406030204" pitchFamily="18" charset="0"/>
                      </a:rPr>
                      <m:t>𝑀𝑆𝑌</m:t>
                    </m:r>
                  </m:oMath>
                </a14:m>
                <a:endParaRPr lang="en-US" sz="3200" dirty="0"/>
              </a:p>
              <a:p>
                <a14:m>
                  <m:oMath xmlns:m="http://schemas.openxmlformats.org/officeDocument/2006/math">
                    <m:sSub>
                      <m:sSubPr>
                        <m:ctrlPr>
                          <a:rPr lang="en-US" sz="3200" b="0" i="1" dirty="0" smtClean="0">
                            <a:solidFill>
                              <a:srgbClr val="0000FF"/>
                            </a:solidFill>
                            <a:latin typeface="Cambria Math" panose="02040503050406030204" pitchFamily="18" charset="0"/>
                          </a:rPr>
                        </m:ctrlPr>
                      </m:sSubPr>
                      <m:e>
                        <m:r>
                          <a:rPr lang="en-US" sz="3200" b="0" i="1" dirty="0" smtClean="0">
                            <a:solidFill>
                              <a:srgbClr val="0000FF"/>
                            </a:solidFill>
                            <a:latin typeface="Cambria Math" panose="02040503050406030204" pitchFamily="18" charset="0"/>
                          </a:rPr>
                          <m:t>𝑆𝑆𝐵</m:t>
                        </m:r>
                      </m:e>
                      <m:sub>
                        <m:r>
                          <m:rPr>
                            <m:sty m:val="p"/>
                          </m:rPr>
                          <a:rPr lang="en-US" sz="3200" b="0" i="0" dirty="0" smtClean="0">
                            <a:solidFill>
                              <a:srgbClr val="0000FF"/>
                            </a:solidFill>
                            <a:latin typeface="Cambria Math" panose="02040503050406030204" pitchFamily="18" charset="0"/>
                          </a:rPr>
                          <m:t>MSY</m:t>
                        </m:r>
                      </m:sub>
                    </m:sSub>
                    <m:r>
                      <a:rPr lang="en-US" sz="3200" b="0" i="0" dirty="0" smtClean="0">
                        <a:solidFill>
                          <a:schemeClr val="tx1"/>
                        </a:solidFill>
                        <a:latin typeface="Cambria Math" panose="02040503050406030204" pitchFamily="18" charset="0"/>
                      </a:rPr>
                      <m:t>=</m:t>
                    </m:r>
                  </m:oMath>
                </a14:m>
                <a:r>
                  <a:rPr lang="en-US" sz="3200" baseline="-25000" dirty="0">
                    <a:solidFill>
                      <a:schemeClr val="tx1"/>
                    </a:solidFill>
                  </a:rPr>
                  <a:t> </a:t>
                </a:r>
                <a:r>
                  <a:rPr lang="en-US" sz="3200" dirty="0">
                    <a:solidFill>
                      <a:schemeClr val="tx1"/>
                    </a:solidFill>
                  </a:rPr>
                  <a:t>equilibrium biomass at </a:t>
                </a:r>
                <a14:m>
                  <m:oMath xmlns:m="http://schemas.openxmlformats.org/officeDocument/2006/math">
                    <m:r>
                      <a:rPr lang="en-CA" sz="3200" i="1" dirty="0">
                        <a:solidFill>
                          <a:schemeClr val="accent2"/>
                        </a:solidFill>
                        <a:latin typeface="Cambria Math" panose="02040503050406030204" pitchFamily="18" charset="0"/>
                      </a:rPr>
                      <m:t>𝐹</m:t>
                    </m:r>
                    <m:r>
                      <a:rPr lang="en-CA" sz="3200" i="1" baseline="-25000" dirty="0">
                        <a:solidFill>
                          <a:schemeClr val="accent2"/>
                        </a:solidFill>
                        <a:latin typeface="Cambria Math" panose="02040503050406030204" pitchFamily="18" charset="0"/>
                      </a:rPr>
                      <m:t>𝑀𝑆𝑌</m:t>
                    </m:r>
                  </m:oMath>
                </a14:m>
                <a:endParaRPr lang="en-US" sz="3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1931728"/>
              </a:xfrm>
              <a:blipFill>
                <a:blip r:embed="rId2"/>
                <a:stretch>
                  <a:fillRect t="-6309"/>
                </a:stretch>
              </a:blipFill>
            </p:spPr>
            <p:txBody>
              <a:bodyPr/>
              <a:lstStyle/>
              <a:p>
                <a:r>
                  <a:rPr lang="en-US">
                    <a:noFill/>
                  </a:rPr>
                  <a:t> </a:t>
                </a:r>
              </a:p>
            </p:txBody>
          </p:sp>
        </mc:Fallback>
      </mc:AlternateContent>
      <p:pic>
        <p:nvPicPr>
          <p:cNvPr id="7" name="Picture 6"/>
          <p:cNvPicPr>
            <a:picLocks noChangeAspect="1"/>
          </p:cNvPicPr>
          <p:nvPr/>
        </p:nvPicPr>
        <p:blipFill>
          <a:blip r:embed="rId3"/>
          <a:stretch>
            <a:fillRect/>
          </a:stretch>
        </p:blipFill>
        <p:spPr>
          <a:xfrm>
            <a:off x="838200" y="3892290"/>
            <a:ext cx="4572396" cy="2712955"/>
          </a:xfrm>
          <a:prstGeom prst="rect">
            <a:avLst/>
          </a:prstGeom>
        </p:spPr>
      </p:pic>
      <p:cxnSp>
        <p:nvCxnSpPr>
          <p:cNvPr id="9" name="Straight Arrow Connector 8"/>
          <p:cNvCxnSpPr/>
          <p:nvPr/>
        </p:nvCxnSpPr>
        <p:spPr>
          <a:xfrm flipH="1">
            <a:off x="1392580" y="4148051"/>
            <a:ext cx="266009"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25" name="Picture 24"/>
          <p:cNvPicPr>
            <a:picLocks noChangeAspect="1"/>
          </p:cNvPicPr>
          <p:nvPr/>
        </p:nvPicPr>
        <p:blipFill>
          <a:blip r:embed="rId4"/>
          <a:stretch>
            <a:fillRect/>
          </a:stretch>
        </p:blipFill>
        <p:spPr>
          <a:xfrm>
            <a:off x="6781404" y="3892289"/>
            <a:ext cx="4572396" cy="2712955"/>
          </a:xfrm>
          <a:prstGeom prst="rect">
            <a:avLst/>
          </a:prstGeom>
        </p:spPr>
      </p:pic>
      <p:cxnSp>
        <p:nvCxnSpPr>
          <p:cNvPr id="28" name="Straight Arrow Connector 27"/>
          <p:cNvCxnSpPr/>
          <p:nvPr/>
        </p:nvCxnSpPr>
        <p:spPr>
          <a:xfrm flipH="1">
            <a:off x="7314013" y="5497484"/>
            <a:ext cx="266009" cy="0"/>
          </a:xfrm>
          <a:prstGeom prst="straightConnector1">
            <a:avLst/>
          </a:prstGeom>
          <a:ln w="1905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70D57F6-36A4-4091-9911-27AA5154FC66}"/>
              </a:ext>
            </a:extLst>
          </p:cNvPr>
          <p:cNvSpPr txBox="1"/>
          <p:nvPr/>
        </p:nvSpPr>
        <p:spPr>
          <a:xfrm>
            <a:off x="838200" y="3963385"/>
            <a:ext cx="3752008" cy="369332"/>
          </a:xfrm>
          <a:prstGeom prst="rect">
            <a:avLst/>
          </a:prstGeom>
          <a:noFill/>
        </p:spPr>
        <p:txBody>
          <a:bodyPr wrap="square" rtlCol="0">
            <a:spAutoFit/>
          </a:bodyPr>
          <a:lstStyle/>
          <a:p>
            <a:r>
              <a:rPr lang="en-US" dirty="0">
                <a:solidFill>
                  <a:srgbClr val="C00000"/>
                </a:solidFill>
              </a:rPr>
              <a:t>MSY</a:t>
            </a:r>
            <a:endParaRPr lang="en-CA" dirty="0">
              <a:solidFill>
                <a:srgbClr val="C00000"/>
              </a:solidFill>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EB33063-9281-4394-9697-76A6095A8767}"/>
                  </a:ext>
                </a:extLst>
              </p:cNvPr>
              <p:cNvSpPr txBox="1"/>
              <p:nvPr/>
            </p:nvSpPr>
            <p:spPr>
              <a:xfrm>
                <a:off x="1392580" y="6103222"/>
                <a:ext cx="588442" cy="369332"/>
              </a:xfrm>
              <a:prstGeom prst="rect">
                <a:avLst/>
              </a:prstGeom>
              <a:noFill/>
            </p:spPr>
            <p:txBody>
              <a:bodyPr wrap="square" rtlCol="0">
                <a:spAutoFit/>
              </a:bodyPr>
              <a:lstStyle/>
              <a:p>
                <a:pPr/>
                <a14:m>
                  <m:oMathPara xmlns:m="http://schemas.openxmlformats.org/officeDocument/2006/math">
                    <m:oMath>
                      <m:sSub>
                        <m:sSubPr>
                          <m:ctrlPr>
                            <a:rPr lang="en-US" b="0" i="1" dirty="0" smtClean="0">
                              <a:solidFill>
                                <a:schemeClr val="accent2"/>
                              </a:solidFill>
                              <a:latin typeface="Cambria Math" panose="02040503050406030204" pitchFamily="18" charset="0"/>
                            </a:rPr>
                          </m:ctrlPr>
                        </m:sSubPr>
                        <m:e>
                          <m:r>
                            <a:rPr lang="en-US" b="0" i="1" dirty="0" smtClean="0">
                              <a:solidFill>
                                <a:schemeClr val="accent2"/>
                              </a:solidFill>
                              <a:latin typeface="Cambria Math" panose="02040503050406030204" pitchFamily="18" charset="0"/>
                            </a:rPr>
                            <m:t>𝐹</m:t>
                          </m:r>
                        </m:e>
                        <m:sub>
                          <m:r>
                            <a:rPr lang="en-US" b="0" i="1" dirty="0" smtClean="0">
                              <a:solidFill>
                                <a:schemeClr val="accent2"/>
                              </a:solidFill>
                              <a:latin typeface="Cambria Math" panose="02040503050406030204" pitchFamily="18" charset="0"/>
                            </a:rPr>
                            <m:t>𝑀𝑆𝑌</m:t>
                          </m:r>
                        </m:sub>
                      </m:sSub>
                    </m:oMath>
                  </m:oMathPara>
                </a14:m>
                <a:endParaRPr lang="en-CA" dirty="0">
                  <a:solidFill>
                    <a:schemeClr val="accent2"/>
                  </a:solidFill>
                </a:endParaRPr>
              </a:p>
            </p:txBody>
          </p:sp>
        </mc:Choice>
        <mc:Fallback xmlns="">
          <p:sp>
            <p:nvSpPr>
              <p:cNvPr id="14" name="TextBox 13">
                <a:extLst>
                  <a:ext uri="{FF2B5EF4-FFF2-40B4-BE49-F238E27FC236}">
                    <a16:creationId xmlns:a16="http://schemas.microsoft.com/office/drawing/2014/main" id="{FEB33063-9281-4394-9697-76A6095A8767}"/>
                  </a:ext>
                </a:extLst>
              </p:cNvPr>
              <p:cNvSpPr txBox="1">
                <a:spLocks noRot="1" noChangeAspect="1" noMove="1" noResize="1" noEditPoints="1" noAdjustHandles="1" noChangeArrowheads="1" noChangeShapeType="1" noTextEdit="1"/>
              </p:cNvSpPr>
              <p:nvPr/>
            </p:nvSpPr>
            <p:spPr>
              <a:xfrm>
                <a:off x="1392580" y="6103222"/>
                <a:ext cx="588442" cy="369332"/>
              </a:xfrm>
              <a:prstGeom prst="rect">
                <a:avLst/>
              </a:prstGeom>
              <a:blipFill>
                <a:blip r:embed="rId9"/>
                <a:stretch>
                  <a:fillRect r="-41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FCA2943-3989-49E1-A702-DF8FF7A3DA64}"/>
                  </a:ext>
                </a:extLst>
              </p:cNvPr>
              <p:cNvSpPr txBox="1"/>
              <p:nvPr/>
            </p:nvSpPr>
            <p:spPr>
              <a:xfrm>
                <a:off x="7285801" y="6103222"/>
                <a:ext cx="588442" cy="369332"/>
              </a:xfrm>
              <a:prstGeom prst="rect">
                <a:avLst/>
              </a:prstGeom>
              <a:noFill/>
            </p:spPr>
            <p:txBody>
              <a:bodyPr wrap="square" rtlCol="0">
                <a:spAutoFit/>
              </a:bodyPr>
              <a:lstStyle/>
              <a:p>
                <a:pPr/>
                <a14:m>
                  <m:oMathPara xmlns:m="http://schemas.openxmlformats.org/officeDocument/2006/math">
                    <m:oMath>
                      <m:sSub>
                        <m:sSubPr>
                          <m:ctrlPr>
                            <a:rPr lang="en-US" b="0" i="1" dirty="0" smtClean="0">
                              <a:solidFill>
                                <a:schemeClr val="accent2"/>
                              </a:solidFill>
                              <a:latin typeface="Cambria Math" panose="02040503050406030204" pitchFamily="18" charset="0"/>
                            </a:rPr>
                          </m:ctrlPr>
                        </m:sSubPr>
                        <m:e>
                          <m:r>
                            <a:rPr lang="en-US" b="0" i="1" dirty="0" smtClean="0">
                              <a:solidFill>
                                <a:schemeClr val="accent2"/>
                              </a:solidFill>
                              <a:latin typeface="Cambria Math" panose="02040503050406030204" pitchFamily="18" charset="0"/>
                            </a:rPr>
                            <m:t>𝐹</m:t>
                          </m:r>
                        </m:e>
                        <m:sub>
                          <m:r>
                            <a:rPr lang="en-US" b="0" i="1" dirty="0" smtClean="0">
                              <a:solidFill>
                                <a:schemeClr val="accent2"/>
                              </a:solidFill>
                              <a:latin typeface="Cambria Math" panose="02040503050406030204" pitchFamily="18" charset="0"/>
                            </a:rPr>
                            <m:t>𝑀𝑆𝑌</m:t>
                          </m:r>
                        </m:sub>
                      </m:sSub>
                    </m:oMath>
                  </m:oMathPara>
                </a14:m>
                <a:endParaRPr lang="en-CA" dirty="0">
                  <a:solidFill>
                    <a:schemeClr val="accent2"/>
                  </a:solidFill>
                </a:endParaRPr>
              </a:p>
            </p:txBody>
          </p:sp>
        </mc:Choice>
        <mc:Fallback xmlns="">
          <p:sp>
            <p:nvSpPr>
              <p:cNvPr id="15" name="TextBox 14">
                <a:extLst>
                  <a:ext uri="{FF2B5EF4-FFF2-40B4-BE49-F238E27FC236}">
                    <a16:creationId xmlns:a16="http://schemas.microsoft.com/office/drawing/2014/main" id="{0FCA2943-3989-49E1-A702-DF8FF7A3DA64}"/>
                  </a:ext>
                </a:extLst>
              </p:cNvPr>
              <p:cNvSpPr txBox="1">
                <a:spLocks noRot="1" noChangeAspect="1" noMove="1" noResize="1" noEditPoints="1" noAdjustHandles="1" noChangeArrowheads="1" noChangeShapeType="1" noTextEdit="1"/>
              </p:cNvSpPr>
              <p:nvPr/>
            </p:nvSpPr>
            <p:spPr>
              <a:xfrm>
                <a:off x="7285801" y="6103222"/>
                <a:ext cx="588442" cy="369332"/>
              </a:xfrm>
              <a:prstGeom prst="rect">
                <a:avLst/>
              </a:prstGeom>
              <a:blipFill>
                <a:blip r:embed="rId10"/>
                <a:stretch>
                  <a:fillRect r="-41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2C38F24-4EAB-4A60-8FF0-8A2040D9AF24}"/>
                  </a:ext>
                </a:extLst>
              </p:cNvPr>
              <p:cNvSpPr txBox="1"/>
              <p:nvPr/>
            </p:nvSpPr>
            <p:spPr>
              <a:xfrm>
                <a:off x="7593780" y="5312818"/>
                <a:ext cx="904267" cy="369332"/>
              </a:xfrm>
              <a:prstGeom prst="rect">
                <a:avLst/>
              </a:prstGeom>
              <a:noFill/>
            </p:spPr>
            <p:txBody>
              <a:bodyPr wrap="square" rtlCol="0">
                <a:spAutoFit/>
              </a:bodyPr>
              <a:lstStyle/>
              <a:p>
                <a:pPr/>
                <a14:m>
                  <m:oMathPara xmlns:m="http://schemas.openxmlformats.org/officeDocument/2006/math">
                    <m:oMath>
                      <m:sSub>
                        <m:sSubPr>
                          <m:ctrlPr>
                            <a:rPr lang="en-US" b="0" i="1" dirty="0" smtClean="0">
                              <a:solidFill>
                                <a:srgbClr val="0000FF"/>
                              </a:solidFill>
                              <a:latin typeface="Cambria Math" panose="02040503050406030204" pitchFamily="18" charset="0"/>
                            </a:rPr>
                          </m:ctrlPr>
                        </m:sSubPr>
                        <m:e>
                          <m:r>
                            <a:rPr lang="en-US" b="0" i="1" dirty="0" smtClean="0">
                              <a:solidFill>
                                <a:srgbClr val="0000FF"/>
                              </a:solidFill>
                              <a:latin typeface="Cambria Math" panose="02040503050406030204" pitchFamily="18" charset="0"/>
                            </a:rPr>
                            <m:t>𝑆𝑆𝐵</m:t>
                          </m:r>
                        </m:e>
                        <m:sub>
                          <m:r>
                            <a:rPr lang="en-US" b="0" i="1" dirty="0" smtClean="0">
                              <a:solidFill>
                                <a:srgbClr val="0000FF"/>
                              </a:solidFill>
                              <a:latin typeface="Cambria Math" panose="02040503050406030204" pitchFamily="18" charset="0"/>
                            </a:rPr>
                            <m:t>𝑀𝑆𝑌</m:t>
                          </m:r>
                        </m:sub>
                      </m:sSub>
                    </m:oMath>
                  </m:oMathPara>
                </a14:m>
                <a:endParaRPr lang="en-CA" dirty="0">
                  <a:solidFill>
                    <a:srgbClr val="0000FF"/>
                  </a:solidFill>
                </a:endParaRPr>
              </a:p>
            </p:txBody>
          </p:sp>
        </mc:Choice>
        <mc:Fallback xmlns="">
          <p:sp>
            <p:nvSpPr>
              <p:cNvPr id="16" name="TextBox 15">
                <a:extLst>
                  <a:ext uri="{FF2B5EF4-FFF2-40B4-BE49-F238E27FC236}">
                    <a16:creationId xmlns:a16="http://schemas.microsoft.com/office/drawing/2014/main" id="{72C38F24-4EAB-4A60-8FF0-8A2040D9AF24}"/>
                  </a:ext>
                </a:extLst>
              </p:cNvPr>
              <p:cNvSpPr txBox="1">
                <a:spLocks noRot="1" noChangeAspect="1" noMove="1" noResize="1" noEditPoints="1" noAdjustHandles="1" noChangeArrowheads="1" noChangeShapeType="1" noTextEdit="1"/>
              </p:cNvSpPr>
              <p:nvPr/>
            </p:nvSpPr>
            <p:spPr>
              <a:xfrm>
                <a:off x="7593780" y="5312818"/>
                <a:ext cx="904267" cy="369332"/>
              </a:xfrm>
              <a:prstGeom prst="rect">
                <a:avLst/>
              </a:prstGeom>
              <a:blipFill>
                <a:blip r:embed="rId11"/>
                <a:stretch>
                  <a:fillRect/>
                </a:stretch>
              </a:blipFill>
            </p:spPr>
            <p:txBody>
              <a:bodyPr/>
              <a:lstStyle/>
              <a:p>
                <a:r>
                  <a:rPr lang="en-US">
                    <a:noFill/>
                  </a:rPr>
                  <a:t> </a:t>
                </a:r>
              </a:p>
            </p:txBody>
          </p:sp>
        </mc:Fallback>
      </mc:AlternateContent>
      <p:sp>
        <p:nvSpPr>
          <p:cNvPr id="2" name="Slide Number Placeholder 1"/>
          <p:cNvSpPr>
            <a:spLocks noGrp="1"/>
          </p:cNvSpPr>
          <p:nvPr>
            <p:ph type="sldNum" sz="quarter" idx="12"/>
          </p:nvPr>
        </p:nvSpPr>
        <p:spPr/>
        <p:txBody>
          <a:bodyPr/>
          <a:lstStyle/>
          <a:p>
            <a:fld id="{EEDFA2F9-C25F-4A63-B46B-7B5C200A39D1}" type="slidenum">
              <a:rPr lang="en-CA" smtClean="0"/>
              <a:t>98</a:t>
            </a:fld>
            <a:endParaRPr lang="en-CA"/>
          </a:p>
        </p:txBody>
      </p:sp>
    </p:spTree>
    <p:extLst>
      <p:ext uri="{BB962C8B-B14F-4D97-AF65-F5344CB8AC3E}">
        <p14:creationId xmlns:p14="http://schemas.microsoft.com/office/powerpoint/2010/main" val="1805949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838200" y="367829"/>
            <a:ext cx="10540943" cy="1325563"/>
          </a:xfrm>
          <a:prstGeom prst="rect">
            <a:avLst/>
          </a:prstGeom>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Exercise 2 and 3</a:t>
            </a:r>
            <a:endParaRPr lang="en-CA" dirty="0"/>
          </a:p>
        </p:txBody>
      </p:sp>
      <p:sp>
        <p:nvSpPr>
          <p:cNvPr id="3" name="Content Placeholder 2"/>
          <p:cNvSpPr>
            <a:spLocks noGrp="1"/>
          </p:cNvSpPr>
          <p:nvPr>
            <p:ph idx="1"/>
          </p:nvPr>
        </p:nvSpPr>
        <p:spPr>
          <a:xfrm>
            <a:off x="838200" y="1825625"/>
            <a:ext cx="10515600" cy="1931728"/>
          </a:xfrm>
        </p:spPr>
        <p:txBody>
          <a:bodyPr>
            <a:normAutofit/>
          </a:bodyPr>
          <a:lstStyle/>
          <a:p>
            <a:r>
              <a:rPr lang="en-US" dirty="0"/>
              <a:t>Let’s explore these calculations in R in Exercise 2</a:t>
            </a:r>
          </a:p>
          <a:p>
            <a:endParaRPr lang="en-US" dirty="0"/>
          </a:p>
          <a:p>
            <a:r>
              <a:rPr lang="en-US" dirty="0"/>
              <a:t>Exercise 3 can be done on your own prior to the Nov 22 session</a:t>
            </a:r>
          </a:p>
        </p:txBody>
      </p:sp>
      <p:sp>
        <p:nvSpPr>
          <p:cNvPr id="2" name="Slide Number Placeholder 1"/>
          <p:cNvSpPr>
            <a:spLocks noGrp="1"/>
          </p:cNvSpPr>
          <p:nvPr>
            <p:ph type="sldNum" sz="quarter" idx="12"/>
          </p:nvPr>
        </p:nvSpPr>
        <p:spPr/>
        <p:txBody>
          <a:bodyPr/>
          <a:lstStyle/>
          <a:p>
            <a:fld id="{EEDFA2F9-C25F-4A63-B46B-7B5C200A39D1}" type="slidenum">
              <a:rPr lang="en-CA" smtClean="0"/>
              <a:t>99</a:t>
            </a:fld>
            <a:endParaRPr lang="en-CA"/>
          </a:p>
        </p:txBody>
      </p:sp>
    </p:spTree>
    <p:extLst>
      <p:ext uri="{BB962C8B-B14F-4D97-AF65-F5344CB8AC3E}">
        <p14:creationId xmlns:p14="http://schemas.microsoft.com/office/powerpoint/2010/main" val="72256479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t>Reference Points </a:t>
            </a:r>
            <a:r>
              <a:rPr lang="en-CA" sz="3600" b="1" dirty="0">
                <a:solidFill>
                  <a:srgbClr val="7030A0"/>
                </a:solidFill>
              </a:rPr>
              <a:t>4. </a:t>
            </a:r>
            <a:r>
              <a:rPr lang="en-US" sz="3600" b="1" dirty="0">
                <a:solidFill>
                  <a:srgbClr val="7030A0"/>
                </a:solidFill>
              </a:rPr>
              <a:t>Spawning Potential Ratio (SPR)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1014364" cy="3955743"/>
              </a:xfrm>
            </p:spPr>
            <p:txBody>
              <a:bodyPr>
                <a:normAutofit lnSpcReduction="10000"/>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𝑆𝑃𝑅</m:t>
                        </m:r>
                      </m:e>
                      <m:sub>
                        <m:r>
                          <a:rPr lang="en-US" b="0" i="1" smtClean="0">
                            <a:latin typeface="Cambria Math" panose="02040503050406030204" pitchFamily="18" charset="0"/>
                          </a:rPr>
                          <m:t>𝐹</m:t>
                        </m:r>
                      </m:sub>
                    </m:sSub>
                    <m:r>
                      <a:rPr lang="en-US" b="0" i="0" smtClean="0">
                        <a:latin typeface="Cambria Math" panose="02040503050406030204" pitchFamily="18" charset="0"/>
                      </a:rPr>
                      <m:t>=</m:t>
                    </m:r>
                    <m:f>
                      <m:fPr>
                        <m:ctrlPr>
                          <a:rPr lang="en-CA" i="1" smtClean="0">
                            <a:latin typeface="Cambria Math" panose="02040503050406030204" pitchFamily="18" charset="0"/>
                          </a:rPr>
                        </m:ctrlPr>
                      </m:fPr>
                      <m:num>
                        <m:sSub>
                          <m:sSubPr>
                            <m:ctrlPr>
                              <a:rPr lang="el-GR" i="1" smtClean="0">
                                <a:latin typeface="Cambria Math" panose="02040503050406030204" pitchFamily="18" charset="0"/>
                              </a:rPr>
                            </m:ctrlPr>
                          </m:sSubPr>
                          <m:e>
                            <m:r>
                              <m:rPr>
                                <m:sty m:val="p"/>
                              </m:rPr>
                              <a:rPr lang="el-GR" i="1" smtClean="0">
                                <a:latin typeface="Cambria Math" panose="02040503050406030204" pitchFamily="18" charset="0"/>
                              </a:rPr>
                              <m:t>φ</m:t>
                            </m:r>
                          </m:e>
                          <m:sub>
                            <m:r>
                              <a:rPr lang="en-US" b="0" i="1" smtClean="0">
                                <a:latin typeface="Cambria Math" panose="02040503050406030204" pitchFamily="18" charset="0"/>
                              </a:rPr>
                              <m:t>𝐹</m:t>
                            </m:r>
                          </m:sub>
                        </m:sSub>
                      </m:num>
                      <m:den>
                        <m:sSub>
                          <m:sSubPr>
                            <m:ctrlPr>
                              <a:rPr lang="el-GR" i="1" smtClean="0">
                                <a:latin typeface="Cambria Math" panose="02040503050406030204" pitchFamily="18" charset="0"/>
                              </a:rPr>
                            </m:ctrlPr>
                          </m:sSubPr>
                          <m:e>
                            <m:r>
                              <m:rPr>
                                <m:sty m:val="p"/>
                              </m:rPr>
                              <a:rPr lang="el-GR" i="1" smtClean="0">
                                <a:latin typeface="Cambria Math" panose="02040503050406030204" pitchFamily="18" charset="0"/>
                              </a:rPr>
                              <m:t>φ</m:t>
                            </m:r>
                          </m:e>
                          <m:sub>
                            <m:r>
                              <a:rPr lang="en-US" b="0" i="1" smtClean="0">
                                <a:latin typeface="Cambria Math" panose="02040503050406030204" pitchFamily="18" charset="0"/>
                              </a:rPr>
                              <m:t>𝐸</m:t>
                            </m:r>
                            <m:r>
                              <a:rPr lang="en-US" b="0" i="1" smtClean="0">
                                <a:latin typeface="Cambria Math" panose="02040503050406030204" pitchFamily="18" charset="0"/>
                              </a:rPr>
                              <m:t>0</m:t>
                            </m:r>
                          </m:sub>
                        </m:sSub>
                      </m:den>
                    </m:f>
                  </m:oMath>
                </a14:m>
                <a:endParaRPr lang="en-CA" dirty="0"/>
              </a:p>
              <a:p>
                <a:pPr lvl="1"/>
                <a14:m>
                  <m:oMath xmlns:m="http://schemas.openxmlformats.org/officeDocument/2006/math">
                    <m:sSub>
                      <m:sSubPr>
                        <m:ctrlPr>
                          <a:rPr lang="el-GR" i="1" smtClean="0">
                            <a:latin typeface="Cambria Math" panose="02040503050406030204" pitchFamily="18" charset="0"/>
                          </a:rPr>
                        </m:ctrlPr>
                      </m:sSubPr>
                      <m:e>
                        <m:r>
                          <m:rPr>
                            <m:sty m:val="p"/>
                          </m:rPr>
                          <a:rPr lang="el-GR" i="1" smtClean="0">
                            <a:latin typeface="Cambria Math" panose="02040503050406030204" pitchFamily="18" charset="0"/>
                          </a:rPr>
                          <m:t>φ</m:t>
                        </m:r>
                      </m:e>
                      <m:sub>
                        <m:r>
                          <a:rPr lang="en-US" b="0" i="1" smtClean="0">
                            <a:latin typeface="Cambria Math" panose="02040503050406030204" pitchFamily="18" charset="0"/>
                          </a:rPr>
                          <m:t>𝐹</m:t>
                        </m:r>
                      </m:sub>
                    </m:sSub>
                  </m:oMath>
                </a14:m>
                <a:r>
                  <a:rPr lang="en-CA" dirty="0"/>
                  <a:t> = SSB-per-recruit when fishing at </a:t>
                </a:r>
                <a14:m>
                  <m:oMath xmlns:m="http://schemas.openxmlformats.org/officeDocument/2006/math">
                    <m:r>
                      <a:rPr lang="en-US" i="1">
                        <a:latin typeface="Cambria Math" panose="02040503050406030204" pitchFamily="18" charset="0"/>
                      </a:rPr>
                      <m:t>𝐹</m:t>
                    </m:r>
                    <m:r>
                      <a:rPr lang="en-US" b="0" i="1" smtClean="0">
                        <a:latin typeface="Cambria Math" panose="02040503050406030204" pitchFamily="18" charset="0"/>
                      </a:rPr>
                      <m:t>=</m:t>
                    </m:r>
                    <m:r>
                      <a:rPr lang="en-US" b="0" i="1" smtClean="0">
                        <a:latin typeface="Cambria Math" panose="02040503050406030204" pitchFamily="18" charset="0"/>
                      </a:rPr>
                      <m:t>𝐹</m:t>
                    </m:r>
                    <m:r>
                      <a:rPr lang="en-US" i="1">
                        <a:latin typeface="Cambria Math" panose="02040503050406030204" pitchFamily="18" charset="0"/>
                      </a:rPr>
                      <m:t> </m:t>
                    </m:r>
                  </m:oMath>
                </a14:m>
                <a:endParaRPr lang="en-CA" dirty="0"/>
              </a:p>
              <a:p>
                <a:pPr lvl="1"/>
                <a14:m>
                  <m:oMath xmlns:m="http://schemas.openxmlformats.org/officeDocument/2006/math">
                    <m:sSub>
                      <m:sSubPr>
                        <m:ctrlPr>
                          <a:rPr lang="el-GR" i="1" smtClean="0">
                            <a:latin typeface="Cambria Math" panose="02040503050406030204" pitchFamily="18" charset="0"/>
                          </a:rPr>
                        </m:ctrlPr>
                      </m:sSubPr>
                      <m:e>
                        <m:r>
                          <m:rPr>
                            <m:sty m:val="p"/>
                          </m:rPr>
                          <a:rPr lang="el-GR" i="1" smtClean="0">
                            <a:latin typeface="Cambria Math" panose="02040503050406030204" pitchFamily="18" charset="0"/>
                          </a:rPr>
                          <m:t>φ</m:t>
                        </m:r>
                      </m:e>
                      <m:sub>
                        <m:r>
                          <a:rPr lang="en-US" b="0" i="1" smtClean="0">
                            <a:latin typeface="Cambria Math" panose="02040503050406030204" pitchFamily="18" charset="0"/>
                          </a:rPr>
                          <m:t>𝐸</m:t>
                        </m:r>
                        <m:r>
                          <a:rPr lang="en-US" b="0" i="1" smtClean="0">
                            <a:latin typeface="Cambria Math" panose="02040503050406030204" pitchFamily="18" charset="0"/>
                          </a:rPr>
                          <m:t>0</m:t>
                        </m:r>
                      </m:sub>
                    </m:sSub>
                  </m:oMath>
                </a14:m>
                <a:r>
                  <a:rPr lang="en-CA" dirty="0"/>
                  <a:t> = unfished SSB-per-recruit (i.e., </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𝐹</m:t>
                    </m:r>
                    <m:r>
                      <a:rPr lang="en-US" b="0" i="1" smtClean="0">
                        <a:latin typeface="Cambria Math" panose="02040503050406030204" pitchFamily="18" charset="0"/>
                      </a:rPr>
                      <m:t>=0</m:t>
                    </m:r>
                  </m:oMath>
                </a14:m>
                <a:r>
                  <a:rPr lang="en-US" b="0" dirty="0"/>
                  <a:t>)</a:t>
                </a:r>
              </a:p>
              <a:p>
                <a:r>
                  <a:rPr lang="en-US" dirty="0"/>
                  <a:t>SPR does </a:t>
                </a:r>
                <a:r>
                  <a:rPr lang="en-US" u="sng" dirty="0"/>
                  <a:t>not</a:t>
                </a:r>
                <a:r>
                  <a:rPr lang="en-US" dirty="0"/>
                  <a:t> stand for </a:t>
                </a:r>
                <a:r>
                  <a:rPr lang="en-US" dirty="0" err="1"/>
                  <a:t>Spawners</a:t>
                </a:r>
                <a:r>
                  <a:rPr lang="en-US" dirty="0"/>
                  <a:t> per Recruit! SPR is a ratio of ratios (i.e., Fished </a:t>
                </a:r>
                <a:r>
                  <a:rPr lang="en-US" dirty="0" err="1"/>
                  <a:t>Spawners</a:t>
                </a:r>
                <a:r>
                  <a:rPr lang="en-US" dirty="0"/>
                  <a:t> per Recruit divided by Unfished </a:t>
                </a:r>
                <a:r>
                  <a:rPr lang="en-US" dirty="0" err="1"/>
                  <a:t>Spawners</a:t>
                </a:r>
                <a:r>
                  <a:rPr lang="en-US" dirty="0"/>
                  <a:t> per Recruit) </a:t>
                </a:r>
              </a:p>
              <a:p>
                <a:r>
                  <a:rPr lang="en-US" dirty="0"/>
                  <a:t>SPR represents the </a:t>
                </a:r>
                <a:r>
                  <a:rPr lang="en-CA" dirty="0"/>
                  <a:t>SSB-per-recruit </a:t>
                </a:r>
                <a:r>
                  <a:rPr lang="en-US" dirty="0"/>
                  <a:t>under a given fishing mortality compared to SSB in the unfished population</a:t>
                </a:r>
              </a:p>
              <a:p>
                <a:r>
                  <a:rPr lang="en-US" dirty="0"/>
                  <a:t>Reference points based on SPR are independent of the SRR and are common proxies for </a:t>
                </a:r>
                <a14:m>
                  <m:oMath xmlns:m="http://schemas.openxmlformats.org/officeDocument/2006/math">
                    <m:r>
                      <a:rPr lang="en-US" i="1" dirty="0" smtClean="0">
                        <a:latin typeface="Cambria Math" panose="02040503050406030204" pitchFamily="18" charset="0"/>
                      </a:rPr>
                      <m:t>𝐹</m:t>
                    </m:r>
                    <m:r>
                      <a:rPr lang="en-US" i="1" baseline="-25000" dirty="0">
                        <a:latin typeface="Cambria Math" panose="02040503050406030204" pitchFamily="18" charset="0"/>
                      </a:rPr>
                      <m:t>𝑀𝑆𝑌</m:t>
                    </m:r>
                  </m:oMath>
                </a14:m>
                <a:r>
                  <a:rPr lang="en-US" dirty="0"/>
                  <a:t> and </a:t>
                </a:r>
                <a14:m>
                  <m:oMath xmlns:m="http://schemas.openxmlformats.org/officeDocument/2006/math">
                    <m:r>
                      <a:rPr lang="en-US" i="1" dirty="0" smtClean="0">
                        <a:latin typeface="Cambria Math" panose="02040503050406030204" pitchFamily="18" charset="0"/>
                      </a:rPr>
                      <m:t>𝑆𝑆𝐵</m:t>
                    </m:r>
                    <m:r>
                      <a:rPr lang="en-US" i="1" baseline="-25000" dirty="0">
                        <a:latin typeface="Cambria Math" panose="02040503050406030204" pitchFamily="18" charset="0"/>
                      </a:rPr>
                      <m:t>𝑀𝑆𝑌</m:t>
                    </m:r>
                  </m:oMath>
                </a14:m>
                <a:endParaRPr lang="en-CA" baseline="-25000" dirty="0"/>
              </a:p>
              <a:p>
                <a:endParaRPr lang="en-CA" dirty="0"/>
              </a:p>
              <a:p>
                <a:pPr lvl="1"/>
                <a:endParaRPr lang="en-CA"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1014364" cy="3955743"/>
              </a:xfrm>
              <a:blipFill>
                <a:blip r:embed="rId2"/>
                <a:stretch>
                  <a:fillRect l="-997" r="-332" b="-462"/>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EEDFA2F9-C25F-4A63-B46B-7B5C200A39D1}" type="slidenum">
              <a:rPr lang="en-CA" smtClean="0"/>
              <a:t>100</a:t>
            </a:fld>
            <a:endParaRPr lang="en-CA"/>
          </a:p>
        </p:txBody>
      </p:sp>
    </p:spTree>
    <p:extLst>
      <p:ext uri="{BB962C8B-B14F-4D97-AF65-F5344CB8AC3E}">
        <p14:creationId xmlns:p14="http://schemas.microsoft.com/office/powerpoint/2010/main" val="288049413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3047999" y="3331519"/>
            <a:ext cx="5943507" cy="3526481"/>
          </a:xfrm>
          <a:prstGeom prst="rect">
            <a:avLst/>
          </a:prstGeom>
        </p:spPr>
      </p:pic>
      <p:sp>
        <p:nvSpPr>
          <p:cNvPr id="2" name="Title 1"/>
          <p:cNvSpPr>
            <a:spLocks noGrp="1"/>
          </p:cNvSpPr>
          <p:nvPr>
            <p:ph type="title"/>
          </p:nvPr>
        </p:nvSpPr>
        <p:spPr/>
        <p:txBody>
          <a:bodyPr>
            <a:normAutofit/>
          </a:bodyPr>
          <a:lstStyle/>
          <a:p>
            <a:r>
              <a:rPr lang="en-CA" sz="3600" dirty="0"/>
              <a:t>Reference Points </a:t>
            </a:r>
            <a:r>
              <a:rPr lang="en-CA" sz="3600" b="1" dirty="0">
                <a:solidFill>
                  <a:srgbClr val="7030A0"/>
                </a:solidFill>
              </a:rPr>
              <a:t>4. </a:t>
            </a:r>
            <a:r>
              <a:rPr lang="en-US" sz="3600" b="1" dirty="0">
                <a:solidFill>
                  <a:srgbClr val="7030A0"/>
                </a:solidFill>
              </a:rPr>
              <a:t>Spawning Potential Ratio (SPR)</a:t>
            </a:r>
            <a:endParaRPr lang="en-US" sz="3600" b="1" dirty="0">
              <a:solidFill>
                <a:srgbClr val="C00000"/>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5"/>
                <a:ext cx="10515600" cy="1505894"/>
              </a:xfrm>
            </p:spPr>
            <p:txBody>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𝑆𝑃𝑅</m:t>
                        </m:r>
                      </m:e>
                      <m:sub>
                        <m:r>
                          <a:rPr lang="en-US" b="0" i="1" smtClean="0">
                            <a:latin typeface="Cambria Math" panose="02040503050406030204" pitchFamily="18" charset="0"/>
                          </a:rPr>
                          <m:t>𝐹</m:t>
                        </m:r>
                      </m:sub>
                    </m:sSub>
                  </m:oMath>
                </a14:m>
                <a:r>
                  <a:rPr lang="en-CA" dirty="0"/>
                  <a:t> decreases with increasing </a:t>
                </a:r>
                <a14:m>
                  <m:oMath xmlns:m="http://schemas.openxmlformats.org/officeDocument/2006/math">
                    <m:r>
                      <a:rPr lang="en-US" i="1">
                        <a:latin typeface="Cambria Math" panose="02040503050406030204" pitchFamily="18" charset="0"/>
                      </a:rPr>
                      <m:t>𝐹</m:t>
                    </m:r>
                  </m:oMath>
                </a14:m>
                <a:endParaRPr lang="en-CA" dirty="0"/>
              </a:p>
              <a:p>
                <a:r>
                  <a:rPr lang="en-CA" dirty="0"/>
                  <a:t>An example SPR vs. </a:t>
                </a:r>
                <a14:m>
                  <m:oMath xmlns:m="http://schemas.openxmlformats.org/officeDocument/2006/math">
                    <m:r>
                      <a:rPr lang="en-CA" i="1" dirty="0" smtClean="0">
                        <a:latin typeface="Cambria Math" panose="02040503050406030204" pitchFamily="18" charset="0"/>
                      </a:rPr>
                      <m:t>𝐹</m:t>
                    </m:r>
                  </m:oMath>
                </a14:m>
                <a:r>
                  <a:rPr lang="en-CA" dirty="0"/>
                  <a:t> is plotted below where </a:t>
                </a:r>
                <a14:m>
                  <m:oMath xmlns:m="http://schemas.openxmlformats.org/officeDocument/2006/math">
                    <m:r>
                      <a:rPr lang="en-CA" i="1" dirty="0" smtClean="0">
                        <a:latin typeface="Cambria Math" panose="02040503050406030204" pitchFamily="18" charset="0"/>
                      </a:rPr>
                      <m:t>𝐹</m:t>
                    </m:r>
                    <m:r>
                      <a:rPr lang="en-CA" i="1" baseline="-25000" dirty="0" smtClean="0">
                        <a:latin typeface="Cambria Math" panose="02040503050406030204" pitchFamily="18" charset="0"/>
                      </a:rPr>
                      <m:t>40%</m:t>
                    </m:r>
                    <m:r>
                      <a:rPr lang="en-CA" i="1" baseline="-25000" dirty="0" smtClean="0">
                        <a:latin typeface="Cambria Math" panose="02040503050406030204" pitchFamily="18" charset="0"/>
                      </a:rPr>
                      <m:t>𝑆𝑃𝑅</m:t>
                    </m:r>
                  </m:oMath>
                </a14:m>
                <a:r>
                  <a:rPr lang="en-CA" dirty="0"/>
                  <a:t> is identified as the </a:t>
                </a:r>
                <a14:m>
                  <m:oMath xmlns:m="http://schemas.openxmlformats.org/officeDocument/2006/math">
                    <m:r>
                      <a:rPr lang="en-CA" i="1" dirty="0" smtClean="0">
                        <a:latin typeface="Cambria Math" panose="02040503050406030204" pitchFamily="18" charset="0"/>
                      </a:rPr>
                      <m:t>𝐹</m:t>
                    </m:r>
                  </m:oMath>
                </a14:m>
                <a:r>
                  <a:rPr lang="en-CA" dirty="0"/>
                  <a:t> that results in SPR = 40% or 0.4 </a:t>
                </a:r>
                <a:r>
                  <a:rPr lang="en-US" dirty="0"/>
                  <a:t>unfished SSB-per-recruit</a:t>
                </a:r>
                <a:r>
                  <a:rPr lang="en-CA" dirty="0"/>
                  <a:t>.</a:t>
                </a:r>
                <a:endParaRPr lang="en-CA" baseline="-25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5"/>
                <a:ext cx="10515600" cy="1505894"/>
              </a:xfrm>
              <a:blipFill>
                <a:blip r:embed="rId3"/>
                <a:stretch>
                  <a:fillRect l="-1043" t="-6452" b="-2419"/>
                </a:stretch>
              </a:blipFill>
            </p:spPr>
            <p:txBody>
              <a:bodyPr/>
              <a:lstStyle/>
              <a:p>
                <a:r>
                  <a:rPr lang="en-US">
                    <a:noFill/>
                  </a:rPr>
                  <a:t> </a:t>
                </a:r>
              </a:p>
            </p:txBody>
          </p:sp>
        </mc:Fallback>
      </mc:AlternateContent>
      <p:sp>
        <p:nvSpPr>
          <p:cNvPr id="7" name="Rectangle 6"/>
          <p:cNvSpPr/>
          <p:nvPr/>
        </p:nvSpPr>
        <p:spPr>
          <a:xfrm>
            <a:off x="3760816" y="5178485"/>
            <a:ext cx="382386" cy="872837"/>
          </a:xfrm>
          <a:prstGeom prst="rect">
            <a:avLst/>
          </a:prstGeom>
          <a:no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TextBox 7"/>
          <p:cNvSpPr txBox="1"/>
          <p:nvPr/>
        </p:nvSpPr>
        <p:spPr>
          <a:xfrm>
            <a:off x="5533506" y="3631962"/>
            <a:ext cx="2788199" cy="369332"/>
          </a:xfrm>
          <a:prstGeom prst="rect">
            <a:avLst/>
          </a:prstGeom>
          <a:noFill/>
        </p:spPr>
        <p:txBody>
          <a:bodyPr wrap="none" rtlCol="0">
            <a:spAutoFit/>
          </a:bodyPr>
          <a:lstStyle/>
          <a:p>
            <a:r>
              <a:rPr lang="en-CA" dirty="0">
                <a:solidFill>
                  <a:srgbClr val="C00000"/>
                </a:solidFill>
              </a:rPr>
              <a:t>0.4 </a:t>
            </a:r>
            <a:r>
              <a:rPr lang="en-US" b="0" i="0" dirty="0">
                <a:solidFill>
                  <a:srgbClr val="C00000"/>
                </a:solidFill>
              </a:rPr>
              <a:t>unfished SSB-per-recruit</a:t>
            </a:r>
            <a:endParaRPr lang="en-CA" baseline="-25000" dirty="0">
              <a:solidFill>
                <a:srgbClr val="C00000"/>
              </a:solidFill>
            </a:endParaRPr>
          </a:p>
        </p:txBody>
      </p:sp>
      <p:cxnSp>
        <p:nvCxnSpPr>
          <p:cNvPr id="10" name="Straight Arrow Connector 9"/>
          <p:cNvCxnSpPr/>
          <p:nvPr/>
        </p:nvCxnSpPr>
        <p:spPr>
          <a:xfrm flipH="1">
            <a:off x="4211782" y="3840480"/>
            <a:ext cx="1271847" cy="125106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3BD06B5-AE18-4650-B603-D50EDF8044DC}"/>
                  </a:ext>
                </a:extLst>
              </p:cNvPr>
              <p:cNvSpPr txBox="1"/>
              <p:nvPr/>
            </p:nvSpPr>
            <p:spPr>
              <a:xfrm>
                <a:off x="4010732" y="6492875"/>
                <a:ext cx="949619" cy="362984"/>
              </a:xfrm>
              <a:prstGeom prst="rect">
                <a:avLst/>
              </a:prstGeom>
              <a:noFill/>
            </p:spPr>
            <p:txBody>
              <a:bodyPr wrap="none" rtlCol="0">
                <a:spAutoFit/>
              </a:bodyPr>
              <a:lstStyle/>
              <a:p>
                <a:pPr/>
                <a14:m>
                  <m:oMathPara xmlns:m="http://schemas.openxmlformats.org/officeDocument/2006/math">
                    <m:oMath>
                      <m:r>
                        <a:rPr lang="en-CA" i="1" dirty="0" smtClean="0">
                          <a:solidFill>
                            <a:srgbClr val="7030A0"/>
                          </a:solidFill>
                          <a:latin typeface="Cambria Math" panose="02040503050406030204" pitchFamily="18" charset="0"/>
                        </a:rPr>
                        <m:t>𝐹</m:t>
                      </m:r>
                      <m:r>
                        <a:rPr lang="en-CA" i="1" baseline="-25000" dirty="0" smtClean="0">
                          <a:solidFill>
                            <a:srgbClr val="7030A0"/>
                          </a:solidFill>
                          <a:latin typeface="Cambria Math" panose="02040503050406030204" pitchFamily="18" charset="0"/>
                        </a:rPr>
                        <m:t>40%</m:t>
                      </m:r>
                      <m:r>
                        <a:rPr lang="en-CA" i="1" baseline="-25000" dirty="0" smtClean="0">
                          <a:solidFill>
                            <a:srgbClr val="7030A0"/>
                          </a:solidFill>
                          <a:latin typeface="Cambria Math" panose="02040503050406030204" pitchFamily="18" charset="0"/>
                        </a:rPr>
                        <m:t>𝑆𝑃𝑅</m:t>
                      </m:r>
                    </m:oMath>
                  </m:oMathPara>
                </a14:m>
                <a:endParaRPr lang="en-CA" baseline="-25000" dirty="0">
                  <a:solidFill>
                    <a:srgbClr val="7030A0"/>
                  </a:solidFill>
                </a:endParaRPr>
              </a:p>
            </p:txBody>
          </p:sp>
        </mc:Choice>
        <mc:Fallback xmlns="">
          <p:sp>
            <p:nvSpPr>
              <p:cNvPr id="9" name="TextBox 8">
                <a:extLst>
                  <a:ext uri="{FF2B5EF4-FFF2-40B4-BE49-F238E27FC236}">
                    <a16:creationId xmlns:a16="http://schemas.microsoft.com/office/drawing/2014/main" id="{63BD06B5-AE18-4650-B603-D50EDF8044DC}"/>
                  </a:ext>
                </a:extLst>
              </p:cNvPr>
              <p:cNvSpPr txBox="1">
                <a:spLocks noRot="1" noChangeAspect="1" noMove="1" noResize="1" noEditPoints="1" noAdjustHandles="1" noChangeArrowheads="1" noChangeShapeType="1" noTextEdit="1"/>
              </p:cNvSpPr>
              <p:nvPr/>
            </p:nvSpPr>
            <p:spPr>
              <a:xfrm>
                <a:off x="4010732" y="6492875"/>
                <a:ext cx="949619" cy="362984"/>
              </a:xfrm>
              <a:prstGeom prst="rect">
                <a:avLst/>
              </a:prstGeom>
              <a:blipFill>
                <a:blip r:embed="rId4"/>
                <a:stretch>
                  <a:fillRect b="-3333"/>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08CB5210-0171-4F02-B670-04577FFB740A}"/>
              </a:ext>
            </a:extLst>
          </p:cNvPr>
          <p:cNvCxnSpPr/>
          <p:nvPr/>
        </p:nvCxnSpPr>
        <p:spPr>
          <a:xfrm flipV="1">
            <a:off x="4143202" y="6051322"/>
            <a:ext cx="0" cy="441553"/>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EEDFA2F9-C25F-4A63-B46B-7B5C200A39D1}" type="slidenum">
              <a:rPr lang="en-CA" smtClean="0"/>
              <a:t>101</a:t>
            </a:fld>
            <a:endParaRPr lang="en-CA"/>
          </a:p>
        </p:txBody>
      </p:sp>
    </p:spTree>
    <p:extLst>
      <p:ext uri="{BB962C8B-B14F-4D97-AF65-F5344CB8AC3E}">
        <p14:creationId xmlns:p14="http://schemas.microsoft.com/office/powerpoint/2010/main" val="228838870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E30C1-A180-4702-881B-6A462A9BDDF9}"/>
              </a:ext>
            </a:extLst>
          </p:cNvPr>
          <p:cNvSpPr>
            <a:spLocks noGrp="1"/>
          </p:cNvSpPr>
          <p:nvPr>
            <p:ph type="title"/>
          </p:nvPr>
        </p:nvSpPr>
        <p:spPr/>
        <p:txBody>
          <a:bodyPr>
            <a:normAutofit/>
          </a:bodyPr>
          <a:lstStyle/>
          <a:p>
            <a:r>
              <a:rPr lang="en-CA" sz="3600" dirty="0"/>
              <a:t>Reference Points </a:t>
            </a:r>
            <a:r>
              <a:rPr lang="en-CA" sz="3600" b="1" dirty="0">
                <a:solidFill>
                  <a:srgbClr val="7030A0"/>
                </a:solidFill>
              </a:rPr>
              <a:t>4. </a:t>
            </a:r>
            <a:r>
              <a:rPr lang="en-US" sz="3600" b="1" dirty="0">
                <a:solidFill>
                  <a:srgbClr val="7030A0"/>
                </a:solidFill>
              </a:rPr>
              <a:t>Spawning Potential Ratio (SPR)</a:t>
            </a:r>
            <a:endParaRPr lang="en-US"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7888279-904F-401F-8149-ED2D932C7BBE}"/>
                  </a:ext>
                </a:extLst>
              </p:cNvPr>
              <p:cNvSpPr>
                <a:spLocks noGrp="1"/>
              </p:cNvSpPr>
              <p:nvPr>
                <p:ph idx="1"/>
              </p:nvPr>
            </p:nvSpPr>
            <p:spPr>
              <a:xfrm>
                <a:off x="975736" y="1798227"/>
                <a:ext cx="10515600" cy="4351338"/>
              </a:xfrm>
            </p:spPr>
            <p:txBody>
              <a:bodyPr/>
              <a:lstStyle/>
              <a:p>
                <a:r>
                  <a:rPr lang="en-US" b="1" i="1" dirty="0"/>
                  <a:t>F</a:t>
                </a:r>
                <a:r>
                  <a:rPr lang="en-US" b="1" baseline="-25000" dirty="0"/>
                  <a:t>X%SPR </a:t>
                </a:r>
                <a:r>
                  <a:rPr lang="en-US" b="1" dirty="0"/>
                  <a:t>represents the </a:t>
                </a:r>
                <a:r>
                  <a:rPr lang="en-US" b="1" i="1" dirty="0"/>
                  <a:t>F</a:t>
                </a:r>
                <a:r>
                  <a:rPr lang="en-US" b="1" dirty="0"/>
                  <a:t> that results in X% of </a:t>
                </a:r>
                <a14:m>
                  <m:oMath xmlns:m="http://schemas.openxmlformats.org/officeDocument/2006/math">
                    <m:r>
                      <a:rPr lang="en-US" b="1" i="1">
                        <a:latin typeface="Cambria Math" panose="02040503050406030204" pitchFamily="18" charset="0"/>
                      </a:rPr>
                      <m:t>𝛗</m:t>
                    </m:r>
                  </m:oMath>
                </a14:m>
                <a:r>
                  <a:rPr lang="en-US" b="1" baseline="-25000" dirty="0"/>
                  <a:t>0</a:t>
                </a:r>
              </a:p>
              <a:p>
                <a:r>
                  <a:rPr lang="en-US" dirty="0"/>
                  <a:t>Value of SPR as a proxy for </a:t>
                </a:r>
                <a:r>
                  <a:rPr lang="en-US" i="1" dirty="0"/>
                  <a:t>F</a:t>
                </a:r>
                <a:r>
                  <a:rPr lang="en-US" i="1" baseline="-25000" dirty="0"/>
                  <a:t>MSY</a:t>
                </a:r>
                <a:r>
                  <a:rPr lang="en-US" dirty="0"/>
                  <a:t> depends on productivity</a:t>
                </a:r>
                <a:endParaRPr lang="en-US" baseline="-25000" dirty="0"/>
              </a:p>
              <a:p>
                <a:r>
                  <a:rPr lang="en-US" u="sng" dirty="0"/>
                  <a:t>Biomass reference points </a:t>
                </a:r>
              </a:p>
              <a:p>
                <a:pPr lvl="1"/>
                <a:r>
                  <a:rPr lang="en-US" i="1" dirty="0"/>
                  <a:t>B</a:t>
                </a:r>
                <a:r>
                  <a:rPr lang="en-US" i="1" baseline="-25000" dirty="0"/>
                  <a:t>MSY</a:t>
                </a:r>
                <a:r>
                  <a:rPr lang="en-US" dirty="0"/>
                  <a:t> proxy = equilibrium biomass from fishing at </a:t>
                </a:r>
                <a:r>
                  <a:rPr lang="en-US" i="1" dirty="0"/>
                  <a:t>F</a:t>
                </a:r>
                <a:r>
                  <a:rPr lang="en-US" baseline="-25000" dirty="0"/>
                  <a:t>X%SPR </a:t>
                </a:r>
              </a:p>
              <a:p>
                <a:pPr lvl="1"/>
                <a:r>
                  <a:rPr lang="en-US" dirty="0"/>
                  <a:t>An assumption about the equilibrium biomass from fishing at </a:t>
                </a:r>
                <a:r>
                  <a:rPr lang="en-US" i="1" dirty="0"/>
                  <a:t>F</a:t>
                </a:r>
                <a:r>
                  <a:rPr lang="en-US" baseline="-25000" dirty="0"/>
                  <a:t>X%SPR </a:t>
                </a:r>
                <a:r>
                  <a:rPr lang="en-US" dirty="0"/>
                  <a:t>is needed</a:t>
                </a:r>
              </a:p>
              <a:p>
                <a:endParaRPr lang="en-US" dirty="0"/>
              </a:p>
            </p:txBody>
          </p:sp>
        </mc:Choice>
        <mc:Fallback xmlns="">
          <p:sp>
            <p:nvSpPr>
              <p:cNvPr id="3" name="Content Placeholder 2">
                <a:extLst>
                  <a:ext uri="{FF2B5EF4-FFF2-40B4-BE49-F238E27FC236}">
                    <a16:creationId xmlns:a16="http://schemas.microsoft.com/office/drawing/2014/main" id="{77888279-904F-401F-8149-ED2D932C7BBE}"/>
                  </a:ext>
                </a:extLst>
              </p:cNvPr>
              <p:cNvSpPr>
                <a:spLocks noGrp="1" noRot="1" noChangeAspect="1" noMove="1" noResize="1" noEditPoints="1" noAdjustHandles="1" noChangeArrowheads="1" noChangeShapeType="1" noTextEdit="1"/>
              </p:cNvSpPr>
              <p:nvPr>
                <p:ph idx="1"/>
              </p:nvPr>
            </p:nvSpPr>
            <p:spPr>
              <a:xfrm>
                <a:off x="975736" y="1798227"/>
                <a:ext cx="10515600" cy="4351338"/>
              </a:xfrm>
              <a:blipFill>
                <a:blip r:embed="rId2"/>
                <a:stretch>
                  <a:fillRect l="-1043" t="-2381" r="-174"/>
                </a:stretch>
              </a:blipFill>
            </p:spPr>
            <p:txBody>
              <a:bodyPr/>
              <a:lstStyle/>
              <a:p>
                <a:r>
                  <a:rPr lang="en-US">
                    <a:noFill/>
                  </a:rPr>
                  <a:t> </a:t>
                </a:r>
              </a:p>
            </p:txBody>
          </p:sp>
        </mc:Fallback>
      </mc:AlternateContent>
      <p:graphicFrame>
        <p:nvGraphicFramePr>
          <p:cNvPr id="4" name="Content Placeholder 3">
            <a:extLst>
              <a:ext uri="{FF2B5EF4-FFF2-40B4-BE49-F238E27FC236}">
                <a16:creationId xmlns:a16="http://schemas.microsoft.com/office/drawing/2014/main" id="{CF35B35A-737F-4AEB-AF2F-5498498C95DC}"/>
              </a:ext>
            </a:extLst>
          </p:cNvPr>
          <p:cNvGraphicFramePr>
            <a:graphicFrameLocks/>
          </p:cNvGraphicFramePr>
          <p:nvPr>
            <p:extLst>
              <p:ext uri="{D42A27DB-BD31-4B8C-83A1-F6EECF244321}">
                <p14:modId xmlns:p14="http://schemas.microsoft.com/office/powerpoint/2010/main" val="2679286971"/>
              </p:ext>
            </p:extLst>
          </p:nvPr>
        </p:nvGraphicFramePr>
        <p:xfrm>
          <a:off x="3608516" y="4622483"/>
          <a:ext cx="4496657" cy="1554480"/>
        </p:xfrm>
        <a:graphic>
          <a:graphicData uri="http://schemas.openxmlformats.org/drawingml/2006/table">
            <a:tbl>
              <a:tblPr bandRow="1">
                <a:tableStyleId>{5C22544A-7EE6-4342-B048-85BDC9FD1C3A}</a:tableStyleId>
              </a:tblPr>
              <a:tblGrid>
                <a:gridCol w="1763362">
                  <a:extLst>
                    <a:ext uri="{9D8B030D-6E8A-4147-A177-3AD203B41FA5}">
                      <a16:colId xmlns:a16="http://schemas.microsoft.com/office/drawing/2014/main" val="765603383"/>
                    </a:ext>
                  </a:extLst>
                </a:gridCol>
                <a:gridCol w="1158924">
                  <a:extLst>
                    <a:ext uri="{9D8B030D-6E8A-4147-A177-3AD203B41FA5}">
                      <a16:colId xmlns:a16="http://schemas.microsoft.com/office/drawing/2014/main" val="2414924035"/>
                    </a:ext>
                  </a:extLst>
                </a:gridCol>
                <a:gridCol w="1574371">
                  <a:extLst>
                    <a:ext uri="{9D8B030D-6E8A-4147-A177-3AD203B41FA5}">
                      <a16:colId xmlns:a16="http://schemas.microsoft.com/office/drawing/2014/main" val="1996351042"/>
                    </a:ext>
                  </a:extLst>
                </a:gridCol>
              </a:tblGrid>
              <a:tr h="0">
                <a:tc>
                  <a:txBody>
                    <a:bodyPr/>
                    <a:lstStyle/>
                    <a:p>
                      <a:pPr marL="0" marR="0">
                        <a:spcBef>
                          <a:spcPts val="600"/>
                        </a:spcBef>
                        <a:spcAft>
                          <a:spcPts val="600"/>
                        </a:spcAft>
                      </a:pPr>
                      <a:r>
                        <a:rPr lang="en-US" sz="1800" b="1" dirty="0">
                          <a:effectLst/>
                          <a:latin typeface="+mn-lt"/>
                        </a:rPr>
                        <a:t>Productivity</a:t>
                      </a:r>
                      <a:endParaRPr lang="en-US" sz="1800" b="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600"/>
                        </a:spcBef>
                        <a:spcAft>
                          <a:spcPts val="600"/>
                        </a:spcAft>
                      </a:pPr>
                      <a:r>
                        <a:rPr lang="en-US" sz="1800" b="1" i="1" dirty="0">
                          <a:effectLst/>
                          <a:latin typeface="+mn-lt"/>
                        </a:rPr>
                        <a:t>r</a:t>
                      </a:r>
                      <a:endParaRPr lang="en-US" sz="1800" b="1" i="1"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600"/>
                        </a:spcBef>
                        <a:spcAft>
                          <a:spcPts val="600"/>
                        </a:spcAft>
                      </a:pPr>
                      <a:r>
                        <a:rPr lang="en-US" sz="1800" b="1" i="1" dirty="0">
                          <a:effectLst/>
                          <a:latin typeface="+mn-lt"/>
                        </a:rPr>
                        <a:t>F</a:t>
                      </a:r>
                      <a:r>
                        <a:rPr lang="en-US" sz="1800" b="1" baseline="-25000" dirty="0">
                          <a:effectLst/>
                          <a:latin typeface="+mn-lt"/>
                        </a:rPr>
                        <a:t>MSY</a:t>
                      </a:r>
                      <a:r>
                        <a:rPr lang="en-US" sz="1800" b="1" dirty="0">
                          <a:effectLst/>
                          <a:latin typeface="+mn-lt"/>
                        </a:rPr>
                        <a:t> ≈ </a:t>
                      </a:r>
                      <a:r>
                        <a:rPr lang="en-US" sz="1800" b="1" i="1" dirty="0">
                          <a:effectLst/>
                          <a:latin typeface="+mn-lt"/>
                        </a:rPr>
                        <a:t>F</a:t>
                      </a:r>
                      <a:r>
                        <a:rPr lang="en-US" sz="1800" b="1" baseline="-25000" dirty="0">
                          <a:effectLst/>
                          <a:latin typeface="+mn-lt"/>
                        </a:rPr>
                        <a:t>X%SPR</a:t>
                      </a:r>
                      <a:endParaRPr lang="en-US" sz="1800" b="1"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743201480"/>
                  </a:ext>
                </a:extLst>
              </a:tr>
              <a:tr h="0">
                <a:tc>
                  <a:txBody>
                    <a:bodyPr/>
                    <a:lstStyle/>
                    <a:p>
                      <a:pPr marL="0" marR="0">
                        <a:spcBef>
                          <a:spcPts val="600"/>
                        </a:spcBef>
                        <a:spcAft>
                          <a:spcPts val="600"/>
                        </a:spcAft>
                      </a:pPr>
                      <a:r>
                        <a:rPr lang="en-US" sz="1800" dirty="0">
                          <a:effectLst/>
                          <a:latin typeface="+mn-lt"/>
                        </a:rPr>
                        <a:t>Very Low</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600"/>
                        </a:spcBef>
                        <a:spcAft>
                          <a:spcPts val="600"/>
                        </a:spcAft>
                      </a:pPr>
                      <a:r>
                        <a:rPr lang="en-US" sz="1800" dirty="0">
                          <a:effectLst/>
                          <a:latin typeface="+mn-lt"/>
                        </a:rPr>
                        <a:t>-*</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600"/>
                        </a:spcBef>
                        <a:spcAft>
                          <a:spcPts val="600"/>
                        </a:spcAft>
                      </a:pPr>
                      <a:r>
                        <a:rPr lang="en-US" sz="1800" i="1" dirty="0">
                          <a:effectLst/>
                          <a:latin typeface="+mn-lt"/>
                        </a:rPr>
                        <a:t>F</a:t>
                      </a:r>
                      <a:r>
                        <a:rPr lang="en-US" sz="1800" baseline="-25000" dirty="0">
                          <a:effectLst/>
                          <a:latin typeface="+mn-lt"/>
                        </a:rPr>
                        <a:t>≥50%</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82048765"/>
                  </a:ext>
                </a:extLst>
              </a:tr>
              <a:tr h="0">
                <a:tc>
                  <a:txBody>
                    <a:bodyPr/>
                    <a:lstStyle/>
                    <a:p>
                      <a:pPr marL="0" marR="0">
                        <a:spcBef>
                          <a:spcPts val="600"/>
                        </a:spcBef>
                        <a:spcAft>
                          <a:spcPts val="600"/>
                        </a:spcAft>
                      </a:pPr>
                      <a:r>
                        <a:rPr lang="en-US" sz="1800" dirty="0">
                          <a:effectLst/>
                          <a:latin typeface="+mn-lt"/>
                        </a:rPr>
                        <a:t>Low</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600"/>
                        </a:spcBef>
                        <a:spcAft>
                          <a:spcPts val="600"/>
                        </a:spcAft>
                      </a:pPr>
                      <a:r>
                        <a:rPr lang="en-US" sz="1800" dirty="0">
                          <a:effectLst/>
                          <a:latin typeface="+mn-lt"/>
                        </a:rPr>
                        <a:t>&lt;0.14</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600"/>
                        </a:spcBef>
                        <a:spcAft>
                          <a:spcPts val="600"/>
                        </a:spcAft>
                      </a:pPr>
                      <a:r>
                        <a:rPr lang="en-US" sz="1800" i="1" dirty="0">
                          <a:effectLst/>
                          <a:latin typeface="+mn-lt"/>
                        </a:rPr>
                        <a:t>F</a:t>
                      </a:r>
                      <a:r>
                        <a:rPr lang="en-US" sz="1800" baseline="-25000" dirty="0">
                          <a:effectLst/>
                          <a:latin typeface="+mn-lt"/>
                        </a:rPr>
                        <a:t>45%</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05822969"/>
                  </a:ext>
                </a:extLst>
              </a:tr>
              <a:tr h="0">
                <a:tc>
                  <a:txBody>
                    <a:bodyPr/>
                    <a:lstStyle/>
                    <a:p>
                      <a:pPr marL="0" marR="0">
                        <a:spcBef>
                          <a:spcPts val="600"/>
                        </a:spcBef>
                        <a:spcAft>
                          <a:spcPts val="600"/>
                        </a:spcAft>
                      </a:pPr>
                      <a:r>
                        <a:rPr lang="en-US" sz="1800" dirty="0">
                          <a:effectLst/>
                          <a:latin typeface="+mn-lt"/>
                        </a:rPr>
                        <a:t>Medium</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600"/>
                        </a:spcBef>
                        <a:spcAft>
                          <a:spcPts val="600"/>
                        </a:spcAft>
                      </a:pPr>
                      <a:r>
                        <a:rPr lang="en-US" sz="1800" dirty="0">
                          <a:effectLst/>
                          <a:latin typeface="+mn-lt"/>
                        </a:rPr>
                        <a:t>0.14-0.35</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600"/>
                        </a:spcBef>
                        <a:spcAft>
                          <a:spcPts val="600"/>
                        </a:spcAft>
                      </a:pPr>
                      <a:r>
                        <a:rPr lang="en-US" sz="1800" i="1" dirty="0">
                          <a:effectLst/>
                          <a:latin typeface="+mn-lt"/>
                        </a:rPr>
                        <a:t>F</a:t>
                      </a:r>
                      <a:r>
                        <a:rPr lang="en-US" sz="1800" baseline="-25000" dirty="0">
                          <a:effectLst/>
                          <a:latin typeface="+mn-lt"/>
                        </a:rPr>
                        <a:t>40%</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143095636"/>
                  </a:ext>
                </a:extLst>
              </a:tr>
              <a:tr h="0">
                <a:tc>
                  <a:txBody>
                    <a:bodyPr/>
                    <a:lstStyle/>
                    <a:p>
                      <a:pPr marL="0" marR="0">
                        <a:spcBef>
                          <a:spcPts val="600"/>
                        </a:spcBef>
                        <a:spcAft>
                          <a:spcPts val="600"/>
                        </a:spcAft>
                      </a:pPr>
                      <a:r>
                        <a:rPr lang="en-US" sz="1800" dirty="0">
                          <a:effectLst/>
                          <a:latin typeface="+mn-lt"/>
                        </a:rPr>
                        <a:t>High</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600"/>
                        </a:spcBef>
                        <a:spcAft>
                          <a:spcPts val="600"/>
                        </a:spcAft>
                      </a:pPr>
                      <a:r>
                        <a:rPr lang="en-US" sz="1800" dirty="0">
                          <a:effectLst/>
                          <a:latin typeface="+mn-lt"/>
                        </a:rPr>
                        <a:t>&gt;0.35</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600"/>
                        </a:spcBef>
                        <a:spcAft>
                          <a:spcPts val="600"/>
                        </a:spcAft>
                      </a:pPr>
                      <a:r>
                        <a:rPr lang="en-US" sz="1800" i="1" dirty="0">
                          <a:effectLst/>
                          <a:latin typeface="+mn-lt"/>
                        </a:rPr>
                        <a:t>F</a:t>
                      </a:r>
                      <a:r>
                        <a:rPr lang="en-US" sz="1800" baseline="-25000" dirty="0">
                          <a:effectLst/>
                          <a:latin typeface="+mn-lt"/>
                        </a:rPr>
                        <a:t>30%</a:t>
                      </a:r>
                      <a:endParaRPr lang="en-US" sz="1800" dirty="0">
                        <a:effectLst/>
                        <a:latin typeface="+mn-lt"/>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61834903"/>
                  </a:ext>
                </a:extLst>
              </a:tr>
              <a:tr h="0">
                <a:tc gridSpan="3">
                  <a:txBody>
                    <a:bodyPr/>
                    <a:lstStyle/>
                    <a:p>
                      <a:pPr marL="0" marR="0">
                        <a:spcBef>
                          <a:spcPts val="600"/>
                        </a:spcBef>
                        <a:spcAft>
                          <a:spcPts val="600"/>
                        </a:spcAft>
                      </a:pPr>
                      <a:r>
                        <a:rPr lang="en-US" sz="1200" kern="1200" dirty="0">
                          <a:solidFill>
                            <a:schemeClr val="dk1"/>
                          </a:solidFill>
                          <a:effectLst/>
                          <a:latin typeface="+mn-lt"/>
                        </a:rPr>
                        <a:t>*</a:t>
                      </a:r>
                      <a:r>
                        <a:rPr lang="en-US" sz="1100" kern="1200" dirty="0">
                          <a:solidFill>
                            <a:schemeClr val="dk1"/>
                          </a:solidFill>
                          <a:effectLst/>
                          <a:latin typeface="+mn-lt"/>
                        </a:rPr>
                        <a:t>Defined based on M &lt; 0.1 and age-at-maturation &gt; 15 years</a:t>
                      </a:r>
                      <a:endParaRPr lang="en-US" sz="1200" dirty="0">
                        <a:effectLst/>
                        <a:latin typeface="+mn-lt"/>
                        <a:ea typeface="Times New Roman" panose="02020603050405020304" pitchFamily="18" charset="0"/>
                        <a:cs typeface="Times New Roman" panose="02020603050405020304" pitchFamily="18" charset="0"/>
                      </a:endParaRPr>
                    </a:p>
                  </a:txBody>
                  <a:tcPr marL="68580" marR="68580" marT="0" marB="0"/>
                </a:tc>
                <a:tc hMerge="1">
                  <a:txBody>
                    <a:bodyPr/>
                    <a:lstStyle/>
                    <a:p>
                      <a:pPr marL="0" marR="0" algn="ctr">
                        <a:spcBef>
                          <a:spcPts val="600"/>
                        </a:spcBef>
                        <a:spcAft>
                          <a:spcPts val="600"/>
                        </a:spcAft>
                      </a:pPr>
                      <a:endParaRPr lang="en-US" sz="18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chemeClr val="bg1"/>
                    </a:solidFill>
                  </a:tcPr>
                </a:tc>
                <a:tc hMerge="1">
                  <a:txBody>
                    <a:bodyPr/>
                    <a:lstStyle/>
                    <a:p>
                      <a:pPr marL="0" marR="0" algn="ctr">
                        <a:spcBef>
                          <a:spcPts val="600"/>
                        </a:spcBef>
                        <a:spcAft>
                          <a:spcPts val="600"/>
                        </a:spcAft>
                      </a:pPr>
                      <a:endParaRPr lang="en-US" sz="1800" dirty="0">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819109025"/>
                  </a:ext>
                </a:extLst>
              </a:tr>
            </a:tbl>
          </a:graphicData>
        </a:graphic>
      </p:graphicFrame>
      <p:sp>
        <p:nvSpPr>
          <p:cNvPr id="5" name="Content Placeholder 6">
            <a:extLst>
              <a:ext uri="{FF2B5EF4-FFF2-40B4-BE49-F238E27FC236}">
                <a16:creationId xmlns:a16="http://schemas.microsoft.com/office/drawing/2014/main" id="{0B979C31-0014-4E0F-A431-4879D21274DA}"/>
              </a:ext>
            </a:extLst>
          </p:cNvPr>
          <p:cNvSpPr txBox="1">
            <a:spLocks/>
          </p:cNvSpPr>
          <p:nvPr/>
        </p:nvSpPr>
        <p:spPr>
          <a:xfrm>
            <a:off x="3346100" y="6257105"/>
            <a:ext cx="5021491" cy="318114"/>
          </a:xfrm>
          <a:prstGeom prst="rect">
            <a:avLst/>
          </a:prstGeom>
        </p:spPr>
        <p:txBody>
          <a:bodyPr vert="horz" lIns="91440" tIns="45720" rIns="91440" bIns="45720" rtlCol="0">
            <a:normAutofit/>
          </a:bodyPr>
          <a:lstStyle>
            <a:lvl1pPr marL="257175" indent="-257175" algn="l" defTabSz="914400" rtl="0" eaLnBrk="1" latinLnBrk="0" hangingPunct="1">
              <a:lnSpc>
                <a:spcPct val="90000"/>
              </a:lnSpc>
              <a:spcBef>
                <a:spcPts val="600"/>
              </a:spcBef>
              <a:buClr>
                <a:srgbClr val="064163"/>
              </a:buClr>
              <a:buFont typeface="Arial"/>
              <a:buChar char="•"/>
              <a:defRPr sz="2400" b="0" i="0" kern="1200">
                <a:solidFill>
                  <a:srgbClr val="595959"/>
                </a:solidFill>
                <a:latin typeface="Century Gothic" pitchFamily="34" charset="0"/>
                <a:ea typeface="+mn-ea"/>
                <a:cs typeface="Century Gothic" pitchFamily="34" charset="0"/>
              </a:defRPr>
            </a:lvl1pPr>
            <a:lvl2pPr marL="557213" indent="-214313" algn="l" defTabSz="914400" rtl="0" eaLnBrk="1" latinLnBrk="0" hangingPunct="1">
              <a:lnSpc>
                <a:spcPct val="90000"/>
              </a:lnSpc>
              <a:spcBef>
                <a:spcPts val="600"/>
              </a:spcBef>
              <a:buClr>
                <a:srgbClr val="064163"/>
              </a:buClr>
              <a:buFont typeface="Arial"/>
              <a:buChar char="•"/>
              <a:defRPr sz="2400" b="0" i="0" kern="1200">
                <a:solidFill>
                  <a:srgbClr val="595959"/>
                </a:solidFill>
                <a:latin typeface="Century Gothic" pitchFamily="34" charset="0"/>
                <a:ea typeface="+mn-ea"/>
                <a:cs typeface="Century Gothic" pitchFamily="34" charset="0"/>
              </a:defRPr>
            </a:lvl2pPr>
            <a:lvl3pPr marL="857250" indent="-171450" algn="l" defTabSz="914400" rtl="0" eaLnBrk="1" latinLnBrk="0" hangingPunct="1">
              <a:lnSpc>
                <a:spcPct val="90000"/>
              </a:lnSpc>
              <a:spcBef>
                <a:spcPts val="600"/>
              </a:spcBef>
              <a:buClr>
                <a:srgbClr val="064163"/>
              </a:buClr>
              <a:buFont typeface="Arial"/>
              <a:buChar char="•"/>
              <a:defRPr sz="2000" b="0" i="0" kern="1200">
                <a:solidFill>
                  <a:srgbClr val="595959"/>
                </a:solidFill>
                <a:latin typeface="Century Gothic" pitchFamily="34" charset="0"/>
                <a:ea typeface="+mn-ea"/>
                <a:cs typeface="Century Gothic" pitchFamily="34" charset="0"/>
              </a:defRPr>
            </a:lvl3pPr>
            <a:lvl4pPr marL="1200150" indent="-171450" algn="l" defTabSz="914400" rtl="0" eaLnBrk="1" latinLnBrk="0" hangingPunct="1">
              <a:lnSpc>
                <a:spcPct val="90000"/>
              </a:lnSpc>
              <a:spcBef>
                <a:spcPts val="600"/>
              </a:spcBef>
              <a:buClr>
                <a:srgbClr val="064163"/>
              </a:buClr>
              <a:buFont typeface="Arial"/>
              <a:buChar char="•"/>
              <a:defRPr sz="1800" b="0" i="0" kern="1200">
                <a:solidFill>
                  <a:srgbClr val="595959"/>
                </a:solidFill>
                <a:latin typeface="Century Gothic" pitchFamily="34" charset="0"/>
                <a:ea typeface="+mn-ea"/>
                <a:cs typeface="Century Gothic" pitchFamily="34" charset="0"/>
              </a:defRPr>
            </a:lvl4pPr>
            <a:lvl5pPr marL="1543050" indent="-171450" algn="l" defTabSz="914400" rtl="0" eaLnBrk="1" latinLnBrk="0" hangingPunct="1">
              <a:lnSpc>
                <a:spcPct val="90000"/>
              </a:lnSpc>
              <a:spcBef>
                <a:spcPts val="600"/>
              </a:spcBef>
              <a:buClr>
                <a:srgbClr val="064163"/>
              </a:buClr>
              <a:buFont typeface="Arial"/>
              <a:buChar char="•"/>
              <a:defRPr sz="1600" b="0" i="0" kern="1200">
                <a:solidFill>
                  <a:srgbClr val="595959"/>
                </a:solidFill>
                <a:latin typeface="Century Gothic" pitchFamily="34" charset="0"/>
                <a:ea typeface="+mn-ea"/>
                <a:cs typeface="Century Gothic"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chemeClr val="tx1"/>
                </a:solidFill>
                <a:latin typeface="+mn-lt"/>
              </a:rPr>
              <a:t>NZ Ministry of Fisheries Operational Guidelines (MF 2011)</a:t>
            </a:r>
          </a:p>
          <a:p>
            <a:endParaRPr lang="en-US" sz="1600" dirty="0">
              <a:solidFill>
                <a:schemeClr val="tx1"/>
              </a:solidFill>
              <a:latin typeface="+mn-lt"/>
            </a:endParaRPr>
          </a:p>
        </p:txBody>
      </p:sp>
      <mc:AlternateContent xmlns:mc="http://schemas.openxmlformats.org/markup-compatibility/2006" xmlns:a14="http://schemas.microsoft.com/office/drawing/2010/main">
        <mc:Choice Requires="a14">
          <p:sp>
            <p:nvSpPr>
              <p:cNvPr id="6" name="TextBox 5"/>
              <p:cNvSpPr txBox="1"/>
              <p:nvPr/>
            </p:nvSpPr>
            <p:spPr>
              <a:xfrm>
                <a:off x="8201891" y="4918364"/>
                <a:ext cx="3927763" cy="923330"/>
              </a:xfrm>
              <a:prstGeom prst="rect">
                <a:avLst/>
              </a:prstGeom>
              <a:noFill/>
            </p:spPr>
            <p:txBody>
              <a:bodyPr wrap="square" rtlCol="0">
                <a:spAutoFit/>
              </a:bodyPr>
              <a:lstStyle/>
              <a:p>
                <a:pPr algn="ctr"/>
                <a:r>
                  <a:rPr lang="en-US" dirty="0">
                    <a:solidFill>
                      <a:srgbClr val="C00000"/>
                    </a:solidFill>
                  </a:rPr>
                  <a:t>Lower SPR at </a:t>
                </a:r>
                <a14:m>
                  <m:oMath xmlns:m="http://schemas.openxmlformats.org/officeDocument/2006/math">
                    <m:r>
                      <a:rPr lang="en-US" i="1" dirty="0" smtClean="0">
                        <a:solidFill>
                          <a:srgbClr val="C00000"/>
                        </a:solidFill>
                        <a:latin typeface="Cambria Math" panose="02040503050406030204" pitchFamily="18" charset="0"/>
                      </a:rPr>
                      <m:t>𝐹</m:t>
                    </m:r>
                    <m:r>
                      <m:rPr>
                        <m:sty m:val="p"/>
                      </m:rPr>
                      <a:rPr lang="en-US" i="0" baseline="-25000" dirty="0" smtClean="0">
                        <a:solidFill>
                          <a:srgbClr val="C00000"/>
                        </a:solidFill>
                        <a:latin typeface="Cambria Math" panose="02040503050406030204" pitchFamily="18" charset="0"/>
                      </a:rPr>
                      <m:t>MSY</m:t>
                    </m:r>
                  </m:oMath>
                </a14:m>
                <a:r>
                  <a:rPr lang="en-US" dirty="0">
                    <a:solidFill>
                      <a:srgbClr val="C00000"/>
                    </a:solidFill>
                  </a:rPr>
                  <a:t> reflects that the stock is more productive at lower stock sizes </a:t>
                </a:r>
              </a:p>
            </p:txBody>
          </p:sp>
        </mc:Choice>
        <mc:Fallback xmlns="">
          <p:sp>
            <p:nvSpPr>
              <p:cNvPr id="6" name="TextBox 5"/>
              <p:cNvSpPr txBox="1">
                <a:spLocks noRot="1" noChangeAspect="1" noMove="1" noResize="1" noEditPoints="1" noAdjustHandles="1" noChangeArrowheads="1" noChangeShapeType="1" noTextEdit="1"/>
              </p:cNvSpPr>
              <p:nvPr/>
            </p:nvSpPr>
            <p:spPr>
              <a:xfrm>
                <a:off x="8201891" y="4918364"/>
                <a:ext cx="3927763" cy="923330"/>
              </a:xfrm>
              <a:prstGeom prst="rect">
                <a:avLst/>
              </a:prstGeom>
              <a:blipFill>
                <a:blip r:embed="rId3"/>
                <a:stretch>
                  <a:fillRect t="-3974" r="-930" b="-9934"/>
                </a:stretch>
              </a:blipFill>
            </p:spPr>
            <p:txBody>
              <a:bodyPr/>
              <a:lstStyle/>
              <a:p>
                <a:r>
                  <a:rPr lang="en-US">
                    <a:noFill/>
                  </a:rPr>
                  <a:t> </a:t>
                </a:r>
              </a:p>
            </p:txBody>
          </p:sp>
        </mc:Fallback>
      </mc:AlternateContent>
      <p:sp>
        <p:nvSpPr>
          <p:cNvPr id="7" name="Slide Number Placeholder 6"/>
          <p:cNvSpPr>
            <a:spLocks noGrp="1"/>
          </p:cNvSpPr>
          <p:nvPr>
            <p:ph type="sldNum" sz="quarter" idx="12"/>
          </p:nvPr>
        </p:nvSpPr>
        <p:spPr/>
        <p:txBody>
          <a:bodyPr/>
          <a:lstStyle/>
          <a:p>
            <a:fld id="{EEDFA2F9-C25F-4A63-B46B-7B5C200A39D1}" type="slidenum">
              <a:rPr lang="en-CA" smtClean="0"/>
              <a:t>102</a:t>
            </a:fld>
            <a:endParaRPr lang="en-CA"/>
          </a:p>
        </p:txBody>
      </p:sp>
    </p:spTree>
    <p:extLst>
      <p:ext uri="{BB962C8B-B14F-4D97-AF65-F5344CB8AC3E}">
        <p14:creationId xmlns:p14="http://schemas.microsoft.com/office/powerpoint/2010/main" val="3822063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838200" y="367829"/>
            <a:ext cx="10540943" cy="1325563"/>
          </a:xfrm>
          <a:prstGeom prst="rect">
            <a:avLst/>
          </a:prstGeom>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Exercise 4</a:t>
            </a:r>
            <a:endParaRPr lang="en-CA" dirty="0"/>
          </a:p>
        </p:txBody>
      </p:sp>
      <p:sp>
        <p:nvSpPr>
          <p:cNvPr id="3" name="Content Placeholder 2"/>
          <p:cNvSpPr>
            <a:spLocks noGrp="1"/>
          </p:cNvSpPr>
          <p:nvPr>
            <p:ph idx="1"/>
          </p:nvPr>
        </p:nvSpPr>
        <p:spPr>
          <a:xfrm>
            <a:off x="838200" y="1825625"/>
            <a:ext cx="10515600" cy="1931728"/>
          </a:xfrm>
        </p:spPr>
        <p:txBody>
          <a:bodyPr>
            <a:normAutofit/>
          </a:bodyPr>
          <a:lstStyle/>
          <a:p>
            <a:r>
              <a:rPr lang="en-US" dirty="0"/>
              <a:t>Let’s explore the SPR calculations in R</a:t>
            </a:r>
          </a:p>
        </p:txBody>
      </p:sp>
      <p:sp>
        <p:nvSpPr>
          <p:cNvPr id="2" name="Slide Number Placeholder 1"/>
          <p:cNvSpPr>
            <a:spLocks noGrp="1"/>
          </p:cNvSpPr>
          <p:nvPr>
            <p:ph type="sldNum" sz="quarter" idx="12"/>
          </p:nvPr>
        </p:nvSpPr>
        <p:spPr/>
        <p:txBody>
          <a:bodyPr/>
          <a:lstStyle/>
          <a:p>
            <a:fld id="{EEDFA2F9-C25F-4A63-B46B-7B5C200A39D1}" type="slidenum">
              <a:rPr lang="en-CA" smtClean="0"/>
              <a:t>103</a:t>
            </a:fld>
            <a:endParaRPr lang="en-CA"/>
          </a:p>
        </p:txBody>
      </p:sp>
    </p:spTree>
    <p:extLst>
      <p:ext uri="{BB962C8B-B14F-4D97-AF65-F5344CB8AC3E}">
        <p14:creationId xmlns:p14="http://schemas.microsoft.com/office/powerpoint/2010/main" val="27506794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Next week</a:t>
            </a:r>
          </a:p>
        </p:txBody>
      </p:sp>
      <p:sp>
        <p:nvSpPr>
          <p:cNvPr id="3" name="Content Placeholder 2"/>
          <p:cNvSpPr>
            <a:spLocks noGrp="1"/>
          </p:cNvSpPr>
          <p:nvPr>
            <p:ph idx="1"/>
          </p:nvPr>
        </p:nvSpPr>
        <p:spPr/>
        <p:txBody>
          <a:bodyPr>
            <a:normAutofit/>
          </a:bodyPr>
          <a:lstStyle/>
          <a:p>
            <a:r>
              <a:rPr lang="en-US" sz="3200" dirty="0"/>
              <a:t>A </a:t>
            </a:r>
            <a:r>
              <a:rPr lang="en-US" sz="3200" i="1" dirty="0"/>
              <a:t>quick</a:t>
            </a:r>
            <a:r>
              <a:rPr lang="en-US" sz="3200" dirty="0"/>
              <a:t> look at:</a:t>
            </a:r>
          </a:p>
          <a:p>
            <a:pPr lvl="1"/>
            <a:r>
              <a:rPr lang="en-US" sz="2800" dirty="0"/>
              <a:t>Time-varying reference points</a:t>
            </a:r>
          </a:p>
          <a:p>
            <a:pPr lvl="1"/>
            <a:r>
              <a:rPr lang="en-US" sz="2800" dirty="0"/>
              <a:t>Approaches for data-limited stocks</a:t>
            </a:r>
          </a:p>
          <a:p>
            <a:pPr lvl="1"/>
            <a:r>
              <a:rPr lang="en-US" sz="2800" dirty="0"/>
              <a:t>Multiple model approaches</a:t>
            </a:r>
          </a:p>
          <a:p>
            <a:r>
              <a:rPr lang="en-US" sz="3200" dirty="0"/>
              <a:t>Discussion of the exercises and general discussion</a:t>
            </a:r>
          </a:p>
          <a:p>
            <a:endParaRPr lang="en-US" sz="3200" dirty="0"/>
          </a:p>
        </p:txBody>
      </p:sp>
      <p:sp>
        <p:nvSpPr>
          <p:cNvPr id="4" name="Slide Number Placeholder 3"/>
          <p:cNvSpPr>
            <a:spLocks noGrp="1"/>
          </p:cNvSpPr>
          <p:nvPr>
            <p:ph type="sldNum" sz="quarter" idx="12"/>
          </p:nvPr>
        </p:nvSpPr>
        <p:spPr/>
        <p:txBody>
          <a:bodyPr/>
          <a:lstStyle/>
          <a:p>
            <a:fld id="{EEDFA2F9-C25F-4A63-B46B-7B5C200A39D1}" type="slidenum">
              <a:rPr lang="en-CA" smtClean="0"/>
              <a:t>104</a:t>
            </a:fld>
            <a:endParaRPr lang="en-CA"/>
          </a:p>
        </p:txBody>
      </p:sp>
    </p:spTree>
    <p:extLst>
      <p:ext uri="{BB962C8B-B14F-4D97-AF65-F5344CB8AC3E}">
        <p14:creationId xmlns:p14="http://schemas.microsoft.com/office/powerpoint/2010/main" val="22383389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a:xfrm>
            <a:off x="838200" y="367829"/>
            <a:ext cx="10540943" cy="1325563"/>
          </a:xfrm>
          <a:prstGeom prst="rect">
            <a:avLst/>
          </a:prstGeom>
          <a:ln w="38100">
            <a:noFill/>
          </a:ln>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Homework</a:t>
            </a:r>
            <a:endParaRPr lang="en-CA" dirty="0"/>
          </a:p>
        </p:txBody>
      </p:sp>
      <p:sp>
        <p:nvSpPr>
          <p:cNvPr id="3" name="Content Placeholder 2"/>
          <p:cNvSpPr>
            <a:spLocks noGrp="1"/>
          </p:cNvSpPr>
          <p:nvPr>
            <p:ph idx="1"/>
          </p:nvPr>
        </p:nvSpPr>
        <p:spPr>
          <a:xfrm>
            <a:off x="838200" y="1541606"/>
            <a:ext cx="10515600" cy="4956175"/>
          </a:xfrm>
        </p:spPr>
        <p:txBody>
          <a:bodyPr>
            <a:normAutofit/>
          </a:bodyPr>
          <a:lstStyle/>
          <a:p>
            <a:r>
              <a:rPr lang="en-US" dirty="0"/>
              <a:t>Run through exercises 1-4 on your own</a:t>
            </a:r>
          </a:p>
          <a:p>
            <a:r>
              <a:rPr lang="en-US" dirty="0"/>
              <a:t>We will send you the code and today’s </a:t>
            </a:r>
            <a:r>
              <a:rPr lang="en-US" dirty="0" err="1"/>
              <a:t>ppt</a:t>
            </a:r>
            <a:r>
              <a:rPr lang="en-US" dirty="0"/>
              <a:t> or you can get it from </a:t>
            </a:r>
            <a:r>
              <a:rPr lang="en-US" dirty="0">
                <a:hlinkClick r:id="rId2"/>
              </a:rPr>
              <a:t>https://github.com/TESA-workshops/Ref-Pt-101</a:t>
            </a:r>
            <a:endParaRPr lang="en-US" dirty="0"/>
          </a:p>
          <a:p>
            <a:r>
              <a:rPr lang="en-US" dirty="0"/>
              <a:t>If you would like to use GitHub but are not a member of the TESA-workshops repository, please send Robyn your GitHub user name</a:t>
            </a:r>
          </a:p>
        </p:txBody>
      </p:sp>
      <p:sp>
        <p:nvSpPr>
          <p:cNvPr id="2" name="Slide Number Placeholder 1"/>
          <p:cNvSpPr>
            <a:spLocks noGrp="1"/>
          </p:cNvSpPr>
          <p:nvPr>
            <p:ph type="sldNum" sz="quarter" idx="12"/>
          </p:nvPr>
        </p:nvSpPr>
        <p:spPr/>
        <p:txBody>
          <a:bodyPr/>
          <a:lstStyle/>
          <a:p>
            <a:fld id="{EEDFA2F9-C25F-4A63-B46B-7B5C200A39D1}" type="slidenum">
              <a:rPr lang="en-CA" smtClean="0"/>
              <a:t>105</a:t>
            </a:fld>
            <a:endParaRPr lang="en-CA"/>
          </a:p>
        </p:txBody>
      </p:sp>
    </p:spTree>
    <p:extLst>
      <p:ext uri="{BB962C8B-B14F-4D97-AF65-F5344CB8AC3E}">
        <p14:creationId xmlns:p14="http://schemas.microsoft.com/office/powerpoint/2010/main" val="5092743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21334</TotalTime>
  <Words>7238</Words>
  <Application>Microsoft Office PowerPoint</Application>
  <PresentationFormat>Widescreen</PresentationFormat>
  <Paragraphs>883</Paragraphs>
  <Slides>105</Slides>
  <Notes>10</Notes>
  <HiddenSlides>2</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105</vt:i4>
      </vt:variant>
    </vt:vector>
  </HeadingPairs>
  <TitlesOfParts>
    <vt:vector size="115" baseType="lpstr">
      <vt:lpstr>Aptos</vt:lpstr>
      <vt:lpstr>Arial</vt:lpstr>
      <vt:lpstr>Calibri</vt:lpstr>
      <vt:lpstr>Calibri Light</vt:lpstr>
      <vt:lpstr>Cambria Math</vt:lpstr>
      <vt:lpstr>Noto Sans</vt:lpstr>
      <vt:lpstr>Times New Roman</vt:lpstr>
      <vt:lpstr>Wingdings</vt:lpstr>
      <vt:lpstr>Office Theme</vt:lpstr>
      <vt:lpstr>Equation</vt:lpstr>
      <vt:lpstr>Reference Points 101</vt:lpstr>
      <vt:lpstr>https://native-land.ca/</vt:lpstr>
      <vt:lpstr>Objectives</vt:lpstr>
      <vt:lpstr>Objectives</vt:lpstr>
      <vt:lpstr>Outline – Day 1</vt:lpstr>
      <vt:lpstr>Exercises</vt:lpstr>
      <vt:lpstr>Exercises</vt:lpstr>
      <vt:lpstr>1. What are Reference Points?</vt:lpstr>
      <vt:lpstr>What are reference points?</vt:lpstr>
      <vt:lpstr>What are reference points?</vt:lpstr>
      <vt:lpstr>What are reference points?</vt:lpstr>
      <vt:lpstr>What are reference points?</vt:lpstr>
      <vt:lpstr>DFO: Reference Points (PA Framework)</vt:lpstr>
      <vt:lpstr>DFO: Reference Points (PA Framework)</vt:lpstr>
      <vt:lpstr>DFO: Reference Points (PA Framework)</vt:lpstr>
      <vt:lpstr>DFO: Reference Points (PA Framework)</vt:lpstr>
      <vt:lpstr>DFO: Reference Points (PA Framework)</vt:lpstr>
      <vt:lpstr>Roles of Reference Points</vt:lpstr>
      <vt:lpstr>Roles of Reference Points</vt:lpstr>
      <vt:lpstr>Reference points in stock assessment</vt:lpstr>
      <vt:lpstr>2. Equilibrium Assumptions</vt:lpstr>
      <vt:lpstr>Equilibrium reference points</vt:lpstr>
      <vt:lpstr>What is Equilibrium?</vt:lpstr>
      <vt:lpstr>What is Equilibrium?</vt:lpstr>
      <vt:lpstr>3. What is MSY?</vt:lpstr>
      <vt:lpstr>Maximum Sustainable Yield (MSY)</vt:lpstr>
      <vt:lpstr>Surplus Production Models</vt:lpstr>
      <vt:lpstr>Surplus Production (SP) Models</vt:lpstr>
      <vt:lpstr>MSY Theory</vt:lpstr>
      <vt:lpstr>Surplus Production Curve</vt:lpstr>
      <vt:lpstr>Equilibrium yield curve</vt:lpstr>
      <vt:lpstr>MSY as target/limit</vt:lpstr>
      <vt:lpstr>MSY in Canadian Policy</vt:lpstr>
      <vt:lpstr>References</vt:lpstr>
      <vt:lpstr>4. Reference Points in Surplus Production Models</vt:lpstr>
      <vt:lpstr>Reference points from the Schaefer Model1</vt:lpstr>
      <vt:lpstr>Reference points from the Schaefer Model</vt:lpstr>
      <vt:lpstr>BMSY from the Schaefer Model</vt:lpstr>
      <vt:lpstr>MSY from the Schaefer Model</vt:lpstr>
      <vt:lpstr>UMSY from the Schaefer Model</vt:lpstr>
      <vt:lpstr>Reference points from the Schaefer Model1</vt:lpstr>
      <vt:lpstr>Exercise 1</vt:lpstr>
      <vt:lpstr>5. Recruitment Productivity</vt:lpstr>
      <vt:lpstr>Limitations of Surplus Production Models</vt:lpstr>
      <vt:lpstr>PowerPoint Presentation</vt:lpstr>
      <vt:lpstr>Productivity</vt:lpstr>
      <vt:lpstr>Productivity is a composite function of:</vt:lpstr>
      <vt:lpstr>Density dependence in juvenile survival (recruitment compensation)</vt:lpstr>
      <vt:lpstr>Density dependence in juvenile survival</vt:lpstr>
      <vt:lpstr>Linear density dependence in juvenile (pre-recruit) natural mortality predicts asymptotic stock-recruit relationships</vt:lpstr>
      <vt:lpstr>Recruitment compensation (Beverton-Holt SRR)</vt:lpstr>
      <vt:lpstr>Recruitment compensation (Beverton-Holt SRR)</vt:lpstr>
      <vt:lpstr>Recruitment compensation (Beverton-Holt SRR)</vt:lpstr>
      <vt:lpstr>Steepness (h) is a measure of productivity</vt:lpstr>
      <vt:lpstr>CR, Steepness (h), R0, α and β are all analytically related</vt:lpstr>
      <vt:lpstr>CR, Steepness (h), R0, α and β are all analytically related</vt:lpstr>
      <vt:lpstr>6. Reference Points in Age-structured Models</vt:lpstr>
      <vt:lpstr>Examples of Limit Reference Points</vt:lpstr>
      <vt:lpstr>Some Equilibrium Reference Points</vt:lpstr>
      <vt:lpstr>Per-recruit Calculations</vt:lpstr>
      <vt:lpstr>Per-recruit Calculations</vt:lpstr>
      <vt:lpstr>Per-Recruit Calculations 1. Mortality Rates</vt:lpstr>
      <vt:lpstr>Per-Recruit Reference Points 1. Mortality Rates</vt:lpstr>
      <vt:lpstr>Per-Recruit Calculations 1. Mortality Rates</vt:lpstr>
      <vt:lpstr>Per-Recruit Calculations 1. Mortality Rates</vt:lpstr>
      <vt:lpstr>Per-Recruit Calculations 1. Mortality Rates</vt:lpstr>
      <vt:lpstr>Per-Recruit Calculations 1. Mortality Rates</vt:lpstr>
      <vt:lpstr>Per-Recruit Calculations 2. Survivorship</vt:lpstr>
      <vt:lpstr>Per-Recruit Calculations 2. Unfished Survivorship</vt:lpstr>
      <vt:lpstr>Per-Recruit Calculations 2. Unfished Survivorship</vt:lpstr>
      <vt:lpstr>Per-Recruit Calculations 2. Unfished Survivorship</vt:lpstr>
      <vt:lpstr>Per-Recruit Calculations 2. Survivorship</vt:lpstr>
      <vt:lpstr>Per-Recruit Calculations 3. Unfished SSB-per-Recruit</vt:lpstr>
      <vt:lpstr>Per-Recruit Calculations 3. SSB-per-Recruit</vt:lpstr>
      <vt:lpstr>Per-Recruit Calculations 3. SSB-per-Recruit or Eggs-per-Recruit</vt:lpstr>
      <vt:lpstr>Per-Recruit Reference Points 4. Yield-per-Recruit (YPR)</vt:lpstr>
      <vt:lpstr>Per-Recruit Reference Points 4. Yield-per-Recruit (YPR)</vt:lpstr>
      <vt:lpstr>Per-Recruit Reference Points 4. Yield-per-Recruit (YPR)</vt:lpstr>
      <vt:lpstr>Next step: Yield-per-Recruit  Yield </vt:lpstr>
      <vt:lpstr>Reference Point Calculations</vt:lpstr>
      <vt:lpstr>PowerPoint Presentation</vt:lpstr>
      <vt:lpstr>Reference Points</vt:lpstr>
      <vt:lpstr>Reference Points 1. Unfished Equilibrium Biomass B0</vt:lpstr>
      <vt:lpstr>Reference Points 1. Unfished Equilibrium Biomass B0</vt:lpstr>
      <vt:lpstr>Reference Points 1. Unfished Equilibrium Biomass B0</vt:lpstr>
      <vt:lpstr>Reference Points 1. Unfished Equilibrium Biomass B0</vt:lpstr>
      <vt:lpstr>Reference Points 1. Unfished Equilibrium Biomass B0</vt:lpstr>
      <vt:lpstr>Reference Points 2. Equilibrium Biomass and Recruitment </vt:lpstr>
      <vt:lpstr>Reference Points 2. Equilibrium Biomass and Recruitment </vt:lpstr>
      <vt:lpstr>Reference Points 2. Equilibrium Biomass and Recruitment </vt:lpstr>
      <vt:lpstr>Reference Points 2. Equilibrium Biomass and Recruitment </vt:lpstr>
      <vt:lpstr>Reference Points 2. Equilibrium Biomass and Recruitment </vt:lpstr>
      <vt:lpstr>Reference Points 2. Equilibrium Biomass and Recruitment </vt:lpstr>
      <vt:lpstr>Reference Points 2. Equilibrium Biomass and Recruitment </vt:lpstr>
      <vt:lpstr>Reference Points 3. MSY</vt:lpstr>
      <vt:lpstr>Reference Points 3. MSY</vt:lpstr>
      <vt:lpstr>PowerPoint Presentation</vt:lpstr>
      <vt:lpstr>PowerPoint Presentation</vt:lpstr>
      <vt:lpstr>PowerPoint Presentation</vt:lpstr>
      <vt:lpstr>Reference Points 4. Spawning Potential Ratio (SPR)</vt:lpstr>
      <vt:lpstr>Reference Points 4. Spawning Potential Ratio (SPR)</vt:lpstr>
      <vt:lpstr>Reference Points 4. Spawning Potential Ratio (SPR)</vt:lpstr>
      <vt:lpstr>PowerPoint Presentation</vt:lpstr>
      <vt:lpstr>Next week</vt:lpstr>
      <vt:lpstr>PowerPoint Presentation</vt:lpstr>
    </vt:vector>
  </TitlesOfParts>
  <Company>DFO-MPO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TESA/NOG LRP Workshop</dc:title>
  <dc:creator>Barrett, Tim</dc:creator>
  <cp:lastModifiedBy>Barrett, Tim (DFO/MPO)</cp:lastModifiedBy>
  <cp:revision>428</cp:revision>
  <dcterms:created xsi:type="dcterms:W3CDTF">2021-10-28T18:18:48Z</dcterms:created>
  <dcterms:modified xsi:type="dcterms:W3CDTF">2026-10-21T13:27:37Z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e6cdb53-fd15-486d-84de-c510e3a62203_Enabled">
    <vt:lpwstr>true</vt:lpwstr>
  </property>
  <property fmtid="{D5CDD505-2E9C-101B-9397-08002B2CF9AE}" pid="3" name="MSIP_Label_4e6cdb53-fd15-486d-84de-c510e3a62203_SetDate">
    <vt:lpwstr>2026-10-21T12:06:16Z</vt:lpwstr>
  </property>
  <property fmtid="{D5CDD505-2E9C-101B-9397-08002B2CF9AE}" pid="4" name="MSIP_Label_4e6cdb53-fd15-486d-84de-c510e3a62203_Method">
    <vt:lpwstr>Standard</vt:lpwstr>
  </property>
  <property fmtid="{D5CDD505-2E9C-101B-9397-08002B2CF9AE}" pid="5" name="MSIP_Label_4e6cdb53-fd15-486d-84de-c510e3a62203_Name">
    <vt:lpwstr>UNCLASSIFIED - NON-CLASSIFIÉ</vt:lpwstr>
  </property>
  <property fmtid="{D5CDD505-2E9C-101B-9397-08002B2CF9AE}" pid="6" name="MSIP_Label_4e6cdb53-fd15-486d-84de-c510e3a62203_SiteId">
    <vt:lpwstr>1594fdae-a1d9-4405-915d-011467234338</vt:lpwstr>
  </property>
  <property fmtid="{D5CDD505-2E9C-101B-9397-08002B2CF9AE}" pid="7" name="MSIP_Label_4e6cdb53-fd15-486d-84de-c510e3a62203_ActionId">
    <vt:lpwstr>fdfa889f-9a11-48f3-a05f-40d1440001b6</vt:lpwstr>
  </property>
  <property fmtid="{D5CDD505-2E9C-101B-9397-08002B2CF9AE}" pid="8" name="MSIP_Label_4e6cdb53-fd15-486d-84de-c510e3a62203_ContentBits">
    <vt:lpwstr>1</vt:lpwstr>
  </property>
  <property fmtid="{D5CDD505-2E9C-101B-9397-08002B2CF9AE}" pid="9" name="MSIP_Label_4e6cdb53-fd15-486d-84de-c510e3a62203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Unclassified - Non-Classifié</vt:lpwstr>
  </property>
</Properties>
</file>